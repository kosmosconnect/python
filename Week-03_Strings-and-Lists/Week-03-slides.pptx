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3 moves from single values to collections. Classes: (7) strings, indexing and slicing; (8) string methods and text programs; (9) lists. Before starting, ask the student to write the pyramid or the prime program from memory: loops are used in every program this week. Check the Week 2 homework (diamond pattern, palindrome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ask "what type does input() return?" (str). So strings have been with us since Week 1: today we look inside them. Everything this week (names, roll numbers, sentences, passwords) is text processing, which is a big part of real programming and of lab exams (count vowels, reverse a string, palindrome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 counts characters, including spaces: len("Hi there") is 8. Show the error from the warning live: TypeError: can only concatenate str (not "int") to str. Two fixes: str(18), or better an f-string: f"Age: {age}". Triple quotes make a multi-line string: useful for printing a menu. Viva: is "5" + "5" equal to 10? (No: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boxes on paper with both rows of numbers. Ask: what is word[5]? (N.) word[-6]? (P.) word[6]? (IndexError: there is no box 6.) Why start at 0? The index is "how many steps from the start", so the first character is 0 steps away. C arrays work the same way, so this helps in the C course too. Quick drill: last character of any string is s[-1] or s[len(s)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Cuttack with indexes 0 to 6 under it (C u t t a c k). s[0:3] takes boxes 0, 1, 2. A useful way to think: the slice length is stop - start. Slicing never gives an IndexError: s[0:100] just returns the whole string. The third number is the step, like in range: s[::2] gives every second character ("Ctak"). Exam question: reverse a string without a loop (s[::-1]). Ask the student to slice their own name: first 3 letters, last 3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string version of the counting loop from Week 2. Trace "Konark": K no, o yes (1), n no, a yes (2), r no, k no. Show the index version too, which some teachers prefer: for i in range(len(word)): ch = word[i]. Both are correct; the first is the Python way. Variation: count consonants (letters that are not vowels, so check ch.isalpha() too, coming next class), or count spaces to count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commented line to show the error: TypeError: 'str' object does not support item assignment. Analogy: a string is like a printed exam paper; to fix a word you print a new copy. Viva favourite: "Are strings mutable in Python?" (No.) "Name a mutable type." (list.) The fix uses slicing from the last slide: everything from index 1 onwards. This is exactly what the .capitalize() method does, which we meet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solutions/class07_practice.py. Hints. Task 1: first[0] + "." + last[0] + ".". Task 2: start with rev = "" and do rev = ch + rev for each character (adding to the front). Task 3: a counting loop with if ch == "a". Task 4: the middle index is len(word) // 2; say "please enter an odd-length word" if len(word) % 2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reverse a string with slicing and count vowels with a loop. Explain the word "method": a function that belongs to a value and is called with a dot, like name.upper(). Methods never change the original string (strings are immutable); they give back a new one, so you must store or print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each line in the shell so the student sees the result appear. Highlight the spaces: strip() removes spaces at both ends only, not in the middle. Real use: a user types " Yes " or "YES" and you want to treat both as "yes", so answer = input().strip().lower(). Also show capitalize() (only the first letter) and swapcase(). Common bug: calling the method and expecting s to change; remember strings are immutable.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is the bridge to lists (Class 9): the square brackets in the output are a list. Show "10,20,30".split(",") giving ['10', '20', '30'], strings, not numbers. Common lab use: read many numbers on one line with input().split(). Counting words is now one line: len(line.split()). join is the opposite of split and is called on the glue string, which looks odd at first: " ".join(words).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is the one to use most: it reads like English and works with lists too. find gives the index of the first match, which you can use with slicing: s[s.find("nath"):] gives "nath". find returns -1 when the text is missing (index() would crash instead). count is case-sensitive: "Jagannath".count("j") is 0. Fix with s.lower().count("j").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with "abc" (too short), "12345678" (only digits), "odishaabc" (only letters) and "odisha2026". Real use: check that a phone number or roll number has only digits before converting it with int(), so the program does not crash: if roll.isdigit(): roll = int(roll). isalnum() is True for letters and digits mixed. Note that isdigit() of "-5" is False, because of the minus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asking for palindrome examples: madam, level, racecar, and Malayalam (a language that is also a palindrome). Run it without .lower() first, so the student discovers that "Malayalam" fails: the M and m are different. For sentences like "Never odd or even", also remove spaces: word.replace(" ", ""). Exam variant: do it without slicing, using a loop that compares word[i] with word[-1 - i] for the first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solutions/class08_practice.py. Hints. Task 1: name.strip().title(). Task 2: loop over line.split() and keep the longest so far (like finding the largest number). Task 3: email.count("@") == 1 and (email.endswith(".com") or email.endswith(".in")). Task 4: three counters and an if/elif with isalpha(), isdigit() and ch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question: "Store the marks of 60 students. Do you want 60 variables?" A list solves that. Lists use the same indexing and slicing as strings, so half of today is already known. The big difference: lists are mutable, they can change. Lists in Python are like arrays in C, but they can grow and can hold mixed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list as boxes with indexes, exactly like the PYTHON string. Line 5 is the key contrast with Class 7: marks[2] = 70 works, while name[0] = "P" failed. An empty list is [] and you can check membership with in: 92 in marks gives True. Viva: difference between a list and a string? (A list holds any items and is mutable; a string holds only characters and is immutable.)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strings: s.upper() gave a new string, but f.append() changes f itself and returns None. So f = f.append("x") is a classic bug that leaves f as None. Run each method live and print f after it. pop() also gives back the removed item: last = f.pop(). Also show del f[0] and f.clear(). Viva: difference between remove() and pop()? (remove deletes by value, pop by index and returns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standard way to read n values into a list. Show the one-line alternative for strong students: marks = [int(x) for x in input().split()] reads all marks on one line (list comprehensions come next week). Ask: how do you find how many students scored above the average? (Loop again and count.) Built-ins sum, max, min and len work on any list of numbers. Also show for m in marks: print(m) to loop through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with a table: big starts 34, sees 78 (bigger, big = 78), 12 (no), 91 (big = 91), 56 (no). Why start with nums[0] and not 0? Because if all numbers are negative, 0 would wrongly win. Same pattern finds the smallest (change &gt; to &lt;) and the position of the largest (also store the index). Linear search is the same loop: for each item, if item == target, print the index and break. Viva: what is linear search? (Checking items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is a list method and changes the list; sorted() is a function, works on any collection (even a string) and leaves the original alone. Strings sort alphabetically: ["Puri", "Cuttack", "Angul"] becomes ["Angul", "Cuttack", "Puri"]. Capital letters come before small ones. Other useful ones: nums.reverse() and nums[::-1]. If the exam asks for a sorting algorithm (bubble sort), that comes in Week 8 revision; for now use the built-ins.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solutions/class09_practice.py. Hints. Task 1: average first, then a counting loop. Task 2: sort and take [-2], but better without sorting: keep big and second, update both in one loop. Task 3: start with unique = [] and append only if item not in unique. Task 4: two empty lists and an if/else with n % 2 inside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Oral quiz: 1. What is s[-1]? 2. What does "Puri"[1:3] give? ("ur".) 3. Are strings mutable? 4. Difference between find() and index()? 5. What does split() return? 6. Difference between append() and insert()? 7. Difference between sort() and sorted()? 8. How do you reverse a list in one line? Next week has the first mini-project, so the student should be comfortable with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w3schools.com/python/python_strings.asp" TargetMode="External"/><Relationship Id="rId2" Type="http://schemas.openxmlformats.org/officeDocument/2006/relationships/hyperlink" Target="https://www.w3schools.com/python/python_strings_slicing.asp" TargetMode="External"/><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w3schools.com/python/python_strings_methods.asp" TargetMode="Externa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www.w3schools.com/python/python_lists.asp" TargetMode="External"/><Relationship Id="rId2" Type="http://schemas.openxmlformats.org/officeDocument/2006/relationships/hyperlink" Target="https://www.w3schools.com/python/python_lists_methods.asp" TargetMode="External"/><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6670040" y="812800"/>
            <a:ext cx="470916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2A3D5A"/>
                </a:solidFill>
                <a:latin typeface="JetBrains Mono" pitchFamily="49" charset="0"/>
                <a:ea typeface="JetBrains Mono" pitchFamily="49" charset="-122"/>
                <a:cs typeface="JetBrains Mono" pitchFamily="49" charset="-120"/>
              </a:rPr>
              <a:t>s[0]</a:t>
            </a:r>
            <a:endParaRPr lang="en-US" sz="10000" dirty="0"/>
          </a:p>
        </p:txBody>
      </p:sp>
      <p:sp>
        <p:nvSpPr>
          <p:cNvPr id="3" name="Text 1"/>
          <p:cNvSpPr/>
          <p:nvPr/>
        </p:nvSpPr>
        <p:spPr>
          <a:xfrm>
            <a:off x="812800" y="2032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B33D"/>
                </a:solidFill>
                <a:latin typeface="Rubik" pitchFamily="34" charset="0"/>
                <a:ea typeface="Rubik" pitchFamily="34" charset="-122"/>
                <a:cs typeface="Rubik" pitchFamily="34" charset="-120"/>
              </a:rPr>
              <a:t>WEEK 3 · CLASSES 7–9</a:t>
            </a:r>
            <a:endParaRPr lang="en-US" sz="1200" dirty="0"/>
          </a:p>
        </p:txBody>
      </p:sp>
      <p:sp>
        <p:nvSpPr>
          <p:cNvPr id="4" name="Text 2"/>
          <p:cNvSpPr/>
          <p:nvPr>
            <p:ph type="title"/>
          </p:nvPr>
        </p:nvSpPr>
        <p:spPr>
          <a:xfrm>
            <a:off x="812800" y="247392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Strings</a:t>
            </a:r>
            <a:endParaRPr lang="en-US" sz="6000" dirty="0"/>
          </a:p>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and lists</a:t>
            </a:r>
            <a:endParaRPr lang="en-US" sz="6000" dirty="0"/>
          </a:p>
        </p:txBody>
      </p:sp>
      <p:sp>
        <p:nvSpPr>
          <p:cNvPr id="5" name="Text 3"/>
          <p:cNvSpPr/>
          <p:nvPr/>
        </p:nvSpPr>
        <p:spPr>
          <a:xfrm>
            <a:off x="812800" y="4302720"/>
            <a:ext cx="784860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2"/>
                </a:solidFill>
                <a:latin typeface="Rubik" pitchFamily="34" charset="0"/>
                <a:ea typeface="Rubik" pitchFamily="34" charset="-122"/>
                <a:cs typeface="Rubik" pitchFamily="34" charset="-120"/>
              </a:rPr>
              <a:t>Working with text, and keeping many values in one variable</a:t>
            </a:r>
            <a:endParaRPr lang="en-US" sz="18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B.Tech 1st Year · 8-week course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50448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7 OF 24</a:t>
            </a:r>
            <a:endParaRPr lang="en-US" sz="1200" dirty="0"/>
          </a:p>
        </p:txBody>
      </p:sp>
      <p:sp>
        <p:nvSpPr>
          <p:cNvPr id="3" name="Text 1"/>
          <p:cNvSpPr/>
          <p:nvPr>
            <p:ph type="title"/>
          </p:nvPr>
        </p:nvSpPr>
        <p:spPr>
          <a:xfrm>
            <a:off x="812800" y="2895600"/>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Strings</a:t>
            </a:r>
            <a:endParaRPr lang="en-US" sz="4800" dirty="0"/>
          </a:p>
        </p:txBody>
      </p:sp>
      <p:sp>
        <p:nvSpPr>
          <p:cNvPr id="4" name="Text 2"/>
          <p:cNvSpPr/>
          <p:nvPr/>
        </p:nvSpPr>
        <p:spPr>
          <a:xfrm>
            <a:off x="812800" y="3713428"/>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Text is a row of characters, and every character has a number</a:t>
            </a:r>
            <a:endParaRPr lang="en-US" sz="1800" dirty="0"/>
          </a:p>
        </p:txBody>
      </p:sp>
      <p:sp>
        <p:nvSpPr>
          <p:cNvPr id="5" name="Shape 3"/>
          <p:cNvSpPr/>
          <p:nvPr/>
        </p:nvSpPr>
        <p:spPr>
          <a:xfrm>
            <a:off x="6400800" y="2098014"/>
            <a:ext cx="4978400" cy="2661907"/>
          </a:xfrm>
          <a:prstGeom prst="roundRect">
            <a:avLst>
              <a:gd name="adj" fmla="val 5725"/>
            </a:avLst>
          </a:prstGeom>
          <a:solidFill>
            <a:srgbClr val="1B2A41"/>
          </a:solidFill>
          <a:ln/>
        </p:spPr>
      </p:sp>
      <p:sp>
        <p:nvSpPr>
          <p:cNvPr id="6" name="Text 4"/>
          <p:cNvSpPr/>
          <p:nvPr/>
        </p:nvSpPr>
        <p:spPr>
          <a:xfrm>
            <a:off x="6756400" y="2453614"/>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Create strings and join them</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Pick one character with an index</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Cut out a piece with slicing</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Loop through every character</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Explain why strings cannot change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7 · STRINGS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A string is text in quotes</a:t>
            </a:r>
            <a:endParaRPr lang="en-US" sz="3200" dirty="0"/>
          </a:p>
        </p:txBody>
      </p:sp>
      <p:sp>
        <p:nvSpPr>
          <p:cNvPr id="4" name="Shape 2"/>
          <p:cNvSpPr/>
          <p:nvPr/>
        </p:nvSpPr>
        <p:spPr>
          <a:xfrm>
            <a:off x="819150" y="1860485"/>
            <a:ext cx="3373967" cy="2522207"/>
          </a:xfrm>
          <a:prstGeom prst="roundRect">
            <a:avLst>
              <a:gd name="adj" fmla="val 4784"/>
            </a:avLst>
          </a:prstGeom>
          <a:solidFill>
            <a:srgbClr val="FFFDF8"/>
          </a:solidFill>
          <a:ln w="12700">
            <a:solidFill>
              <a:srgbClr val="E2DED3"/>
            </a:solidFill>
            <a:prstDash val="solid"/>
          </a:ln>
        </p:spPr>
      </p:sp>
      <p:sp>
        <p:nvSpPr>
          <p:cNvPr id="5" name="Text 3"/>
          <p:cNvSpPr/>
          <p:nvPr/>
        </p:nvSpPr>
        <p:spPr>
          <a:xfrm>
            <a:off x="1028700" y="2070035"/>
            <a:ext cx="304351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Making one</a:t>
            </a:r>
            <a:endParaRPr lang="en-US" sz="1800" dirty="0"/>
          </a:p>
        </p:txBody>
      </p:sp>
      <p:sp>
        <p:nvSpPr>
          <p:cNvPr id="6" name="Text 4"/>
          <p:cNvSpPr/>
          <p:nvPr/>
        </p:nvSpPr>
        <p:spPr>
          <a:xfrm>
            <a:off x="1028700" y="2445941"/>
            <a:ext cx="2954867" cy="1111250"/>
          </a:xfrm>
          <a:prstGeom prst="roundRect">
            <a:avLst>
              <a:gd name="adj" fmla="val 8000"/>
            </a:avLst>
          </a:prstGeom>
          <a:solidFill>
            <a:srgbClr val="1B2A41"/>
          </a:solidFill>
          <a:ln/>
        </p:spPr>
        <p:txBody>
          <a:bodyPr wrap="square" lIns="126362" tIns="100962" rIns="46860" bIns="75562"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city = </a:t>
            </a:r>
            <a:r>
              <a:rPr lang="en-US" sz="1500" dirty="0">
                <a:solidFill>
                  <a:srgbClr val="9FD8A8"/>
                </a:solidFill>
                <a:latin typeface="JetBrains Mono" pitchFamily="49" charset="0"/>
                <a:ea typeface="JetBrains Mono" pitchFamily="49" charset="-122"/>
                <a:cs typeface="JetBrains Mono" pitchFamily="49" charset="-120"/>
              </a:rPr>
              <a:t>"Bhubaneswar"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food = </a:t>
            </a:r>
            <a:r>
              <a:rPr lang="en-US" sz="1500" dirty="0">
                <a:solidFill>
                  <a:srgbClr val="9FD8A8"/>
                </a:solidFill>
                <a:latin typeface="JetBrains Mono" pitchFamily="49" charset="0"/>
                <a:ea typeface="JetBrains Mono" pitchFamily="49" charset="-122"/>
                <a:cs typeface="JetBrains Mono" pitchFamily="49" charset="-120"/>
              </a:rPr>
              <a:t>'rasagola'</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(city))</a:t>
            </a:r>
            <a:endParaRPr lang="en-US" sz="1500" dirty="0"/>
          </a:p>
        </p:txBody>
      </p:sp>
      <p:sp>
        <p:nvSpPr>
          <p:cNvPr id="7" name="Text 5"/>
          <p:cNvSpPr/>
          <p:nvPr/>
        </p:nvSpPr>
        <p:spPr>
          <a:xfrm>
            <a:off x="1035050" y="3665141"/>
            <a:ext cx="2942167" cy="501650"/>
          </a:xfrm>
          <a:prstGeom prst="roundRect">
            <a:avLst>
              <a:gd name="adj" fmla="val 16456"/>
            </a:avLst>
          </a:prstGeom>
          <a:solidFill>
            <a:srgbClr val="F7F5EF"/>
          </a:solidFill>
          <a:ln w="12700">
            <a:solidFill>
              <a:srgbClr val="D9DEE5"/>
            </a:solidFill>
            <a:prstDash val="solid"/>
          </a:ln>
        </p:spPr>
        <p:txBody>
          <a:bodyPr wrap="square" lIns="134572" tIns="83772" rIns="55832"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11</a:t>
            </a:r>
            <a:endParaRPr lang="en-US" sz="1500" dirty="0"/>
          </a:p>
        </p:txBody>
      </p:sp>
      <p:sp>
        <p:nvSpPr>
          <p:cNvPr id="8" name="Shape 6"/>
          <p:cNvSpPr/>
          <p:nvPr/>
        </p:nvSpPr>
        <p:spPr>
          <a:xfrm>
            <a:off x="4409017" y="1860485"/>
            <a:ext cx="3373967" cy="2522207"/>
          </a:xfrm>
          <a:prstGeom prst="roundRect">
            <a:avLst>
              <a:gd name="adj" fmla="val 4784"/>
            </a:avLst>
          </a:prstGeom>
          <a:solidFill>
            <a:srgbClr val="FFFDF8"/>
          </a:solidFill>
          <a:ln w="12700">
            <a:solidFill>
              <a:srgbClr val="E2DED3"/>
            </a:solidFill>
            <a:prstDash val="solid"/>
          </a:ln>
        </p:spPr>
      </p:sp>
      <p:sp>
        <p:nvSpPr>
          <p:cNvPr id="9" name="Text 7"/>
          <p:cNvSpPr/>
          <p:nvPr/>
        </p:nvSpPr>
        <p:spPr>
          <a:xfrm>
            <a:off x="4618567" y="2070035"/>
            <a:ext cx="304351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Joining: +</a:t>
            </a:r>
            <a:endParaRPr lang="en-US" sz="1800" dirty="0"/>
          </a:p>
        </p:txBody>
      </p:sp>
      <p:sp>
        <p:nvSpPr>
          <p:cNvPr id="10" name="Text 8"/>
          <p:cNvSpPr/>
          <p:nvPr/>
        </p:nvSpPr>
        <p:spPr>
          <a:xfrm>
            <a:off x="4618567" y="2445941"/>
            <a:ext cx="2954867" cy="1111250"/>
          </a:xfrm>
          <a:prstGeom prst="roundRect">
            <a:avLst>
              <a:gd name="adj" fmla="val 8000"/>
            </a:avLst>
          </a:prstGeom>
          <a:solidFill>
            <a:srgbClr val="1B2A41"/>
          </a:solidFill>
          <a:ln/>
        </p:spPr>
        <p:txBody>
          <a:bodyPr wrap="square" lIns="126362" tIns="100962" rIns="46860" bIns="75562"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a = </a:t>
            </a:r>
            <a:r>
              <a:rPr lang="en-US" sz="1500" dirty="0">
                <a:solidFill>
                  <a:srgbClr val="9FD8A8"/>
                </a:solidFill>
                <a:latin typeface="JetBrains Mono" pitchFamily="49" charset="0"/>
                <a:ea typeface="JetBrains Mono" pitchFamily="49" charset="-122"/>
                <a:cs typeface="JetBrains Mono" pitchFamily="49" charset="-120"/>
              </a:rPr>
              <a:t>"Ananya"</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b = </a:t>
            </a:r>
            <a:r>
              <a:rPr lang="en-US" sz="1500" dirty="0">
                <a:solidFill>
                  <a:srgbClr val="9FD8A8"/>
                </a:solidFill>
                <a:latin typeface="JetBrains Mono" pitchFamily="49" charset="0"/>
                <a:ea typeface="JetBrains Mono" pitchFamily="49" charset="-122"/>
                <a:cs typeface="JetBrains Mono" pitchFamily="49" charset="-120"/>
              </a:rPr>
              <a:t>"Das"</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 + </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 + b)</a:t>
            </a:r>
            <a:endParaRPr lang="en-US" sz="1500" dirty="0"/>
          </a:p>
        </p:txBody>
      </p:sp>
      <p:sp>
        <p:nvSpPr>
          <p:cNvPr id="11" name="Text 9"/>
          <p:cNvSpPr/>
          <p:nvPr/>
        </p:nvSpPr>
        <p:spPr>
          <a:xfrm>
            <a:off x="4624917" y="3665141"/>
            <a:ext cx="2942167" cy="501650"/>
          </a:xfrm>
          <a:prstGeom prst="roundRect">
            <a:avLst>
              <a:gd name="adj" fmla="val 16456"/>
            </a:avLst>
          </a:prstGeom>
          <a:solidFill>
            <a:srgbClr val="F7F5EF"/>
          </a:solidFill>
          <a:ln w="12700">
            <a:solidFill>
              <a:srgbClr val="D9DEE5"/>
            </a:solidFill>
            <a:prstDash val="solid"/>
          </a:ln>
        </p:spPr>
        <p:txBody>
          <a:bodyPr wrap="square" lIns="134572" tIns="83772" rIns="55832"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Ananya Das</a:t>
            </a:r>
            <a:endParaRPr lang="en-US" sz="1500" dirty="0"/>
          </a:p>
        </p:txBody>
      </p:sp>
      <p:sp>
        <p:nvSpPr>
          <p:cNvPr id="12" name="Shape 10"/>
          <p:cNvSpPr/>
          <p:nvPr/>
        </p:nvSpPr>
        <p:spPr>
          <a:xfrm>
            <a:off x="7998884" y="1860485"/>
            <a:ext cx="3373967" cy="2522207"/>
          </a:xfrm>
          <a:prstGeom prst="roundRect">
            <a:avLst>
              <a:gd name="adj" fmla="val 4784"/>
            </a:avLst>
          </a:prstGeom>
          <a:solidFill>
            <a:srgbClr val="FFFDF8"/>
          </a:solidFill>
          <a:ln w="12700">
            <a:solidFill>
              <a:srgbClr val="E2DED3"/>
            </a:solidFill>
            <a:prstDash val="solid"/>
          </a:ln>
        </p:spPr>
      </p:sp>
      <p:sp>
        <p:nvSpPr>
          <p:cNvPr id="13" name="Text 11"/>
          <p:cNvSpPr/>
          <p:nvPr/>
        </p:nvSpPr>
        <p:spPr>
          <a:xfrm>
            <a:off x="8208434" y="2070035"/>
            <a:ext cx="304351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Repeating: *</a:t>
            </a:r>
            <a:endParaRPr lang="en-US" sz="1800" dirty="0"/>
          </a:p>
        </p:txBody>
      </p:sp>
      <p:sp>
        <p:nvSpPr>
          <p:cNvPr id="14" name="Text 12"/>
          <p:cNvSpPr/>
          <p:nvPr/>
        </p:nvSpPr>
        <p:spPr>
          <a:xfrm>
            <a:off x="8208434" y="2445941"/>
            <a:ext cx="2954867" cy="825500"/>
          </a:xfrm>
          <a:prstGeom prst="roundRect">
            <a:avLst>
              <a:gd name="adj" fmla="val 10769"/>
            </a:avLst>
          </a:prstGeom>
          <a:solidFill>
            <a:srgbClr val="1B2A41"/>
          </a:solidFill>
          <a:ln/>
        </p:spPr>
        <p:txBody>
          <a:bodyPr wrap="square" lIns="126362" tIns="100962" rIns="4686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"Ha"</a:t>
            </a:r>
            <a:r>
              <a:rPr lang="en-US" sz="1500" dirty="0">
                <a:solidFill>
                  <a:srgbClr val="E8EDF3"/>
                </a:solidFill>
                <a:latin typeface="JetBrains Mono" pitchFamily="49" charset="0"/>
                <a:ea typeface="JetBrains Mono" pitchFamily="49" charset="-122"/>
                <a:cs typeface="JetBrains Mono" pitchFamily="49" charset="-120"/>
              </a:rPr>
              <a:t> * 3)</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t>
            </a:r>
            <a:r>
              <a:rPr lang="en-US" sz="1500" dirty="0">
                <a:solidFill>
                  <a:srgbClr val="E8EDF3"/>
                </a:solidFill>
                <a:latin typeface="JetBrains Mono" pitchFamily="49" charset="0"/>
                <a:ea typeface="JetBrains Mono" pitchFamily="49" charset="-122"/>
                <a:cs typeface="JetBrains Mono" pitchFamily="49" charset="-120"/>
              </a:rPr>
              <a:t> * 12)</a:t>
            </a:r>
            <a:endParaRPr lang="en-US" sz="1500" dirty="0"/>
          </a:p>
        </p:txBody>
      </p:sp>
      <p:sp>
        <p:nvSpPr>
          <p:cNvPr id="15" name="Text 13"/>
          <p:cNvSpPr/>
          <p:nvPr/>
        </p:nvSpPr>
        <p:spPr>
          <a:xfrm>
            <a:off x="8214784" y="3379391"/>
            <a:ext cx="2942167" cy="787400"/>
          </a:xfrm>
          <a:prstGeom prst="roundRect">
            <a:avLst>
              <a:gd name="adj" fmla="val 10484"/>
            </a:avLst>
          </a:prstGeom>
          <a:solidFill>
            <a:srgbClr val="F7F5EF"/>
          </a:solidFill>
          <a:ln w="12700">
            <a:solidFill>
              <a:srgbClr val="D9DEE5"/>
            </a:solidFill>
            <a:prstDash val="solid"/>
          </a:ln>
        </p:spPr>
        <p:txBody>
          <a:bodyPr wrap="square" lIns="134572" tIns="83772" rIns="55832"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HaHaHa</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a:t>
            </a:r>
            <a:endParaRPr lang="en-US" sz="1500" dirty="0"/>
          </a:p>
        </p:txBody>
      </p:sp>
      <p:sp>
        <p:nvSpPr>
          <p:cNvPr id="16" name="Shape 14"/>
          <p:cNvSpPr/>
          <p:nvPr/>
        </p:nvSpPr>
        <p:spPr>
          <a:xfrm>
            <a:off x="819150" y="4700191"/>
            <a:ext cx="10553700" cy="723900"/>
          </a:xfrm>
          <a:prstGeom prst="roundRect">
            <a:avLst>
              <a:gd name="adj" fmla="val 20175"/>
            </a:avLst>
          </a:prstGeom>
          <a:solidFill>
            <a:srgbClr val="FFFDF8"/>
          </a:solidFill>
          <a:ln w="12700">
            <a:solidFill>
              <a:srgbClr val="B54708"/>
            </a:solidFill>
            <a:prstDash val="solid"/>
          </a:ln>
        </p:spPr>
      </p:sp>
      <p:pic>
        <p:nvPicPr>
          <p:cNvPr id="17" name="Image 0" descr="Warning">    </p:cNvPr>
          <p:cNvPicPr>
            <a:picLocks noChangeAspect="1"/>
          </p:cNvPicPr>
          <p:nvPr/>
        </p:nvPicPr>
        <p:blipFill>
          <a:blip r:embed="rId1"/>
          <a:srcRect l="0" r="0" t="0" b="0"/>
          <a:stretch/>
        </p:blipFill>
        <p:spPr>
          <a:xfrm>
            <a:off x="1130300" y="4884341"/>
            <a:ext cx="355600" cy="355600"/>
          </a:xfrm>
          <a:prstGeom prst="rect">
            <a:avLst/>
          </a:prstGeom>
        </p:spPr>
      </p:pic>
      <p:sp>
        <p:nvSpPr>
          <p:cNvPr id="18" name="Text 15"/>
          <p:cNvSpPr/>
          <p:nvPr/>
        </p:nvSpPr>
        <p:spPr>
          <a:xfrm>
            <a:off x="1689100" y="4919266"/>
            <a:ext cx="7374176"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2A64A3"/>
                </a:solidFill>
                <a:latin typeface="Rubik" pitchFamily="34" charset="0"/>
                <a:ea typeface="Rubik" pitchFamily="34" charset="-122"/>
                <a:cs typeface="Rubik" pitchFamily="34" charset="-120"/>
              </a:rPr>
              <a:t>"Age: " + 18</a:t>
            </a:r>
            <a:r>
              <a:rPr lang="en-US" sz="1500" dirty="0">
                <a:solidFill>
                  <a:srgbClr val="1B2A41"/>
                </a:solidFill>
                <a:latin typeface="Rubik" pitchFamily="34" charset="0"/>
                <a:ea typeface="Rubik" pitchFamily="34" charset="-122"/>
                <a:cs typeface="Rubik" pitchFamily="34" charset="-120"/>
              </a:rPr>
              <a:t> is an error. Turn the number into text first: </a:t>
            </a:r>
            <a:r>
              <a:rPr lang="en-US" sz="1500" dirty="0">
                <a:solidFill>
                  <a:srgbClr val="2A64A3"/>
                </a:solidFill>
                <a:latin typeface="Rubik" pitchFamily="34" charset="0"/>
                <a:ea typeface="Rubik" pitchFamily="34" charset="-122"/>
                <a:cs typeface="Rubik" pitchFamily="34" charset="-120"/>
              </a:rPr>
              <a:t>"Age: " + str(18)</a:t>
            </a:r>
            <a:r>
              <a:rPr lang="en-US" sz="1500" dirty="0">
                <a:solidFill>
                  <a:srgbClr val="1B2A41"/>
                </a:solidFill>
                <a:latin typeface="Rubik" pitchFamily="34" charset="0"/>
                <a:ea typeface="Rubik" pitchFamily="34" charset="-122"/>
                <a:cs typeface="Rubik" pitchFamily="34" charset="-120"/>
              </a:rPr>
              <a:t>.</a:t>
            </a:r>
            <a:endParaRPr lang="en-US" sz="15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7 · INDEXING</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Every character has a position</a:t>
            </a:r>
            <a:endParaRPr lang="en-US" sz="3200" dirty="0"/>
          </a:p>
        </p:txBody>
      </p:sp>
      <p:sp>
        <p:nvSpPr>
          <p:cNvPr id="4" name="Text 2"/>
          <p:cNvSpPr/>
          <p:nvPr/>
        </p:nvSpPr>
        <p:spPr>
          <a:xfrm>
            <a:off x="3790950" y="1854135"/>
            <a:ext cx="1651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2A64A3"/>
                </a:solidFill>
                <a:latin typeface="JetBrains Mono" pitchFamily="49" charset="0"/>
                <a:ea typeface="JetBrains Mono" pitchFamily="49" charset="-122"/>
                <a:cs typeface="JetBrains Mono" pitchFamily="49" charset="-120"/>
              </a:rPr>
              <a:t>0</a:t>
            </a:r>
            <a:endParaRPr lang="en-US" sz="1500" dirty="0"/>
          </a:p>
        </p:txBody>
      </p:sp>
      <p:sp>
        <p:nvSpPr>
          <p:cNvPr id="5" name="Text 3"/>
          <p:cNvSpPr/>
          <p:nvPr/>
        </p:nvSpPr>
        <p:spPr>
          <a:xfrm>
            <a:off x="3492500" y="2197035"/>
            <a:ext cx="762000" cy="772120"/>
          </a:xfrm>
          <a:custGeom>
            <a:avLst/>
            <a:gdLst/>
            <a:ahLst/>
            <a:cxnLst/>
            <a:rect l="l" t="t" r="r" b="b"/>
            <a:pathLst>
              <a:path w="762000" h="772120">
                <a:moveTo>
                  <a:pt x="101600" y="0"/>
                </a:moveTo>
                <a:lnTo>
                  <a:pt x="660400" y="0"/>
                </a:lnTo>
                <a:arcTo hR="101600" wR="101600" stAng="16200000" swAng="5400000"/>
                <a:lnTo>
                  <a:pt x="762000" y="670520"/>
                </a:lnTo>
                <a:arcTo hR="101600" wR="101600" stAng="0" swAng="5400000"/>
                <a:lnTo>
                  <a:pt x="101600" y="772120"/>
                </a:lnTo>
                <a:arcTo hR="101600" wR="101600" stAng="5400000" swAng="5400000"/>
                <a:lnTo>
                  <a:pt x="0" y="101600"/>
                </a:lnTo>
                <a:arcTo hR="101600" wR="101600" stAng="10800000" swAng="5400000"/>
                <a:close/>
              </a:path>
            </a:pathLst>
          </a:custGeom>
          <a:solidFill>
            <a:srgbClr val="1B2A41"/>
          </a:solidFill>
          <a:ln/>
        </p:spPr>
        <p:txBody>
          <a:bodyPr wrap="square" lIns="0" tIns="101600" rIns="0" bIns="76200" rtlCol="0" anchor="t">
            <a:normAutofit/>
          </a:bodyPr>
          <a:lstStyle/>
          <a:p>
            <a:pPr algn="ctr" indent="0" marL="0">
              <a:lnSpc>
                <a:spcPts val="4480"/>
              </a:lnSpc>
              <a:buNone/>
            </a:pPr>
            <a:r>
              <a:rPr lang="en-US" sz="3200" b="1" dirty="0">
                <a:solidFill>
                  <a:srgbClr val="F7F5EF"/>
                </a:solidFill>
                <a:latin typeface="JetBrains Mono" pitchFamily="49" charset="0"/>
                <a:ea typeface="JetBrains Mono" pitchFamily="49" charset="-122"/>
                <a:cs typeface="JetBrains Mono" pitchFamily="49" charset="-120"/>
              </a:rPr>
              <a:t>P</a:t>
            </a:r>
            <a:endParaRPr lang="en-US" sz="3200" dirty="0"/>
          </a:p>
        </p:txBody>
      </p:sp>
      <p:sp>
        <p:nvSpPr>
          <p:cNvPr id="6" name="Text 4"/>
          <p:cNvSpPr/>
          <p:nvPr/>
        </p:nvSpPr>
        <p:spPr>
          <a:xfrm>
            <a:off x="3733800" y="3045355"/>
            <a:ext cx="2794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54708"/>
                </a:solidFill>
                <a:latin typeface="JetBrains Mono" pitchFamily="49" charset="0"/>
                <a:ea typeface="JetBrains Mono" pitchFamily="49" charset="-122"/>
                <a:cs typeface="JetBrains Mono" pitchFamily="49" charset="-120"/>
              </a:rPr>
              <a:t>-6</a:t>
            </a:r>
            <a:endParaRPr lang="en-US" sz="1500" dirty="0"/>
          </a:p>
        </p:txBody>
      </p:sp>
      <p:sp>
        <p:nvSpPr>
          <p:cNvPr id="7" name="Text 5"/>
          <p:cNvSpPr/>
          <p:nvPr/>
        </p:nvSpPr>
        <p:spPr>
          <a:xfrm>
            <a:off x="4679950" y="1854135"/>
            <a:ext cx="1651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2A64A3"/>
                </a:solidFill>
                <a:latin typeface="JetBrains Mono" pitchFamily="49" charset="0"/>
                <a:ea typeface="JetBrains Mono" pitchFamily="49" charset="-122"/>
                <a:cs typeface="JetBrains Mono" pitchFamily="49" charset="-120"/>
              </a:rPr>
              <a:t>1</a:t>
            </a:r>
            <a:endParaRPr lang="en-US" sz="1500" dirty="0"/>
          </a:p>
        </p:txBody>
      </p:sp>
      <p:sp>
        <p:nvSpPr>
          <p:cNvPr id="8" name="Text 6"/>
          <p:cNvSpPr/>
          <p:nvPr/>
        </p:nvSpPr>
        <p:spPr>
          <a:xfrm>
            <a:off x="4381500" y="2197035"/>
            <a:ext cx="762000" cy="772120"/>
          </a:xfrm>
          <a:custGeom>
            <a:avLst/>
            <a:gdLst/>
            <a:ahLst/>
            <a:cxnLst/>
            <a:rect l="l" t="t" r="r" b="b"/>
            <a:pathLst>
              <a:path w="762000" h="772120">
                <a:moveTo>
                  <a:pt x="101600" y="0"/>
                </a:moveTo>
                <a:lnTo>
                  <a:pt x="660400" y="0"/>
                </a:lnTo>
                <a:arcTo hR="101600" wR="101600" stAng="16200000" swAng="5400000"/>
                <a:lnTo>
                  <a:pt x="762000" y="670520"/>
                </a:lnTo>
                <a:arcTo hR="101600" wR="101600" stAng="0" swAng="5400000"/>
                <a:lnTo>
                  <a:pt x="101600" y="772120"/>
                </a:lnTo>
                <a:arcTo hR="101600" wR="101600" stAng="5400000" swAng="5400000"/>
                <a:lnTo>
                  <a:pt x="0" y="101600"/>
                </a:lnTo>
                <a:arcTo hR="101600" wR="101600" stAng="10800000" swAng="5400000"/>
                <a:close/>
              </a:path>
            </a:pathLst>
          </a:custGeom>
          <a:solidFill>
            <a:srgbClr val="1B2A41"/>
          </a:solidFill>
          <a:ln/>
        </p:spPr>
        <p:txBody>
          <a:bodyPr wrap="square" lIns="0" tIns="101600" rIns="0" bIns="76200" rtlCol="0" anchor="t">
            <a:normAutofit/>
          </a:bodyPr>
          <a:lstStyle/>
          <a:p>
            <a:pPr algn="ctr" indent="0" marL="0">
              <a:lnSpc>
                <a:spcPts val="4480"/>
              </a:lnSpc>
              <a:buNone/>
            </a:pPr>
            <a:r>
              <a:rPr lang="en-US" sz="3200" b="1" dirty="0">
                <a:solidFill>
                  <a:srgbClr val="F7F5EF"/>
                </a:solidFill>
                <a:latin typeface="JetBrains Mono" pitchFamily="49" charset="0"/>
                <a:ea typeface="JetBrains Mono" pitchFamily="49" charset="-122"/>
                <a:cs typeface="JetBrains Mono" pitchFamily="49" charset="-120"/>
              </a:rPr>
              <a:t>Y</a:t>
            </a:r>
            <a:endParaRPr lang="en-US" sz="3200" dirty="0"/>
          </a:p>
        </p:txBody>
      </p:sp>
      <p:sp>
        <p:nvSpPr>
          <p:cNvPr id="9" name="Text 7"/>
          <p:cNvSpPr/>
          <p:nvPr/>
        </p:nvSpPr>
        <p:spPr>
          <a:xfrm>
            <a:off x="4622800" y="3045355"/>
            <a:ext cx="2794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54708"/>
                </a:solidFill>
                <a:latin typeface="JetBrains Mono" pitchFamily="49" charset="0"/>
                <a:ea typeface="JetBrains Mono" pitchFamily="49" charset="-122"/>
                <a:cs typeface="JetBrains Mono" pitchFamily="49" charset="-120"/>
              </a:rPr>
              <a:t>-5</a:t>
            </a:r>
            <a:endParaRPr lang="en-US" sz="1500" dirty="0"/>
          </a:p>
        </p:txBody>
      </p:sp>
      <p:sp>
        <p:nvSpPr>
          <p:cNvPr id="10" name="Text 8"/>
          <p:cNvSpPr/>
          <p:nvPr/>
        </p:nvSpPr>
        <p:spPr>
          <a:xfrm>
            <a:off x="5568950" y="1854135"/>
            <a:ext cx="1651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2A64A3"/>
                </a:solidFill>
                <a:latin typeface="JetBrains Mono" pitchFamily="49" charset="0"/>
                <a:ea typeface="JetBrains Mono" pitchFamily="49" charset="-122"/>
                <a:cs typeface="JetBrains Mono" pitchFamily="49" charset="-120"/>
              </a:rPr>
              <a:t>2</a:t>
            </a:r>
            <a:endParaRPr lang="en-US" sz="1500" dirty="0"/>
          </a:p>
        </p:txBody>
      </p:sp>
      <p:sp>
        <p:nvSpPr>
          <p:cNvPr id="11" name="Text 9"/>
          <p:cNvSpPr/>
          <p:nvPr/>
        </p:nvSpPr>
        <p:spPr>
          <a:xfrm>
            <a:off x="5270500" y="2197035"/>
            <a:ext cx="762000" cy="772120"/>
          </a:xfrm>
          <a:custGeom>
            <a:avLst/>
            <a:gdLst/>
            <a:ahLst/>
            <a:cxnLst/>
            <a:rect l="l" t="t" r="r" b="b"/>
            <a:pathLst>
              <a:path w="762000" h="772120">
                <a:moveTo>
                  <a:pt x="101600" y="0"/>
                </a:moveTo>
                <a:lnTo>
                  <a:pt x="660400" y="0"/>
                </a:lnTo>
                <a:arcTo hR="101600" wR="101600" stAng="16200000" swAng="5400000"/>
                <a:lnTo>
                  <a:pt x="762000" y="670520"/>
                </a:lnTo>
                <a:arcTo hR="101600" wR="101600" stAng="0" swAng="5400000"/>
                <a:lnTo>
                  <a:pt x="101600" y="772120"/>
                </a:lnTo>
                <a:arcTo hR="101600" wR="101600" stAng="5400000" swAng="5400000"/>
                <a:lnTo>
                  <a:pt x="0" y="101600"/>
                </a:lnTo>
                <a:arcTo hR="101600" wR="101600" stAng="10800000" swAng="5400000"/>
                <a:close/>
              </a:path>
            </a:pathLst>
          </a:custGeom>
          <a:solidFill>
            <a:srgbClr val="1B2A41"/>
          </a:solidFill>
          <a:ln/>
        </p:spPr>
        <p:txBody>
          <a:bodyPr wrap="square" lIns="0" tIns="101600" rIns="0" bIns="76200" rtlCol="0" anchor="t">
            <a:normAutofit/>
          </a:bodyPr>
          <a:lstStyle/>
          <a:p>
            <a:pPr algn="ctr" indent="0" marL="0">
              <a:lnSpc>
                <a:spcPts val="4480"/>
              </a:lnSpc>
              <a:buNone/>
            </a:pPr>
            <a:r>
              <a:rPr lang="en-US" sz="3200" b="1" dirty="0">
                <a:solidFill>
                  <a:srgbClr val="F7F5EF"/>
                </a:solidFill>
                <a:latin typeface="JetBrains Mono" pitchFamily="49" charset="0"/>
                <a:ea typeface="JetBrains Mono" pitchFamily="49" charset="-122"/>
                <a:cs typeface="JetBrains Mono" pitchFamily="49" charset="-120"/>
              </a:rPr>
              <a:t>T</a:t>
            </a:r>
            <a:endParaRPr lang="en-US" sz="3200" dirty="0"/>
          </a:p>
        </p:txBody>
      </p:sp>
      <p:sp>
        <p:nvSpPr>
          <p:cNvPr id="12" name="Text 10"/>
          <p:cNvSpPr/>
          <p:nvPr/>
        </p:nvSpPr>
        <p:spPr>
          <a:xfrm>
            <a:off x="5511800" y="3045355"/>
            <a:ext cx="2794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54708"/>
                </a:solidFill>
                <a:latin typeface="JetBrains Mono" pitchFamily="49" charset="0"/>
                <a:ea typeface="JetBrains Mono" pitchFamily="49" charset="-122"/>
                <a:cs typeface="JetBrains Mono" pitchFamily="49" charset="-120"/>
              </a:rPr>
              <a:t>-4</a:t>
            </a:r>
            <a:endParaRPr lang="en-US" sz="1500" dirty="0"/>
          </a:p>
        </p:txBody>
      </p:sp>
      <p:sp>
        <p:nvSpPr>
          <p:cNvPr id="13" name="Text 11"/>
          <p:cNvSpPr/>
          <p:nvPr/>
        </p:nvSpPr>
        <p:spPr>
          <a:xfrm>
            <a:off x="6457950" y="1854135"/>
            <a:ext cx="1651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2A64A3"/>
                </a:solidFill>
                <a:latin typeface="JetBrains Mono" pitchFamily="49" charset="0"/>
                <a:ea typeface="JetBrains Mono" pitchFamily="49" charset="-122"/>
                <a:cs typeface="JetBrains Mono" pitchFamily="49" charset="-120"/>
              </a:rPr>
              <a:t>3</a:t>
            </a:r>
            <a:endParaRPr lang="en-US" sz="1500" dirty="0"/>
          </a:p>
        </p:txBody>
      </p:sp>
      <p:sp>
        <p:nvSpPr>
          <p:cNvPr id="14" name="Text 12"/>
          <p:cNvSpPr/>
          <p:nvPr/>
        </p:nvSpPr>
        <p:spPr>
          <a:xfrm>
            <a:off x="6159500" y="2197035"/>
            <a:ext cx="762000" cy="772120"/>
          </a:xfrm>
          <a:custGeom>
            <a:avLst/>
            <a:gdLst/>
            <a:ahLst/>
            <a:cxnLst/>
            <a:rect l="l" t="t" r="r" b="b"/>
            <a:pathLst>
              <a:path w="762000" h="772120">
                <a:moveTo>
                  <a:pt x="101600" y="0"/>
                </a:moveTo>
                <a:lnTo>
                  <a:pt x="660400" y="0"/>
                </a:lnTo>
                <a:arcTo hR="101600" wR="101600" stAng="16200000" swAng="5400000"/>
                <a:lnTo>
                  <a:pt x="762000" y="670520"/>
                </a:lnTo>
                <a:arcTo hR="101600" wR="101600" stAng="0" swAng="5400000"/>
                <a:lnTo>
                  <a:pt x="101600" y="772120"/>
                </a:lnTo>
                <a:arcTo hR="101600" wR="101600" stAng="5400000" swAng="5400000"/>
                <a:lnTo>
                  <a:pt x="0" y="101600"/>
                </a:lnTo>
                <a:arcTo hR="101600" wR="101600" stAng="10800000" swAng="5400000"/>
                <a:close/>
              </a:path>
            </a:pathLst>
          </a:custGeom>
          <a:solidFill>
            <a:srgbClr val="1B2A41"/>
          </a:solidFill>
          <a:ln/>
        </p:spPr>
        <p:txBody>
          <a:bodyPr wrap="square" lIns="0" tIns="101600" rIns="0" bIns="76200" rtlCol="0" anchor="t">
            <a:normAutofit/>
          </a:bodyPr>
          <a:lstStyle/>
          <a:p>
            <a:pPr algn="ctr" indent="0" marL="0">
              <a:lnSpc>
                <a:spcPts val="4480"/>
              </a:lnSpc>
              <a:buNone/>
            </a:pPr>
            <a:r>
              <a:rPr lang="en-US" sz="3200" b="1" dirty="0">
                <a:solidFill>
                  <a:srgbClr val="F7F5EF"/>
                </a:solidFill>
                <a:latin typeface="JetBrains Mono" pitchFamily="49" charset="0"/>
                <a:ea typeface="JetBrains Mono" pitchFamily="49" charset="-122"/>
                <a:cs typeface="JetBrains Mono" pitchFamily="49" charset="-120"/>
              </a:rPr>
              <a:t>H</a:t>
            </a:r>
            <a:endParaRPr lang="en-US" sz="3200" dirty="0"/>
          </a:p>
        </p:txBody>
      </p:sp>
      <p:sp>
        <p:nvSpPr>
          <p:cNvPr id="15" name="Text 13"/>
          <p:cNvSpPr/>
          <p:nvPr/>
        </p:nvSpPr>
        <p:spPr>
          <a:xfrm>
            <a:off x="6400800" y="3045355"/>
            <a:ext cx="2794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54708"/>
                </a:solidFill>
                <a:latin typeface="JetBrains Mono" pitchFamily="49" charset="0"/>
                <a:ea typeface="JetBrains Mono" pitchFamily="49" charset="-122"/>
                <a:cs typeface="JetBrains Mono" pitchFamily="49" charset="-120"/>
              </a:rPr>
              <a:t>-3</a:t>
            </a:r>
            <a:endParaRPr lang="en-US" sz="1500" dirty="0"/>
          </a:p>
        </p:txBody>
      </p:sp>
      <p:sp>
        <p:nvSpPr>
          <p:cNvPr id="16" name="Text 14"/>
          <p:cNvSpPr/>
          <p:nvPr/>
        </p:nvSpPr>
        <p:spPr>
          <a:xfrm>
            <a:off x="7346950" y="1854135"/>
            <a:ext cx="1651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2A64A3"/>
                </a:solidFill>
                <a:latin typeface="JetBrains Mono" pitchFamily="49" charset="0"/>
                <a:ea typeface="JetBrains Mono" pitchFamily="49" charset="-122"/>
                <a:cs typeface="JetBrains Mono" pitchFamily="49" charset="-120"/>
              </a:rPr>
              <a:t>4</a:t>
            </a:r>
            <a:endParaRPr lang="en-US" sz="1500" dirty="0"/>
          </a:p>
        </p:txBody>
      </p:sp>
      <p:sp>
        <p:nvSpPr>
          <p:cNvPr id="17" name="Text 15"/>
          <p:cNvSpPr/>
          <p:nvPr/>
        </p:nvSpPr>
        <p:spPr>
          <a:xfrm>
            <a:off x="7048500" y="2197035"/>
            <a:ext cx="762000" cy="772120"/>
          </a:xfrm>
          <a:custGeom>
            <a:avLst/>
            <a:gdLst/>
            <a:ahLst/>
            <a:cxnLst/>
            <a:rect l="l" t="t" r="r" b="b"/>
            <a:pathLst>
              <a:path w="762000" h="772120">
                <a:moveTo>
                  <a:pt x="101600" y="0"/>
                </a:moveTo>
                <a:lnTo>
                  <a:pt x="660400" y="0"/>
                </a:lnTo>
                <a:arcTo hR="101600" wR="101600" stAng="16200000" swAng="5400000"/>
                <a:lnTo>
                  <a:pt x="762000" y="670520"/>
                </a:lnTo>
                <a:arcTo hR="101600" wR="101600" stAng="0" swAng="5400000"/>
                <a:lnTo>
                  <a:pt x="101600" y="772120"/>
                </a:lnTo>
                <a:arcTo hR="101600" wR="101600" stAng="5400000" swAng="5400000"/>
                <a:lnTo>
                  <a:pt x="0" y="101600"/>
                </a:lnTo>
                <a:arcTo hR="101600" wR="101600" stAng="10800000" swAng="5400000"/>
                <a:close/>
              </a:path>
            </a:pathLst>
          </a:custGeom>
          <a:solidFill>
            <a:srgbClr val="1B2A41"/>
          </a:solidFill>
          <a:ln/>
        </p:spPr>
        <p:txBody>
          <a:bodyPr wrap="square" lIns="0" tIns="101600" rIns="0" bIns="76200" rtlCol="0" anchor="t">
            <a:normAutofit/>
          </a:bodyPr>
          <a:lstStyle/>
          <a:p>
            <a:pPr algn="ctr" indent="0" marL="0">
              <a:lnSpc>
                <a:spcPts val="4480"/>
              </a:lnSpc>
              <a:buNone/>
            </a:pPr>
            <a:r>
              <a:rPr lang="en-US" sz="3200" b="1" dirty="0">
                <a:solidFill>
                  <a:srgbClr val="F7F5EF"/>
                </a:solidFill>
                <a:latin typeface="JetBrains Mono" pitchFamily="49" charset="0"/>
                <a:ea typeface="JetBrains Mono" pitchFamily="49" charset="-122"/>
                <a:cs typeface="JetBrains Mono" pitchFamily="49" charset="-120"/>
              </a:rPr>
              <a:t>O</a:t>
            </a:r>
            <a:endParaRPr lang="en-US" sz="3200" dirty="0"/>
          </a:p>
        </p:txBody>
      </p:sp>
      <p:sp>
        <p:nvSpPr>
          <p:cNvPr id="18" name="Text 16"/>
          <p:cNvSpPr/>
          <p:nvPr/>
        </p:nvSpPr>
        <p:spPr>
          <a:xfrm>
            <a:off x="7289800" y="3045355"/>
            <a:ext cx="2794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54708"/>
                </a:solidFill>
                <a:latin typeface="JetBrains Mono" pitchFamily="49" charset="0"/>
                <a:ea typeface="JetBrains Mono" pitchFamily="49" charset="-122"/>
                <a:cs typeface="JetBrains Mono" pitchFamily="49" charset="-120"/>
              </a:rPr>
              <a:t>-2</a:t>
            </a:r>
            <a:endParaRPr lang="en-US" sz="1500" dirty="0"/>
          </a:p>
        </p:txBody>
      </p:sp>
      <p:sp>
        <p:nvSpPr>
          <p:cNvPr id="19" name="Text 17"/>
          <p:cNvSpPr/>
          <p:nvPr/>
        </p:nvSpPr>
        <p:spPr>
          <a:xfrm>
            <a:off x="8235950" y="1854135"/>
            <a:ext cx="1651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2A64A3"/>
                </a:solidFill>
                <a:latin typeface="JetBrains Mono" pitchFamily="49" charset="0"/>
                <a:ea typeface="JetBrains Mono" pitchFamily="49" charset="-122"/>
                <a:cs typeface="JetBrains Mono" pitchFamily="49" charset="-120"/>
              </a:rPr>
              <a:t>5</a:t>
            </a:r>
            <a:endParaRPr lang="en-US" sz="1500" dirty="0"/>
          </a:p>
        </p:txBody>
      </p:sp>
      <p:sp>
        <p:nvSpPr>
          <p:cNvPr id="20" name="Text 18"/>
          <p:cNvSpPr/>
          <p:nvPr/>
        </p:nvSpPr>
        <p:spPr>
          <a:xfrm>
            <a:off x="7937500" y="2197035"/>
            <a:ext cx="762000" cy="772120"/>
          </a:xfrm>
          <a:custGeom>
            <a:avLst/>
            <a:gdLst/>
            <a:ahLst/>
            <a:cxnLst/>
            <a:rect l="l" t="t" r="r" b="b"/>
            <a:pathLst>
              <a:path w="762000" h="772120">
                <a:moveTo>
                  <a:pt x="101600" y="0"/>
                </a:moveTo>
                <a:lnTo>
                  <a:pt x="660400" y="0"/>
                </a:lnTo>
                <a:arcTo hR="101600" wR="101600" stAng="16200000" swAng="5400000"/>
                <a:lnTo>
                  <a:pt x="762000" y="670520"/>
                </a:lnTo>
                <a:arcTo hR="101600" wR="101600" stAng="0" swAng="5400000"/>
                <a:lnTo>
                  <a:pt x="101600" y="772120"/>
                </a:lnTo>
                <a:arcTo hR="101600" wR="101600" stAng="5400000" swAng="5400000"/>
                <a:lnTo>
                  <a:pt x="0" y="101600"/>
                </a:lnTo>
                <a:arcTo hR="101600" wR="101600" stAng="10800000" swAng="5400000"/>
                <a:close/>
              </a:path>
            </a:pathLst>
          </a:custGeom>
          <a:solidFill>
            <a:srgbClr val="1B2A41"/>
          </a:solidFill>
          <a:ln/>
        </p:spPr>
        <p:txBody>
          <a:bodyPr wrap="square" lIns="0" tIns="101600" rIns="0" bIns="76200" rtlCol="0" anchor="t">
            <a:normAutofit/>
          </a:bodyPr>
          <a:lstStyle/>
          <a:p>
            <a:pPr algn="ctr" indent="0" marL="0">
              <a:lnSpc>
                <a:spcPts val="4480"/>
              </a:lnSpc>
              <a:buNone/>
            </a:pPr>
            <a:r>
              <a:rPr lang="en-US" sz="3200" b="1" dirty="0">
                <a:solidFill>
                  <a:srgbClr val="F7F5EF"/>
                </a:solidFill>
                <a:latin typeface="JetBrains Mono" pitchFamily="49" charset="0"/>
                <a:ea typeface="JetBrains Mono" pitchFamily="49" charset="-122"/>
                <a:cs typeface="JetBrains Mono" pitchFamily="49" charset="-120"/>
              </a:rPr>
              <a:t>N</a:t>
            </a:r>
            <a:endParaRPr lang="en-US" sz="3200" dirty="0"/>
          </a:p>
        </p:txBody>
      </p:sp>
      <p:sp>
        <p:nvSpPr>
          <p:cNvPr id="21" name="Text 19"/>
          <p:cNvSpPr/>
          <p:nvPr/>
        </p:nvSpPr>
        <p:spPr>
          <a:xfrm>
            <a:off x="8178800" y="3045355"/>
            <a:ext cx="2794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54708"/>
                </a:solidFill>
                <a:latin typeface="JetBrains Mono" pitchFamily="49" charset="0"/>
                <a:ea typeface="JetBrains Mono" pitchFamily="49" charset="-122"/>
                <a:cs typeface="JetBrains Mono" pitchFamily="49" charset="-120"/>
              </a:rPr>
              <a:t>-1</a:t>
            </a:r>
            <a:endParaRPr lang="en-US" sz="1500" dirty="0"/>
          </a:p>
        </p:txBody>
      </p:sp>
      <p:sp>
        <p:nvSpPr>
          <p:cNvPr id="22" name="Shape 20"/>
          <p:cNvSpPr/>
          <p:nvPr/>
        </p:nvSpPr>
        <p:spPr>
          <a:xfrm>
            <a:off x="812800" y="3616855"/>
            <a:ext cx="3386667" cy="1788120"/>
          </a:xfrm>
          <a:prstGeom prst="roundRect">
            <a:avLst>
              <a:gd name="adj" fmla="val 7102"/>
            </a:avLst>
          </a:prstGeom>
          <a:solidFill>
            <a:srgbClr val="1B2A41"/>
          </a:solidFill>
          <a:ln/>
        </p:spPr>
      </p:sp>
      <p:sp>
        <p:nvSpPr>
          <p:cNvPr id="23" name="Text 21"/>
          <p:cNvSpPr/>
          <p:nvPr/>
        </p:nvSpPr>
        <p:spPr>
          <a:xfrm>
            <a:off x="1066800" y="3794655"/>
            <a:ext cx="29650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index.py</a:t>
            </a:r>
            <a:endParaRPr lang="en-US" sz="1200" dirty="0"/>
          </a:p>
        </p:txBody>
      </p:sp>
      <p:sp>
        <p:nvSpPr>
          <p:cNvPr id="24" name="Text 22"/>
          <p:cNvSpPr/>
          <p:nvPr/>
        </p:nvSpPr>
        <p:spPr>
          <a:xfrm>
            <a:off x="1066800" y="4084176"/>
            <a:ext cx="2965027"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word = </a:t>
            </a:r>
            <a:r>
              <a:rPr lang="en-US" sz="1500" dirty="0">
                <a:solidFill>
                  <a:srgbClr val="9FD8A8"/>
                </a:solidFill>
                <a:latin typeface="JetBrains Mono" pitchFamily="49" charset="0"/>
                <a:ea typeface="JetBrains Mono" pitchFamily="49" charset="-122"/>
                <a:cs typeface="JetBrains Mono" pitchFamily="49" charset="-120"/>
              </a:rPr>
              <a:t>"PYTHON"</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(word[0])</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(word[3])</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(word[-1])</a:t>
            </a:r>
            <a:endParaRPr lang="en-US" sz="1500" dirty="0"/>
          </a:p>
        </p:txBody>
      </p:sp>
      <p:sp>
        <p:nvSpPr>
          <p:cNvPr id="25" name="Shape 23"/>
          <p:cNvSpPr/>
          <p:nvPr/>
        </p:nvSpPr>
        <p:spPr>
          <a:xfrm>
            <a:off x="4409017" y="3623205"/>
            <a:ext cx="3373967" cy="1515070"/>
          </a:xfrm>
          <a:prstGeom prst="roundRect">
            <a:avLst>
              <a:gd name="adj" fmla="val 7963"/>
            </a:avLst>
          </a:prstGeom>
          <a:solidFill>
            <a:srgbClr val="FFFDF8"/>
          </a:solidFill>
          <a:ln w="12700">
            <a:solidFill>
              <a:srgbClr val="D9DEE5"/>
            </a:solidFill>
            <a:prstDash val="solid"/>
          </a:ln>
        </p:spPr>
      </p:sp>
      <p:sp>
        <p:nvSpPr>
          <p:cNvPr id="26" name="Text 24"/>
          <p:cNvSpPr/>
          <p:nvPr/>
        </p:nvSpPr>
        <p:spPr>
          <a:xfrm>
            <a:off x="4669367" y="3807355"/>
            <a:ext cx="293886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27" name="Text 25"/>
          <p:cNvSpPr/>
          <p:nvPr/>
        </p:nvSpPr>
        <p:spPr>
          <a:xfrm>
            <a:off x="4669367" y="4096876"/>
            <a:ext cx="2938865"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P</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H</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N</a:t>
            </a:r>
            <a:endParaRPr lang="en-US" sz="1500" dirty="0"/>
          </a:p>
        </p:txBody>
      </p:sp>
      <p:sp>
        <p:nvSpPr>
          <p:cNvPr id="28" name="Text 26"/>
          <p:cNvSpPr/>
          <p:nvPr/>
        </p:nvSpPr>
        <p:spPr>
          <a:xfrm>
            <a:off x="7992534" y="3616855"/>
            <a:ext cx="3386667" cy="1104900"/>
          </a:xfrm>
          <a:prstGeom prst="roundRect">
            <a:avLst>
              <a:gd name="adj" fmla="val 11494"/>
            </a:avLst>
          </a:prstGeom>
          <a:solidFill>
            <a:srgbClr val="FBEFD5"/>
          </a:solidFill>
          <a:ln/>
        </p:spPr>
        <p:txBody>
          <a:bodyPr wrap="square" lIns="166003" tIns="115203" rIns="76595" bIns="898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Counting starts at </a:t>
            </a:r>
            <a:r>
              <a:rPr lang="en-US" sz="1500" b="1" dirty="0">
                <a:solidFill>
                  <a:srgbClr val="1B2A41"/>
                </a:solidFill>
                <a:latin typeface="Rubik" pitchFamily="34" charset="0"/>
                <a:ea typeface="Rubik" pitchFamily="34" charset="-122"/>
                <a:cs typeface="Rubik" pitchFamily="34" charset="-120"/>
              </a:rPr>
              <a:t>0</a:t>
            </a:r>
            <a:r>
              <a:rPr lang="en-US" sz="1500" dirty="0">
                <a:solidFill>
                  <a:srgbClr val="1B2A41"/>
                </a:solidFill>
                <a:latin typeface="Rubik" pitchFamily="34" charset="0"/>
                <a:ea typeface="Rubik" pitchFamily="34" charset="-122"/>
                <a:cs typeface="Rubik" pitchFamily="34" charset="-120"/>
              </a:rPr>
              <a:t>. Negative numbers count from the end: </a:t>
            </a:r>
            <a:r>
              <a:rPr lang="en-US" sz="1500" dirty="0">
                <a:solidFill>
                  <a:srgbClr val="2A64A3"/>
                </a:solidFill>
                <a:latin typeface="Rubik" pitchFamily="34" charset="0"/>
                <a:ea typeface="Rubik" pitchFamily="34" charset="-122"/>
                <a:cs typeface="Rubik" pitchFamily="34" charset="-120"/>
              </a:rPr>
              <a:t>-1</a:t>
            </a:r>
            <a:r>
              <a:rPr lang="en-US" sz="1500" dirty="0">
                <a:solidFill>
                  <a:srgbClr val="1B2A41"/>
                </a:solidFill>
                <a:latin typeface="Rubik" pitchFamily="34" charset="0"/>
                <a:ea typeface="Rubik" pitchFamily="34" charset="-122"/>
                <a:cs typeface="Rubik" pitchFamily="34" charset="-120"/>
              </a:rPr>
              <a:t> is always the last character.</a:t>
            </a:r>
            <a:endParaRPr lang="en-US" sz="15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7 · SLICING</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Cutting out a piece: s[start:stop]</a:t>
            </a:r>
            <a:endParaRPr lang="en-US" sz="3200" dirty="0"/>
          </a:p>
        </p:txBody>
      </p:sp>
      <p:sp>
        <p:nvSpPr>
          <p:cNvPr id="4" name="Shape 2"/>
          <p:cNvSpPr/>
          <p:nvPr/>
        </p:nvSpPr>
        <p:spPr>
          <a:xfrm>
            <a:off x="812800" y="1854135"/>
            <a:ext cx="5105400" cy="391120"/>
          </a:xfrm>
          <a:prstGeom prst="roundRect">
            <a:avLst>
              <a:gd name="adj" fmla="val 22730"/>
            </a:avLst>
          </a:prstGeom>
          <a:solidFill>
            <a:srgbClr val="1B2A41"/>
          </a:solidFill>
          <a:ln/>
        </p:spPr>
      </p:sp>
      <p:sp>
        <p:nvSpPr>
          <p:cNvPr id="5" name="Text 3"/>
          <p:cNvSpPr/>
          <p:nvPr/>
        </p:nvSpPr>
        <p:spPr>
          <a:xfrm>
            <a:off x="990600" y="1943035"/>
            <a:ext cx="183134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WRITE</a:t>
            </a:r>
            <a:endParaRPr lang="en-US" sz="1200" dirty="0"/>
          </a:p>
        </p:txBody>
      </p:sp>
      <p:sp>
        <p:nvSpPr>
          <p:cNvPr id="6" name="Text 4"/>
          <p:cNvSpPr/>
          <p:nvPr/>
        </p:nvSpPr>
        <p:spPr>
          <a:xfrm>
            <a:off x="2921000" y="1943035"/>
            <a:ext cx="290398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GET</a:t>
            </a:r>
            <a:endParaRPr lang="en-US" sz="1200" dirty="0"/>
          </a:p>
        </p:txBody>
      </p:sp>
      <p:sp>
        <p:nvSpPr>
          <p:cNvPr id="7" name="Shape 5"/>
          <p:cNvSpPr/>
          <p:nvPr/>
        </p:nvSpPr>
        <p:spPr>
          <a:xfrm>
            <a:off x="812800" y="2696105"/>
            <a:ext cx="5105400" cy="0"/>
          </a:xfrm>
          <a:prstGeom prst="line">
            <a:avLst/>
          </a:prstGeom>
          <a:noFill/>
          <a:ln w="12700">
            <a:solidFill>
              <a:srgbClr val="D9DEE5"/>
            </a:solidFill>
            <a:prstDash val="solid"/>
          </a:ln>
        </p:spPr>
      </p:sp>
      <p:sp>
        <p:nvSpPr>
          <p:cNvPr id="8" name="Text 6"/>
          <p:cNvSpPr/>
          <p:nvPr/>
        </p:nvSpPr>
        <p:spPr>
          <a:xfrm>
            <a:off x="990600" y="2334155"/>
            <a:ext cx="18313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s[0:3]</a:t>
            </a:r>
            <a:endParaRPr lang="en-US" sz="1500" dirty="0"/>
          </a:p>
        </p:txBody>
      </p:sp>
      <p:sp>
        <p:nvSpPr>
          <p:cNvPr id="9" name="Text 7"/>
          <p:cNvSpPr/>
          <p:nvPr/>
        </p:nvSpPr>
        <p:spPr>
          <a:xfrm>
            <a:off x="2921000" y="2334155"/>
            <a:ext cx="290398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"Cut"</a:t>
            </a:r>
            <a:endParaRPr lang="en-US" sz="1500" dirty="0"/>
          </a:p>
        </p:txBody>
      </p:sp>
      <p:sp>
        <p:nvSpPr>
          <p:cNvPr id="10" name="Shape 8"/>
          <p:cNvSpPr/>
          <p:nvPr/>
        </p:nvSpPr>
        <p:spPr>
          <a:xfrm>
            <a:off x="812800" y="3153305"/>
            <a:ext cx="5105400" cy="0"/>
          </a:xfrm>
          <a:prstGeom prst="line">
            <a:avLst/>
          </a:prstGeom>
          <a:noFill/>
          <a:ln w="12700">
            <a:solidFill>
              <a:srgbClr val="D9DEE5"/>
            </a:solidFill>
            <a:prstDash val="solid"/>
          </a:ln>
        </p:spPr>
      </p:sp>
      <p:sp>
        <p:nvSpPr>
          <p:cNvPr id="11" name="Text 9"/>
          <p:cNvSpPr/>
          <p:nvPr/>
        </p:nvSpPr>
        <p:spPr>
          <a:xfrm>
            <a:off x="990600" y="2791355"/>
            <a:ext cx="18313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s[3:7]</a:t>
            </a:r>
            <a:endParaRPr lang="en-US" sz="1500" dirty="0"/>
          </a:p>
        </p:txBody>
      </p:sp>
      <p:sp>
        <p:nvSpPr>
          <p:cNvPr id="12" name="Text 10"/>
          <p:cNvSpPr/>
          <p:nvPr/>
        </p:nvSpPr>
        <p:spPr>
          <a:xfrm>
            <a:off x="2921000" y="2791355"/>
            <a:ext cx="290398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"tack"</a:t>
            </a:r>
            <a:endParaRPr lang="en-US" sz="1500" dirty="0"/>
          </a:p>
        </p:txBody>
      </p:sp>
      <p:sp>
        <p:nvSpPr>
          <p:cNvPr id="13" name="Shape 11"/>
          <p:cNvSpPr/>
          <p:nvPr/>
        </p:nvSpPr>
        <p:spPr>
          <a:xfrm>
            <a:off x="812800" y="3610505"/>
            <a:ext cx="5105400" cy="0"/>
          </a:xfrm>
          <a:prstGeom prst="line">
            <a:avLst/>
          </a:prstGeom>
          <a:noFill/>
          <a:ln w="12700">
            <a:solidFill>
              <a:srgbClr val="D9DEE5"/>
            </a:solidFill>
            <a:prstDash val="solid"/>
          </a:ln>
        </p:spPr>
      </p:sp>
      <p:sp>
        <p:nvSpPr>
          <p:cNvPr id="14" name="Text 12"/>
          <p:cNvSpPr/>
          <p:nvPr/>
        </p:nvSpPr>
        <p:spPr>
          <a:xfrm>
            <a:off x="990600" y="3248555"/>
            <a:ext cx="18313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s[:3]</a:t>
            </a:r>
            <a:endParaRPr lang="en-US" sz="1500" dirty="0"/>
          </a:p>
        </p:txBody>
      </p:sp>
      <p:sp>
        <p:nvSpPr>
          <p:cNvPr id="15" name="Text 13"/>
          <p:cNvSpPr/>
          <p:nvPr/>
        </p:nvSpPr>
        <p:spPr>
          <a:xfrm>
            <a:off x="2921000" y="3248555"/>
            <a:ext cx="290398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"Cut"</a:t>
            </a:r>
            <a:endParaRPr lang="en-US" sz="1500" dirty="0"/>
          </a:p>
        </p:txBody>
      </p:sp>
      <p:sp>
        <p:nvSpPr>
          <p:cNvPr id="16" name="Shape 14"/>
          <p:cNvSpPr/>
          <p:nvPr/>
        </p:nvSpPr>
        <p:spPr>
          <a:xfrm>
            <a:off x="812800" y="4067705"/>
            <a:ext cx="5105400" cy="0"/>
          </a:xfrm>
          <a:prstGeom prst="line">
            <a:avLst/>
          </a:prstGeom>
          <a:noFill/>
          <a:ln w="12700">
            <a:solidFill>
              <a:srgbClr val="D9DEE5"/>
            </a:solidFill>
            <a:prstDash val="solid"/>
          </a:ln>
        </p:spPr>
      </p:sp>
      <p:sp>
        <p:nvSpPr>
          <p:cNvPr id="17" name="Text 15"/>
          <p:cNvSpPr/>
          <p:nvPr/>
        </p:nvSpPr>
        <p:spPr>
          <a:xfrm>
            <a:off x="990600" y="3705755"/>
            <a:ext cx="18313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s[3:]</a:t>
            </a:r>
            <a:endParaRPr lang="en-US" sz="1500" dirty="0"/>
          </a:p>
        </p:txBody>
      </p:sp>
      <p:sp>
        <p:nvSpPr>
          <p:cNvPr id="18" name="Text 16"/>
          <p:cNvSpPr/>
          <p:nvPr/>
        </p:nvSpPr>
        <p:spPr>
          <a:xfrm>
            <a:off x="2921000" y="3705755"/>
            <a:ext cx="290398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"tack"</a:t>
            </a:r>
            <a:endParaRPr lang="en-US" sz="1500" dirty="0"/>
          </a:p>
        </p:txBody>
      </p:sp>
      <p:sp>
        <p:nvSpPr>
          <p:cNvPr id="19" name="Shape 17"/>
          <p:cNvSpPr/>
          <p:nvPr/>
        </p:nvSpPr>
        <p:spPr>
          <a:xfrm>
            <a:off x="812800" y="4524905"/>
            <a:ext cx="5105400" cy="0"/>
          </a:xfrm>
          <a:prstGeom prst="line">
            <a:avLst/>
          </a:prstGeom>
          <a:noFill/>
          <a:ln w="12700">
            <a:solidFill>
              <a:srgbClr val="D9DEE5"/>
            </a:solidFill>
            <a:prstDash val="solid"/>
          </a:ln>
        </p:spPr>
      </p:sp>
      <p:sp>
        <p:nvSpPr>
          <p:cNvPr id="20" name="Text 18"/>
          <p:cNvSpPr/>
          <p:nvPr/>
        </p:nvSpPr>
        <p:spPr>
          <a:xfrm>
            <a:off x="990600" y="4162955"/>
            <a:ext cx="18313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s[-4:]</a:t>
            </a:r>
            <a:endParaRPr lang="en-US" sz="1500" dirty="0"/>
          </a:p>
        </p:txBody>
      </p:sp>
      <p:sp>
        <p:nvSpPr>
          <p:cNvPr id="21" name="Text 19"/>
          <p:cNvSpPr/>
          <p:nvPr/>
        </p:nvSpPr>
        <p:spPr>
          <a:xfrm>
            <a:off x="2921000" y="4162955"/>
            <a:ext cx="290398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"tack"</a:t>
            </a:r>
            <a:endParaRPr lang="en-US" sz="1500" dirty="0"/>
          </a:p>
        </p:txBody>
      </p:sp>
      <p:sp>
        <p:nvSpPr>
          <p:cNvPr id="22" name="Shape 20"/>
          <p:cNvSpPr/>
          <p:nvPr/>
        </p:nvSpPr>
        <p:spPr>
          <a:xfrm>
            <a:off x="812800" y="4982105"/>
            <a:ext cx="5105400" cy="0"/>
          </a:xfrm>
          <a:prstGeom prst="line">
            <a:avLst/>
          </a:prstGeom>
          <a:noFill/>
          <a:ln w="12700">
            <a:solidFill>
              <a:srgbClr val="D9DEE5"/>
            </a:solidFill>
            <a:prstDash val="solid"/>
          </a:ln>
        </p:spPr>
      </p:sp>
      <p:sp>
        <p:nvSpPr>
          <p:cNvPr id="23" name="Text 21"/>
          <p:cNvSpPr/>
          <p:nvPr/>
        </p:nvSpPr>
        <p:spPr>
          <a:xfrm>
            <a:off x="990600" y="4620155"/>
            <a:ext cx="18313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s[::-1]</a:t>
            </a:r>
            <a:endParaRPr lang="en-US" sz="1500" dirty="0"/>
          </a:p>
        </p:txBody>
      </p:sp>
      <p:sp>
        <p:nvSpPr>
          <p:cNvPr id="24" name="Text 22"/>
          <p:cNvSpPr/>
          <p:nvPr/>
        </p:nvSpPr>
        <p:spPr>
          <a:xfrm>
            <a:off x="2921000" y="4620155"/>
            <a:ext cx="290398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"kcattuC"</a:t>
            </a:r>
            <a:endParaRPr lang="en-US" sz="1500" dirty="0"/>
          </a:p>
        </p:txBody>
      </p:sp>
      <p:sp>
        <p:nvSpPr>
          <p:cNvPr id="25" name="Shape 23"/>
          <p:cNvSpPr/>
          <p:nvPr/>
        </p:nvSpPr>
        <p:spPr>
          <a:xfrm>
            <a:off x="6273800" y="1854135"/>
            <a:ext cx="5105400" cy="930870"/>
          </a:xfrm>
          <a:prstGeom prst="roundRect">
            <a:avLst>
              <a:gd name="adj" fmla="val 13643"/>
            </a:avLst>
          </a:prstGeom>
          <a:solidFill>
            <a:srgbClr val="1B2A41"/>
          </a:solidFill>
          <a:ln/>
        </p:spPr>
      </p:sp>
      <p:sp>
        <p:nvSpPr>
          <p:cNvPr id="26" name="Text 24"/>
          <p:cNvSpPr/>
          <p:nvPr/>
        </p:nvSpPr>
        <p:spPr>
          <a:xfrm>
            <a:off x="6527800" y="2031935"/>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slice.py</a:t>
            </a:r>
            <a:endParaRPr lang="en-US" sz="1200" dirty="0"/>
          </a:p>
        </p:txBody>
      </p:sp>
      <p:sp>
        <p:nvSpPr>
          <p:cNvPr id="27" name="Text 25"/>
          <p:cNvSpPr/>
          <p:nvPr/>
        </p:nvSpPr>
        <p:spPr>
          <a:xfrm>
            <a:off x="6527800" y="2321455"/>
            <a:ext cx="4735322"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 = </a:t>
            </a:r>
            <a:r>
              <a:rPr lang="en-US" sz="1500" dirty="0">
                <a:solidFill>
                  <a:srgbClr val="9FD8A8"/>
                </a:solidFill>
                <a:latin typeface="JetBrains Mono" pitchFamily="49" charset="0"/>
                <a:ea typeface="JetBrains Mono" pitchFamily="49" charset="-122"/>
                <a:cs typeface="JetBrains Mono" pitchFamily="49" charset="-120"/>
              </a:rPr>
              <a:t>"Cuttack"</a:t>
            </a:r>
            <a:endParaRPr lang="en-US" sz="1500" dirty="0"/>
          </a:p>
        </p:txBody>
      </p:sp>
      <p:sp>
        <p:nvSpPr>
          <p:cNvPr id="28" name="Text 26"/>
          <p:cNvSpPr/>
          <p:nvPr/>
        </p:nvSpPr>
        <p:spPr>
          <a:xfrm>
            <a:off x="6273800" y="2912005"/>
            <a:ext cx="5105400" cy="571500"/>
          </a:xfrm>
          <a:prstGeom prst="roundRect">
            <a:avLst>
              <a:gd name="adj" fmla="val 22222"/>
            </a:avLst>
          </a:prstGeom>
          <a:solidFill>
            <a:srgbClr val="FBEFD5"/>
          </a:solidFill>
          <a:ln/>
        </p:spPr>
        <p:txBody>
          <a:bodyPr wrap="square" lIns="166003" tIns="115203" rIns="25033" bIns="898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Same rule as </a:t>
            </a:r>
            <a:r>
              <a:rPr lang="en-US" sz="1500" dirty="0">
                <a:solidFill>
                  <a:srgbClr val="2A64A3"/>
                </a:solidFill>
                <a:latin typeface="Rubik" pitchFamily="34" charset="0"/>
                <a:ea typeface="Rubik" pitchFamily="34" charset="-122"/>
                <a:cs typeface="Rubik" pitchFamily="34" charset="-120"/>
              </a:rPr>
              <a:t>range()</a:t>
            </a:r>
            <a:r>
              <a:rPr lang="en-US" sz="1500" dirty="0">
                <a:solidFill>
                  <a:srgbClr val="1B2A41"/>
                </a:solidFill>
                <a:latin typeface="Rubik" pitchFamily="34" charset="0"/>
                <a:ea typeface="Rubik" pitchFamily="34" charset="-122"/>
                <a:cs typeface="Rubik" pitchFamily="34" charset="-120"/>
              </a:rPr>
              <a:t>: start is included, </a:t>
            </a:r>
            <a:r>
              <a:rPr lang="en-US" sz="1500" b="1" dirty="0">
                <a:solidFill>
                  <a:srgbClr val="1B2A41"/>
                </a:solidFill>
                <a:latin typeface="Rubik" pitchFamily="34" charset="0"/>
                <a:ea typeface="Rubik" pitchFamily="34" charset="-122"/>
                <a:cs typeface="Rubik" pitchFamily="34" charset="-120"/>
              </a:rPr>
              <a:t>stop is not</a:t>
            </a:r>
            <a:r>
              <a:rPr lang="en-US" sz="1500" dirty="0">
                <a:solidFill>
                  <a:srgbClr val="1B2A41"/>
                </a:solidFill>
                <a:latin typeface="Rubik" pitchFamily="34" charset="0"/>
                <a:ea typeface="Rubik" pitchFamily="34" charset="-122"/>
                <a:cs typeface="Rubik" pitchFamily="34" charset="-120"/>
              </a:rPr>
              <a:t>.</a:t>
            </a:r>
            <a:endParaRPr lang="en-US" sz="1500" dirty="0"/>
          </a:p>
        </p:txBody>
      </p:sp>
      <p:sp>
        <p:nvSpPr>
          <p:cNvPr id="29" name="Shape 27"/>
          <p:cNvSpPr/>
          <p:nvPr/>
        </p:nvSpPr>
        <p:spPr>
          <a:xfrm>
            <a:off x="6280150" y="3616855"/>
            <a:ext cx="5092700" cy="482600"/>
          </a:xfrm>
          <a:prstGeom prst="roundRect">
            <a:avLst>
              <a:gd name="adj" fmla="val 17105"/>
            </a:avLst>
          </a:prstGeom>
          <a:solidFill>
            <a:srgbClr val="FFFDF8"/>
          </a:solidFill>
          <a:ln w="12700">
            <a:solidFill>
              <a:srgbClr val="E2DED3"/>
            </a:solidFill>
            <a:prstDash val="solid"/>
          </a:ln>
        </p:spPr>
      </p:sp>
      <p:sp>
        <p:nvSpPr>
          <p:cNvPr id="30" name="Text 28"/>
          <p:cNvSpPr/>
          <p:nvPr/>
        </p:nvSpPr>
        <p:spPr>
          <a:xfrm>
            <a:off x="6438900" y="372480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31" name="Text 29"/>
          <p:cNvSpPr/>
          <p:nvPr/>
        </p:nvSpPr>
        <p:spPr>
          <a:xfrm>
            <a:off x="6896100" y="3724805"/>
            <a:ext cx="29268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Leave out start:</a:t>
            </a:r>
            <a:r>
              <a:rPr lang="en-US" sz="1500" dirty="0">
                <a:solidFill>
                  <a:srgbClr val="4A5568"/>
                </a:solidFill>
                <a:latin typeface="Rubik" pitchFamily="34" charset="0"/>
                <a:ea typeface="Rubik" pitchFamily="34" charset="-122"/>
                <a:cs typeface="Rubik" pitchFamily="34" charset="-120"/>
              </a:rPr>
              <a:t> begin at 0</a:t>
            </a:r>
            <a:endParaRPr lang="en-US" sz="1500" dirty="0"/>
          </a:p>
        </p:txBody>
      </p:sp>
      <p:sp>
        <p:nvSpPr>
          <p:cNvPr id="32" name="Shape 30"/>
          <p:cNvSpPr/>
          <p:nvPr/>
        </p:nvSpPr>
        <p:spPr>
          <a:xfrm>
            <a:off x="6280150" y="4239155"/>
            <a:ext cx="5092700" cy="482600"/>
          </a:xfrm>
          <a:prstGeom prst="roundRect">
            <a:avLst>
              <a:gd name="adj" fmla="val 17105"/>
            </a:avLst>
          </a:prstGeom>
          <a:solidFill>
            <a:srgbClr val="FFFDF8"/>
          </a:solidFill>
          <a:ln w="12700">
            <a:solidFill>
              <a:srgbClr val="E2DED3"/>
            </a:solidFill>
            <a:prstDash val="solid"/>
          </a:ln>
        </p:spPr>
      </p:sp>
      <p:sp>
        <p:nvSpPr>
          <p:cNvPr id="33" name="Text 31"/>
          <p:cNvSpPr/>
          <p:nvPr/>
        </p:nvSpPr>
        <p:spPr>
          <a:xfrm>
            <a:off x="6438900" y="434710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34" name="Text 32"/>
          <p:cNvSpPr/>
          <p:nvPr/>
        </p:nvSpPr>
        <p:spPr>
          <a:xfrm>
            <a:off x="6896100" y="4347105"/>
            <a:ext cx="320492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Leave out stop:</a:t>
            </a:r>
            <a:r>
              <a:rPr lang="en-US" sz="1500" dirty="0">
                <a:solidFill>
                  <a:srgbClr val="4A5568"/>
                </a:solidFill>
                <a:latin typeface="Rubik" pitchFamily="34" charset="0"/>
                <a:ea typeface="Rubik" pitchFamily="34" charset="-122"/>
                <a:cs typeface="Rubik" pitchFamily="34" charset="-120"/>
              </a:rPr>
              <a:t> go to the end</a:t>
            </a:r>
            <a:endParaRPr lang="en-US" sz="1500" dirty="0"/>
          </a:p>
        </p:txBody>
      </p:sp>
      <p:sp>
        <p:nvSpPr>
          <p:cNvPr id="35" name="Shape 33"/>
          <p:cNvSpPr/>
          <p:nvPr/>
        </p:nvSpPr>
        <p:spPr>
          <a:xfrm>
            <a:off x="6273800" y="4855105"/>
            <a:ext cx="5105400" cy="787400"/>
          </a:xfrm>
          <a:prstGeom prst="roundRect">
            <a:avLst>
              <a:gd name="adj" fmla="val 11290"/>
            </a:avLst>
          </a:prstGeom>
          <a:solidFill>
            <a:srgbClr val="FBEFD5"/>
          </a:solidFill>
          <a:ln/>
        </p:spPr>
      </p:sp>
      <p:pic>
        <p:nvPicPr>
          <p:cNvPr id="36" name="Image 0" descr="Lightbulb">    </p:cNvPr>
          <p:cNvPicPr>
            <a:picLocks noChangeAspect="1"/>
          </p:cNvPicPr>
          <p:nvPr/>
        </p:nvPicPr>
        <p:blipFill>
          <a:blip r:embed="rId1"/>
          <a:srcRect l="-241" r="-241" t="0" b="0"/>
          <a:stretch/>
        </p:blipFill>
        <p:spPr>
          <a:xfrm>
            <a:off x="6451600" y="5096405"/>
            <a:ext cx="261607" cy="304800"/>
          </a:xfrm>
          <a:prstGeom prst="rect">
            <a:avLst/>
          </a:prstGeom>
        </p:spPr>
      </p:pic>
      <p:sp>
        <p:nvSpPr>
          <p:cNvPr id="37" name="Text 34"/>
          <p:cNvSpPr/>
          <p:nvPr/>
        </p:nvSpPr>
        <p:spPr>
          <a:xfrm>
            <a:off x="6840207" y="4982105"/>
            <a:ext cx="449202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[::-1]</a:t>
            </a:r>
            <a:r>
              <a:rPr lang="en-US" sz="1500" dirty="0">
                <a:solidFill>
                  <a:srgbClr val="1B2A41"/>
                </a:solidFill>
                <a:latin typeface="Rubik" pitchFamily="34" charset="0"/>
                <a:ea typeface="Rubik" pitchFamily="34" charset="-122"/>
                <a:cs typeface="Rubik" pitchFamily="34" charset="-120"/>
              </a:rPr>
              <a:t> walks backwards: the fastest way to reverse a string.</a:t>
            </a:r>
            <a:endParaRPr lang="en-US" sz="1500" dirty="0"/>
          </a:p>
        </p:txBody>
      </p:sp>
      <p:sp>
        <p:nvSpPr>
          <p:cNvPr id="38" name="Text 3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7 · LOOPING</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Visiting every character</a:t>
            </a:r>
            <a:endParaRPr lang="en-US" sz="3200" dirty="0"/>
          </a:p>
        </p:txBody>
      </p:sp>
      <p:sp>
        <p:nvSpPr>
          <p:cNvPr id="4" name="Shape 2"/>
          <p:cNvSpPr/>
          <p:nvPr/>
        </p:nvSpPr>
        <p:spPr>
          <a:xfrm>
            <a:off x="812800" y="1854135"/>
            <a:ext cx="5461529" cy="2359620"/>
          </a:xfrm>
          <a:prstGeom prst="roundRect">
            <a:avLst>
              <a:gd name="adj" fmla="val 5382"/>
            </a:avLst>
          </a:prstGeom>
          <a:solidFill>
            <a:srgbClr val="1B2A41"/>
          </a:solidFill>
          <a:ln/>
        </p:spPr>
      </p:sp>
      <p:sp>
        <p:nvSpPr>
          <p:cNvPr id="5" name="Text 3"/>
          <p:cNvSpPr/>
          <p:nvPr/>
        </p:nvSpPr>
        <p:spPr>
          <a:xfrm>
            <a:off x="1066800" y="2031935"/>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vowels.py</a:t>
            </a:r>
            <a:endParaRPr lang="en-US" sz="1200" dirty="0"/>
          </a:p>
        </p:txBody>
      </p:sp>
      <p:sp>
        <p:nvSpPr>
          <p:cNvPr id="6" name="Text 4"/>
          <p:cNvSpPr/>
          <p:nvPr/>
        </p:nvSpPr>
        <p:spPr>
          <a:xfrm>
            <a:off x="1066800" y="2321455"/>
            <a:ext cx="5102135" cy="1739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word = </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"Word: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count = 0</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ch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word:</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ch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"aeiouAEIOU"</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count += 1</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"Vowels:"</a:t>
            </a:r>
            <a:r>
              <a:rPr lang="en-US" sz="1500" dirty="0">
                <a:solidFill>
                  <a:srgbClr val="E8EDF3"/>
                </a:solidFill>
                <a:latin typeface="JetBrains Mono" pitchFamily="49" charset="0"/>
                <a:ea typeface="JetBrains Mono" pitchFamily="49" charset="-122"/>
                <a:cs typeface="JetBrains Mono" pitchFamily="49" charset="-120"/>
              </a:rPr>
              <a:t>, count)</a:t>
            </a:r>
            <a:endParaRPr lang="en-US" sz="1500" dirty="0"/>
          </a:p>
        </p:txBody>
      </p:sp>
      <p:sp>
        <p:nvSpPr>
          <p:cNvPr id="7" name="Shape 5"/>
          <p:cNvSpPr/>
          <p:nvPr/>
        </p:nvSpPr>
        <p:spPr>
          <a:xfrm>
            <a:off x="819150" y="4347105"/>
            <a:ext cx="5448829" cy="1229320"/>
          </a:xfrm>
          <a:prstGeom prst="roundRect">
            <a:avLst>
              <a:gd name="adj" fmla="val 9814"/>
            </a:avLst>
          </a:prstGeom>
          <a:solidFill>
            <a:srgbClr val="FFFDF8"/>
          </a:solidFill>
          <a:ln w="12700">
            <a:solidFill>
              <a:srgbClr val="D9DEE5"/>
            </a:solidFill>
            <a:prstDash val="solid"/>
          </a:ln>
        </p:spPr>
      </p:sp>
      <p:sp>
        <p:nvSpPr>
          <p:cNvPr id="8" name="Text 6"/>
          <p:cNvSpPr/>
          <p:nvPr/>
        </p:nvSpPr>
        <p:spPr>
          <a:xfrm>
            <a:off x="1079500" y="4531255"/>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1079500" y="4820776"/>
            <a:ext cx="507597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Word: </a:t>
            </a:r>
            <a:r>
              <a:rPr lang="en-US" sz="1500" dirty="0">
                <a:solidFill>
                  <a:srgbClr val="B54708"/>
                </a:solidFill>
                <a:latin typeface="JetBrains Mono" pitchFamily="49" charset="0"/>
                <a:ea typeface="JetBrains Mono" pitchFamily="49" charset="-122"/>
                <a:cs typeface="JetBrains Mono" pitchFamily="49" charset="-120"/>
              </a:rPr>
              <a:t>Konark</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Vowels: 2</a:t>
            </a:r>
            <a:endParaRPr lang="en-US" sz="1500" dirty="0"/>
          </a:p>
        </p:txBody>
      </p:sp>
      <p:sp>
        <p:nvSpPr>
          <p:cNvPr id="10" name="Text 8"/>
          <p:cNvSpPr/>
          <p:nvPr/>
        </p:nvSpPr>
        <p:spPr>
          <a:xfrm>
            <a:off x="6629929" y="1854135"/>
            <a:ext cx="4891749"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2A64A3"/>
                </a:solidFill>
                <a:latin typeface="Rubik" pitchFamily="34" charset="0"/>
                <a:ea typeface="Rubik" pitchFamily="34" charset="-122"/>
                <a:cs typeface="Rubik" pitchFamily="34" charset="-120"/>
              </a:rPr>
              <a:t>for ch in word</a:t>
            </a:r>
            <a:r>
              <a:rPr lang="en-US" sz="1800" b="1" dirty="0">
                <a:solidFill>
                  <a:srgbClr val="1B2A41"/>
                </a:solidFill>
                <a:latin typeface="Rubik" pitchFamily="34" charset="0"/>
                <a:ea typeface="Rubik" pitchFamily="34" charset="-122"/>
                <a:cs typeface="Rubik" pitchFamily="34" charset="-120"/>
              </a:rPr>
              <a:t> gives you one character per round.</a:t>
            </a:r>
            <a:endParaRPr lang="en-US" sz="1800" dirty="0"/>
          </a:p>
        </p:txBody>
      </p:sp>
      <p:sp>
        <p:nvSpPr>
          <p:cNvPr id="11" name="Shape 9"/>
          <p:cNvSpPr/>
          <p:nvPr/>
        </p:nvSpPr>
        <p:spPr>
          <a:xfrm>
            <a:off x="6636279" y="2604626"/>
            <a:ext cx="4736571" cy="1176007"/>
          </a:xfrm>
          <a:prstGeom prst="roundRect">
            <a:avLst>
              <a:gd name="adj" fmla="val 8099"/>
            </a:avLst>
          </a:prstGeom>
          <a:solidFill>
            <a:srgbClr val="FFFDF8"/>
          </a:solidFill>
          <a:ln w="12700">
            <a:solidFill>
              <a:srgbClr val="E2DED3"/>
            </a:solidFill>
            <a:prstDash val="solid"/>
          </a:ln>
        </p:spPr>
      </p:sp>
      <p:sp>
        <p:nvSpPr>
          <p:cNvPr id="12" name="Text 10"/>
          <p:cNvSpPr/>
          <p:nvPr/>
        </p:nvSpPr>
        <p:spPr>
          <a:xfrm>
            <a:off x="6845829" y="2763376"/>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Read it as</a:t>
            </a:r>
            <a:endParaRPr lang="en-US" sz="1800" dirty="0"/>
          </a:p>
        </p:txBody>
      </p:sp>
      <p:sp>
        <p:nvSpPr>
          <p:cNvPr id="13" name="Text 11"/>
          <p:cNvSpPr/>
          <p:nvPr/>
        </p:nvSpPr>
        <p:spPr>
          <a:xfrm>
            <a:off x="6845829" y="3088481"/>
            <a:ext cx="444699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for each character </a:t>
            </a:r>
            <a:r>
              <a:rPr lang="en-US" sz="1500" dirty="0">
                <a:solidFill>
                  <a:srgbClr val="2A64A3"/>
                </a:solidFill>
                <a:latin typeface="Rubik" pitchFamily="34" charset="0"/>
                <a:ea typeface="Rubik" pitchFamily="34" charset="-122"/>
                <a:cs typeface="Rubik" pitchFamily="34" charset="-120"/>
              </a:rPr>
              <a:t>ch</a:t>
            </a:r>
            <a:r>
              <a:rPr lang="en-US" sz="1500" dirty="0">
                <a:solidFill>
                  <a:srgbClr val="4A5568"/>
                </a:solidFill>
                <a:latin typeface="Rubik" pitchFamily="34" charset="0"/>
                <a:ea typeface="Rubik" pitchFamily="34" charset="-122"/>
                <a:cs typeface="Rubik" pitchFamily="34" charset="-120"/>
              </a:rPr>
              <a:t> in </a:t>
            </a:r>
            <a:r>
              <a:rPr lang="en-US" sz="1500" dirty="0">
                <a:solidFill>
                  <a:srgbClr val="2A64A3"/>
                </a:solidFill>
                <a:latin typeface="Rubik" pitchFamily="34" charset="0"/>
                <a:ea typeface="Rubik" pitchFamily="34" charset="-122"/>
                <a:cs typeface="Rubik" pitchFamily="34" charset="-120"/>
              </a:rPr>
              <a:t>word</a:t>
            </a:r>
            <a:r>
              <a:rPr lang="en-US" sz="1500" dirty="0">
                <a:solidFill>
                  <a:srgbClr val="4A5568"/>
                </a:solidFill>
                <a:latin typeface="Rubik" pitchFamily="34" charset="0"/>
                <a:ea typeface="Rubik" pitchFamily="34" charset="-122"/>
                <a:cs typeface="Rubik" pitchFamily="34" charset="-120"/>
              </a:rPr>
              <a:t>, do the indented block</a:t>
            </a:r>
            <a:endParaRPr lang="en-US" sz="1500" dirty="0"/>
          </a:p>
        </p:txBody>
      </p:sp>
      <p:sp>
        <p:nvSpPr>
          <p:cNvPr id="14" name="Shape 12"/>
          <p:cNvSpPr/>
          <p:nvPr/>
        </p:nvSpPr>
        <p:spPr>
          <a:xfrm>
            <a:off x="6629929" y="3913981"/>
            <a:ext cx="4749271" cy="787400"/>
          </a:xfrm>
          <a:prstGeom prst="roundRect">
            <a:avLst>
              <a:gd name="adj" fmla="val 11290"/>
            </a:avLst>
          </a:prstGeom>
          <a:solidFill>
            <a:srgbClr val="FBEFD5"/>
          </a:solidFill>
          <a:ln/>
        </p:spPr>
      </p:sp>
      <p:pic>
        <p:nvPicPr>
          <p:cNvPr id="15" name="Image 0" descr="Lightbulb">    </p:cNvPr>
          <p:cNvPicPr>
            <a:picLocks noChangeAspect="1"/>
          </p:cNvPicPr>
          <p:nvPr/>
        </p:nvPicPr>
        <p:blipFill>
          <a:blip r:embed="rId1"/>
          <a:srcRect l="-428" r="-428" t="0" b="0"/>
          <a:stretch/>
        </p:blipFill>
        <p:spPr>
          <a:xfrm>
            <a:off x="6807729" y="4155281"/>
            <a:ext cx="288197" cy="304800"/>
          </a:xfrm>
          <a:prstGeom prst="rect">
            <a:avLst/>
          </a:prstGeom>
        </p:spPr>
      </p:pic>
      <p:sp>
        <p:nvSpPr>
          <p:cNvPr id="16" name="Text 13"/>
          <p:cNvSpPr/>
          <p:nvPr/>
        </p:nvSpPr>
        <p:spPr>
          <a:xfrm>
            <a:off x="7222927" y="4040981"/>
            <a:ext cx="409782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ch in "aeiou"</a:t>
            </a:r>
            <a:r>
              <a:rPr lang="en-US" sz="1500" dirty="0">
                <a:solidFill>
                  <a:srgbClr val="1B2A41"/>
                </a:solidFill>
                <a:latin typeface="Rubik" pitchFamily="34" charset="0"/>
                <a:ea typeface="Rubik" pitchFamily="34" charset="-122"/>
                <a:cs typeface="Rubik" pitchFamily="34" charset="-120"/>
              </a:rPr>
              <a:t> checks if ch is one of those letters.</a:t>
            </a:r>
            <a:endParaRPr lang="en-US" sz="15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7 · IMMUTABLE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Strings cannot be changed in place</a:t>
            </a:r>
            <a:endParaRPr lang="en-US" sz="3200" dirty="0"/>
          </a:p>
        </p:txBody>
      </p:sp>
      <p:sp>
        <p:nvSpPr>
          <p:cNvPr id="4" name="Shape 2"/>
          <p:cNvSpPr/>
          <p:nvPr/>
        </p:nvSpPr>
        <p:spPr>
          <a:xfrm>
            <a:off x="812800" y="1854135"/>
            <a:ext cx="5461529" cy="1788120"/>
          </a:xfrm>
          <a:prstGeom prst="roundRect">
            <a:avLst>
              <a:gd name="adj" fmla="val 7102"/>
            </a:avLst>
          </a:prstGeom>
          <a:solidFill>
            <a:srgbClr val="1B2A41"/>
          </a:solidFill>
          <a:ln/>
        </p:spPr>
      </p:sp>
      <p:sp>
        <p:nvSpPr>
          <p:cNvPr id="5" name="Text 3"/>
          <p:cNvSpPr/>
          <p:nvPr/>
        </p:nvSpPr>
        <p:spPr>
          <a:xfrm>
            <a:off x="1066800" y="2031935"/>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fix_name.py</a:t>
            </a:r>
            <a:endParaRPr lang="en-US" sz="1200" dirty="0"/>
          </a:p>
        </p:txBody>
      </p:sp>
      <p:sp>
        <p:nvSpPr>
          <p:cNvPr id="6" name="Text 4"/>
          <p:cNvSpPr/>
          <p:nvPr/>
        </p:nvSpPr>
        <p:spPr>
          <a:xfrm>
            <a:off x="1066800" y="2321455"/>
            <a:ext cx="5102135"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name = </a:t>
            </a:r>
            <a:r>
              <a:rPr lang="en-US" sz="1500" dirty="0">
                <a:solidFill>
                  <a:srgbClr val="9FD8A8"/>
                </a:solidFill>
                <a:latin typeface="JetBrains Mono" pitchFamily="49" charset="0"/>
                <a:ea typeface="JetBrains Mono" pitchFamily="49" charset="-122"/>
                <a:cs typeface="JetBrains Mono" pitchFamily="49" charset="-120"/>
              </a:rPr>
              <a:t>"priyanka"</a:t>
            </a:r>
            <a:endParaRPr lang="en-US" sz="1500" dirty="0"/>
          </a:p>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name[0] = "P"   TypeError!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name = </a:t>
            </a:r>
            <a:r>
              <a:rPr lang="en-US" sz="1500" dirty="0">
                <a:solidFill>
                  <a:srgbClr val="9FD8A8"/>
                </a:solidFill>
                <a:latin typeface="JetBrains Mono" pitchFamily="49" charset="0"/>
                <a:ea typeface="JetBrains Mono" pitchFamily="49" charset="-122"/>
                <a:cs typeface="JetBrains Mono" pitchFamily="49" charset="-120"/>
              </a:rPr>
              <a:t>"P"</a:t>
            </a:r>
            <a:r>
              <a:rPr lang="en-US" sz="1500" dirty="0">
                <a:solidFill>
                  <a:srgbClr val="E8EDF3"/>
                </a:solidFill>
                <a:latin typeface="JetBrains Mono" pitchFamily="49" charset="0"/>
                <a:ea typeface="JetBrains Mono" pitchFamily="49" charset="-122"/>
                <a:cs typeface="JetBrains Mono" pitchFamily="49" charset="-120"/>
              </a:rPr>
              <a:t> + name[1:]</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(name)</a:t>
            </a:r>
            <a:endParaRPr lang="en-US" sz="1500" dirty="0"/>
          </a:p>
        </p:txBody>
      </p:sp>
      <p:sp>
        <p:nvSpPr>
          <p:cNvPr id="7" name="Shape 5"/>
          <p:cNvSpPr/>
          <p:nvPr/>
        </p:nvSpPr>
        <p:spPr>
          <a:xfrm>
            <a:off x="819150" y="3775605"/>
            <a:ext cx="5448829" cy="943570"/>
          </a:xfrm>
          <a:prstGeom prst="roundRect">
            <a:avLst>
              <a:gd name="adj" fmla="val 12787"/>
            </a:avLst>
          </a:prstGeom>
          <a:solidFill>
            <a:srgbClr val="FFFDF8"/>
          </a:solidFill>
          <a:ln w="12700">
            <a:solidFill>
              <a:srgbClr val="D9DEE5"/>
            </a:solidFill>
            <a:prstDash val="solid"/>
          </a:ln>
        </p:spPr>
      </p:sp>
      <p:sp>
        <p:nvSpPr>
          <p:cNvPr id="8" name="Text 6"/>
          <p:cNvSpPr/>
          <p:nvPr/>
        </p:nvSpPr>
        <p:spPr>
          <a:xfrm>
            <a:off x="1079500" y="3959755"/>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4249276"/>
            <a:ext cx="5075973"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Priyanka</a:t>
            </a:r>
            <a:endParaRPr lang="en-US" sz="1500" dirty="0"/>
          </a:p>
        </p:txBody>
      </p:sp>
      <p:sp>
        <p:nvSpPr>
          <p:cNvPr id="10" name="Text 8"/>
          <p:cNvSpPr/>
          <p:nvPr/>
        </p:nvSpPr>
        <p:spPr>
          <a:xfrm>
            <a:off x="6629929" y="1854135"/>
            <a:ext cx="5562071" cy="333970"/>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B2A41"/>
                </a:solidFill>
                <a:latin typeface="Rubik" pitchFamily="34" charset="0"/>
                <a:ea typeface="Rubik" pitchFamily="34" charset="-122"/>
                <a:cs typeface="Rubik" pitchFamily="34" charset="-120"/>
              </a:rPr>
              <a:t>You cannot change a letter inside a string.</a:t>
            </a:r>
            <a:endParaRPr lang="en-US" sz="1800" dirty="0"/>
          </a:p>
        </p:txBody>
      </p:sp>
      <p:sp>
        <p:nvSpPr>
          <p:cNvPr id="11" name="Text 9"/>
          <p:cNvSpPr/>
          <p:nvPr/>
        </p:nvSpPr>
        <p:spPr>
          <a:xfrm>
            <a:off x="6629929" y="2289705"/>
            <a:ext cx="4891749"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Instead, build a </a:t>
            </a:r>
            <a:r>
              <a:rPr lang="en-US" sz="1500" b="1" dirty="0">
                <a:solidFill>
                  <a:srgbClr val="4A5568"/>
                </a:solidFill>
                <a:latin typeface="Rubik" pitchFamily="34" charset="0"/>
                <a:ea typeface="Rubik" pitchFamily="34" charset="-122"/>
                <a:cs typeface="Rubik" pitchFamily="34" charset="-120"/>
              </a:rPr>
              <a:t>new</a:t>
            </a:r>
            <a:r>
              <a:rPr lang="en-US" sz="1500" dirty="0">
                <a:solidFill>
                  <a:srgbClr val="4A5568"/>
                </a:solidFill>
                <a:latin typeface="Rubik" pitchFamily="34" charset="0"/>
                <a:ea typeface="Rubik" pitchFamily="34" charset="-122"/>
                <a:cs typeface="Rubik" pitchFamily="34" charset="-120"/>
              </a:rPr>
              <a:t> string and store it in the same variable.</a:t>
            </a:r>
            <a:endParaRPr lang="en-US" sz="1500" dirty="0"/>
          </a:p>
        </p:txBody>
      </p:sp>
      <p:sp>
        <p:nvSpPr>
          <p:cNvPr id="12" name="Text 10"/>
          <p:cNvSpPr/>
          <p:nvPr/>
        </p:nvSpPr>
        <p:spPr>
          <a:xfrm>
            <a:off x="6629929" y="2988205"/>
            <a:ext cx="4749271" cy="838200"/>
          </a:xfrm>
          <a:prstGeom prst="roundRect">
            <a:avLst>
              <a:gd name="adj" fmla="val 15152"/>
            </a:avLst>
          </a:prstGeom>
          <a:solidFill>
            <a:srgbClr val="FBEFD5"/>
          </a:solidFill>
          <a:ln/>
        </p:spPr>
        <p:txBody>
          <a:bodyPr wrap="square" lIns="166003" tIns="115203" rIns="35717" bIns="89803" rtlCol="0" anchor="t">
            <a:normAutofit/>
          </a:bodyPr>
          <a:lstStyle/>
          <a:p>
            <a:pPr algn="l" indent="0" marL="0">
              <a:lnSpc>
                <a:spcPts val="2100"/>
              </a:lnSpc>
              <a:buNone/>
            </a:pPr>
            <a:r>
              <a:rPr lang="en-US" sz="1500" b="1" dirty="0">
                <a:solidFill>
                  <a:srgbClr val="1B2A41"/>
                </a:solidFill>
                <a:latin typeface="Rubik" pitchFamily="34" charset="0"/>
                <a:ea typeface="Rubik" pitchFamily="34" charset="-122"/>
                <a:cs typeface="Rubik" pitchFamily="34" charset="-120"/>
              </a:rPr>
              <a:t>Immutable</a:t>
            </a:r>
            <a:r>
              <a:rPr lang="en-US" sz="1500" dirty="0">
                <a:solidFill>
                  <a:srgbClr val="1B2A41"/>
                </a:solidFill>
                <a:latin typeface="Rubik" pitchFamily="34" charset="0"/>
                <a:ea typeface="Rubik" pitchFamily="34" charset="-122"/>
                <a:cs typeface="Rubik" pitchFamily="34" charset="-120"/>
              </a:rPr>
              <a:t> means cannot be changed. Lists (Class 9) are the opposite: mutable.</a:t>
            </a:r>
            <a:endParaRPr lang="en-US" sz="15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7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programs</a:t>
            </a:r>
            <a:endParaRPr lang="en-US" sz="3200" dirty="0"/>
          </a:p>
        </p:txBody>
      </p:sp>
      <p:sp>
        <p:nvSpPr>
          <p:cNvPr id="4" name="Shape 2"/>
          <p:cNvSpPr/>
          <p:nvPr/>
        </p:nvSpPr>
        <p:spPr>
          <a:xfrm>
            <a:off x="819150" y="1809685"/>
            <a:ext cx="2476500" cy="2519627"/>
          </a:xfrm>
          <a:prstGeom prst="roundRect">
            <a:avLst>
              <a:gd name="adj" fmla="val 4872"/>
            </a:avLst>
          </a:prstGeom>
          <a:solidFill>
            <a:srgbClr val="FBFCFE"/>
          </a:solidFill>
          <a:ln w="12700">
            <a:solidFill>
              <a:srgbClr val="C9D7E8"/>
            </a:solidFill>
            <a:prstDash val="solid"/>
          </a:ln>
        </p:spPr>
      </p:sp>
      <p:sp>
        <p:nvSpPr>
          <p:cNvPr id="5" name="Text 3"/>
          <p:cNvSpPr/>
          <p:nvPr/>
        </p:nvSpPr>
        <p:spPr>
          <a:xfrm>
            <a:off x="1028700" y="2019235"/>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Initials</a:t>
            </a:r>
            <a:endParaRPr lang="en-US" sz="1800" dirty="0"/>
          </a:p>
        </p:txBody>
      </p:sp>
      <p:sp>
        <p:nvSpPr>
          <p:cNvPr id="7" name="Text 5"/>
          <p:cNvSpPr/>
          <p:nvPr/>
        </p:nvSpPr>
        <p:spPr>
          <a:xfrm>
            <a:off x="10287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a first and last name and print the initials. Test: "Subham Nayak" gives S.N.</a:t>
            </a:r>
            <a:endParaRPr lang="en-US" sz="1500" dirty="0"/>
          </a:p>
        </p:txBody>
      </p:sp>
      <p:sp>
        <p:nvSpPr>
          <p:cNvPr id="8" name="Shape 6"/>
          <p:cNvSpPr/>
          <p:nvPr/>
        </p:nvSpPr>
        <p:spPr>
          <a:xfrm>
            <a:off x="3511550" y="1809685"/>
            <a:ext cx="2476500" cy="2519627"/>
          </a:xfrm>
          <a:prstGeom prst="roundRect">
            <a:avLst>
              <a:gd name="adj" fmla="val 4872"/>
            </a:avLst>
          </a:prstGeom>
          <a:solidFill>
            <a:srgbClr val="FBFCFE"/>
          </a:solidFill>
          <a:ln w="12700">
            <a:solidFill>
              <a:srgbClr val="C9D7E8"/>
            </a:solidFill>
            <a:prstDash val="solid"/>
          </a:ln>
        </p:spPr>
      </p:sp>
      <p:sp>
        <p:nvSpPr>
          <p:cNvPr id="9" name="Text 7"/>
          <p:cNvSpPr/>
          <p:nvPr/>
        </p:nvSpPr>
        <p:spPr>
          <a:xfrm>
            <a:off x="3721100" y="2019235"/>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Reverse</a:t>
            </a:r>
            <a:endParaRPr lang="en-US" sz="1800" dirty="0"/>
          </a:p>
        </p:txBody>
      </p:sp>
      <p:sp>
        <p:nvSpPr>
          <p:cNvPr id="11" name="Text 9"/>
          <p:cNvSpPr/>
          <p:nvPr/>
        </p:nvSpPr>
        <p:spPr>
          <a:xfrm>
            <a:off x="37211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Reverse a word with a loop (not slicing). Check your answer with </a:t>
            </a:r>
            <a:r>
              <a:rPr lang="en-US" sz="1500" dirty="0">
                <a:solidFill>
                  <a:srgbClr val="2A64A3"/>
                </a:solidFill>
                <a:latin typeface="Rubik" pitchFamily="34" charset="0"/>
                <a:ea typeface="Rubik" pitchFamily="34" charset="-122"/>
                <a:cs typeface="Rubik" pitchFamily="34" charset="-120"/>
              </a:rPr>
              <a:t>[::-1]</a:t>
            </a:r>
            <a:endParaRPr lang="en-US" sz="1500" dirty="0"/>
          </a:p>
        </p:txBody>
      </p:sp>
      <p:sp>
        <p:nvSpPr>
          <p:cNvPr id="12" name="Shape 10"/>
          <p:cNvSpPr/>
          <p:nvPr/>
        </p:nvSpPr>
        <p:spPr>
          <a:xfrm>
            <a:off x="6203950" y="1809685"/>
            <a:ext cx="2476500" cy="2519627"/>
          </a:xfrm>
          <a:prstGeom prst="roundRect">
            <a:avLst>
              <a:gd name="adj" fmla="val 4872"/>
            </a:avLst>
          </a:prstGeom>
          <a:solidFill>
            <a:srgbClr val="FBFCFE"/>
          </a:solidFill>
          <a:ln w="12700">
            <a:solidFill>
              <a:srgbClr val="C9D7E8"/>
            </a:solidFill>
            <a:prstDash val="solid"/>
          </a:ln>
        </p:spPr>
      </p:sp>
      <p:sp>
        <p:nvSpPr>
          <p:cNvPr id="13" name="Text 11"/>
          <p:cNvSpPr/>
          <p:nvPr/>
        </p:nvSpPr>
        <p:spPr>
          <a:xfrm>
            <a:off x="6413500" y="2019235"/>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Count a letter</a:t>
            </a:r>
            <a:endParaRPr lang="en-US" sz="1800" dirty="0"/>
          </a:p>
        </p:txBody>
      </p:sp>
      <p:sp>
        <p:nvSpPr>
          <p:cNvPr id="15" name="Text 13"/>
          <p:cNvSpPr/>
          <p:nvPr/>
        </p:nvSpPr>
        <p:spPr>
          <a:xfrm>
            <a:off x="64135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Count how many times "a" appears in a sentence.</a:t>
            </a:r>
            <a:endParaRPr lang="en-US" sz="1500" dirty="0"/>
          </a:p>
        </p:txBody>
      </p:sp>
      <p:sp>
        <p:nvSpPr>
          <p:cNvPr id="16" name="Shape 14"/>
          <p:cNvSpPr/>
          <p:nvPr/>
        </p:nvSpPr>
        <p:spPr>
          <a:xfrm>
            <a:off x="8896350" y="1809685"/>
            <a:ext cx="2476500" cy="2519627"/>
          </a:xfrm>
          <a:prstGeom prst="roundRect">
            <a:avLst>
              <a:gd name="adj" fmla="val 4872"/>
            </a:avLst>
          </a:prstGeom>
          <a:solidFill>
            <a:srgbClr val="FBFCFE"/>
          </a:solidFill>
          <a:ln w="12700">
            <a:solidFill>
              <a:srgbClr val="C9D7E8"/>
            </a:solidFill>
            <a:prstDash val="solid"/>
          </a:ln>
        </p:spPr>
      </p:sp>
      <p:sp>
        <p:nvSpPr>
          <p:cNvPr id="17" name="Text 15"/>
          <p:cNvSpPr/>
          <p:nvPr/>
        </p:nvSpPr>
        <p:spPr>
          <a:xfrm>
            <a:off x="9105900" y="2019235"/>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Middle letter</a:t>
            </a:r>
            <a:endParaRPr lang="en-US" sz="1800" dirty="0"/>
          </a:p>
        </p:txBody>
      </p:sp>
      <p:sp>
        <p:nvSpPr>
          <p:cNvPr id="19" name="Text 17"/>
          <p:cNvSpPr/>
          <p:nvPr/>
        </p:nvSpPr>
        <p:spPr>
          <a:xfrm>
            <a:off x="9105900" y="2786261"/>
            <a:ext cx="2119122"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Print the middle character of an odd-length word. Test: "Puri" no, "Cuttack" gives t</a:t>
            </a:r>
            <a:endParaRPr lang="en-US" sz="1500" dirty="0"/>
          </a:p>
        </p:txBody>
      </p:sp>
      <p:sp>
        <p:nvSpPr>
          <p:cNvPr id="20" name="Shape 18"/>
          <p:cNvSpPr/>
          <p:nvPr/>
        </p:nvSpPr>
        <p:spPr>
          <a:xfrm>
            <a:off x="812800" y="4589661"/>
            <a:ext cx="10566400" cy="622300"/>
          </a:xfrm>
          <a:prstGeom prst="roundRect">
            <a:avLst>
              <a:gd name="adj" fmla="val 20408"/>
            </a:avLst>
          </a:prstGeom>
          <a:solidFill>
            <a:srgbClr val="1B2A41"/>
          </a:solidFill>
          <a:ln/>
        </p:spPr>
      </p:sp>
      <p:sp>
        <p:nvSpPr>
          <p:cNvPr id="21" name="Text 19"/>
          <p:cNvSpPr/>
          <p:nvPr/>
        </p:nvSpPr>
        <p:spPr>
          <a:xfrm>
            <a:off x="1066800" y="4794120"/>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767461"/>
            <a:ext cx="385635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Strings</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2" invalidUrl="" action="" tgtFrame="" tooltip="" history="1" highlightClick="0" endSnd="0">
                  <a:extLst>
                    <a:ext uri="{A12FA001-AC4F-418D-AE19-62706E023703}">
                      <ahyp:hlinkClr xmlns:ahyp="http://schemas.microsoft.com/office/drawing/2018/hyperlinkcolor" val="tx"/>
                    </a:ext>
                  </a:extLst>
                </a:hlinkClick>
              </a:rPr>
              <a:t>Slicing</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50448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8 OF 24</a:t>
            </a:r>
            <a:endParaRPr lang="en-US" sz="1200" dirty="0"/>
          </a:p>
        </p:txBody>
      </p:sp>
      <p:sp>
        <p:nvSpPr>
          <p:cNvPr id="3" name="Text 1"/>
          <p:cNvSpPr/>
          <p:nvPr>
            <p:ph type="title"/>
          </p:nvPr>
        </p:nvSpPr>
        <p:spPr>
          <a:xfrm>
            <a:off x="812800" y="2895600"/>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String methods</a:t>
            </a:r>
            <a:endParaRPr lang="en-US" sz="4800" dirty="0"/>
          </a:p>
        </p:txBody>
      </p:sp>
      <p:sp>
        <p:nvSpPr>
          <p:cNvPr id="4" name="Text 2"/>
          <p:cNvSpPr/>
          <p:nvPr/>
        </p:nvSpPr>
        <p:spPr>
          <a:xfrm>
            <a:off x="812800" y="3713429"/>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Ready-made tools that clean, search and check text</a:t>
            </a:r>
            <a:endParaRPr lang="en-US" sz="1800" dirty="0"/>
          </a:p>
        </p:txBody>
      </p:sp>
      <p:sp>
        <p:nvSpPr>
          <p:cNvPr id="5" name="Shape 3"/>
          <p:cNvSpPr/>
          <p:nvPr/>
        </p:nvSpPr>
        <p:spPr>
          <a:xfrm>
            <a:off x="6400800" y="2098018"/>
            <a:ext cx="4978400" cy="2661907"/>
          </a:xfrm>
          <a:prstGeom prst="roundRect">
            <a:avLst>
              <a:gd name="adj" fmla="val 5725"/>
            </a:avLst>
          </a:prstGeom>
          <a:solidFill>
            <a:srgbClr val="1B2A41"/>
          </a:solidFill>
          <a:ln/>
        </p:spPr>
      </p:sp>
      <p:sp>
        <p:nvSpPr>
          <p:cNvPr id="6" name="Text 4"/>
          <p:cNvSpPr/>
          <p:nvPr/>
        </p:nvSpPr>
        <p:spPr>
          <a:xfrm>
            <a:off x="6756400" y="2453618"/>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Change case with upper and lower</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Clean input with strip and replace</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Split a sentence into words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Search with in, find and count</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Check a password and a palindrome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8 · METHODS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Cleaning and changing text</a:t>
            </a:r>
            <a:endParaRPr lang="en-US" sz="3200" dirty="0"/>
          </a:p>
        </p:txBody>
      </p:sp>
      <p:sp>
        <p:nvSpPr>
          <p:cNvPr id="4" name="Shape 2"/>
          <p:cNvSpPr/>
          <p:nvPr/>
        </p:nvSpPr>
        <p:spPr>
          <a:xfrm>
            <a:off x="812800" y="1854138"/>
            <a:ext cx="6283523" cy="391120"/>
          </a:xfrm>
          <a:prstGeom prst="roundRect">
            <a:avLst>
              <a:gd name="adj" fmla="val 22730"/>
            </a:avLst>
          </a:prstGeom>
          <a:solidFill>
            <a:srgbClr val="1B2A41"/>
          </a:solidFill>
          <a:ln/>
        </p:spPr>
      </p:sp>
      <p:sp>
        <p:nvSpPr>
          <p:cNvPr id="5" name="Text 3"/>
          <p:cNvSpPr/>
          <p:nvPr/>
        </p:nvSpPr>
        <p:spPr>
          <a:xfrm>
            <a:off x="990600" y="1943038"/>
            <a:ext cx="34010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WRITE</a:t>
            </a:r>
            <a:endParaRPr lang="en-US" sz="1200" dirty="0"/>
          </a:p>
        </p:txBody>
      </p:sp>
      <p:sp>
        <p:nvSpPr>
          <p:cNvPr id="6" name="Text 4"/>
          <p:cNvSpPr/>
          <p:nvPr/>
        </p:nvSpPr>
        <p:spPr>
          <a:xfrm>
            <a:off x="4445000" y="1943038"/>
            <a:ext cx="25477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GET</a:t>
            </a:r>
            <a:endParaRPr lang="en-US" sz="1200" dirty="0"/>
          </a:p>
        </p:txBody>
      </p:sp>
      <p:sp>
        <p:nvSpPr>
          <p:cNvPr id="7" name="Shape 5"/>
          <p:cNvSpPr/>
          <p:nvPr/>
        </p:nvSpPr>
        <p:spPr>
          <a:xfrm>
            <a:off x="812800" y="2696108"/>
            <a:ext cx="6283523" cy="0"/>
          </a:xfrm>
          <a:prstGeom prst="line">
            <a:avLst/>
          </a:prstGeom>
          <a:noFill/>
          <a:ln w="12700">
            <a:solidFill>
              <a:srgbClr val="D9DEE5"/>
            </a:solidFill>
            <a:prstDash val="solid"/>
          </a:ln>
        </p:spPr>
      </p:sp>
      <p:sp>
        <p:nvSpPr>
          <p:cNvPr id="8" name="Text 6"/>
          <p:cNvSpPr/>
          <p:nvPr/>
        </p:nvSpPr>
        <p:spPr>
          <a:xfrm>
            <a:off x="990600" y="2334158"/>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s.upper()</a:t>
            </a:r>
            <a:endParaRPr lang="en-US" sz="1500" dirty="0"/>
          </a:p>
        </p:txBody>
      </p:sp>
      <p:sp>
        <p:nvSpPr>
          <p:cNvPr id="9" name="Text 7"/>
          <p:cNvSpPr/>
          <p:nvPr/>
        </p:nvSpPr>
        <p:spPr>
          <a:xfrm>
            <a:off x="4445000" y="2334158"/>
            <a:ext cx="254772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 PURI BEACH "</a:t>
            </a:r>
            <a:endParaRPr lang="en-US" sz="1500" dirty="0"/>
          </a:p>
        </p:txBody>
      </p:sp>
      <p:sp>
        <p:nvSpPr>
          <p:cNvPr id="10" name="Shape 8"/>
          <p:cNvSpPr/>
          <p:nvPr/>
        </p:nvSpPr>
        <p:spPr>
          <a:xfrm>
            <a:off x="812800" y="3153308"/>
            <a:ext cx="6283523" cy="0"/>
          </a:xfrm>
          <a:prstGeom prst="line">
            <a:avLst/>
          </a:prstGeom>
          <a:noFill/>
          <a:ln w="12700">
            <a:solidFill>
              <a:srgbClr val="D9DEE5"/>
            </a:solidFill>
            <a:prstDash val="solid"/>
          </a:ln>
        </p:spPr>
      </p:sp>
      <p:sp>
        <p:nvSpPr>
          <p:cNvPr id="11" name="Text 9"/>
          <p:cNvSpPr/>
          <p:nvPr/>
        </p:nvSpPr>
        <p:spPr>
          <a:xfrm>
            <a:off x="990600" y="2791358"/>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s.lower()</a:t>
            </a:r>
            <a:endParaRPr lang="en-US" sz="1500" dirty="0"/>
          </a:p>
        </p:txBody>
      </p:sp>
      <p:sp>
        <p:nvSpPr>
          <p:cNvPr id="12" name="Text 10"/>
          <p:cNvSpPr/>
          <p:nvPr/>
        </p:nvSpPr>
        <p:spPr>
          <a:xfrm>
            <a:off x="4445000" y="2791358"/>
            <a:ext cx="254772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 puri beach "</a:t>
            </a:r>
            <a:endParaRPr lang="en-US" sz="1500" dirty="0"/>
          </a:p>
        </p:txBody>
      </p:sp>
      <p:sp>
        <p:nvSpPr>
          <p:cNvPr id="13" name="Shape 11"/>
          <p:cNvSpPr/>
          <p:nvPr/>
        </p:nvSpPr>
        <p:spPr>
          <a:xfrm>
            <a:off x="812800" y="3610508"/>
            <a:ext cx="6283523" cy="0"/>
          </a:xfrm>
          <a:prstGeom prst="line">
            <a:avLst/>
          </a:prstGeom>
          <a:noFill/>
          <a:ln w="12700">
            <a:solidFill>
              <a:srgbClr val="D9DEE5"/>
            </a:solidFill>
            <a:prstDash val="solid"/>
          </a:ln>
        </p:spPr>
      </p:sp>
      <p:sp>
        <p:nvSpPr>
          <p:cNvPr id="14" name="Text 12"/>
          <p:cNvSpPr/>
          <p:nvPr/>
        </p:nvSpPr>
        <p:spPr>
          <a:xfrm>
            <a:off x="990600" y="3248558"/>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s.title()</a:t>
            </a:r>
            <a:endParaRPr lang="en-US" sz="1500" dirty="0"/>
          </a:p>
        </p:txBody>
      </p:sp>
      <p:sp>
        <p:nvSpPr>
          <p:cNvPr id="15" name="Text 13"/>
          <p:cNvSpPr/>
          <p:nvPr/>
        </p:nvSpPr>
        <p:spPr>
          <a:xfrm>
            <a:off x="4445000" y="3248558"/>
            <a:ext cx="254772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 Puri Beach "</a:t>
            </a:r>
            <a:endParaRPr lang="en-US" sz="1500" dirty="0"/>
          </a:p>
        </p:txBody>
      </p:sp>
      <p:sp>
        <p:nvSpPr>
          <p:cNvPr id="16" name="Shape 14"/>
          <p:cNvSpPr/>
          <p:nvPr/>
        </p:nvSpPr>
        <p:spPr>
          <a:xfrm>
            <a:off x="812800" y="4067708"/>
            <a:ext cx="6283523" cy="0"/>
          </a:xfrm>
          <a:prstGeom prst="line">
            <a:avLst/>
          </a:prstGeom>
          <a:noFill/>
          <a:ln w="12700">
            <a:solidFill>
              <a:srgbClr val="D9DEE5"/>
            </a:solidFill>
            <a:prstDash val="solid"/>
          </a:ln>
        </p:spPr>
      </p:sp>
      <p:sp>
        <p:nvSpPr>
          <p:cNvPr id="17" name="Text 15"/>
          <p:cNvSpPr/>
          <p:nvPr/>
        </p:nvSpPr>
        <p:spPr>
          <a:xfrm>
            <a:off x="990600" y="3705758"/>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s.strip()</a:t>
            </a:r>
            <a:endParaRPr lang="en-US" sz="1500" dirty="0"/>
          </a:p>
        </p:txBody>
      </p:sp>
      <p:sp>
        <p:nvSpPr>
          <p:cNvPr id="18" name="Text 16"/>
          <p:cNvSpPr/>
          <p:nvPr/>
        </p:nvSpPr>
        <p:spPr>
          <a:xfrm>
            <a:off x="4445000" y="3705758"/>
            <a:ext cx="254772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"puri Beach"</a:t>
            </a:r>
            <a:endParaRPr lang="en-US" sz="1500" dirty="0"/>
          </a:p>
        </p:txBody>
      </p:sp>
      <p:sp>
        <p:nvSpPr>
          <p:cNvPr id="19" name="Shape 17"/>
          <p:cNvSpPr/>
          <p:nvPr/>
        </p:nvSpPr>
        <p:spPr>
          <a:xfrm>
            <a:off x="812800" y="4524908"/>
            <a:ext cx="6283523" cy="0"/>
          </a:xfrm>
          <a:prstGeom prst="line">
            <a:avLst/>
          </a:prstGeom>
          <a:noFill/>
          <a:ln w="12700">
            <a:solidFill>
              <a:srgbClr val="D9DEE5"/>
            </a:solidFill>
            <a:prstDash val="solid"/>
          </a:ln>
        </p:spPr>
      </p:sp>
      <p:sp>
        <p:nvSpPr>
          <p:cNvPr id="20" name="Text 18"/>
          <p:cNvSpPr/>
          <p:nvPr/>
        </p:nvSpPr>
        <p:spPr>
          <a:xfrm>
            <a:off x="990600" y="4162958"/>
            <a:ext cx="34544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s.replace("Beach", "Temple")</a:t>
            </a:r>
            <a:endParaRPr lang="en-US" sz="1500" dirty="0"/>
          </a:p>
        </p:txBody>
      </p:sp>
      <p:sp>
        <p:nvSpPr>
          <p:cNvPr id="21" name="Text 19"/>
          <p:cNvSpPr/>
          <p:nvPr/>
        </p:nvSpPr>
        <p:spPr>
          <a:xfrm>
            <a:off x="4445000" y="4162958"/>
            <a:ext cx="254772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 puri Temple "</a:t>
            </a:r>
            <a:endParaRPr lang="en-US" sz="1500" dirty="0"/>
          </a:p>
        </p:txBody>
      </p:sp>
      <p:sp>
        <p:nvSpPr>
          <p:cNvPr id="22" name="Shape 20"/>
          <p:cNvSpPr/>
          <p:nvPr/>
        </p:nvSpPr>
        <p:spPr>
          <a:xfrm>
            <a:off x="812800" y="4982108"/>
            <a:ext cx="6283523" cy="0"/>
          </a:xfrm>
          <a:prstGeom prst="line">
            <a:avLst/>
          </a:prstGeom>
          <a:noFill/>
          <a:ln w="12700">
            <a:solidFill>
              <a:srgbClr val="D9DEE5"/>
            </a:solidFill>
            <a:prstDash val="solid"/>
          </a:ln>
        </p:spPr>
      </p:sp>
      <p:sp>
        <p:nvSpPr>
          <p:cNvPr id="23" name="Text 21"/>
          <p:cNvSpPr/>
          <p:nvPr/>
        </p:nvSpPr>
        <p:spPr>
          <a:xfrm>
            <a:off x="990600" y="4620158"/>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len(s.strip())</a:t>
            </a:r>
            <a:endParaRPr lang="en-US" sz="1500" dirty="0"/>
          </a:p>
        </p:txBody>
      </p:sp>
      <p:sp>
        <p:nvSpPr>
          <p:cNvPr id="24" name="Text 22"/>
          <p:cNvSpPr/>
          <p:nvPr/>
        </p:nvSpPr>
        <p:spPr>
          <a:xfrm>
            <a:off x="4445000" y="4620158"/>
            <a:ext cx="254772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10</a:t>
            </a:r>
            <a:endParaRPr lang="en-US" sz="1500" dirty="0"/>
          </a:p>
        </p:txBody>
      </p:sp>
      <p:sp>
        <p:nvSpPr>
          <p:cNvPr id="25" name="Shape 23"/>
          <p:cNvSpPr/>
          <p:nvPr/>
        </p:nvSpPr>
        <p:spPr>
          <a:xfrm>
            <a:off x="7451923" y="1854138"/>
            <a:ext cx="3927277" cy="930870"/>
          </a:xfrm>
          <a:prstGeom prst="roundRect">
            <a:avLst>
              <a:gd name="adj" fmla="val 13643"/>
            </a:avLst>
          </a:prstGeom>
          <a:solidFill>
            <a:srgbClr val="1B2A41"/>
          </a:solidFill>
          <a:ln/>
        </p:spPr>
      </p:sp>
      <p:sp>
        <p:nvSpPr>
          <p:cNvPr id="26" name="Text 24"/>
          <p:cNvSpPr/>
          <p:nvPr/>
        </p:nvSpPr>
        <p:spPr>
          <a:xfrm>
            <a:off x="7705923" y="2031938"/>
            <a:ext cx="35218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methods.py</a:t>
            </a:r>
            <a:endParaRPr lang="en-US" sz="1200" dirty="0"/>
          </a:p>
        </p:txBody>
      </p:sp>
      <p:sp>
        <p:nvSpPr>
          <p:cNvPr id="27" name="Text 25"/>
          <p:cNvSpPr/>
          <p:nvPr/>
        </p:nvSpPr>
        <p:spPr>
          <a:xfrm>
            <a:off x="7705923" y="2321458"/>
            <a:ext cx="3521855"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 = </a:t>
            </a:r>
            <a:r>
              <a:rPr lang="en-US" sz="1500" dirty="0">
                <a:solidFill>
                  <a:srgbClr val="9FD8A8"/>
                </a:solidFill>
                <a:latin typeface="JetBrains Mono" pitchFamily="49" charset="0"/>
                <a:ea typeface="JetBrains Mono" pitchFamily="49" charset="-122"/>
                <a:cs typeface="JetBrains Mono" pitchFamily="49" charset="-120"/>
              </a:rPr>
              <a:t>"  puri Beach "</a:t>
            </a:r>
            <a:endParaRPr lang="en-US" sz="1500" dirty="0"/>
          </a:p>
        </p:txBody>
      </p:sp>
      <p:sp>
        <p:nvSpPr>
          <p:cNvPr id="28" name="Shape 26"/>
          <p:cNvSpPr/>
          <p:nvPr/>
        </p:nvSpPr>
        <p:spPr>
          <a:xfrm>
            <a:off x="7458273" y="2918358"/>
            <a:ext cx="3914577" cy="800100"/>
          </a:xfrm>
          <a:prstGeom prst="roundRect">
            <a:avLst>
              <a:gd name="adj" fmla="val 10317"/>
            </a:avLst>
          </a:prstGeom>
          <a:solidFill>
            <a:srgbClr val="FFFDF8"/>
          </a:solidFill>
          <a:ln w="12700">
            <a:solidFill>
              <a:srgbClr val="B54708"/>
            </a:solidFill>
            <a:prstDash val="solid"/>
          </a:ln>
        </p:spPr>
      </p:sp>
      <p:pic>
        <p:nvPicPr>
          <p:cNvPr id="29" name="Image 0" descr="Warning">    </p:cNvPr>
          <p:cNvPicPr>
            <a:picLocks noChangeAspect="1"/>
          </p:cNvPicPr>
          <p:nvPr/>
        </p:nvPicPr>
        <p:blipFill>
          <a:blip r:embed="rId1"/>
          <a:srcRect l="0" r="0" t="-698" b="-698"/>
          <a:stretch/>
        </p:blipFill>
        <p:spPr>
          <a:xfrm>
            <a:off x="7642423" y="3166008"/>
            <a:ext cx="194138" cy="304800"/>
          </a:xfrm>
          <a:prstGeom prst="rect">
            <a:avLst/>
          </a:prstGeom>
        </p:spPr>
      </p:pic>
      <p:sp>
        <p:nvSpPr>
          <p:cNvPr id="30" name="Text 27"/>
          <p:cNvSpPr/>
          <p:nvPr/>
        </p:nvSpPr>
        <p:spPr>
          <a:xfrm>
            <a:off x="7963562" y="3051708"/>
            <a:ext cx="332189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s.upper()</a:t>
            </a:r>
            <a:r>
              <a:rPr lang="en-US" sz="1500" dirty="0">
                <a:solidFill>
                  <a:srgbClr val="1B2A41"/>
                </a:solidFill>
                <a:latin typeface="Rubik" pitchFamily="34" charset="0"/>
                <a:ea typeface="Rubik" pitchFamily="34" charset="-122"/>
                <a:cs typeface="Rubik" pitchFamily="34" charset="-120"/>
              </a:rPr>
              <a:t> alone does nothing visible. Store it: </a:t>
            </a:r>
            <a:r>
              <a:rPr lang="en-US" sz="1500" dirty="0">
                <a:solidFill>
                  <a:srgbClr val="2A64A3"/>
                </a:solidFill>
                <a:latin typeface="Rubik" pitchFamily="34" charset="0"/>
                <a:ea typeface="Rubik" pitchFamily="34" charset="-122"/>
                <a:cs typeface="Rubik" pitchFamily="34" charset="-120"/>
              </a:rPr>
              <a:t>s = s.upper()</a:t>
            </a:r>
            <a:endParaRPr lang="en-US" sz="1500" dirty="0"/>
          </a:p>
        </p:txBody>
      </p:sp>
      <p:sp>
        <p:nvSpPr>
          <p:cNvPr id="31" name="Shape 28"/>
          <p:cNvSpPr/>
          <p:nvPr/>
        </p:nvSpPr>
        <p:spPr>
          <a:xfrm>
            <a:off x="7451923" y="3851808"/>
            <a:ext cx="3927277" cy="787400"/>
          </a:xfrm>
          <a:prstGeom prst="roundRect">
            <a:avLst>
              <a:gd name="adj" fmla="val 11290"/>
            </a:avLst>
          </a:prstGeom>
          <a:solidFill>
            <a:srgbClr val="FBEFD5"/>
          </a:solidFill>
          <a:ln/>
        </p:spPr>
      </p:sp>
      <p:pic>
        <p:nvPicPr>
          <p:cNvPr id="32" name="Image 1" descr="Lightbulb">    </p:cNvPr>
          <p:cNvPicPr>
            <a:picLocks noChangeAspect="1"/>
          </p:cNvPicPr>
          <p:nvPr/>
        </p:nvPicPr>
        <p:blipFill>
          <a:blip r:embed="rId2"/>
          <a:srcRect l="0" r="0" t="-350" b="-350"/>
          <a:stretch/>
        </p:blipFill>
        <p:spPr>
          <a:xfrm>
            <a:off x="7629723" y="4093108"/>
            <a:ext cx="227013" cy="304800"/>
          </a:xfrm>
          <a:prstGeom prst="rect">
            <a:avLst/>
          </a:prstGeom>
        </p:spPr>
      </p:pic>
      <p:sp>
        <p:nvSpPr>
          <p:cNvPr id="33" name="Text 29"/>
          <p:cNvSpPr/>
          <p:nvPr/>
        </p:nvSpPr>
        <p:spPr>
          <a:xfrm>
            <a:off x="7983736" y="3978808"/>
            <a:ext cx="33141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Clean user input in one line: </a:t>
            </a:r>
            <a:r>
              <a:rPr lang="en-US" sz="1500" dirty="0">
                <a:solidFill>
                  <a:srgbClr val="2A64A3"/>
                </a:solidFill>
                <a:latin typeface="Rubik" pitchFamily="34" charset="0"/>
                <a:ea typeface="Rubik" pitchFamily="34" charset="-122"/>
                <a:cs typeface="Rubik" pitchFamily="34" charset="-120"/>
              </a:rPr>
              <a:t>input().strip().lower()</a:t>
            </a:r>
            <a:endParaRPr lang="en-US" sz="1500" dirty="0"/>
          </a:p>
        </p:txBody>
      </p:sp>
      <p:sp>
        <p:nvSpPr>
          <p:cNvPr id="34" name="Text 3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8</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8 · SPLIT AND JOIN</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Breaking a sentence into words</a:t>
            </a:r>
            <a:endParaRPr lang="en-US" sz="3200" dirty="0"/>
          </a:p>
        </p:txBody>
      </p:sp>
      <p:sp>
        <p:nvSpPr>
          <p:cNvPr id="4" name="Shape 2"/>
          <p:cNvSpPr/>
          <p:nvPr/>
        </p:nvSpPr>
        <p:spPr>
          <a:xfrm>
            <a:off x="812800" y="1854138"/>
            <a:ext cx="5771290" cy="2073870"/>
          </a:xfrm>
          <a:prstGeom prst="roundRect">
            <a:avLst>
              <a:gd name="adj" fmla="val 6124"/>
            </a:avLst>
          </a:prstGeom>
          <a:solidFill>
            <a:srgbClr val="1B2A41"/>
          </a:solidFill>
          <a:ln/>
        </p:spPr>
      </p:sp>
      <p:sp>
        <p:nvSpPr>
          <p:cNvPr id="5" name="Text 3"/>
          <p:cNvSpPr/>
          <p:nvPr/>
        </p:nvSpPr>
        <p:spPr>
          <a:xfrm>
            <a:off x="1066800" y="2031938"/>
            <a:ext cx="54211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words.py</a:t>
            </a:r>
            <a:endParaRPr lang="en-US" sz="1200" dirty="0"/>
          </a:p>
        </p:txBody>
      </p:sp>
      <p:sp>
        <p:nvSpPr>
          <p:cNvPr id="6" name="Text 4"/>
          <p:cNvSpPr/>
          <p:nvPr/>
        </p:nvSpPr>
        <p:spPr>
          <a:xfrm>
            <a:off x="1066800" y="2321458"/>
            <a:ext cx="5421189" cy="1454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line = </a:t>
            </a:r>
            <a:r>
              <a:rPr lang="en-US" sz="1500" dirty="0">
                <a:solidFill>
                  <a:srgbClr val="9FD8A8"/>
                </a:solidFill>
                <a:latin typeface="JetBrains Mono" pitchFamily="49" charset="0"/>
                <a:ea typeface="JetBrains Mono" pitchFamily="49" charset="-122"/>
                <a:cs typeface="JetBrains Mono" pitchFamily="49" charset="-120"/>
              </a:rPr>
              <a:t>"I love Odia food"</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words = line.split()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(words)</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(words), </a:t>
            </a:r>
            <a:r>
              <a:rPr lang="en-US" sz="1500" dirty="0">
                <a:solidFill>
                  <a:srgbClr val="9FD8A8"/>
                </a:solidFill>
                <a:latin typeface="JetBrains Mono" pitchFamily="49" charset="0"/>
                <a:ea typeface="JetBrains Mono" pitchFamily="49" charset="-122"/>
                <a:cs typeface="JetBrains Mono" pitchFamily="49" charset="-120"/>
              </a:rPr>
              <a:t>"words"</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t>
            </a:r>
            <a:r>
              <a:rPr lang="en-US" sz="1500" dirty="0">
                <a:solidFill>
                  <a:srgbClr val="E8EDF3"/>
                </a:solidFill>
                <a:latin typeface="JetBrains Mono" pitchFamily="49" charset="0"/>
                <a:ea typeface="JetBrains Mono" pitchFamily="49" charset="-122"/>
                <a:cs typeface="JetBrains Mono" pitchFamily="49" charset="-120"/>
              </a:rPr>
              <a:t>.join(words))</a:t>
            </a:r>
            <a:endParaRPr lang="en-US" sz="1500" dirty="0"/>
          </a:p>
        </p:txBody>
      </p:sp>
      <p:sp>
        <p:nvSpPr>
          <p:cNvPr id="7" name="Shape 5"/>
          <p:cNvSpPr/>
          <p:nvPr/>
        </p:nvSpPr>
        <p:spPr>
          <a:xfrm>
            <a:off x="819150" y="4061358"/>
            <a:ext cx="5758590" cy="1515070"/>
          </a:xfrm>
          <a:prstGeom prst="roundRect">
            <a:avLst>
              <a:gd name="adj" fmla="val 7963"/>
            </a:avLst>
          </a:prstGeom>
          <a:solidFill>
            <a:srgbClr val="FFFDF8"/>
          </a:solidFill>
          <a:ln w="12700">
            <a:solidFill>
              <a:srgbClr val="D9DEE5"/>
            </a:solidFill>
            <a:prstDash val="solid"/>
          </a:ln>
        </p:spPr>
      </p:sp>
      <p:sp>
        <p:nvSpPr>
          <p:cNvPr id="8" name="Text 6"/>
          <p:cNvSpPr/>
          <p:nvPr/>
        </p:nvSpPr>
        <p:spPr>
          <a:xfrm>
            <a:off x="1079500" y="4245508"/>
            <a:ext cx="539502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4535029"/>
            <a:ext cx="5395027"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['I', 'love', 'Odia', 'food']</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4 words</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I-love-Odia-food</a:t>
            </a:r>
            <a:endParaRPr lang="en-US" sz="1500" dirty="0"/>
          </a:p>
        </p:txBody>
      </p:sp>
      <p:sp>
        <p:nvSpPr>
          <p:cNvPr id="10" name="Shape 8"/>
          <p:cNvSpPr/>
          <p:nvPr/>
        </p:nvSpPr>
        <p:spPr>
          <a:xfrm>
            <a:off x="6946040" y="1860488"/>
            <a:ext cx="4426810" cy="749300"/>
          </a:xfrm>
          <a:prstGeom prst="roundRect">
            <a:avLst>
              <a:gd name="adj" fmla="val 11017"/>
            </a:avLst>
          </a:prstGeom>
          <a:solidFill>
            <a:srgbClr val="FFFDF8"/>
          </a:solidFill>
          <a:ln w="12700">
            <a:solidFill>
              <a:srgbClr val="E2DED3"/>
            </a:solidFill>
            <a:prstDash val="solid"/>
          </a:ln>
        </p:spPr>
      </p:sp>
      <p:sp>
        <p:nvSpPr>
          <p:cNvPr id="11" name="Text 9"/>
          <p:cNvSpPr/>
          <p:nvPr/>
        </p:nvSpPr>
        <p:spPr>
          <a:xfrm>
            <a:off x="7104790" y="210178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561990" y="1968438"/>
            <a:ext cx="3761673"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split():</a:t>
            </a:r>
            <a:r>
              <a:rPr lang="en-US" sz="1500" dirty="0">
                <a:solidFill>
                  <a:srgbClr val="4A5568"/>
                </a:solidFill>
                <a:latin typeface="Rubik" pitchFamily="34" charset="0"/>
                <a:ea typeface="Rubik" pitchFamily="34" charset="-122"/>
                <a:cs typeface="Rubik" pitchFamily="34" charset="-120"/>
              </a:rPr>
              <a:t> cuts at spaces and gives a list of words</a:t>
            </a:r>
            <a:endParaRPr lang="en-US" sz="1500" dirty="0"/>
          </a:p>
        </p:txBody>
      </p:sp>
      <p:sp>
        <p:nvSpPr>
          <p:cNvPr id="13" name="Shape 11"/>
          <p:cNvSpPr/>
          <p:nvPr/>
        </p:nvSpPr>
        <p:spPr>
          <a:xfrm>
            <a:off x="6946040" y="2749488"/>
            <a:ext cx="4426810"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7104790" y="285743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561990" y="2857438"/>
            <a:ext cx="358171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split(","):</a:t>
            </a:r>
            <a:r>
              <a:rPr lang="en-US" sz="1500" dirty="0">
                <a:solidFill>
                  <a:srgbClr val="4A5568"/>
                </a:solidFill>
                <a:latin typeface="Rubik" pitchFamily="34" charset="0"/>
                <a:ea typeface="Rubik" pitchFamily="34" charset="-122"/>
                <a:cs typeface="Rubik" pitchFamily="34" charset="-120"/>
              </a:rPr>
              <a:t> cuts at commas instead</a:t>
            </a:r>
            <a:endParaRPr lang="en-US" sz="1500" dirty="0"/>
          </a:p>
        </p:txBody>
      </p:sp>
      <p:sp>
        <p:nvSpPr>
          <p:cNvPr id="16" name="Shape 14"/>
          <p:cNvSpPr/>
          <p:nvPr/>
        </p:nvSpPr>
        <p:spPr>
          <a:xfrm>
            <a:off x="6946040" y="3371788"/>
            <a:ext cx="4426810" cy="749300"/>
          </a:xfrm>
          <a:prstGeom prst="roundRect">
            <a:avLst>
              <a:gd name="adj" fmla="val 11017"/>
            </a:avLst>
          </a:prstGeom>
          <a:solidFill>
            <a:srgbClr val="FFFDF8"/>
          </a:solidFill>
          <a:ln w="12700">
            <a:solidFill>
              <a:srgbClr val="E2DED3"/>
            </a:solidFill>
            <a:prstDash val="solid"/>
          </a:ln>
        </p:spPr>
      </p:sp>
      <p:sp>
        <p:nvSpPr>
          <p:cNvPr id="17" name="Text 15"/>
          <p:cNvSpPr/>
          <p:nvPr/>
        </p:nvSpPr>
        <p:spPr>
          <a:xfrm>
            <a:off x="7104790" y="361308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18" name="Text 16"/>
          <p:cNvSpPr/>
          <p:nvPr/>
        </p:nvSpPr>
        <p:spPr>
          <a:xfrm>
            <a:off x="7561990" y="3479738"/>
            <a:ext cx="3761673"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"-".join(list):</a:t>
            </a:r>
            <a:r>
              <a:rPr lang="en-US" sz="1500" dirty="0">
                <a:solidFill>
                  <a:srgbClr val="4A5568"/>
                </a:solidFill>
                <a:latin typeface="Rubik" pitchFamily="34" charset="0"/>
                <a:ea typeface="Rubik" pitchFamily="34" charset="-122"/>
                <a:cs typeface="Rubik" pitchFamily="34" charset="-120"/>
              </a:rPr>
              <a:t> glues a list back with - between</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8</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8 · SEARCHING</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Finding things inside text</a:t>
            </a:r>
            <a:endParaRPr lang="en-US" sz="3200" dirty="0"/>
          </a:p>
        </p:txBody>
      </p:sp>
      <p:sp>
        <p:nvSpPr>
          <p:cNvPr id="4" name="Shape 2"/>
          <p:cNvSpPr/>
          <p:nvPr/>
        </p:nvSpPr>
        <p:spPr>
          <a:xfrm>
            <a:off x="819150" y="1860488"/>
            <a:ext cx="3373967" cy="2890507"/>
          </a:xfrm>
          <a:prstGeom prst="roundRect">
            <a:avLst>
              <a:gd name="adj" fmla="val 4174"/>
            </a:avLst>
          </a:prstGeom>
          <a:solidFill>
            <a:srgbClr val="FFFDF8"/>
          </a:solidFill>
          <a:ln w="12700">
            <a:solidFill>
              <a:srgbClr val="E2DED3"/>
            </a:solidFill>
            <a:prstDash val="solid"/>
          </a:ln>
        </p:spPr>
      </p:sp>
      <p:sp>
        <p:nvSpPr>
          <p:cNvPr id="5" name="Text 3"/>
          <p:cNvSpPr/>
          <p:nvPr/>
        </p:nvSpPr>
        <p:spPr>
          <a:xfrm>
            <a:off x="1028700" y="2070038"/>
            <a:ext cx="304351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in</a:t>
            </a:r>
            <a:endParaRPr lang="en-US" sz="1800" dirty="0"/>
          </a:p>
        </p:txBody>
      </p:sp>
      <p:sp>
        <p:nvSpPr>
          <p:cNvPr id="6" name="Text 4"/>
          <p:cNvSpPr/>
          <p:nvPr/>
        </p:nvSpPr>
        <p:spPr>
          <a:xfrm>
            <a:off x="1028700" y="2445941"/>
            <a:ext cx="304351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Is it there? True or False</a:t>
            </a:r>
            <a:endParaRPr lang="en-US" sz="1500" dirty="0"/>
          </a:p>
        </p:txBody>
      </p:sp>
      <p:sp>
        <p:nvSpPr>
          <p:cNvPr id="7" name="Text 5"/>
          <p:cNvSpPr/>
          <p:nvPr/>
        </p:nvSpPr>
        <p:spPr>
          <a:xfrm>
            <a:off x="1028700" y="2814241"/>
            <a:ext cx="2954867" cy="825500"/>
          </a:xfrm>
          <a:prstGeom prst="roundRect">
            <a:avLst>
              <a:gd name="adj" fmla="val 10769"/>
            </a:avLst>
          </a:prstGeom>
          <a:solidFill>
            <a:srgbClr val="1B2A41"/>
          </a:solidFill>
          <a:ln/>
        </p:spPr>
        <p:txBody>
          <a:bodyPr wrap="square" lIns="126362" tIns="100962" rIns="46860" bIns="75562"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 = </a:t>
            </a:r>
            <a:r>
              <a:rPr lang="en-US" sz="1500" dirty="0">
                <a:solidFill>
                  <a:srgbClr val="9FD8A8"/>
                </a:solidFill>
                <a:latin typeface="JetBrains Mono" pitchFamily="49" charset="0"/>
                <a:ea typeface="JetBrains Mono" pitchFamily="49" charset="-122"/>
                <a:cs typeface="JetBrains Mono" pitchFamily="49" charset="-120"/>
              </a:rPr>
              <a:t>"Jagannath"</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"nath"</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s)</a:t>
            </a:r>
            <a:endParaRPr lang="en-US" sz="1500" dirty="0"/>
          </a:p>
        </p:txBody>
      </p:sp>
      <p:sp>
        <p:nvSpPr>
          <p:cNvPr id="8" name="Text 6"/>
          <p:cNvSpPr/>
          <p:nvPr/>
        </p:nvSpPr>
        <p:spPr>
          <a:xfrm>
            <a:off x="1035050" y="3747691"/>
            <a:ext cx="2942167" cy="501650"/>
          </a:xfrm>
          <a:prstGeom prst="roundRect">
            <a:avLst>
              <a:gd name="adj" fmla="val 16456"/>
            </a:avLst>
          </a:prstGeom>
          <a:solidFill>
            <a:srgbClr val="F7F5EF"/>
          </a:solidFill>
          <a:ln w="12700">
            <a:solidFill>
              <a:srgbClr val="D9DEE5"/>
            </a:solidFill>
            <a:prstDash val="solid"/>
          </a:ln>
        </p:spPr>
        <p:txBody>
          <a:bodyPr wrap="square" lIns="134572" tIns="83772" rIns="55832"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True</a:t>
            </a:r>
            <a:endParaRPr lang="en-US" sz="1500" dirty="0"/>
          </a:p>
        </p:txBody>
      </p:sp>
      <p:sp>
        <p:nvSpPr>
          <p:cNvPr id="9" name="Shape 7"/>
          <p:cNvSpPr/>
          <p:nvPr/>
        </p:nvSpPr>
        <p:spPr>
          <a:xfrm>
            <a:off x="4409017" y="1860488"/>
            <a:ext cx="3373967" cy="2890507"/>
          </a:xfrm>
          <a:prstGeom prst="roundRect">
            <a:avLst>
              <a:gd name="adj" fmla="val 4174"/>
            </a:avLst>
          </a:prstGeom>
          <a:solidFill>
            <a:srgbClr val="FFFDF8"/>
          </a:solidFill>
          <a:ln w="12700">
            <a:solidFill>
              <a:srgbClr val="E2DED3"/>
            </a:solidFill>
            <a:prstDash val="solid"/>
          </a:ln>
        </p:spPr>
      </p:sp>
      <p:sp>
        <p:nvSpPr>
          <p:cNvPr id="10" name="Text 8"/>
          <p:cNvSpPr/>
          <p:nvPr/>
        </p:nvSpPr>
        <p:spPr>
          <a:xfrm>
            <a:off x="4618567" y="2070038"/>
            <a:ext cx="304351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find()</a:t>
            </a:r>
            <a:endParaRPr lang="en-US" sz="1800" dirty="0"/>
          </a:p>
        </p:txBody>
      </p:sp>
      <p:sp>
        <p:nvSpPr>
          <p:cNvPr id="11" name="Text 9"/>
          <p:cNvSpPr/>
          <p:nvPr/>
        </p:nvSpPr>
        <p:spPr>
          <a:xfrm>
            <a:off x="4618567" y="2445941"/>
            <a:ext cx="304351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Where is it? -1 if missing</a:t>
            </a:r>
            <a:endParaRPr lang="en-US" sz="1500" dirty="0"/>
          </a:p>
        </p:txBody>
      </p:sp>
      <p:sp>
        <p:nvSpPr>
          <p:cNvPr id="12" name="Text 10"/>
          <p:cNvSpPr/>
          <p:nvPr/>
        </p:nvSpPr>
        <p:spPr>
          <a:xfrm>
            <a:off x="4618567" y="2814241"/>
            <a:ext cx="2954867" cy="825500"/>
          </a:xfrm>
          <a:prstGeom prst="roundRect">
            <a:avLst>
              <a:gd name="adj" fmla="val 10769"/>
            </a:avLst>
          </a:prstGeom>
          <a:solidFill>
            <a:srgbClr val="1B2A41"/>
          </a:solidFill>
          <a:ln/>
        </p:spPr>
        <p:txBody>
          <a:bodyPr wrap="square" lIns="126362" tIns="100962" rIns="4686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(s.find(</a:t>
            </a:r>
            <a:r>
              <a:rPr lang="en-US" sz="1500" dirty="0">
                <a:solidFill>
                  <a:srgbClr val="9FD8A8"/>
                </a:solidFill>
                <a:latin typeface="JetBrains Mono" pitchFamily="49" charset="0"/>
                <a:ea typeface="JetBrains Mono" pitchFamily="49" charset="-122"/>
                <a:cs typeface="JetBrains Mono" pitchFamily="49" charset="-120"/>
              </a:rPr>
              <a:t>"nath"</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(s.find(</a:t>
            </a:r>
            <a:r>
              <a:rPr lang="en-US" sz="1500" dirty="0">
                <a:solidFill>
                  <a:srgbClr val="9FD8A8"/>
                </a:solidFill>
                <a:latin typeface="JetBrains Mono" pitchFamily="49" charset="0"/>
                <a:ea typeface="JetBrains Mono" pitchFamily="49" charset="-122"/>
                <a:cs typeface="JetBrains Mono" pitchFamily="49" charset="-120"/>
              </a:rPr>
              <a:t>"xyz"</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13" name="Text 11"/>
          <p:cNvSpPr/>
          <p:nvPr/>
        </p:nvSpPr>
        <p:spPr>
          <a:xfrm>
            <a:off x="4624917" y="3747691"/>
            <a:ext cx="2942167" cy="787400"/>
          </a:xfrm>
          <a:prstGeom prst="roundRect">
            <a:avLst>
              <a:gd name="adj" fmla="val 10484"/>
            </a:avLst>
          </a:prstGeom>
          <a:solidFill>
            <a:srgbClr val="F7F5EF"/>
          </a:solidFill>
          <a:ln w="12700">
            <a:solidFill>
              <a:srgbClr val="D9DEE5"/>
            </a:solidFill>
            <a:prstDash val="solid"/>
          </a:ln>
        </p:spPr>
        <p:txBody>
          <a:bodyPr wrap="square" lIns="134572" tIns="83772" rIns="55832"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5</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a:t>
            </a:r>
            <a:endParaRPr lang="en-US" sz="1500" dirty="0"/>
          </a:p>
        </p:txBody>
      </p:sp>
      <p:sp>
        <p:nvSpPr>
          <p:cNvPr id="14" name="Shape 12"/>
          <p:cNvSpPr/>
          <p:nvPr/>
        </p:nvSpPr>
        <p:spPr>
          <a:xfrm>
            <a:off x="7998884" y="1860488"/>
            <a:ext cx="3373967" cy="2890507"/>
          </a:xfrm>
          <a:prstGeom prst="roundRect">
            <a:avLst>
              <a:gd name="adj" fmla="val 4174"/>
            </a:avLst>
          </a:prstGeom>
          <a:solidFill>
            <a:srgbClr val="FFFDF8"/>
          </a:solidFill>
          <a:ln w="12700">
            <a:solidFill>
              <a:srgbClr val="E2DED3"/>
            </a:solidFill>
            <a:prstDash val="solid"/>
          </a:ln>
        </p:spPr>
      </p:sp>
      <p:sp>
        <p:nvSpPr>
          <p:cNvPr id="15" name="Text 13"/>
          <p:cNvSpPr/>
          <p:nvPr/>
        </p:nvSpPr>
        <p:spPr>
          <a:xfrm>
            <a:off x="8208434" y="2070038"/>
            <a:ext cx="304351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count()</a:t>
            </a:r>
            <a:endParaRPr lang="en-US" sz="1800" dirty="0"/>
          </a:p>
        </p:txBody>
      </p:sp>
      <p:sp>
        <p:nvSpPr>
          <p:cNvPr id="16" name="Text 14"/>
          <p:cNvSpPr/>
          <p:nvPr/>
        </p:nvSpPr>
        <p:spPr>
          <a:xfrm>
            <a:off x="8208434" y="2445941"/>
            <a:ext cx="304351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How many times?</a:t>
            </a:r>
            <a:endParaRPr lang="en-US" sz="1500" dirty="0"/>
          </a:p>
        </p:txBody>
      </p:sp>
      <p:sp>
        <p:nvSpPr>
          <p:cNvPr id="17" name="Text 15"/>
          <p:cNvSpPr/>
          <p:nvPr/>
        </p:nvSpPr>
        <p:spPr>
          <a:xfrm>
            <a:off x="8208434" y="2814241"/>
            <a:ext cx="2954867" cy="539750"/>
          </a:xfrm>
          <a:prstGeom prst="roundRect">
            <a:avLst>
              <a:gd name="adj" fmla="val 16471"/>
            </a:avLst>
          </a:prstGeom>
          <a:solidFill>
            <a:srgbClr val="1B2A41"/>
          </a:solidFill>
          <a:ln/>
        </p:spPr>
        <p:txBody>
          <a:bodyPr wrap="square" lIns="126362" tIns="100962" rIns="4686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(s.count(</a:t>
            </a:r>
            <a:r>
              <a:rPr lang="en-US" sz="1500" dirty="0">
                <a:solidFill>
                  <a:srgbClr val="9FD8A8"/>
                </a:solidFill>
                <a:latin typeface="JetBrains Mono" pitchFamily="49" charset="0"/>
                <a:ea typeface="JetBrains Mono" pitchFamily="49" charset="-122"/>
                <a:cs typeface="JetBrains Mono" pitchFamily="49" charset="-120"/>
              </a:rPr>
              <a:t>"a"</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18" name="Text 16"/>
          <p:cNvSpPr/>
          <p:nvPr/>
        </p:nvSpPr>
        <p:spPr>
          <a:xfrm>
            <a:off x="8214784" y="3461941"/>
            <a:ext cx="2942167" cy="501650"/>
          </a:xfrm>
          <a:prstGeom prst="roundRect">
            <a:avLst>
              <a:gd name="adj" fmla="val 16456"/>
            </a:avLst>
          </a:prstGeom>
          <a:solidFill>
            <a:srgbClr val="F7F5EF"/>
          </a:solidFill>
          <a:ln w="12700">
            <a:solidFill>
              <a:srgbClr val="D9DEE5"/>
            </a:solidFill>
            <a:prstDash val="solid"/>
          </a:ln>
        </p:spPr>
        <p:txBody>
          <a:bodyPr wrap="square" lIns="134572" tIns="83772" rIns="55832"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3</a:t>
            </a:r>
            <a:endParaRPr lang="en-US" sz="1500" dirty="0"/>
          </a:p>
        </p:txBody>
      </p:sp>
      <p:sp>
        <p:nvSpPr>
          <p:cNvPr id="19" name="Shape 17"/>
          <p:cNvSpPr/>
          <p:nvPr/>
        </p:nvSpPr>
        <p:spPr>
          <a:xfrm>
            <a:off x="812800" y="5062141"/>
            <a:ext cx="10566400" cy="762000"/>
          </a:xfrm>
          <a:prstGeom prst="roundRect">
            <a:avLst>
              <a:gd name="adj" fmla="val 20000"/>
            </a:avLst>
          </a:prstGeom>
          <a:solidFill>
            <a:srgbClr val="FBEFD5"/>
          </a:solidFill>
          <a:ln/>
        </p:spPr>
      </p:sp>
      <p:pic>
        <p:nvPicPr>
          <p:cNvPr id="20" name="Image 0" descr="Lightbulb">    </p:cNvPr>
          <p:cNvPicPr>
            <a:picLocks noChangeAspect="1"/>
          </p:cNvPicPr>
          <p:nvPr/>
        </p:nvPicPr>
        <p:blipFill>
          <a:blip r:embed="rId1"/>
          <a:srcRect l="0" r="0" t="0" b="0"/>
          <a:stretch/>
        </p:blipFill>
        <p:spPr>
          <a:xfrm>
            <a:off x="1117600" y="5265341"/>
            <a:ext cx="355600" cy="355600"/>
          </a:xfrm>
          <a:prstGeom prst="rect">
            <a:avLst/>
          </a:prstGeom>
        </p:spPr>
      </p:pic>
      <p:sp>
        <p:nvSpPr>
          <p:cNvPr id="21" name="Text 18"/>
          <p:cNvSpPr/>
          <p:nvPr/>
        </p:nvSpPr>
        <p:spPr>
          <a:xfrm>
            <a:off x="1676400" y="5300266"/>
            <a:ext cx="9347518"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2A64A3"/>
                </a:solidFill>
                <a:latin typeface="Rubik" pitchFamily="34" charset="0"/>
                <a:ea typeface="Rubik" pitchFamily="34" charset="-122"/>
                <a:cs typeface="Rubik" pitchFamily="34" charset="-120"/>
              </a:rPr>
              <a:t>startswith()</a:t>
            </a:r>
            <a:r>
              <a:rPr lang="en-US" sz="1500" dirty="0">
                <a:solidFill>
                  <a:srgbClr val="1B2A41"/>
                </a:solidFill>
                <a:latin typeface="Rubik" pitchFamily="34" charset="0"/>
                <a:ea typeface="Rubik" pitchFamily="34" charset="-122"/>
                <a:cs typeface="Rubik" pitchFamily="34" charset="-120"/>
              </a:rPr>
              <a:t> and </a:t>
            </a:r>
            <a:r>
              <a:rPr lang="en-US" sz="1500" dirty="0">
                <a:solidFill>
                  <a:srgbClr val="2A64A3"/>
                </a:solidFill>
                <a:latin typeface="Rubik" pitchFamily="34" charset="0"/>
                <a:ea typeface="Rubik" pitchFamily="34" charset="-122"/>
                <a:cs typeface="Rubik" pitchFamily="34" charset="-120"/>
              </a:rPr>
              <a:t>endswith()</a:t>
            </a:r>
            <a:r>
              <a:rPr lang="en-US" sz="1500" dirty="0">
                <a:solidFill>
                  <a:srgbClr val="1B2A41"/>
                </a:solidFill>
                <a:latin typeface="Rubik" pitchFamily="34" charset="0"/>
                <a:ea typeface="Rubik" pitchFamily="34" charset="-122"/>
                <a:cs typeface="Rubik" pitchFamily="34" charset="-120"/>
              </a:rPr>
              <a:t> check the beginning and end: </a:t>
            </a:r>
            <a:r>
              <a:rPr lang="en-US" sz="1500" dirty="0">
                <a:solidFill>
                  <a:srgbClr val="2A64A3"/>
                </a:solidFill>
                <a:latin typeface="Rubik" pitchFamily="34" charset="0"/>
                <a:ea typeface="Rubik" pitchFamily="34" charset="-122"/>
                <a:cs typeface="Rubik" pitchFamily="34" charset="-120"/>
              </a:rPr>
              <a:t>email.endswith("@gmail.com")</a:t>
            </a:r>
            <a:endParaRPr lang="en-US" sz="1500" dirty="0"/>
          </a:p>
        </p:txBody>
      </p:sp>
      <p:sp>
        <p:nvSpPr>
          <p:cNvPr id="22"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8</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9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2A64A3"/>
                </a:solidFill>
                <a:latin typeface="Rubik" pitchFamily="34" charset="0"/>
                <a:ea typeface="Rubik" pitchFamily="34" charset="-122"/>
                <a:cs typeface="Rubik" pitchFamily="34" charset="-120"/>
              </a:rPr>
              <a:t>CLASS 8 · CHECKING</a:t>
            </a:r>
            <a:endParaRPr lang="en-US" sz="1196" dirty="0"/>
          </a:p>
        </p:txBody>
      </p:sp>
      <p:sp>
        <p:nvSpPr>
          <p:cNvPr id="3" name="Text 1"/>
          <p:cNvSpPr/>
          <p:nvPr>
            <p:ph type="title"/>
          </p:nvPr>
        </p:nvSpPr>
        <p:spPr>
          <a:xfrm>
            <a:off x="812800" y="1100999"/>
            <a:ext cx="10883392" cy="46963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Is it digits? Is it letters?</a:t>
            </a:r>
            <a:endParaRPr lang="en-US" sz="3200" dirty="0"/>
          </a:p>
        </p:txBody>
      </p:sp>
      <p:sp>
        <p:nvSpPr>
          <p:cNvPr id="4" name="Shape 2"/>
          <p:cNvSpPr/>
          <p:nvPr/>
        </p:nvSpPr>
        <p:spPr>
          <a:xfrm>
            <a:off x="812800" y="1850033"/>
            <a:ext cx="5461529" cy="2645370"/>
          </a:xfrm>
          <a:prstGeom prst="roundRect">
            <a:avLst>
              <a:gd name="adj" fmla="val 4801"/>
            </a:avLst>
          </a:prstGeom>
          <a:solidFill>
            <a:srgbClr val="1B2A41"/>
          </a:solidFill>
          <a:ln/>
        </p:spPr>
      </p:sp>
      <p:sp>
        <p:nvSpPr>
          <p:cNvPr id="5" name="Text 3"/>
          <p:cNvSpPr/>
          <p:nvPr/>
        </p:nvSpPr>
        <p:spPr>
          <a:xfrm>
            <a:off x="1066800" y="2027833"/>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password.py</a:t>
            </a:r>
            <a:endParaRPr lang="en-US" sz="1200" dirty="0"/>
          </a:p>
        </p:txBody>
      </p:sp>
      <p:sp>
        <p:nvSpPr>
          <p:cNvPr id="6" name="Text 4"/>
          <p:cNvSpPr/>
          <p:nvPr/>
        </p:nvSpPr>
        <p:spPr>
          <a:xfrm>
            <a:off x="1066800" y="2317353"/>
            <a:ext cx="5102135" cy="2025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pw = </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"New password: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(pw) &lt; 8:</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"Too short"</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elif</a:t>
            </a:r>
            <a:r>
              <a:rPr lang="en-US" sz="1500" dirty="0">
                <a:solidFill>
                  <a:srgbClr val="E8EDF3"/>
                </a:solidFill>
                <a:latin typeface="JetBrains Mono" pitchFamily="49" charset="0"/>
                <a:ea typeface="JetBrains Mono" pitchFamily="49" charset="-122"/>
                <a:cs typeface="JetBrains Mono" pitchFamily="49" charset="-120"/>
              </a:rPr>
              <a:t> pw.isdigit() </a:t>
            </a:r>
            <a:r>
              <a:rPr lang="en-US" sz="1500" dirty="0">
                <a:solidFill>
                  <a:srgbClr val="F2B33D"/>
                </a:solidFill>
                <a:latin typeface="JetBrains Mono" pitchFamily="49" charset="0"/>
                <a:ea typeface="JetBrains Mono" pitchFamily="49" charset="-122"/>
                <a:cs typeface="JetBrains Mono" pitchFamily="49" charset="-120"/>
              </a:rPr>
              <a:t>or</a:t>
            </a:r>
            <a:r>
              <a:rPr lang="en-US" sz="1500" dirty="0">
                <a:solidFill>
                  <a:srgbClr val="E8EDF3"/>
                </a:solidFill>
                <a:latin typeface="JetBrains Mono" pitchFamily="49" charset="0"/>
                <a:ea typeface="JetBrains Mono" pitchFamily="49" charset="-122"/>
                <a:cs typeface="JetBrains Mono" pitchFamily="49" charset="-120"/>
              </a:rPr>
              <a:t> pw.isalpha():</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"Mix letters and numbers"</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else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"Strong enough"</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819150" y="4628753"/>
            <a:ext cx="5448829" cy="1229320"/>
          </a:xfrm>
          <a:prstGeom prst="roundRect">
            <a:avLst>
              <a:gd name="adj" fmla="val 9814"/>
            </a:avLst>
          </a:prstGeom>
          <a:solidFill>
            <a:srgbClr val="FFFDF8"/>
          </a:solidFill>
          <a:ln w="12700">
            <a:solidFill>
              <a:srgbClr val="D9DEE5"/>
            </a:solidFill>
            <a:prstDash val="solid"/>
          </a:ln>
        </p:spPr>
      </p:sp>
      <p:sp>
        <p:nvSpPr>
          <p:cNvPr id="8" name="Text 6"/>
          <p:cNvSpPr/>
          <p:nvPr/>
        </p:nvSpPr>
        <p:spPr>
          <a:xfrm>
            <a:off x="1079500" y="4812903"/>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1079500" y="5102423"/>
            <a:ext cx="507597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New password: </a:t>
            </a:r>
            <a:r>
              <a:rPr lang="en-US" sz="1500" dirty="0">
                <a:solidFill>
                  <a:srgbClr val="B54708"/>
                </a:solidFill>
                <a:latin typeface="JetBrains Mono" pitchFamily="49" charset="0"/>
                <a:ea typeface="JetBrains Mono" pitchFamily="49" charset="-122"/>
                <a:cs typeface="JetBrains Mono" pitchFamily="49" charset="-120"/>
              </a:rPr>
              <a:t>odisha2026</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Strong enough</a:t>
            </a:r>
            <a:endParaRPr lang="en-US" sz="1500" dirty="0"/>
          </a:p>
        </p:txBody>
      </p:sp>
      <p:sp>
        <p:nvSpPr>
          <p:cNvPr id="10" name="Shape 8"/>
          <p:cNvSpPr/>
          <p:nvPr/>
        </p:nvSpPr>
        <p:spPr>
          <a:xfrm>
            <a:off x="6636279" y="1856383"/>
            <a:ext cx="4736571" cy="909307"/>
          </a:xfrm>
          <a:prstGeom prst="roundRect">
            <a:avLst>
              <a:gd name="adj" fmla="val 10475"/>
            </a:avLst>
          </a:prstGeom>
          <a:solidFill>
            <a:srgbClr val="FFFDF8"/>
          </a:solidFill>
          <a:ln w="12700">
            <a:solidFill>
              <a:srgbClr val="E2DED3"/>
            </a:solidFill>
            <a:prstDash val="solid"/>
          </a:ln>
        </p:spPr>
      </p:sp>
      <p:sp>
        <p:nvSpPr>
          <p:cNvPr id="11" name="Text 9"/>
          <p:cNvSpPr/>
          <p:nvPr/>
        </p:nvSpPr>
        <p:spPr>
          <a:xfrm>
            <a:off x="6845829" y="2015133"/>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isdigit()</a:t>
            </a:r>
            <a:endParaRPr lang="en-US" sz="1800" dirty="0"/>
          </a:p>
        </p:txBody>
      </p:sp>
      <p:sp>
        <p:nvSpPr>
          <p:cNvPr id="12" name="Text 10"/>
          <p:cNvSpPr/>
          <p:nvPr/>
        </p:nvSpPr>
        <p:spPr>
          <a:xfrm>
            <a:off x="6845829" y="2340242"/>
            <a:ext cx="444699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True if every character is 0–9: "2026"</a:t>
            </a:r>
            <a:endParaRPr lang="en-US" sz="1500" dirty="0"/>
          </a:p>
        </p:txBody>
      </p:sp>
      <p:sp>
        <p:nvSpPr>
          <p:cNvPr id="13" name="Shape 11"/>
          <p:cNvSpPr/>
          <p:nvPr/>
        </p:nvSpPr>
        <p:spPr>
          <a:xfrm>
            <a:off x="6636279" y="2905392"/>
            <a:ext cx="4736571" cy="909307"/>
          </a:xfrm>
          <a:prstGeom prst="roundRect">
            <a:avLst>
              <a:gd name="adj" fmla="val 10475"/>
            </a:avLst>
          </a:prstGeom>
          <a:solidFill>
            <a:srgbClr val="FFFDF8"/>
          </a:solidFill>
          <a:ln w="12700">
            <a:solidFill>
              <a:srgbClr val="E2DED3"/>
            </a:solidFill>
            <a:prstDash val="solid"/>
          </a:ln>
        </p:spPr>
      </p:sp>
      <p:sp>
        <p:nvSpPr>
          <p:cNvPr id="14" name="Text 12"/>
          <p:cNvSpPr/>
          <p:nvPr/>
        </p:nvSpPr>
        <p:spPr>
          <a:xfrm>
            <a:off x="6845829" y="3064142"/>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isalpha()</a:t>
            </a:r>
            <a:endParaRPr lang="en-US" sz="1800" dirty="0"/>
          </a:p>
        </p:txBody>
      </p:sp>
      <p:sp>
        <p:nvSpPr>
          <p:cNvPr id="15" name="Text 13"/>
          <p:cNvSpPr/>
          <p:nvPr/>
        </p:nvSpPr>
        <p:spPr>
          <a:xfrm>
            <a:off x="6845829" y="3389250"/>
            <a:ext cx="444699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True if every character is a letter: "Puri"</a:t>
            </a:r>
            <a:endParaRPr lang="en-US" sz="1500" dirty="0"/>
          </a:p>
        </p:txBody>
      </p:sp>
      <p:sp>
        <p:nvSpPr>
          <p:cNvPr id="16" name="Shape 14"/>
          <p:cNvSpPr/>
          <p:nvPr/>
        </p:nvSpPr>
        <p:spPr>
          <a:xfrm>
            <a:off x="6636279" y="3954400"/>
            <a:ext cx="4736571" cy="909307"/>
          </a:xfrm>
          <a:prstGeom prst="roundRect">
            <a:avLst>
              <a:gd name="adj" fmla="val 10475"/>
            </a:avLst>
          </a:prstGeom>
          <a:solidFill>
            <a:srgbClr val="FFFDF8"/>
          </a:solidFill>
          <a:ln w="12700">
            <a:solidFill>
              <a:srgbClr val="E2DED3"/>
            </a:solidFill>
            <a:prstDash val="solid"/>
          </a:ln>
        </p:spPr>
      </p:sp>
      <p:sp>
        <p:nvSpPr>
          <p:cNvPr id="17" name="Text 15"/>
          <p:cNvSpPr/>
          <p:nvPr/>
        </p:nvSpPr>
        <p:spPr>
          <a:xfrm>
            <a:off x="6845829" y="4113150"/>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isupper() / islower()</a:t>
            </a:r>
            <a:endParaRPr lang="en-US" sz="1800" dirty="0"/>
          </a:p>
        </p:txBody>
      </p:sp>
      <p:sp>
        <p:nvSpPr>
          <p:cNvPr id="18" name="Text 16"/>
          <p:cNvSpPr/>
          <p:nvPr/>
        </p:nvSpPr>
        <p:spPr>
          <a:xfrm>
            <a:off x="6845829" y="4438253"/>
            <a:ext cx="444699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True if all letters are capitals / small</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8</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8 · PALINDROME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Does it read the same backwards?</a:t>
            </a:r>
            <a:endParaRPr lang="en-US" sz="3200" dirty="0"/>
          </a:p>
        </p:txBody>
      </p:sp>
      <p:sp>
        <p:nvSpPr>
          <p:cNvPr id="4" name="Shape 2"/>
          <p:cNvSpPr/>
          <p:nvPr/>
        </p:nvSpPr>
        <p:spPr>
          <a:xfrm>
            <a:off x="812800" y="1854138"/>
            <a:ext cx="5461529" cy="2073870"/>
          </a:xfrm>
          <a:prstGeom prst="roundRect">
            <a:avLst>
              <a:gd name="adj" fmla="val 6124"/>
            </a:avLst>
          </a:prstGeom>
          <a:solidFill>
            <a:srgbClr val="1B2A41"/>
          </a:solidFill>
          <a:ln/>
        </p:spPr>
      </p:sp>
      <p:sp>
        <p:nvSpPr>
          <p:cNvPr id="5" name="Text 3"/>
          <p:cNvSpPr/>
          <p:nvPr/>
        </p:nvSpPr>
        <p:spPr>
          <a:xfrm>
            <a:off x="1066800" y="2031938"/>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palindrome.py</a:t>
            </a:r>
            <a:endParaRPr lang="en-US" sz="1200" dirty="0"/>
          </a:p>
        </p:txBody>
      </p:sp>
      <p:sp>
        <p:nvSpPr>
          <p:cNvPr id="6" name="Text 4"/>
          <p:cNvSpPr/>
          <p:nvPr/>
        </p:nvSpPr>
        <p:spPr>
          <a:xfrm>
            <a:off x="1066800" y="2321458"/>
            <a:ext cx="5102135" cy="1454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word = </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"Word: "</a:t>
            </a:r>
            <a:r>
              <a:rPr lang="en-US" sz="1500" dirty="0">
                <a:solidFill>
                  <a:srgbClr val="E8EDF3"/>
                </a:solidFill>
                <a:latin typeface="JetBrains Mono" pitchFamily="49" charset="0"/>
                <a:ea typeface="JetBrains Mono" pitchFamily="49" charset="-122"/>
                <a:cs typeface="JetBrains Mono" pitchFamily="49" charset="-120"/>
              </a:rPr>
              <a:t>).lower()</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word == word[::-1]: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"Palindrome"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else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"Not a palindrome"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819150" y="4061358"/>
            <a:ext cx="5448829" cy="1229320"/>
          </a:xfrm>
          <a:prstGeom prst="roundRect">
            <a:avLst>
              <a:gd name="adj" fmla="val 9814"/>
            </a:avLst>
          </a:prstGeom>
          <a:solidFill>
            <a:srgbClr val="FFFDF8"/>
          </a:solidFill>
          <a:ln w="12700">
            <a:solidFill>
              <a:srgbClr val="D9DEE5"/>
            </a:solidFill>
            <a:prstDash val="solid"/>
          </a:ln>
        </p:spPr>
      </p:sp>
      <p:sp>
        <p:nvSpPr>
          <p:cNvPr id="8" name="Text 6"/>
          <p:cNvSpPr/>
          <p:nvPr/>
        </p:nvSpPr>
        <p:spPr>
          <a:xfrm>
            <a:off x="1079500" y="4245508"/>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1079500" y="4535029"/>
            <a:ext cx="507597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Word: </a:t>
            </a:r>
            <a:r>
              <a:rPr lang="en-US" sz="1500" dirty="0">
                <a:solidFill>
                  <a:srgbClr val="B54708"/>
                </a:solidFill>
                <a:latin typeface="JetBrains Mono" pitchFamily="49" charset="0"/>
                <a:ea typeface="JetBrains Mono" pitchFamily="49" charset="-122"/>
                <a:cs typeface="JetBrains Mono" pitchFamily="49" charset="-120"/>
              </a:rPr>
              <a:t>Malayalam</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Palindrome</a:t>
            </a:r>
            <a:endParaRPr lang="en-US" sz="1500" dirty="0"/>
          </a:p>
        </p:txBody>
      </p:sp>
      <p:sp>
        <p:nvSpPr>
          <p:cNvPr id="10" name="Text 8"/>
          <p:cNvSpPr/>
          <p:nvPr/>
        </p:nvSpPr>
        <p:spPr>
          <a:xfrm>
            <a:off x="6629929" y="1854138"/>
            <a:ext cx="4891749" cy="333970"/>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B2A41"/>
                </a:solidFill>
                <a:latin typeface="Rubik" pitchFamily="34" charset="0"/>
                <a:ea typeface="Rubik" pitchFamily="34" charset="-122"/>
                <a:cs typeface="Rubik" pitchFamily="34" charset="-120"/>
              </a:rPr>
              <a:t>Compare the word with its reverse.</a:t>
            </a:r>
            <a:endParaRPr lang="en-US" sz="1800" dirty="0"/>
          </a:p>
        </p:txBody>
      </p:sp>
      <p:sp>
        <p:nvSpPr>
          <p:cNvPr id="11" name="Text 9"/>
          <p:cNvSpPr/>
          <p:nvPr/>
        </p:nvSpPr>
        <p:spPr>
          <a:xfrm>
            <a:off x="6629929" y="2289708"/>
            <a:ext cx="4891749"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2A64A3"/>
                </a:solidFill>
                <a:latin typeface="Rubik" pitchFamily="34" charset="0"/>
                <a:ea typeface="Rubik" pitchFamily="34" charset="-122"/>
                <a:cs typeface="Rubik" pitchFamily="34" charset="-120"/>
              </a:rPr>
              <a:t>.lower()</a:t>
            </a:r>
            <a:r>
              <a:rPr lang="en-US" sz="1500" dirty="0">
                <a:solidFill>
                  <a:srgbClr val="4A5568"/>
                </a:solidFill>
                <a:latin typeface="Rubik" pitchFamily="34" charset="0"/>
                <a:ea typeface="Rubik" pitchFamily="34" charset="-122"/>
                <a:cs typeface="Rubik" pitchFamily="34" charset="-120"/>
              </a:rPr>
              <a:t> makes Malayalam and malayalam equal: M and m are different characters to Python.</a:t>
            </a:r>
            <a:endParaRPr lang="en-US" sz="1500" dirty="0"/>
          </a:p>
        </p:txBody>
      </p:sp>
      <p:sp>
        <p:nvSpPr>
          <p:cNvPr id="12" name="Text 10"/>
          <p:cNvSpPr/>
          <p:nvPr/>
        </p:nvSpPr>
        <p:spPr>
          <a:xfrm>
            <a:off x="6629929" y="2988208"/>
            <a:ext cx="4749271" cy="838200"/>
          </a:xfrm>
          <a:prstGeom prst="roundRect">
            <a:avLst>
              <a:gd name="adj" fmla="val 15152"/>
            </a:avLst>
          </a:prstGeom>
          <a:solidFill>
            <a:srgbClr val="FBEFD5"/>
          </a:solidFill>
          <a:ln/>
        </p:spPr>
        <p:txBody>
          <a:bodyPr wrap="square" lIns="166003" tIns="115203" rIns="35717" bIns="898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Compare with Week 2: the number palindrome needed a whole </a:t>
            </a:r>
            <a:r>
              <a:rPr lang="en-US" sz="1500" dirty="0">
                <a:solidFill>
                  <a:srgbClr val="2A64A3"/>
                </a:solidFill>
                <a:latin typeface="Rubik" pitchFamily="34" charset="0"/>
                <a:ea typeface="Rubik" pitchFamily="34" charset="-122"/>
                <a:cs typeface="Rubik" pitchFamily="34" charset="-120"/>
              </a:rPr>
              <a:t>while</a:t>
            </a:r>
            <a:r>
              <a:rPr lang="en-US" sz="1500" dirty="0">
                <a:solidFill>
                  <a:srgbClr val="1B2A41"/>
                </a:solidFill>
                <a:latin typeface="Rubik" pitchFamily="34" charset="0"/>
                <a:ea typeface="Rubik" pitchFamily="34" charset="-122"/>
                <a:cs typeface="Rubik" pitchFamily="34" charset="-120"/>
              </a:rPr>
              <a:t> loop.</a:t>
            </a:r>
            <a:endParaRPr lang="en-US" sz="15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8</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8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programs</a:t>
            </a:r>
            <a:endParaRPr lang="en-US" sz="3200" dirty="0"/>
          </a:p>
        </p:txBody>
      </p:sp>
      <p:sp>
        <p:nvSpPr>
          <p:cNvPr id="4" name="Shape 2"/>
          <p:cNvSpPr/>
          <p:nvPr/>
        </p:nvSpPr>
        <p:spPr>
          <a:xfrm>
            <a:off x="819150" y="1809688"/>
            <a:ext cx="2476500" cy="2519627"/>
          </a:xfrm>
          <a:prstGeom prst="roundRect">
            <a:avLst>
              <a:gd name="adj" fmla="val 4872"/>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Title case</a:t>
            </a:r>
            <a:endParaRPr lang="en-US" sz="1800" dirty="0"/>
          </a:p>
        </p:txBody>
      </p:sp>
      <p:sp>
        <p:nvSpPr>
          <p:cNvPr id="7" name="Text 5"/>
          <p:cNvSpPr/>
          <p:nvPr/>
        </p:nvSpPr>
        <p:spPr>
          <a:xfrm>
            <a:off x="1028700" y="2786261"/>
            <a:ext cx="2119122"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a full name in any case and print it neatly. "pRIYanka sahoo" gives Priyanka Sahoo</a:t>
            </a:r>
            <a:endParaRPr lang="en-US" sz="1500" dirty="0"/>
          </a:p>
        </p:txBody>
      </p:sp>
      <p:sp>
        <p:nvSpPr>
          <p:cNvPr id="8" name="Shape 6"/>
          <p:cNvSpPr/>
          <p:nvPr/>
        </p:nvSpPr>
        <p:spPr>
          <a:xfrm>
            <a:off x="3511550" y="1809688"/>
            <a:ext cx="2476500" cy="2519627"/>
          </a:xfrm>
          <a:prstGeom prst="roundRect">
            <a:avLst>
              <a:gd name="adj" fmla="val 4872"/>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Longest word</a:t>
            </a:r>
            <a:endParaRPr lang="en-US" sz="1800" dirty="0"/>
          </a:p>
        </p:txBody>
      </p:sp>
      <p:sp>
        <p:nvSpPr>
          <p:cNvPr id="11" name="Text 9"/>
          <p:cNvSpPr/>
          <p:nvPr/>
        </p:nvSpPr>
        <p:spPr>
          <a:xfrm>
            <a:off x="37211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a sentence and print its longest word using split().</a:t>
            </a:r>
            <a:endParaRPr lang="en-US" sz="1500" dirty="0"/>
          </a:p>
        </p:txBody>
      </p:sp>
      <p:sp>
        <p:nvSpPr>
          <p:cNvPr id="12" name="Shape 10"/>
          <p:cNvSpPr/>
          <p:nvPr/>
        </p:nvSpPr>
        <p:spPr>
          <a:xfrm>
            <a:off x="6203950" y="1809688"/>
            <a:ext cx="2476500" cy="2519627"/>
          </a:xfrm>
          <a:prstGeom prst="roundRect">
            <a:avLst>
              <a:gd name="adj" fmla="val 4872"/>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Email check</a:t>
            </a:r>
            <a:endParaRPr lang="en-US" sz="1800" dirty="0"/>
          </a:p>
        </p:txBody>
      </p:sp>
      <p:sp>
        <p:nvSpPr>
          <p:cNvPr id="15" name="Text 13"/>
          <p:cNvSpPr/>
          <p:nvPr/>
        </p:nvSpPr>
        <p:spPr>
          <a:xfrm>
            <a:off x="64135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Say valid if the email has one "@" and ends with ".com" or ".in"</a:t>
            </a:r>
            <a:endParaRPr lang="en-US" sz="1500" dirty="0"/>
          </a:p>
        </p:txBody>
      </p:sp>
      <p:sp>
        <p:nvSpPr>
          <p:cNvPr id="16" name="Shape 14"/>
          <p:cNvSpPr/>
          <p:nvPr/>
        </p:nvSpPr>
        <p:spPr>
          <a:xfrm>
            <a:off x="8896350" y="1809688"/>
            <a:ext cx="2476500" cy="2519627"/>
          </a:xfrm>
          <a:prstGeom prst="roundRect">
            <a:avLst>
              <a:gd name="adj" fmla="val 4872"/>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Character types</a:t>
            </a:r>
            <a:endParaRPr lang="en-US" sz="1800" dirty="0"/>
          </a:p>
        </p:txBody>
      </p:sp>
      <p:sp>
        <p:nvSpPr>
          <p:cNvPr id="19" name="Text 17"/>
          <p:cNvSpPr/>
          <p:nvPr/>
        </p:nvSpPr>
        <p:spPr>
          <a:xfrm>
            <a:off x="91059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Count letters, digits and spaces in a sentence.</a:t>
            </a:r>
            <a:endParaRPr lang="en-US" sz="1500" dirty="0"/>
          </a:p>
        </p:txBody>
      </p:sp>
      <p:sp>
        <p:nvSpPr>
          <p:cNvPr id="20" name="Shape 18"/>
          <p:cNvSpPr/>
          <p:nvPr/>
        </p:nvSpPr>
        <p:spPr>
          <a:xfrm>
            <a:off x="812800" y="4589661"/>
            <a:ext cx="10566400" cy="622300"/>
          </a:xfrm>
          <a:prstGeom prst="roundRect">
            <a:avLst>
              <a:gd name="adj" fmla="val 20408"/>
            </a:avLst>
          </a:prstGeom>
          <a:solidFill>
            <a:srgbClr val="1B2A41"/>
          </a:solidFill>
          <a:ln/>
        </p:spPr>
      </p:sp>
      <p:sp>
        <p:nvSpPr>
          <p:cNvPr id="21" name="Text 19"/>
          <p:cNvSpPr/>
          <p:nvPr/>
        </p:nvSpPr>
        <p:spPr>
          <a:xfrm>
            <a:off x="1066800" y="4794120"/>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767461"/>
            <a:ext cx="77707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String methods</a:t>
            </a:r>
            <a:r>
              <a:rPr lang="en-US" sz="1500" dirty="0">
                <a:solidFill>
                  <a:srgbClr val="F7F5EF"/>
                </a:solidFill>
                <a:latin typeface="Rubik" pitchFamily="34" charset="0"/>
                <a:ea typeface="Rubik" pitchFamily="34" charset="-122"/>
                <a:cs typeface="Rubik" pitchFamily="34" charset="-120"/>
              </a:rPr>
              <a:t> · and try 5 methods we did not cover</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8</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664495"/>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9 OF 24</a:t>
            </a:r>
            <a:endParaRPr lang="en-US" sz="1200" dirty="0"/>
          </a:p>
        </p:txBody>
      </p:sp>
      <p:sp>
        <p:nvSpPr>
          <p:cNvPr id="3" name="Text 1"/>
          <p:cNvSpPr/>
          <p:nvPr>
            <p:ph type="title"/>
          </p:nvPr>
        </p:nvSpPr>
        <p:spPr>
          <a:xfrm>
            <a:off x="812800" y="3055615"/>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Lists</a:t>
            </a:r>
            <a:endParaRPr lang="en-US" sz="4800" dirty="0"/>
          </a:p>
        </p:txBody>
      </p:sp>
      <p:sp>
        <p:nvSpPr>
          <p:cNvPr id="4" name="Text 2"/>
          <p:cNvSpPr/>
          <p:nvPr/>
        </p:nvSpPr>
        <p:spPr>
          <a:xfrm>
            <a:off x="812800" y="3873438"/>
            <a:ext cx="5127752"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One variable that holds many values</a:t>
            </a:r>
            <a:endParaRPr lang="en-US" sz="1800" dirty="0"/>
          </a:p>
        </p:txBody>
      </p:sp>
      <p:sp>
        <p:nvSpPr>
          <p:cNvPr id="5" name="Shape 3"/>
          <p:cNvSpPr/>
          <p:nvPr/>
        </p:nvSpPr>
        <p:spPr>
          <a:xfrm>
            <a:off x="6400800" y="2098018"/>
            <a:ext cx="4978400" cy="2661907"/>
          </a:xfrm>
          <a:prstGeom prst="roundRect">
            <a:avLst>
              <a:gd name="adj" fmla="val 5725"/>
            </a:avLst>
          </a:prstGeom>
          <a:solidFill>
            <a:srgbClr val="1B2A41"/>
          </a:solidFill>
          <a:ln/>
        </p:spPr>
      </p:sp>
      <p:sp>
        <p:nvSpPr>
          <p:cNvPr id="6" name="Text 4"/>
          <p:cNvSpPr/>
          <p:nvPr/>
        </p:nvSpPr>
        <p:spPr>
          <a:xfrm>
            <a:off x="6756400" y="2453618"/>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Create a list and read items by index</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Add, change and remove items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Loop through a list to total it</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Search and find the largest by hand</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Sort a list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9 · LISTS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A list keeps items in order</a:t>
            </a:r>
            <a:endParaRPr lang="en-US" sz="3200" dirty="0"/>
          </a:p>
        </p:txBody>
      </p:sp>
      <p:sp>
        <p:nvSpPr>
          <p:cNvPr id="4" name="Shape 2"/>
          <p:cNvSpPr/>
          <p:nvPr/>
        </p:nvSpPr>
        <p:spPr>
          <a:xfrm>
            <a:off x="812800" y="1854138"/>
            <a:ext cx="5569479" cy="2359620"/>
          </a:xfrm>
          <a:prstGeom prst="roundRect">
            <a:avLst>
              <a:gd name="adj" fmla="val 5382"/>
            </a:avLst>
          </a:prstGeom>
          <a:solidFill>
            <a:srgbClr val="1B2A41"/>
          </a:solidFill>
          <a:ln/>
        </p:spPr>
      </p:sp>
      <p:sp>
        <p:nvSpPr>
          <p:cNvPr id="5" name="Text 3"/>
          <p:cNvSpPr/>
          <p:nvPr/>
        </p:nvSpPr>
        <p:spPr>
          <a:xfrm>
            <a:off x="1066800" y="2031938"/>
            <a:ext cx="52133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lists.py</a:t>
            </a:r>
            <a:endParaRPr lang="en-US" sz="1200" dirty="0"/>
          </a:p>
        </p:txBody>
      </p:sp>
      <p:sp>
        <p:nvSpPr>
          <p:cNvPr id="6" name="Text 4"/>
          <p:cNvSpPr/>
          <p:nvPr/>
        </p:nvSpPr>
        <p:spPr>
          <a:xfrm>
            <a:off x="1066800" y="2321458"/>
            <a:ext cx="5213324" cy="1739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marks = [78, 92, 65, 88]</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(marks[0], marks[-1])</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(marks[1:3])</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(marks))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marks[2] = 70</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(marks)</a:t>
            </a:r>
            <a:endParaRPr lang="en-US" sz="1500" dirty="0"/>
          </a:p>
        </p:txBody>
      </p:sp>
      <p:sp>
        <p:nvSpPr>
          <p:cNvPr id="7" name="Shape 5"/>
          <p:cNvSpPr/>
          <p:nvPr/>
        </p:nvSpPr>
        <p:spPr>
          <a:xfrm>
            <a:off x="6744229" y="1860488"/>
            <a:ext cx="4628621" cy="1800820"/>
          </a:xfrm>
          <a:prstGeom prst="roundRect">
            <a:avLst>
              <a:gd name="adj" fmla="val 6700"/>
            </a:avLst>
          </a:prstGeom>
          <a:solidFill>
            <a:srgbClr val="FFFDF8"/>
          </a:solidFill>
          <a:ln w="12700">
            <a:solidFill>
              <a:srgbClr val="D9DEE5"/>
            </a:solidFill>
            <a:prstDash val="solid"/>
          </a:ln>
        </p:spPr>
      </p:sp>
      <p:sp>
        <p:nvSpPr>
          <p:cNvPr id="8" name="Text 6"/>
          <p:cNvSpPr/>
          <p:nvPr/>
        </p:nvSpPr>
        <p:spPr>
          <a:xfrm>
            <a:off x="7004579" y="2044638"/>
            <a:ext cx="42311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7004579" y="2334158"/>
            <a:ext cx="4231159"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78 88</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[92, 65]</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4</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[78, 92, 70, 88]</a:t>
            </a:r>
            <a:endParaRPr lang="en-US" sz="1500" dirty="0"/>
          </a:p>
        </p:txBody>
      </p:sp>
      <p:sp>
        <p:nvSpPr>
          <p:cNvPr id="10" name="Shape 8"/>
          <p:cNvSpPr/>
          <p:nvPr/>
        </p:nvSpPr>
        <p:spPr>
          <a:xfrm>
            <a:off x="6744229" y="3801008"/>
            <a:ext cx="4628621" cy="749300"/>
          </a:xfrm>
          <a:prstGeom prst="roundRect">
            <a:avLst>
              <a:gd name="adj" fmla="val 11017"/>
            </a:avLst>
          </a:prstGeom>
          <a:solidFill>
            <a:srgbClr val="FFFDF8"/>
          </a:solidFill>
          <a:ln w="12700">
            <a:solidFill>
              <a:srgbClr val="E2DED3"/>
            </a:solidFill>
            <a:prstDash val="solid"/>
          </a:ln>
        </p:spPr>
      </p:sp>
      <p:sp>
        <p:nvSpPr>
          <p:cNvPr id="11" name="Text 9"/>
          <p:cNvSpPr/>
          <p:nvPr/>
        </p:nvSpPr>
        <p:spPr>
          <a:xfrm>
            <a:off x="6902979" y="404230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360179" y="3908958"/>
            <a:ext cx="3969539"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Square brackets:</a:t>
            </a:r>
            <a:r>
              <a:rPr lang="en-US" sz="1500" dirty="0">
                <a:solidFill>
                  <a:srgbClr val="4A5568"/>
                </a:solidFill>
                <a:latin typeface="Rubik" pitchFamily="34" charset="0"/>
                <a:ea typeface="Rubik" pitchFamily="34" charset="-122"/>
                <a:cs typeface="Rubik" pitchFamily="34" charset="-120"/>
              </a:rPr>
              <a:t> items separated by commas</a:t>
            </a:r>
            <a:endParaRPr lang="en-US" sz="1500" dirty="0"/>
          </a:p>
        </p:txBody>
      </p:sp>
      <p:sp>
        <p:nvSpPr>
          <p:cNvPr id="13" name="Shape 11"/>
          <p:cNvSpPr/>
          <p:nvPr/>
        </p:nvSpPr>
        <p:spPr>
          <a:xfrm>
            <a:off x="6744229" y="4690008"/>
            <a:ext cx="4628621"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6902979" y="479795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360179" y="4797958"/>
            <a:ext cx="400632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Mutable:</a:t>
            </a:r>
            <a:r>
              <a:rPr lang="en-US" sz="1500" dirty="0">
                <a:solidFill>
                  <a:srgbClr val="4A5568"/>
                </a:solidFill>
                <a:latin typeface="Rubik" pitchFamily="34" charset="0"/>
                <a:ea typeface="Rubik" pitchFamily="34" charset="-122"/>
                <a:cs typeface="Rubik" pitchFamily="34" charset="-120"/>
              </a:rPr>
              <a:t> you can change an item in place</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9</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9 · LIST METHODS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Adding and removing items</a:t>
            </a:r>
            <a:endParaRPr lang="en-US" sz="3200" dirty="0"/>
          </a:p>
        </p:txBody>
      </p:sp>
      <p:sp>
        <p:nvSpPr>
          <p:cNvPr id="4" name="Shape 2"/>
          <p:cNvSpPr/>
          <p:nvPr/>
        </p:nvSpPr>
        <p:spPr>
          <a:xfrm>
            <a:off x="812800" y="1854138"/>
            <a:ext cx="5956234" cy="391120"/>
          </a:xfrm>
          <a:prstGeom prst="roundRect">
            <a:avLst>
              <a:gd name="adj" fmla="val 22730"/>
            </a:avLst>
          </a:prstGeom>
          <a:solidFill>
            <a:srgbClr val="1B2A41"/>
          </a:solidFill>
          <a:ln/>
        </p:spPr>
      </p:sp>
      <p:sp>
        <p:nvSpPr>
          <p:cNvPr id="5" name="Text 3"/>
          <p:cNvSpPr/>
          <p:nvPr/>
        </p:nvSpPr>
        <p:spPr>
          <a:xfrm>
            <a:off x="990600" y="1943038"/>
            <a:ext cx="34010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WRITE</a:t>
            </a:r>
            <a:endParaRPr lang="en-US" sz="1200" dirty="0"/>
          </a:p>
        </p:txBody>
      </p:sp>
      <p:sp>
        <p:nvSpPr>
          <p:cNvPr id="6" name="Text 4"/>
          <p:cNvSpPr/>
          <p:nvPr/>
        </p:nvSpPr>
        <p:spPr>
          <a:xfrm>
            <a:off x="4445000" y="1943038"/>
            <a:ext cx="221062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WHAT IT DOES</a:t>
            </a:r>
            <a:endParaRPr lang="en-US" sz="1200" dirty="0"/>
          </a:p>
        </p:txBody>
      </p:sp>
      <p:sp>
        <p:nvSpPr>
          <p:cNvPr id="7" name="Shape 5"/>
          <p:cNvSpPr/>
          <p:nvPr/>
        </p:nvSpPr>
        <p:spPr>
          <a:xfrm>
            <a:off x="812800" y="2696108"/>
            <a:ext cx="5956234" cy="0"/>
          </a:xfrm>
          <a:prstGeom prst="line">
            <a:avLst/>
          </a:prstGeom>
          <a:noFill/>
          <a:ln w="12700">
            <a:solidFill>
              <a:srgbClr val="D9DEE5"/>
            </a:solidFill>
            <a:prstDash val="solid"/>
          </a:ln>
        </p:spPr>
      </p:sp>
      <p:sp>
        <p:nvSpPr>
          <p:cNvPr id="8" name="Text 6"/>
          <p:cNvSpPr/>
          <p:nvPr/>
        </p:nvSpPr>
        <p:spPr>
          <a:xfrm>
            <a:off x="990600" y="2334158"/>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f.append("Chhena")</a:t>
            </a:r>
            <a:endParaRPr lang="en-US" sz="1500" dirty="0"/>
          </a:p>
        </p:txBody>
      </p:sp>
      <p:sp>
        <p:nvSpPr>
          <p:cNvPr id="9" name="Text 7"/>
          <p:cNvSpPr/>
          <p:nvPr/>
        </p:nvSpPr>
        <p:spPr>
          <a:xfrm>
            <a:off x="4445000" y="2334158"/>
            <a:ext cx="22106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adds at the end</a:t>
            </a:r>
            <a:endParaRPr lang="en-US" sz="1500" dirty="0"/>
          </a:p>
        </p:txBody>
      </p:sp>
      <p:sp>
        <p:nvSpPr>
          <p:cNvPr id="10" name="Shape 8"/>
          <p:cNvSpPr/>
          <p:nvPr/>
        </p:nvSpPr>
        <p:spPr>
          <a:xfrm>
            <a:off x="812800" y="3153308"/>
            <a:ext cx="5956234" cy="0"/>
          </a:xfrm>
          <a:prstGeom prst="line">
            <a:avLst/>
          </a:prstGeom>
          <a:noFill/>
          <a:ln w="12700">
            <a:solidFill>
              <a:srgbClr val="D9DEE5"/>
            </a:solidFill>
            <a:prstDash val="solid"/>
          </a:ln>
        </p:spPr>
      </p:sp>
      <p:sp>
        <p:nvSpPr>
          <p:cNvPr id="11" name="Text 9"/>
          <p:cNvSpPr/>
          <p:nvPr/>
        </p:nvSpPr>
        <p:spPr>
          <a:xfrm>
            <a:off x="990600" y="2791358"/>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f.insert(0, "Dahi")</a:t>
            </a:r>
            <a:endParaRPr lang="en-US" sz="1500" dirty="0"/>
          </a:p>
        </p:txBody>
      </p:sp>
      <p:sp>
        <p:nvSpPr>
          <p:cNvPr id="12" name="Text 10"/>
          <p:cNvSpPr/>
          <p:nvPr/>
        </p:nvSpPr>
        <p:spPr>
          <a:xfrm>
            <a:off x="4445000" y="2791358"/>
            <a:ext cx="22106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adds at index 0</a:t>
            </a:r>
            <a:endParaRPr lang="en-US" sz="1500" dirty="0"/>
          </a:p>
        </p:txBody>
      </p:sp>
      <p:sp>
        <p:nvSpPr>
          <p:cNvPr id="13" name="Shape 11"/>
          <p:cNvSpPr/>
          <p:nvPr/>
        </p:nvSpPr>
        <p:spPr>
          <a:xfrm>
            <a:off x="812800" y="3610508"/>
            <a:ext cx="5956234" cy="0"/>
          </a:xfrm>
          <a:prstGeom prst="line">
            <a:avLst/>
          </a:prstGeom>
          <a:noFill/>
          <a:ln w="12700">
            <a:solidFill>
              <a:srgbClr val="D9DEE5"/>
            </a:solidFill>
            <a:prstDash val="solid"/>
          </a:ln>
        </p:spPr>
      </p:sp>
      <p:sp>
        <p:nvSpPr>
          <p:cNvPr id="14" name="Text 12"/>
          <p:cNvSpPr/>
          <p:nvPr/>
        </p:nvSpPr>
        <p:spPr>
          <a:xfrm>
            <a:off x="990600" y="3248558"/>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f.remove("Pakhala")</a:t>
            </a:r>
            <a:endParaRPr lang="en-US" sz="1500" dirty="0"/>
          </a:p>
        </p:txBody>
      </p:sp>
      <p:sp>
        <p:nvSpPr>
          <p:cNvPr id="15" name="Text 13"/>
          <p:cNvSpPr/>
          <p:nvPr/>
        </p:nvSpPr>
        <p:spPr>
          <a:xfrm>
            <a:off x="4445000" y="3248558"/>
            <a:ext cx="22106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removes by value</a:t>
            </a:r>
            <a:endParaRPr lang="en-US" sz="1500" dirty="0"/>
          </a:p>
        </p:txBody>
      </p:sp>
      <p:sp>
        <p:nvSpPr>
          <p:cNvPr id="16" name="Shape 14"/>
          <p:cNvSpPr/>
          <p:nvPr/>
        </p:nvSpPr>
        <p:spPr>
          <a:xfrm>
            <a:off x="812800" y="4067708"/>
            <a:ext cx="5956234" cy="0"/>
          </a:xfrm>
          <a:prstGeom prst="line">
            <a:avLst/>
          </a:prstGeom>
          <a:noFill/>
          <a:ln w="12700">
            <a:solidFill>
              <a:srgbClr val="D9DEE5"/>
            </a:solidFill>
            <a:prstDash val="solid"/>
          </a:ln>
        </p:spPr>
      </p:sp>
      <p:sp>
        <p:nvSpPr>
          <p:cNvPr id="17" name="Text 15"/>
          <p:cNvSpPr/>
          <p:nvPr/>
        </p:nvSpPr>
        <p:spPr>
          <a:xfrm>
            <a:off x="990600" y="3705758"/>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f.pop()</a:t>
            </a:r>
            <a:endParaRPr lang="en-US" sz="1500" dirty="0"/>
          </a:p>
        </p:txBody>
      </p:sp>
      <p:sp>
        <p:nvSpPr>
          <p:cNvPr id="18" name="Text 16"/>
          <p:cNvSpPr/>
          <p:nvPr/>
        </p:nvSpPr>
        <p:spPr>
          <a:xfrm>
            <a:off x="4445000" y="3705758"/>
            <a:ext cx="22106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removes last item</a:t>
            </a:r>
            <a:endParaRPr lang="en-US" sz="1500" dirty="0"/>
          </a:p>
        </p:txBody>
      </p:sp>
      <p:sp>
        <p:nvSpPr>
          <p:cNvPr id="19" name="Shape 17"/>
          <p:cNvSpPr/>
          <p:nvPr/>
        </p:nvSpPr>
        <p:spPr>
          <a:xfrm>
            <a:off x="812800" y="4524908"/>
            <a:ext cx="5956234" cy="0"/>
          </a:xfrm>
          <a:prstGeom prst="line">
            <a:avLst/>
          </a:prstGeom>
          <a:noFill/>
          <a:ln w="12700">
            <a:solidFill>
              <a:srgbClr val="D9DEE5"/>
            </a:solidFill>
            <a:prstDash val="solid"/>
          </a:ln>
        </p:spPr>
      </p:sp>
      <p:sp>
        <p:nvSpPr>
          <p:cNvPr id="20" name="Text 18"/>
          <p:cNvSpPr/>
          <p:nvPr/>
        </p:nvSpPr>
        <p:spPr>
          <a:xfrm>
            <a:off x="990600" y="4162958"/>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f.pop(1)</a:t>
            </a:r>
            <a:endParaRPr lang="en-US" sz="1500" dirty="0"/>
          </a:p>
        </p:txBody>
      </p:sp>
      <p:sp>
        <p:nvSpPr>
          <p:cNvPr id="21" name="Text 19"/>
          <p:cNvSpPr/>
          <p:nvPr/>
        </p:nvSpPr>
        <p:spPr>
          <a:xfrm>
            <a:off x="4445000" y="4162958"/>
            <a:ext cx="22106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removes index 1</a:t>
            </a:r>
            <a:endParaRPr lang="en-US" sz="1500" dirty="0"/>
          </a:p>
        </p:txBody>
      </p:sp>
      <p:sp>
        <p:nvSpPr>
          <p:cNvPr id="22" name="Shape 20"/>
          <p:cNvSpPr/>
          <p:nvPr/>
        </p:nvSpPr>
        <p:spPr>
          <a:xfrm>
            <a:off x="812800" y="4982108"/>
            <a:ext cx="5956234" cy="0"/>
          </a:xfrm>
          <a:prstGeom prst="line">
            <a:avLst/>
          </a:prstGeom>
          <a:noFill/>
          <a:ln w="12700">
            <a:solidFill>
              <a:srgbClr val="D9DEE5"/>
            </a:solidFill>
            <a:prstDash val="solid"/>
          </a:ln>
        </p:spPr>
      </p:sp>
      <p:sp>
        <p:nvSpPr>
          <p:cNvPr id="23" name="Text 21"/>
          <p:cNvSpPr/>
          <p:nvPr/>
        </p:nvSpPr>
        <p:spPr>
          <a:xfrm>
            <a:off x="990600" y="4620158"/>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f.index("Rasagola")</a:t>
            </a:r>
            <a:endParaRPr lang="en-US" sz="1500" dirty="0"/>
          </a:p>
        </p:txBody>
      </p:sp>
      <p:sp>
        <p:nvSpPr>
          <p:cNvPr id="24" name="Text 22"/>
          <p:cNvSpPr/>
          <p:nvPr/>
        </p:nvSpPr>
        <p:spPr>
          <a:xfrm>
            <a:off x="4445000" y="4620158"/>
            <a:ext cx="22106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where is it?</a:t>
            </a:r>
            <a:endParaRPr lang="en-US" sz="1500" dirty="0"/>
          </a:p>
        </p:txBody>
      </p:sp>
      <p:sp>
        <p:nvSpPr>
          <p:cNvPr id="25" name="Shape 23"/>
          <p:cNvSpPr/>
          <p:nvPr/>
        </p:nvSpPr>
        <p:spPr>
          <a:xfrm>
            <a:off x="812800" y="5439308"/>
            <a:ext cx="5956234" cy="0"/>
          </a:xfrm>
          <a:prstGeom prst="line">
            <a:avLst/>
          </a:prstGeom>
          <a:noFill/>
          <a:ln w="12700">
            <a:solidFill>
              <a:srgbClr val="D9DEE5"/>
            </a:solidFill>
            <a:prstDash val="solid"/>
          </a:ln>
        </p:spPr>
      </p:sp>
      <p:sp>
        <p:nvSpPr>
          <p:cNvPr id="26" name="Text 24"/>
          <p:cNvSpPr/>
          <p:nvPr/>
        </p:nvSpPr>
        <p:spPr>
          <a:xfrm>
            <a:off x="990600" y="5077358"/>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f.count("Rasagola")</a:t>
            </a:r>
            <a:endParaRPr lang="en-US" sz="1500" dirty="0"/>
          </a:p>
        </p:txBody>
      </p:sp>
      <p:sp>
        <p:nvSpPr>
          <p:cNvPr id="27" name="Text 25"/>
          <p:cNvSpPr/>
          <p:nvPr/>
        </p:nvSpPr>
        <p:spPr>
          <a:xfrm>
            <a:off x="4445000" y="5077358"/>
            <a:ext cx="22106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how many times?</a:t>
            </a:r>
            <a:endParaRPr lang="en-US" sz="1500" dirty="0"/>
          </a:p>
        </p:txBody>
      </p:sp>
      <p:sp>
        <p:nvSpPr>
          <p:cNvPr id="28" name="Shape 26"/>
          <p:cNvSpPr/>
          <p:nvPr/>
        </p:nvSpPr>
        <p:spPr>
          <a:xfrm>
            <a:off x="7124634" y="1854138"/>
            <a:ext cx="4254500" cy="930870"/>
          </a:xfrm>
          <a:prstGeom prst="roundRect">
            <a:avLst>
              <a:gd name="adj" fmla="val 13643"/>
            </a:avLst>
          </a:prstGeom>
          <a:solidFill>
            <a:srgbClr val="1B2A41"/>
          </a:solidFill>
          <a:ln/>
        </p:spPr>
      </p:sp>
      <p:sp>
        <p:nvSpPr>
          <p:cNvPr id="29" name="Text 27"/>
          <p:cNvSpPr/>
          <p:nvPr/>
        </p:nvSpPr>
        <p:spPr>
          <a:xfrm>
            <a:off x="7378634" y="2031938"/>
            <a:ext cx="38588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foods.py</a:t>
            </a:r>
            <a:endParaRPr lang="en-US" sz="1200" dirty="0"/>
          </a:p>
        </p:txBody>
      </p:sp>
      <p:sp>
        <p:nvSpPr>
          <p:cNvPr id="30" name="Text 28"/>
          <p:cNvSpPr/>
          <p:nvPr/>
        </p:nvSpPr>
        <p:spPr>
          <a:xfrm>
            <a:off x="7378634" y="2321458"/>
            <a:ext cx="3858895"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f = [</a:t>
            </a:r>
            <a:r>
              <a:rPr lang="en-US" sz="1500" dirty="0">
                <a:solidFill>
                  <a:srgbClr val="9FD8A8"/>
                </a:solidFill>
                <a:latin typeface="JetBrains Mono" pitchFamily="49" charset="0"/>
                <a:ea typeface="JetBrains Mono" pitchFamily="49" charset="-122"/>
                <a:cs typeface="JetBrains Mono" pitchFamily="49" charset="-120"/>
              </a:rPr>
              <a:t>"Rasagola"</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"Pakhala"</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31" name="Text 29"/>
          <p:cNvSpPr/>
          <p:nvPr/>
        </p:nvSpPr>
        <p:spPr>
          <a:xfrm>
            <a:off x="7124634" y="2912008"/>
            <a:ext cx="4382135"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Methods change the list itself. No need to store the result.</a:t>
            </a:r>
            <a:endParaRPr lang="en-US" sz="1500" dirty="0"/>
          </a:p>
        </p:txBody>
      </p:sp>
      <p:sp>
        <p:nvSpPr>
          <p:cNvPr id="32" name="Shape 30"/>
          <p:cNvSpPr/>
          <p:nvPr/>
        </p:nvSpPr>
        <p:spPr>
          <a:xfrm>
            <a:off x="7130984" y="3616858"/>
            <a:ext cx="4241800" cy="800100"/>
          </a:xfrm>
          <a:prstGeom prst="roundRect">
            <a:avLst>
              <a:gd name="adj" fmla="val 10317"/>
            </a:avLst>
          </a:prstGeom>
          <a:solidFill>
            <a:srgbClr val="FFFDF8"/>
          </a:solidFill>
          <a:ln w="12700">
            <a:solidFill>
              <a:srgbClr val="B54708"/>
            </a:solidFill>
            <a:prstDash val="solid"/>
          </a:ln>
        </p:spPr>
      </p:sp>
      <p:pic>
        <p:nvPicPr>
          <p:cNvPr id="33" name="Image 0" descr="Warning">    </p:cNvPr>
          <p:cNvPicPr>
            <a:picLocks noChangeAspect="1"/>
          </p:cNvPicPr>
          <p:nvPr/>
        </p:nvPicPr>
        <p:blipFill>
          <a:blip r:embed="rId1"/>
          <a:srcRect l="-289" r="-289" t="0" b="0"/>
          <a:stretch/>
        </p:blipFill>
        <p:spPr>
          <a:xfrm>
            <a:off x="7315134" y="3864508"/>
            <a:ext cx="172442" cy="304800"/>
          </a:xfrm>
          <a:prstGeom prst="rect">
            <a:avLst/>
          </a:prstGeom>
        </p:spPr>
      </p:pic>
      <p:sp>
        <p:nvSpPr>
          <p:cNvPr id="34" name="Text 31"/>
          <p:cNvSpPr/>
          <p:nvPr/>
        </p:nvSpPr>
        <p:spPr>
          <a:xfrm>
            <a:off x="7614576" y="3750208"/>
            <a:ext cx="368128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Removing something that is not there gives an error. Check with </a:t>
            </a:r>
            <a:r>
              <a:rPr lang="en-US" sz="1500" dirty="0">
                <a:solidFill>
                  <a:srgbClr val="2A64A3"/>
                </a:solidFill>
                <a:latin typeface="Rubik" pitchFamily="34" charset="0"/>
                <a:ea typeface="Rubik" pitchFamily="34" charset="-122"/>
                <a:cs typeface="Rubik" pitchFamily="34" charset="-120"/>
              </a:rPr>
              <a:t>in</a:t>
            </a:r>
            <a:r>
              <a:rPr lang="en-US" sz="1500" dirty="0">
                <a:solidFill>
                  <a:srgbClr val="1B2A41"/>
                </a:solidFill>
                <a:latin typeface="Rubik" pitchFamily="34" charset="0"/>
                <a:ea typeface="Rubik" pitchFamily="34" charset="-122"/>
                <a:cs typeface="Rubik" pitchFamily="34" charset="-120"/>
              </a:rPr>
              <a:t> first.</a:t>
            </a:r>
            <a:endParaRPr lang="en-US" sz="1500" dirty="0"/>
          </a:p>
        </p:txBody>
      </p:sp>
      <p:sp>
        <p:nvSpPr>
          <p:cNvPr id="35" name="Text 3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9</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9 · LOOPING</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Total and average of marks</a:t>
            </a:r>
            <a:endParaRPr lang="en-US" sz="3200" dirty="0"/>
          </a:p>
        </p:txBody>
      </p:sp>
      <p:sp>
        <p:nvSpPr>
          <p:cNvPr id="4" name="Shape 2"/>
          <p:cNvSpPr/>
          <p:nvPr/>
        </p:nvSpPr>
        <p:spPr>
          <a:xfrm>
            <a:off x="812800" y="1854138"/>
            <a:ext cx="5771290" cy="2931120"/>
          </a:xfrm>
          <a:prstGeom prst="roundRect">
            <a:avLst>
              <a:gd name="adj" fmla="val 4333"/>
            </a:avLst>
          </a:prstGeom>
          <a:solidFill>
            <a:srgbClr val="1B2A41"/>
          </a:solidFill>
          <a:ln/>
        </p:spPr>
      </p:sp>
      <p:sp>
        <p:nvSpPr>
          <p:cNvPr id="5" name="Text 3"/>
          <p:cNvSpPr/>
          <p:nvPr/>
        </p:nvSpPr>
        <p:spPr>
          <a:xfrm>
            <a:off x="1066800" y="2031938"/>
            <a:ext cx="54211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average.py</a:t>
            </a:r>
            <a:endParaRPr lang="en-US" sz="1200" dirty="0"/>
          </a:p>
        </p:txBody>
      </p:sp>
      <p:sp>
        <p:nvSpPr>
          <p:cNvPr id="6" name="Text 4"/>
          <p:cNvSpPr/>
          <p:nvPr/>
        </p:nvSpPr>
        <p:spPr>
          <a:xfrm>
            <a:off x="1066800" y="2321458"/>
            <a:ext cx="5421189" cy="2311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marks = []</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(5):</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m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"Marks: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marks.append(m)</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total = </a:t>
            </a:r>
            <a:r>
              <a:rPr lang="en-US" sz="1500" dirty="0">
                <a:solidFill>
                  <a:srgbClr val="F2B33D"/>
                </a:solidFill>
                <a:latin typeface="JetBrains Mono" pitchFamily="49" charset="0"/>
                <a:ea typeface="JetBrains Mono" pitchFamily="49" charset="-122"/>
                <a:cs typeface="JetBrains Mono" pitchFamily="49" charset="-120"/>
              </a:rPr>
              <a:t>sum</a:t>
            </a:r>
            <a:r>
              <a:rPr lang="en-US" sz="1500" dirty="0">
                <a:solidFill>
                  <a:srgbClr val="E8EDF3"/>
                </a:solidFill>
                <a:latin typeface="JetBrains Mono" pitchFamily="49" charset="0"/>
                <a:ea typeface="JetBrains Mono" pitchFamily="49" charset="-122"/>
                <a:cs typeface="JetBrains Mono" pitchFamily="49" charset="-120"/>
              </a:rPr>
              <a:t>(marks)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avg = total / </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(marks)</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"Marks:"</a:t>
            </a:r>
            <a:r>
              <a:rPr lang="en-US" sz="1500" dirty="0">
                <a:solidFill>
                  <a:srgbClr val="E8EDF3"/>
                </a:solidFill>
                <a:latin typeface="JetBrains Mono" pitchFamily="49" charset="0"/>
                <a:ea typeface="JetBrains Mono" pitchFamily="49" charset="-122"/>
                <a:cs typeface="JetBrains Mono" pitchFamily="49" charset="-120"/>
              </a:rPr>
              <a:t>, marks)</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f"Average: {avg:.1f}"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6946040" y="1860488"/>
            <a:ext cx="4426810" cy="2299891"/>
          </a:xfrm>
          <a:prstGeom prst="roundRect">
            <a:avLst>
              <a:gd name="adj" fmla="val 5246"/>
            </a:avLst>
          </a:prstGeom>
          <a:solidFill>
            <a:srgbClr val="FFFDF8"/>
          </a:solidFill>
          <a:ln w="12700">
            <a:solidFill>
              <a:srgbClr val="D9DEE5"/>
            </a:solidFill>
            <a:prstDash val="solid"/>
          </a:ln>
        </p:spPr>
      </p:sp>
      <p:sp>
        <p:nvSpPr>
          <p:cNvPr id="8" name="Text 6"/>
          <p:cNvSpPr/>
          <p:nvPr/>
        </p:nvSpPr>
        <p:spPr>
          <a:xfrm>
            <a:off x="7206390" y="2044638"/>
            <a:ext cx="4023293"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7206390" y="2547479"/>
            <a:ext cx="4023293" cy="1454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Marks: </a:t>
            </a:r>
            <a:r>
              <a:rPr lang="en-US" sz="1500" dirty="0">
                <a:solidFill>
                  <a:srgbClr val="B54708"/>
                </a:solidFill>
                <a:latin typeface="JetBrains Mono" pitchFamily="49" charset="0"/>
                <a:ea typeface="JetBrains Mono" pitchFamily="49" charset="-122"/>
                <a:cs typeface="JetBrains Mono" pitchFamily="49" charset="-120"/>
              </a:rPr>
              <a:t>78</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Marks: </a:t>
            </a:r>
            <a:r>
              <a:rPr lang="en-US" sz="1500" dirty="0">
                <a:solidFill>
                  <a:srgbClr val="B54708"/>
                </a:solidFill>
                <a:latin typeface="JetBrains Mono" pitchFamily="49" charset="0"/>
                <a:ea typeface="JetBrains Mono" pitchFamily="49" charset="-122"/>
                <a:cs typeface="JetBrains Mono" pitchFamily="49" charset="-120"/>
              </a:rPr>
              <a:t>92</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 3 more …</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Marks: [78, 92, 65, 88, 71]</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Average: 78.8</a:t>
            </a:r>
            <a:endParaRPr lang="en-US" sz="1500" dirty="0"/>
          </a:p>
        </p:txBody>
      </p:sp>
      <p:sp>
        <p:nvSpPr>
          <p:cNvPr id="10" name="Shape 8"/>
          <p:cNvSpPr/>
          <p:nvPr/>
        </p:nvSpPr>
        <p:spPr>
          <a:xfrm>
            <a:off x="6946040" y="4300079"/>
            <a:ext cx="4426810" cy="482600"/>
          </a:xfrm>
          <a:prstGeom prst="roundRect">
            <a:avLst>
              <a:gd name="adj" fmla="val 17105"/>
            </a:avLst>
          </a:prstGeom>
          <a:solidFill>
            <a:srgbClr val="FFFDF8"/>
          </a:solidFill>
          <a:ln w="12700">
            <a:solidFill>
              <a:srgbClr val="E2DED3"/>
            </a:solidFill>
            <a:prstDash val="solid"/>
          </a:ln>
        </p:spPr>
      </p:sp>
      <p:sp>
        <p:nvSpPr>
          <p:cNvPr id="11" name="Text 9"/>
          <p:cNvSpPr/>
          <p:nvPr/>
        </p:nvSpPr>
        <p:spPr>
          <a:xfrm>
            <a:off x="7104790" y="4408029"/>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561990" y="4408029"/>
            <a:ext cx="38045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Fill:</a:t>
            </a:r>
            <a:r>
              <a:rPr lang="en-US" sz="1500" dirty="0">
                <a:solidFill>
                  <a:srgbClr val="4A5568"/>
                </a:solidFill>
                <a:latin typeface="Rubik" pitchFamily="34" charset="0"/>
                <a:ea typeface="Rubik" pitchFamily="34" charset="-122"/>
                <a:cs typeface="Rubik" pitchFamily="34" charset="-120"/>
              </a:rPr>
              <a:t> start with </a:t>
            </a:r>
            <a:r>
              <a:rPr lang="en-US" sz="1500" dirty="0">
                <a:solidFill>
                  <a:srgbClr val="2A64A3"/>
                </a:solidFill>
                <a:latin typeface="Rubik" pitchFamily="34" charset="0"/>
                <a:ea typeface="Rubik" pitchFamily="34" charset="-122"/>
                <a:cs typeface="Rubik" pitchFamily="34" charset="-120"/>
              </a:rPr>
              <a:t>[]</a:t>
            </a:r>
            <a:r>
              <a:rPr lang="en-US" sz="1500" dirty="0">
                <a:solidFill>
                  <a:srgbClr val="4A5568"/>
                </a:solidFill>
                <a:latin typeface="Rubik" pitchFamily="34" charset="0"/>
                <a:ea typeface="Rubik" pitchFamily="34" charset="-122"/>
                <a:cs typeface="Rubik" pitchFamily="34" charset="-120"/>
              </a:rPr>
              <a:t>, then </a:t>
            </a:r>
            <a:r>
              <a:rPr lang="en-US" sz="1500" dirty="0">
                <a:solidFill>
                  <a:srgbClr val="2A64A3"/>
                </a:solidFill>
                <a:latin typeface="Rubik" pitchFamily="34" charset="0"/>
                <a:ea typeface="Rubik" pitchFamily="34" charset="-122"/>
                <a:cs typeface="Rubik" pitchFamily="34" charset="-120"/>
              </a:rPr>
              <a:t>append</a:t>
            </a:r>
            <a:r>
              <a:rPr lang="en-US" sz="1500" dirty="0">
                <a:solidFill>
                  <a:srgbClr val="4A5568"/>
                </a:solidFill>
                <a:latin typeface="Rubik" pitchFamily="34" charset="0"/>
                <a:ea typeface="Rubik" pitchFamily="34" charset="-122"/>
                <a:cs typeface="Rubik" pitchFamily="34" charset="-120"/>
              </a:rPr>
              <a:t> in a loop</a:t>
            </a:r>
            <a:endParaRPr lang="en-US" sz="1500" dirty="0"/>
          </a:p>
        </p:txBody>
      </p:sp>
      <p:sp>
        <p:nvSpPr>
          <p:cNvPr id="13" name="Shape 11"/>
          <p:cNvSpPr/>
          <p:nvPr/>
        </p:nvSpPr>
        <p:spPr>
          <a:xfrm>
            <a:off x="6946040" y="4922379"/>
            <a:ext cx="4426810"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7104790" y="5030329"/>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561990" y="5030329"/>
            <a:ext cx="313666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Use:</a:t>
            </a:r>
            <a:r>
              <a:rPr lang="en-US" sz="1500" dirty="0">
                <a:solidFill>
                  <a:srgbClr val="4A5568"/>
                </a:solidFill>
                <a:latin typeface="Rubik" pitchFamily="34" charset="0"/>
                <a:ea typeface="Rubik" pitchFamily="34" charset="-122"/>
                <a:cs typeface="Rubik" pitchFamily="34" charset="-120"/>
              </a:rPr>
              <a:t> </a:t>
            </a:r>
            <a:r>
              <a:rPr lang="en-US" sz="1500" dirty="0">
                <a:solidFill>
                  <a:srgbClr val="2A64A3"/>
                </a:solidFill>
                <a:latin typeface="Rubik" pitchFamily="34" charset="0"/>
                <a:ea typeface="Rubik" pitchFamily="34" charset="-122"/>
                <a:cs typeface="Rubik" pitchFamily="34" charset="-120"/>
              </a:rPr>
              <a:t>sum()</a:t>
            </a:r>
            <a:r>
              <a:rPr lang="en-US" sz="1500" dirty="0">
                <a:solidFill>
                  <a:srgbClr val="4A5568"/>
                </a:solidFill>
                <a:latin typeface="Rubik" pitchFamily="34" charset="0"/>
                <a:ea typeface="Rubik" pitchFamily="34" charset="-122"/>
                <a:cs typeface="Rubik" pitchFamily="34" charset="-120"/>
              </a:rPr>
              <a:t>, </a:t>
            </a:r>
            <a:r>
              <a:rPr lang="en-US" sz="1500" dirty="0">
                <a:solidFill>
                  <a:srgbClr val="2A64A3"/>
                </a:solidFill>
                <a:latin typeface="Rubik" pitchFamily="34" charset="0"/>
                <a:ea typeface="Rubik" pitchFamily="34" charset="-122"/>
                <a:cs typeface="Rubik" pitchFamily="34" charset="-120"/>
              </a:rPr>
              <a:t>len()</a:t>
            </a:r>
            <a:r>
              <a:rPr lang="en-US" sz="1500" dirty="0">
                <a:solidFill>
                  <a:srgbClr val="4A5568"/>
                </a:solidFill>
                <a:latin typeface="Rubik" pitchFamily="34" charset="0"/>
                <a:ea typeface="Rubik" pitchFamily="34" charset="-122"/>
                <a:cs typeface="Rubik" pitchFamily="34" charset="-120"/>
              </a:rPr>
              <a:t>, </a:t>
            </a:r>
            <a:r>
              <a:rPr lang="en-US" sz="1500" dirty="0">
                <a:solidFill>
                  <a:srgbClr val="2A64A3"/>
                </a:solidFill>
                <a:latin typeface="Rubik" pitchFamily="34" charset="0"/>
                <a:ea typeface="Rubik" pitchFamily="34" charset="-122"/>
                <a:cs typeface="Rubik" pitchFamily="34" charset="-120"/>
              </a:rPr>
              <a:t>max()</a:t>
            </a:r>
            <a:r>
              <a:rPr lang="en-US" sz="1500" dirty="0">
                <a:solidFill>
                  <a:srgbClr val="4A5568"/>
                </a:solidFill>
                <a:latin typeface="Rubik" pitchFamily="34" charset="0"/>
                <a:ea typeface="Rubik" pitchFamily="34" charset="-122"/>
                <a:cs typeface="Rubik" pitchFamily="34" charset="-120"/>
              </a:rPr>
              <a:t>, </a:t>
            </a:r>
            <a:r>
              <a:rPr lang="en-US" sz="1500" dirty="0">
                <a:solidFill>
                  <a:srgbClr val="2A64A3"/>
                </a:solidFill>
                <a:latin typeface="Rubik" pitchFamily="34" charset="0"/>
                <a:ea typeface="Rubik" pitchFamily="34" charset="-122"/>
                <a:cs typeface="Rubik" pitchFamily="34" charset="-120"/>
              </a:rPr>
              <a:t>min()</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9 · BY HAND</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Find the largest without max()</a:t>
            </a:r>
            <a:endParaRPr lang="en-US" sz="3200" dirty="0"/>
          </a:p>
        </p:txBody>
      </p:sp>
      <p:sp>
        <p:nvSpPr>
          <p:cNvPr id="4" name="Shape 2"/>
          <p:cNvSpPr/>
          <p:nvPr/>
        </p:nvSpPr>
        <p:spPr>
          <a:xfrm>
            <a:off x="812800" y="1854138"/>
            <a:ext cx="5461529" cy="2359620"/>
          </a:xfrm>
          <a:prstGeom prst="roundRect">
            <a:avLst>
              <a:gd name="adj" fmla="val 5382"/>
            </a:avLst>
          </a:prstGeom>
          <a:solidFill>
            <a:srgbClr val="1B2A41"/>
          </a:solidFill>
          <a:ln/>
        </p:spPr>
      </p:sp>
      <p:sp>
        <p:nvSpPr>
          <p:cNvPr id="5" name="Text 3"/>
          <p:cNvSpPr/>
          <p:nvPr/>
        </p:nvSpPr>
        <p:spPr>
          <a:xfrm>
            <a:off x="1066800" y="2031938"/>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largest.py</a:t>
            </a:r>
            <a:endParaRPr lang="en-US" sz="1200" dirty="0"/>
          </a:p>
        </p:txBody>
      </p:sp>
      <p:sp>
        <p:nvSpPr>
          <p:cNvPr id="6" name="Text 4"/>
          <p:cNvSpPr/>
          <p:nvPr/>
        </p:nvSpPr>
        <p:spPr>
          <a:xfrm>
            <a:off x="1066800" y="2321458"/>
            <a:ext cx="5102135" cy="1739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nums = [34, 78, 12, 91, 56]</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big = nums[0]</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n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nums: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n &gt; big:</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big = n</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"Largest:"</a:t>
            </a:r>
            <a:r>
              <a:rPr lang="en-US" sz="1500" dirty="0">
                <a:solidFill>
                  <a:srgbClr val="E8EDF3"/>
                </a:solidFill>
                <a:latin typeface="JetBrains Mono" pitchFamily="49" charset="0"/>
                <a:ea typeface="JetBrains Mono" pitchFamily="49" charset="-122"/>
                <a:cs typeface="JetBrains Mono" pitchFamily="49" charset="-120"/>
              </a:rPr>
              <a:t>, big)</a:t>
            </a:r>
            <a:endParaRPr lang="en-US" sz="1500" dirty="0"/>
          </a:p>
        </p:txBody>
      </p:sp>
      <p:sp>
        <p:nvSpPr>
          <p:cNvPr id="7" name="Shape 5"/>
          <p:cNvSpPr/>
          <p:nvPr/>
        </p:nvSpPr>
        <p:spPr>
          <a:xfrm>
            <a:off x="819150" y="4347108"/>
            <a:ext cx="5448829" cy="943570"/>
          </a:xfrm>
          <a:prstGeom prst="roundRect">
            <a:avLst>
              <a:gd name="adj" fmla="val 12787"/>
            </a:avLst>
          </a:prstGeom>
          <a:solidFill>
            <a:srgbClr val="FFFDF8"/>
          </a:solidFill>
          <a:ln w="12700">
            <a:solidFill>
              <a:srgbClr val="D9DEE5"/>
            </a:solidFill>
            <a:prstDash val="solid"/>
          </a:ln>
        </p:spPr>
      </p:sp>
      <p:sp>
        <p:nvSpPr>
          <p:cNvPr id="8" name="Text 6"/>
          <p:cNvSpPr/>
          <p:nvPr/>
        </p:nvSpPr>
        <p:spPr>
          <a:xfrm>
            <a:off x="1079500" y="4531258"/>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4820779"/>
            <a:ext cx="5075973"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Largest: 91</a:t>
            </a:r>
            <a:endParaRPr lang="en-US" sz="1500" dirty="0"/>
          </a:p>
        </p:txBody>
      </p:sp>
      <p:sp>
        <p:nvSpPr>
          <p:cNvPr id="10" name="Text 8"/>
          <p:cNvSpPr/>
          <p:nvPr/>
        </p:nvSpPr>
        <p:spPr>
          <a:xfrm>
            <a:off x="6629929" y="1854138"/>
            <a:ext cx="4891749" cy="333970"/>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B2A41"/>
                </a:solidFill>
                <a:latin typeface="Rubik" pitchFamily="34" charset="0"/>
                <a:ea typeface="Rubik" pitchFamily="34" charset="-122"/>
                <a:cs typeface="Rubik" pitchFamily="34" charset="-120"/>
              </a:rPr>
              <a:t>Exams often say: do not use max().</a:t>
            </a:r>
            <a:endParaRPr lang="en-US" sz="1800" dirty="0"/>
          </a:p>
        </p:txBody>
      </p:sp>
      <p:sp>
        <p:nvSpPr>
          <p:cNvPr id="11" name="Shape 9"/>
          <p:cNvSpPr/>
          <p:nvPr/>
        </p:nvSpPr>
        <p:spPr>
          <a:xfrm>
            <a:off x="6636279" y="2296058"/>
            <a:ext cx="4736571" cy="482600"/>
          </a:xfrm>
          <a:prstGeom prst="roundRect">
            <a:avLst>
              <a:gd name="adj" fmla="val 17105"/>
            </a:avLst>
          </a:prstGeom>
          <a:solidFill>
            <a:srgbClr val="FFFDF8"/>
          </a:solidFill>
          <a:ln w="12700">
            <a:solidFill>
              <a:srgbClr val="E2DED3"/>
            </a:solidFill>
            <a:prstDash val="solid"/>
          </a:ln>
        </p:spPr>
      </p:sp>
      <p:sp>
        <p:nvSpPr>
          <p:cNvPr id="12" name="Text 10"/>
          <p:cNvSpPr/>
          <p:nvPr/>
        </p:nvSpPr>
        <p:spPr>
          <a:xfrm>
            <a:off x="6795029" y="240400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3" name="Text 11"/>
          <p:cNvSpPr/>
          <p:nvPr/>
        </p:nvSpPr>
        <p:spPr>
          <a:xfrm>
            <a:off x="7252229" y="2404008"/>
            <a:ext cx="36042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Guess:</a:t>
            </a:r>
            <a:r>
              <a:rPr lang="en-US" sz="1500" dirty="0">
                <a:solidFill>
                  <a:srgbClr val="4A5568"/>
                </a:solidFill>
                <a:latin typeface="Rubik" pitchFamily="34" charset="0"/>
                <a:ea typeface="Rubik" pitchFamily="34" charset="-122"/>
                <a:cs typeface="Rubik" pitchFamily="34" charset="-120"/>
              </a:rPr>
              <a:t> the first item is the largest</a:t>
            </a:r>
            <a:endParaRPr lang="en-US" sz="1500" dirty="0"/>
          </a:p>
        </p:txBody>
      </p:sp>
      <p:sp>
        <p:nvSpPr>
          <p:cNvPr id="14" name="Shape 12"/>
          <p:cNvSpPr/>
          <p:nvPr/>
        </p:nvSpPr>
        <p:spPr>
          <a:xfrm>
            <a:off x="6636279" y="2918358"/>
            <a:ext cx="4736571" cy="482600"/>
          </a:xfrm>
          <a:prstGeom prst="roundRect">
            <a:avLst>
              <a:gd name="adj" fmla="val 17105"/>
            </a:avLst>
          </a:prstGeom>
          <a:solidFill>
            <a:srgbClr val="FFFDF8"/>
          </a:solidFill>
          <a:ln w="12700">
            <a:solidFill>
              <a:srgbClr val="E2DED3"/>
            </a:solidFill>
            <a:prstDash val="solid"/>
          </a:ln>
        </p:spPr>
      </p:sp>
      <p:sp>
        <p:nvSpPr>
          <p:cNvPr id="15" name="Text 13"/>
          <p:cNvSpPr/>
          <p:nvPr/>
        </p:nvSpPr>
        <p:spPr>
          <a:xfrm>
            <a:off x="6795029" y="302630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6" name="Text 14"/>
          <p:cNvSpPr/>
          <p:nvPr/>
        </p:nvSpPr>
        <p:spPr>
          <a:xfrm>
            <a:off x="7252229" y="3026308"/>
            <a:ext cx="411427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Compare:</a:t>
            </a:r>
            <a:r>
              <a:rPr lang="en-US" sz="1500" dirty="0">
                <a:solidFill>
                  <a:srgbClr val="4A5568"/>
                </a:solidFill>
                <a:latin typeface="Rubik" pitchFamily="34" charset="0"/>
                <a:ea typeface="Rubik" pitchFamily="34" charset="-122"/>
                <a:cs typeface="Rubik" pitchFamily="34" charset="-120"/>
              </a:rPr>
              <a:t> every item with the best so far</a:t>
            </a:r>
            <a:endParaRPr lang="en-US" sz="1500" dirty="0"/>
          </a:p>
        </p:txBody>
      </p:sp>
      <p:sp>
        <p:nvSpPr>
          <p:cNvPr id="17" name="Shape 15"/>
          <p:cNvSpPr/>
          <p:nvPr/>
        </p:nvSpPr>
        <p:spPr>
          <a:xfrm>
            <a:off x="6636279" y="3540658"/>
            <a:ext cx="4736571" cy="482600"/>
          </a:xfrm>
          <a:prstGeom prst="roundRect">
            <a:avLst>
              <a:gd name="adj" fmla="val 17105"/>
            </a:avLst>
          </a:prstGeom>
          <a:solidFill>
            <a:srgbClr val="FFFDF8"/>
          </a:solidFill>
          <a:ln w="12700">
            <a:solidFill>
              <a:srgbClr val="E2DED3"/>
            </a:solidFill>
            <a:prstDash val="solid"/>
          </a:ln>
        </p:spPr>
      </p:sp>
      <p:sp>
        <p:nvSpPr>
          <p:cNvPr id="18" name="Text 16"/>
          <p:cNvSpPr/>
          <p:nvPr/>
        </p:nvSpPr>
        <p:spPr>
          <a:xfrm>
            <a:off x="6795029" y="364860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19" name="Text 17"/>
          <p:cNvSpPr/>
          <p:nvPr/>
        </p:nvSpPr>
        <p:spPr>
          <a:xfrm>
            <a:off x="7252229" y="3648608"/>
            <a:ext cx="387238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Replace:</a:t>
            </a:r>
            <a:r>
              <a:rPr lang="en-US" sz="1500" dirty="0">
                <a:solidFill>
                  <a:srgbClr val="4A5568"/>
                </a:solidFill>
                <a:latin typeface="Rubik" pitchFamily="34" charset="0"/>
                <a:ea typeface="Rubik" pitchFamily="34" charset="-122"/>
                <a:cs typeface="Rubik" pitchFamily="34" charset="-120"/>
              </a:rPr>
              <a:t> when you find a bigger one</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9</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9 · SORTING</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Putting a list in order</a:t>
            </a:r>
            <a:endParaRPr lang="en-US" sz="3200" dirty="0"/>
          </a:p>
        </p:txBody>
      </p:sp>
      <p:sp>
        <p:nvSpPr>
          <p:cNvPr id="4" name="Shape 2"/>
          <p:cNvSpPr/>
          <p:nvPr/>
        </p:nvSpPr>
        <p:spPr>
          <a:xfrm>
            <a:off x="819150" y="1860488"/>
            <a:ext cx="5168900" cy="3379457"/>
          </a:xfrm>
          <a:prstGeom prst="roundRect">
            <a:avLst>
              <a:gd name="adj" fmla="val 3570"/>
            </a:avLst>
          </a:prstGeom>
          <a:solidFill>
            <a:srgbClr val="FFFDF8"/>
          </a:solidFill>
          <a:ln w="12700">
            <a:solidFill>
              <a:srgbClr val="E2DED3"/>
            </a:solidFill>
            <a:prstDash val="solid"/>
          </a:ln>
        </p:spPr>
      </p:sp>
      <p:sp>
        <p:nvSpPr>
          <p:cNvPr id="5" name="Text 3"/>
          <p:cNvSpPr/>
          <p:nvPr/>
        </p:nvSpPr>
        <p:spPr>
          <a:xfrm>
            <a:off x="10287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sort(): changes the list</a:t>
            </a:r>
            <a:endParaRPr lang="en-US" sz="1800" dirty="0"/>
          </a:p>
        </p:txBody>
      </p:sp>
      <p:sp>
        <p:nvSpPr>
          <p:cNvPr id="6" name="Text 4"/>
          <p:cNvSpPr/>
          <p:nvPr/>
        </p:nvSpPr>
        <p:spPr>
          <a:xfrm>
            <a:off x="1028700" y="2445941"/>
            <a:ext cx="4749800" cy="1682750"/>
          </a:xfrm>
          <a:prstGeom prst="roundRect">
            <a:avLst>
              <a:gd name="adj" fmla="val 5283"/>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nums = [34, 12, 91]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nums.sort()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(nums)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nums.sort(reverse=</a:t>
            </a:r>
            <a:r>
              <a:rPr lang="en-US" sz="1500" dirty="0">
                <a:solidFill>
                  <a:srgbClr val="F2B33D"/>
                </a:solidFill>
                <a:latin typeface="JetBrains Mono" pitchFamily="49" charset="0"/>
                <a:ea typeface="JetBrains Mono" pitchFamily="49" charset="-122"/>
                <a:cs typeface="JetBrains Mono" pitchFamily="49" charset="-120"/>
              </a:rPr>
              <a:t>True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(nums)</a:t>
            </a:r>
            <a:endParaRPr lang="en-US" sz="1500" dirty="0"/>
          </a:p>
        </p:txBody>
      </p:sp>
      <p:sp>
        <p:nvSpPr>
          <p:cNvPr id="7" name="Text 5"/>
          <p:cNvSpPr/>
          <p:nvPr/>
        </p:nvSpPr>
        <p:spPr>
          <a:xfrm>
            <a:off x="1035050" y="4236641"/>
            <a:ext cx="4737100" cy="787400"/>
          </a:xfrm>
          <a:prstGeom prst="roundRect">
            <a:avLst>
              <a:gd name="adj" fmla="val 10484"/>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[12, 34, 91]</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[91, 34, 12]</a:t>
            </a:r>
            <a:endParaRPr lang="en-US" sz="1500" dirty="0"/>
          </a:p>
        </p:txBody>
      </p:sp>
      <p:sp>
        <p:nvSpPr>
          <p:cNvPr id="8" name="Shape 6"/>
          <p:cNvSpPr/>
          <p:nvPr/>
        </p:nvSpPr>
        <p:spPr>
          <a:xfrm>
            <a:off x="6203950" y="1860488"/>
            <a:ext cx="5168900" cy="3379457"/>
          </a:xfrm>
          <a:prstGeom prst="roundRect">
            <a:avLst>
              <a:gd name="adj" fmla="val 3570"/>
            </a:avLst>
          </a:prstGeom>
          <a:solidFill>
            <a:srgbClr val="FFFDF8"/>
          </a:solidFill>
          <a:ln w="12700">
            <a:solidFill>
              <a:srgbClr val="E2DED3"/>
            </a:solidFill>
            <a:prstDash val="solid"/>
          </a:ln>
        </p:spPr>
      </p:sp>
      <p:sp>
        <p:nvSpPr>
          <p:cNvPr id="9" name="Text 7"/>
          <p:cNvSpPr/>
          <p:nvPr/>
        </p:nvSpPr>
        <p:spPr>
          <a:xfrm>
            <a:off x="64135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sorted(): makes a new list</a:t>
            </a:r>
            <a:endParaRPr lang="en-US" sz="1800" dirty="0"/>
          </a:p>
        </p:txBody>
      </p:sp>
      <p:sp>
        <p:nvSpPr>
          <p:cNvPr id="10" name="Text 8"/>
          <p:cNvSpPr/>
          <p:nvPr/>
        </p:nvSpPr>
        <p:spPr>
          <a:xfrm>
            <a:off x="6413500" y="2445941"/>
            <a:ext cx="4749800" cy="1397000"/>
          </a:xfrm>
          <a:prstGeom prst="roundRect">
            <a:avLst>
              <a:gd name="adj" fmla="val 6364"/>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nums = [34, 12, 91]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new = </a:t>
            </a:r>
            <a:r>
              <a:rPr lang="en-US" sz="1500" dirty="0">
                <a:solidFill>
                  <a:srgbClr val="F2B33D"/>
                </a:solidFill>
                <a:latin typeface="JetBrains Mono" pitchFamily="49" charset="0"/>
                <a:ea typeface="JetBrains Mono" pitchFamily="49" charset="-122"/>
                <a:cs typeface="JetBrains Mono" pitchFamily="49" charset="-120"/>
              </a:rPr>
              <a:t>sorted</a:t>
            </a:r>
            <a:r>
              <a:rPr lang="en-US" sz="1500" dirty="0">
                <a:solidFill>
                  <a:srgbClr val="E8EDF3"/>
                </a:solidFill>
                <a:latin typeface="JetBrains Mono" pitchFamily="49" charset="0"/>
                <a:ea typeface="JetBrains Mono" pitchFamily="49" charset="-122"/>
                <a:cs typeface="JetBrains Mono" pitchFamily="49" charset="-120"/>
              </a:rPr>
              <a:t>(nums)</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(new)</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(nums)</a:t>
            </a:r>
            <a:endParaRPr lang="en-US" sz="1500" dirty="0"/>
          </a:p>
        </p:txBody>
      </p:sp>
      <p:sp>
        <p:nvSpPr>
          <p:cNvPr id="11" name="Text 9"/>
          <p:cNvSpPr/>
          <p:nvPr/>
        </p:nvSpPr>
        <p:spPr>
          <a:xfrm>
            <a:off x="6419850" y="3950891"/>
            <a:ext cx="4737100" cy="787400"/>
          </a:xfrm>
          <a:prstGeom prst="roundRect">
            <a:avLst>
              <a:gd name="adj" fmla="val 10484"/>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[12, 34, 91]</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[34, 12, 91]</a:t>
            </a:r>
            <a:endParaRPr lang="en-US" sz="15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9</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9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programs</a:t>
            </a:r>
            <a:endParaRPr lang="en-US" sz="3200" dirty="0"/>
          </a:p>
        </p:txBody>
      </p:sp>
      <p:sp>
        <p:nvSpPr>
          <p:cNvPr id="4" name="Shape 2"/>
          <p:cNvSpPr/>
          <p:nvPr/>
        </p:nvSpPr>
        <p:spPr>
          <a:xfrm>
            <a:off x="819150" y="1809688"/>
            <a:ext cx="2476500" cy="2252927"/>
          </a:xfrm>
          <a:prstGeom prst="roundRect">
            <a:avLst>
              <a:gd name="adj" fmla="val 5355"/>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Above average</a:t>
            </a:r>
            <a:endParaRPr lang="en-US" sz="1800" dirty="0"/>
          </a:p>
        </p:txBody>
      </p:sp>
      <p:sp>
        <p:nvSpPr>
          <p:cNvPr id="7" name="Text 5"/>
          <p:cNvSpPr/>
          <p:nvPr/>
        </p:nvSpPr>
        <p:spPr>
          <a:xfrm>
            <a:off x="10287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5 marks into a list. Print how many are above the average.</a:t>
            </a:r>
            <a:endParaRPr lang="en-US" sz="1500" dirty="0"/>
          </a:p>
        </p:txBody>
      </p:sp>
      <p:sp>
        <p:nvSpPr>
          <p:cNvPr id="8" name="Shape 6"/>
          <p:cNvSpPr/>
          <p:nvPr/>
        </p:nvSpPr>
        <p:spPr>
          <a:xfrm>
            <a:off x="3511550" y="1809688"/>
            <a:ext cx="2476500" cy="2252927"/>
          </a:xfrm>
          <a:prstGeom prst="roundRect">
            <a:avLst>
              <a:gd name="adj" fmla="val 5355"/>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Second largest</a:t>
            </a:r>
            <a:endParaRPr lang="en-US" sz="1800" dirty="0"/>
          </a:p>
        </p:txBody>
      </p:sp>
      <p:sp>
        <p:nvSpPr>
          <p:cNvPr id="11" name="Text 9"/>
          <p:cNvSpPr/>
          <p:nvPr/>
        </p:nvSpPr>
        <p:spPr>
          <a:xfrm>
            <a:off x="37211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Find the second largest number in a list. Test: [34, 78, 12, 91] gives 78</a:t>
            </a:r>
            <a:endParaRPr lang="en-US" sz="1500" dirty="0"/>
          </a:p>
        </p:txBody>
      </p:sp>
      <p:sp>
        <p:nvSpPr>
          <p:cNvPr id="12" name="Shape 10"/>
          <p:cNvSpPr/>
          <p:nvPr/>
        </p:nvSpPr>
        <p:spPr>
          <a:xfrm>
            <a:off x="6203950" y="1809688"/>
            <a:ext cx="2476500" cy="2252927"/>
          </a:xfrm>
          <a:prstGeom prst="roundRect">
            <a:avLst>
              <a:gd name="adj" fmla="val 5355"/>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Remove repeats</a:t>
            </a:r>
            <a:endParaRPr lang="en-US" sz="1800" dirty="0"/>
          </a:p>
        </p:txBody>
      </p:sp>
      <p:sp>
        <p:nvSpPr>
          <p:cNvPr id="15" name="Text 13"/>
          <p:cNvSpPr/>
          <p:nvPr/>
        </p:nvSpPr>
        <p:spPr>
          <a:xfrm>
            <a:off x="64135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Make a new list with each item only once. [1, 2, 2, 3, 1] gives [1, 2, 3]</a:t>
            </a:r>
            <a:endParaRPr lang="en-US" sz="1500" dirty="0"/>
          </a:p>
        </p:txBody>
      </p:sp>
      <p:sp>
        <p:nvSpPr>
          <p:cNvPr id="16" name="Shape 14"/>
          <p:cNvSpPr/>
          <p:nvPr/>
        </p:nvSpPr>
        <p:spPr>
          <a:xfrm>
            <a:off x="8896350" y="1809688"/>
            <a:ext cx="2476500" cy="2252927"/>
          </a:xfrm>
          <a:prstGeom prst="roundRect">
            <a:avLst>
              <a:gd name="adj" fmla="val 5355"/>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Even and odd</a:t>
            </a:r>
            <a:endParaRPr lang="en-US" sz="1800" dirty="0"/>
          </a:p>
        </p:txBody>
      </p:sp>
      <p:sp>
        <p:nvSpPr>
          <p:cNvPr id="19" name="Text 17"/>
          <p:cNvSpPr/>
          <p:nvPr/>
        </p:nvSpPr>
        <p:spPr>
          <a:xfrm>
            <a:off x="91059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Split a list of numbers into two lists: evens and odds.</a:t>
            </a:r>
            <a:endParaRPr lang="en-US" sz="1500" dirty="0"/>
          </a:p>
        </p:txBody>
      </p:sp>
      <p:sp>
        <p:nvSpPr>
          <p:cNvPr id="20" name="Shape 18"/>
          <p:cNvSpPr/>
          <p:nvPr/>
        </p:nvSpPr>
        <p:spPr>
          <a:xfrm>
            <a:off x="812800" y="4322961"/>
            <a:ext cx="10566400" cy="622300"/>
          </a:xfrm>
          <a:prstGeom prst="roundRect">
            <a:avLst>
              <a:gd name="adj" fmla="val 20408"/>
            </a:avLst>
          </a:prstGeom>
          <a:solidFill>
            <a:srgbClr val="1B2A41"/>
          </a:solidFill>
          <a:ln/>
        </p:spPr>
      </p:sp>
      <p:sp>
        <p:nvSpPr>
          <p:cNvPr id="21" name="Text 19"/>
          <p:cNvSpPr/>
          <p:nvPr/>
        </p:nvSpPr>
        <p:spPr>
          <a:xfrm>
            <a:off x="1066800" y="4527426"/>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500761"/>
            <a:ext cx="427648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Lists</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List methods</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3 · Class 9</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WEEK 3 RECAP</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EF"/>
                </a:solidFill>
                <a:latin typeface="Rubik" pitchFamily="34" charset="0"/>
                <a:ea typeface="Rubik" pitchFamily="34" charset="-122"/>
                <a:cs typeface="Rubik" pitchFamily="34" charset="-120"/>
              </a:rPr>
              <a:t>What you can do now</a:t>
            </a:r>
            <a:endParaRPr lang="en-US" sz="3200" dirty="0"/>
          </a:p>
        </p:txBody>
      </p:sp>
      <p:sp>
        <p:nvSpPr>
          <p:cNvPr id="4" name="Shape 2"/>
          <p:cNvSpPr/>
          <p:nvPr/>
        </p:nvSpPr>
        <p:spPr>
          <a:xfrm>
            <a:off x="812800" y="1854138"/>
            <a:ext cx="2527300" cy="1282700"/>
          </a:xfrm>
          <a:prstGeom prst="roundRect">
            <a:avLst>
              <a:gd name="adj" fmla="val 9901"/>
            </a:avLst>
          </a:prstGeom>
          <a:solidFill>
            <a:srgbClr val="24364F"/>
          </a:solidFill>
          <a:ln/>
        </p:spPr>
      </p:sp>
      <p:sp>
        <p:nvSpPr>
          <p:cNvPr id="5" name="Text 3"/>
          <p:cNvSpPr/>
          <p:nvPr/>
        </p:nvSpPr>
        <p:spPr>
          <a:xfrm>
            <a:off x="10160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s[i] s[a:b]</a:t>
            </a:r>
            <a:endParaRPr lang="en-US" sz="1500" dirty="0"/>
          </a:p>
        </p:txBody>
      </p:sp>
      <p:sp>
        <p:nvSpPr>
          <p:cNvPr id="6" name="Text 4"/>
          <p:cNvSpPr/>
          <p:nvPr/>
        </p:nvSpPr>
        <p:spPr>
          <a:xfrm>
            <a:off x="10160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Pick and slice strings and lists</a:t>
            </a:r>
            <a:endParaRPr lang="en-US" sz="1500" dirty="0"/>
          </a:p>
        </p:txBody>
      </p:sp>
      <p:sp>
        <p:nvSpPr>
          <p:cNvPr id="7" name="Shape 5"/>
          <p:cNvSpPr/>
          <p:nvPr/>
        </p:nvSpPr>
        <p:spPr>
          <a:xfrm>
            <a:off x="3492500" y="1854138"/>
            <a:ext cx="2527300" cy="1282700"/>
          </a:xfrm>
          <a:prstGeom prst="roundRect">
            <a:avLst>
              <a:gd name="adj" fmla="val 9901"/>
            </a:avLst>
          </a:prstGeom>
          <a:solidFill>
            <a:srgbClr val="24364F"/>
          </a:solidFill>
          <a:ln/>
        </p:spPr>
      </p:sp>
      <p:sp>
        <p:nvSpPr>
          <p:cNvPr id="8" name="Text 6"/>
          <p:cNvSpPr/>
          <p:nvPr/>
        </p:nvSpPr>
        <p:spPr>
          <a:xfrm>
            <a:off x="36957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s.upper() ...</a:t>
            </a:r>
            <a:endParaRPr lang="en-US" sz="1500" dirty="0"/>
          </a:p>
        </p:txBody>
      </p:sp>
      <p:sp>
        <p:nvSpPr>
          <p:cNvPr id="9" name="Text 7"/>
          <p:cNvSpPr/>
          <p:nvPr/>
        </p:nvSpPr>
        <p:spPr>
          <a:xfrm>
            <a:off x="36957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Clean, split and search text</a:t>
            </a:r>
            <a:endParaRPr lang="en-US" sz="1500" dirty="0"/>
          </a:p>
        </p:txBody>
      </p:sp>
      <p:sp>
        <p:nvSpPr>
          <p:cNvPr id="10" name="Shape 8"/>
          <p:cNvSpPr/>
          <p:nvPr/>
        </p:nvSpPr>
        <p:spPr>
          <a:xfrm>
            <a:off x="6172200" y="1854138"/>
            <a:ext cx="2527300" cy="1282700"/>
          </a:xfrm>
          <a:prstGeom prst="roundRect">
            <a:avLst>
              <a:gd name="adj" fmla="val 9901"/>
            </a:avLst>
          </a:prstGeom>
          <a:solidFill>
            <a:srgbClr val="24364F"/>
          </a:solidFill>
          <a:ln/>
        </p:spPr>
      </p:sp>
      <p:sp>
        <p:nvSpPr>
          <p:cNvPr id="11" name="Text 9"/>
          <p:cNvSpPr/>
          <p:nvPr/>
        </p:nvSpPr>
        <p:spPr>
          <a:xfrm>
            <a:off x="63754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for ch in s:</a:t>
            </a:r>
            <a:endParaRPr lang="en-US" sz="1500" dirty="0"/>
          </a:p>
        </p:txBody>
      </p:sp>
      <p:sp>
        <p:nvSpPr>
          <p:cNvPr id="12" name="Text 10"/>
          <p:cNvSpPr/>
          <p:nvPr/>
        </p:nvSpPr>
        <p:spPr>
          <a:xfrm>
            <a:off x="63754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Visit every character or item</a:t>
            </a:r>
            <a:endParaRPr lang="en-US" sz="1500" dirty="0"/>
          </a:p>
        </p:txBody>
      </p:sp>
      <p:sp>
        <p:nvSpPr>
          <p:cNvPr id="13" name="Shape 11"/>
          <p:cNvSpPr/>
          <p:nvPr/>
        </p:nvSpPr>
        <p:spPr>
          <a:xfrm>
            <a:off x="8851900" y="1854138"/>
            <a:ext cx="2527300" cy="1282700"/>
          </a:xfrm>
          <a:prstGeom prst="roundRect">
            <a:avLst>
              <a:gd name="adj" fmla="val 9901"/>
            </a:avLst>
          </a:prstGeom>
          <a:solidFill>
            <a:srgbClr val="24364F"/>
          </a:solidFill>
          <a:ln/>
        </p:spPr>
      </p:sp>
      <p:sp>
        <p:nvSpPr>
          <p:cNvPr id="14" name="Text 12"/>
          <p:cNvSpPr/>
          <p:nvPr/>
        </p:nvSpPr>
        <p:spPr>
          <a:xfrm>
            <a:off x="90551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L.append(x)</a:t>
            </a:r>
            <a:endParaRPr lang="en-US" sz="1500" dirty="0"/>
          </a:p>
        </p:txBody>
      </p:sp>
      <p:sp>
        <p:nvSpPr>
          <p:cNvPr id="15" name="Text 13"/>
          <p:cNvSpPr/>
          <p:nvPr/>
        </p:nvSpPr>
        <p:spPr>
          <a:xfrm>
            <a:off x="90551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Grow, change and sort a list</a:t>
            </a:r>
            <a:endParaRPr lang="en-US" sz="1500" dirty="0"/>
          </a:p>
        </p:txBody>
      </p:sp>
      <p:sp>
        <p:nvSpPr>
          <p:cNvPr id="16" name="Shape 14"/>
          <p:cNvSpPr/>
          <p:nvPr/>
        </p:nvSpPr>
        <p:spPr>
          <a:xfrm>
            <a:off x="812800" y="3441638"/>
            <a:ext cx="10566400" cy="967647"/>
          </a:xfrm>
          <a:prstGeom prst="roundRect">
            <a:avLst>
              <a:gd name="adj" fmla="val 13125"/>
            </a:avLst>
          </a:prstGeom>
          <a:solidFill>
            <a:srgbClr val="F2B33D"/>
          </a:solidFill>
          <a:ln/>
        </p:spPr>
      </p:sp>
      <p:sp>
        <p:nvSpPr>
          <p:cNvPr id="17" name="Text 15"/>
          <p:cNvSpPr/>
          <p:nvPr/>
        </p:nvSpPr>
        <p:spPr>
          <a:xfrm>
            <a:off x="1066800" y="3644838"/>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2A41"/>
                </a:solidFill>
                <a:latin typeface="Rubik" pitchFamily="34" charset="0"/>
                <a:ea typeface="Rubik" pitchFamily="34" charset="-122"/>
                <a:cs typeface="Rubik" pitchFamily="34" charset="-120"/>
              </a:rPr>
              <a:t>NEXT WEEK</a:t>
            </a:r>
            <a:endParaRPr lang="en-US" sz="1200" dirty="0"/>
          </a:p>
        </p:txBody>
      </p:sp>
      <p:sp>
        <p:nvSpPr>
          <p:cNvPr id="18" name="Text 16"/>
          <p:cNvSpPr/>
          <p:nvPr/>
        </p:nvSpPr>
        <p:spPr>
          <a:xfrm>
            <a:off x="1066800" y="3908958"/>
            <a:ext cx="10360152" cy="32252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B2A41"/>
                </a:solidFill>
                <a:latin typeface="Rubik" pitchFamily="34" charset="0"/>
                <a:ea typeface="Rubik" pitchFamily="34" charset="-122"/>
                <a:cs typeface="Rubik" pitchFamily="34" charset="-120"/>
              </a:rPr>
              <a:t>More collections: 2D lists, tuples, sets, dictionaries, and Mini-project 1</a:t>
            </a:r>
            <a:endParaRPr lang="en-US" sz="1800" dirty="0"/>
          </a:p>
        </p:txBody>
      </p:sp>
      <p:sp>
        <p:nvSpPr>
          <p:cNvPr id="19" name="Text 17"/>
          <p:cNvSpPr/>
          <p:nvPr/>
        </p:nvSpPr>
        <p:spPr>
          <a:xfrm>
            <a:off x="812800" y="471408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9D4E2"/>
                </a:solidFill>
                <a:latin typeface="Rubik" pitchFamily="34" charset="0"/>
                <a:ea typeface="Rubik" pitchFamily="34" charset="-122"/>
                <a:cs typeface="Rubik" pitchFamily="34" charset="-120"/>
              </a:rPr>
              <a:t>Lab habit:</a:t>
            </a:r>
            <a:r>
              <a:rPr lang="en-US" sz="1500" dirty="0">
                <a:solidFill>
                  <a:srgbClr val="C9D4E2"/>
                </a:solidFill>
                <a:latin typeface="Rubik" pitchFamily="34" charset="0"/>
                <a:ea typeface="Rubik" pitchFamily="34" charset="-122"/>
                <a:cs typeface="Rubik" pitchFamily="34" charset="-120"/>
              </a:rPr>
              <a:t> test string programs with tricky input: empty text, capitals, spaces at the ends.</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Week 3</a:t>
            </a:r>
            <a:endParaRPr lang="en-US" sz="1200" dirty="0"/>
          </a:p>
        </p:txBody>
      </p:sp>
    </p:spTree>
  </p:cSld>
  <p:clrMapOvr>
    <a:masterClrMapping/>
  </p:clrMapOvr>
</p:sld>
</file>

<file path=ppt/theme/theme1.xml><?xml version="1.0" encoding="utf-8"?>
<a:theme xmlns:a="http://schemas.openxmlformats.org/drawingml/2006/main" name="Python Week 3 – Strings &amp; Lists">
  <a:themeElements>
    <a:clrScheme name="Python Week 3 – Strings &amp; Lists">
      <a:dk1>
        <a:srgbClr val="1B2A41"/>
      </a:dk1>
      <a:lt1>
        <a:srgbClr val="F7F5EF"/>
      </a:lt1>
      <a:dk2>
        <a:srgbClr val="525D6D"/>
      </a:dk2>
      <a:lt2>
        <a:srgbClr val="E1E1DE"/>
      </a:lt2>
      <a:accent1>
        <a:srgbClr val="2A64A3"/>
      </a:accent1>
      <a:accent2>
        <a:srgbClr val="F2B33D"/>
      </a:accent2>
      <a:accent3>
        <a:srgbClr val="8FA3B8"/>
      </a:accent3>
      <a:accent4>
        <a:srgbClr val="B54708"/>
      </a:accent4>
      <a:accent5>
        <a:srgbClr val="9FB0C6"/>
      </a:accent5>
      <a:accent6>
        <a:srgbClr val="2A3D5A"/>
      </a:accent6>
      <a:hlink>
        <a:srgbClr val="0563C1"/>
      </a:hlink>
      <a:folHlink>
        <a:srgbClr val="954F72"/>
      </a:folHlink>
    </a:clrScheme>
    <a:fontScheme name="Python Week 3 – Strings &amp; Lists">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Week 3 – Strings &amp; Lists</dc:title>
  <dc:subject/>
  <dc:creator/>
  <cp:lastModifiedBy/>
  <cp:revision>1</cp:revision>
  <dcterms:created xsi:type="dcterms:W3CDTF">2026-10-06T16:45:12Z</dcterms:created>
  <dcterms:modified xsi:type="dcterms:W3CDTF">2026-10-06T16:45:12Z</dcterms:modified>
</cp:coreProperties>
</file>