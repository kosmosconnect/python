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week. Classes: (22) the capstone project, a Library Management System that uses classes, files, exceptions, dictionaries and a menu; (23) exam revision: output questions, bubble sort, binary search and common mistakes; (24) a full mock viva and lab-exam tips. If the student preferred the ATM project, the same structure works: Account class, a Bank that holds accounts, save to CSV,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student's showcase program: something to show in the lab, to seniors, or in an internship interview. Plan it on paper first (15 minutes): what objects exist, what each one knows, what each one can do. Then build in four steps, running after each. It may take two sessions; that is fine. The full program is in code/class22_library.py.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a simple diagram: a Library box holding many Book boxes, the menu talking to the Library, and the Library reading and writing books.csv. Point out which week each part comes from: classes (7), dictionary of books by id (4), CSV (6), exceptions (7), menu loop (4), functions (5). Ask the student what else a real library needs (members, due dates, fines): those become extensions.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Book class small: it just holds data and prints itself. The bid (book id) is a short string like "B1"; using a string keeps the CSV simple. An empty string means the book is on the shelf. Test it alone: b = Book("B1", "Wings of Fire", "A. P. J. Abdul Kalam"); print(b).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methods do not print error messages themselves; they raise, and the menu decides what to show (Week 7). The method is called give_back because return is a Python keyword. Add list_all (loop and print each book) and search (title.lower() contains the word) yourself or from the code folder. Test: lib = Library(); lib.add(Book(...)); lib.issue("B1", "Ananya"); lib.issue("B1", "Subham") should 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methods of Library, so they are indented inside the class in the real file. Mode "w" is right here because we write the complete, current list every time. Book(*row) is the unpacking star: Book(*["B1", "Wings", "Kalam", ""]) is the same as Book("B1", "Wings", "Kalam", ""). Run the program, issue a book, quit, run again: the book is still issued.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 full session: list, issue B2 to Ananya, try to issue B2 again (Already issued), return B2, type a wrong id (No book with that id), exit and restart to show the data was saved. The complete program in the code folder also has Add and Search choices and starts with three sample books (Wings of Fire, Godan and Python Basics) when no file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for tasks 1 and 2 are built into code/class22_library.py (choices 4 and 5); tasks 3 and 4 are open-ended and are good for the student's own portfolio. Hints. Task 3: add an issued_on attribute set to str(date.today()), save it as a fifth CSV column, and compare (date.today() - date.fromisoformat(b.issued_on)).days &gt; 14. Task 4: Account from Week 7 plus a Bank class with a dictionary of accounts by account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class. Ask the student to bring a list of topics that still feel weak and spend extra time there. Many first-year exams have three kinds of questions: write a program, predict the output of given code, and explain a concept. This class covers all three, plus the two algorithms (bubble sort, binary search) that often appear in theory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checklist: the student ticks each program they can write without looking, in under 5 minutes. Anything not ticked goes on a revision list. The code for every one is already in the week folders; the solutions folders have the practice versions. Suggest writing three programs a day on paper, the way the exam requires, then typing and running them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as a quiz: hide the answers (or read only the left column aloud). Explanations: 7 // 2 is 3 and 7 % 2 is 1; string repetition then joining; range(2, 9, 3) is 2, 5, 8 (stop excluded); slicing [1:4] takes indexes 1, 2, 3; a set removes the repeated 2; the empty string is False but any non-empty string, even "0", is True; / always gives a float. Make up five more of your own in the same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it out with 5 cards or coins. Round 1 compares 64-25 (swap), 64-12 (swap), 64-22 (swap), 64-11 (swap): 64 is now last. Round 2 needs only 3 comparisons, and so on. The swap line is the tuple trick from Week 1. In real code you would use sort(), but exams love this algorithm. Viva: how many comparisons in the worst case? (About n squared over 2: it is a slow, O(n^2) algorithm.) Improvement: stop early if a whole round makes no swaps.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finding 25: low 0, high 4, mid 2 (22 is smaller, so low = 3); low 3, high 4, mid 3 (25 found, return 3). Linear search checks items one by one (up to n checks); binary search halves the range each time, so 1000 items need at most about 10 checks. Viva: why must the list be sorted? (Otherwise we cannot know which half to throw away.) A recursive version is also common in exams: same idea, calling itself on one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student to recall one bug of their own for each card from the past 8 weeks: real memories stick. Other frequent mistakes worth mentioning: wrong indentation (code accidentally inside or outside a loop), forgetting self in methods, using "w" instead of "a" and wiping a file, starting an accumulator at 0 for a product, and changing a list while looping 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solutions/class23_practice.py. Hints. Task 2: for i in range(n): find the index of the smallest item from i to the end, then swap it with nums[i]. Task 3: add a counter to each search loop; for the 5-item list, linear needs 5 checks and binary needs 3; for 1000 items it is 1000 against 10. The W3Schools exercises and quiz are good timed practice before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class as a real viva: the student stands or sits across the table, you ask, they answer out loud in one or two sentences, then you show the card. Score each answer (clear, partly, not yet) and revise the weak ones together. Short, confident, correct answers with an example score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before revealing the card. Follow-up questions examiners like: "Is Python case-sensitive?" (Yes.) "What is a variable?" (A name that refers to a value.) "What does type() do?" "What is the difference between / and //?" "What are Python's key features?" (Simple syntax, interpreted, dynamically typed, huge library, cross-platform.)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Follow-ups: "Local vs global variable?" "What does return do if it is missing?" (Returns None.) "Difference between append and extend?" (append adds one item; extend adds each item of another list.) "What is a list comprehension?" "How is a set different from a list?" (No order, no duplicates.) Ask the student to give a one-line code example for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Follow-ups: "What is __init__?" (The constructor, runs when an object is created.) "Name the four pillars of OOP." "What is inheritance? Give an example." (Student(Person).) "What does finally do?" "Why use with when opening files?" (Closes the file automatically.) "What is a module? Name three." (math, random, datetime.) End the mock viva with the student's own capstone: examiners often ask you to explain your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marks are lost by rushing, not by not knowing. Write the algorithm or flowchart if the exam asks for it: it often carries separate marks. Keep the output friendly: prompts like "Enter a number: " and results with labels. If stuck, write a simpler version that works, then improve it: a working partial program scores better than a broken complete one. Save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the student to pick ONE direction for the next semester rather than everything at once. Data analysis with pandas is the most useful next step for most engineering branches. Suggest putting the capstone and mini-projects on GitHub as a first portfolio. Congratulate the student: 24 classes, 3 projects, and a solid base in programming.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class wrap-up. Ask the student what they enjoyed most and what still feels hard, and give them a short plan for the weeks before the exam (two revision programs a day from the must-know list). Share the course folder and decks with the student (Share menu) so they can revise from them. Well done to both of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B2A41"/>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B2A41"/>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w3schools.com/python/python_classes.asp" TargetMode="External"/><Relationship Id="rId2" Type="http://schemas.openxmlformats.org/officeDocument/2006/relationships/hyperlink" Target="https://www.w3schools.com/python/python_file_handling.asp" TargetMode="External"/><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www.w3schools.com/python/python_exercises.asp" TargetMode="External"/><Relationship Id="rId2" Type="http://schemas.openxmlformats.org/officeDocument/2006/relationships/hyperlink" Target="https://www.w3schools.com/python/python_quiz.asp" TargetMode="External"/><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6670040" y="812800"/>
            <a:ext cx="4709160" cy="1295400"/>
          </a:xfrm>
          <a:prstGeom prst="rect">
            <a:avLst/>
          </a:prstGeom>
          <a:noFill/>
          <a:ln/>
        </p:spPr>
        <p:txBody>
          <a:bodyPr wrap="square" lIns="0" tIns="0" rIns="0" bIns="0" rtlCol="0" anchor="t">
            <a:normAutofit/>
          </a:bodyPr>
          <a:lstStyle/>
          <a:p>
            <a:pPr algn="r" indent="0" marL="0">
              <a:lnSpc>
                <a:spcPts val="10000"/>
              </a:lnSpc>
              <a:buNone/>
            </a:pPr>
            <a:r>
              <a:rPr lang="en-US" sz="10000" b="1" dirty="0">
                <a:solidFill>
                  <a:srgbClr val="2A3D5A"/>
                </a:solidFill>
                <a:latin typeface="JetBrains Mono" pitchFamily="49" charset="0"/>
                <a:ea typeface="JetBrains Mono" pitchFamily="49" charset="-122"/>
                <a:cs typeface="JetBrains Mono" pitchFamily="49" charset="-120"/>
              </a:rPr>
              <a:t>&gt;&gt;&gt;</a:t>
            </a:r>
            <a:endParaRPr lang="en-US" sz="10000" dirty="0"/>
          </a:p>
        </p:txBody>
      </p:sp>
      <p:sp>
        <p:nvSpPr>
          <p:cNvPr id="3" name="Text 1"/>
          <p:cNvSpPr/>
          <p:nvPr/>
        </p:nvSpPr>
        <p:spPr>
          <a:xfrm>
            <a:off x="812800" y="187199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B33D"/>
                </a:solidFill>
                <a:latin typeface="Rubik" pitchFamily="34" charset="0"/>
                <a:ea typeface="Rubik" pitchFamily="34" charset="-122"/>
                <a:cs typeface="Rubik" pitchFamily="34" charset="-120"/>
              </a:rPr>
              <a:t>WEEK 8 · CLASSES 22–24</a:t>
            </a:r>
            <a:endParaRPr lang="en-US" sz="1200" dirty="0"/>
          </a:p>
        </p:txBody>
      </p:sp>
      <p:sp>
        <p:nvSpPr>
          <p:cNvPr id="4" name="Text 2"/>
          <p:cNvSpPr/>
          <p:nvPr>
            <p:ph type="title"/>
          </p:nvPr>
        </p:nvSpPr>
        <p:spPr>
          <a:xfrm>
            <a:off x="812800" y="2313914"/>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Capstone, revision</a:t>
            </a:r>
            <a:endParaRPr lang="en-US" sz="6000" dirty="0"/>
          </a:p>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and mock viva</a:t>
            </a:r>
            <a:endParaRPr lang="en-US" sz="6000" dirty="0"/>
          </a:p>
        </p:txBody>
      </p:sp>
      <p:sp>
        <p:nvSpPr>
          <p:cNvPr id="5" name="Text 3"/>
          <p:cNvSpPr/>
          <p:nvPr/>
        </p:nvSpPr>
        <p:spPr>
          <a:xfrm>
            <a:off x="812800" y="4142714"/>
            <a:ext cx="7848600"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2"/>
                </a:solidFill>
                <a:latin typeface="Rubik" pitchFamily="34" charset="0"/>
                <a:ea typeface="Rubik" pitchFamily="34" charset="-122"/>
                <a:cs typeface="Rubik" pitchFamily="34" charset="-120"/>
              </a:rPr>
              <a:t>Putting everything together, then getting ready for the lab exam and viva</a:t>
            </a:r>
            <a:endParaRPr lang="en-US" sz="18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6"/>
                </a:solidFill>
                <a:latin typeface="Rubik" pitchFamily="34" charset="0"/>
                <a:ea typeface="Rubik" pitchFamily="34" charset="-122"/>
                <a:cs typeface="Rubik" pitchFamily="34" charset="-120"/>
              </a:rPr>
              <a:t>Python Programming · B.Tech 1st Year · 8-week course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184467"/>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22 OF 24</a:t>
            </a:r>
            <a:endParaRPr lang="en-US" sz="1200" dirty="0"/>
          </a:p>
        </p:txBody>
      </p:sp>
      <p:sp>
        <p:nvSpPr>
          <p:cNvPr id="3" name="Text 1"/>
          <p:cNvSpPr/>
          <p:nvPr>
            <p:ph type="title"/>
          </p:nvPr>
        </p:nvSpPr>
        <p:spPr>
          <a:xfrm>
            <a:off x="812800" y="2575587"/>
            <a:ext cx="5127752" cy="1305454"/>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Capstone project</a:t>
            </a:r>
            <a:endParaRPr lang="en-US" sz="4800" dirty="0"/>
          </a:p>
        </p:txBody>
      </p:sp>
      <p:sp>
        <p:nvSpPr>
          <p:cNvPr id="4" name="Text 2"/>
          <p:cNvSpPr/>
          <p:nvPr/>
        </p:nvSpPr>
        <p:spPr>
          <a:xfrm>
            <a:off x="812800" y="4033441"/>
            <a:ext cx="5127752"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A library management system that uses everything from 8 weeks</a:t>
            </a:r>
            <a:endParaRPr lang="en-US" sz="1800" dirty="0"/>
          </a:p>
        </p:txBody>
      </p:sp>
      <p:sp>
        <p:nvSpPr>
          <p:cNvPr id="5" name="Shape 3"/>
          <p:cNvSpPr/>
          <p:nvPr/>
        </p:nvSpPr>
        <p:spPr>
          <a:xfrm>
            <a:off x="6400800" y="2098014"/>
            <a:ext cx="4978400" cy="2661907"/>
          </a:xfrm>
          <a:prstGeom prst="roundRect">
            <a:avLst>
              <a:gd name="adj" fmla="val 5725"/>
            </a:avLst>
          </a:prstGeom>
          <a:solidFill>
            <a:srgbClr val="1B2A41"/>
          </a:solidFill>
          <a:ln/>
        </p:spPr>
      </p:sp>
      <p:sp>
        <p:nvSpPr>
          <p:cNvPr id="6" name="Text 4"/>
          <p:cNvSpPr/>
          <p:nvPr/>
        </p:nvSpPr>
        <p:spPr>
          <a:xfrm>
            <a:off x="6756400" y="2453614"/>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Plan classes before code</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Write Book and Library classes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Issue and return books safely</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Save and load the library from a file</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Drive it all with a menu</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22 · THE PLAN</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Two classes, one menu, one file</a:t>
            </a:r>
            <a:endParaRPr lang="en-US" sz="3200" dirty="0"/>
          </a:p>
        </p:txBody>
      </p:sp>
      <p:sp>
        <p:nvSpPr>
          <p:cNvPr id="4" name="Shape 2"/>
          <p:cNvSpPr/>
          <p:nvPr/>
        </p:nvSpPr>
        <p:spPr>
          <a:xfrm>
            <a:off x="819150" y="1860485"/>
            <a:ext cx="2476500" cy="1986227"/>
          </a:xfrm>
          <a:prstGeom prst="roundRect">
            <a:avLst>
              <a:gd name="adj" fmla="val 6074"/>
            </a:avLst>
          </a:prstGeom>
          <a:solidFill>
            <a:srgbClr val="FFFDF8"/>
          </a:solidFill>
          <a:ln w="12700">
            <a:solidFill>
              <a:srgbClr val="E2DED3"/>
            </a:solidFill>
            <a:prstDash val="solid"/>
          </a:ln>
        </p:spPr>
      </p:sp>
      <p:sp>
        <p:nvSpPr>
          <p:cNvPr id="5" name="Text 3"/>
          <p:cNvSpPr/>
          <p:nvPr/>
        </p:nvSpPr>
        <p:spPr>
          <a:xfrm>
            <a:off x="1028700" y="2070035"/>
            <a:ext cx="1035315" cy="289520"/>
          </a:xfrm>
          <a:custGeom>
            <a:avLst/>
            <a:gdLst/>
            <a:ahLst/>
            <a:cxnLst/>
            <a:rect l="l" t="t" r="r" b="b"/>
            <a:pathLst>
              <a:path w="1035315" h="289520">
                <a:moveTo>
                  <a:pt x="144760" y="0"/>
                </a:moveTo>
                <a:lnTo>
                  <a:pt x="890554" y="0"/>
                </a:lnTo>
                <a:arcTo hR="144760" wR="144760" stAng="16200000" swAng="5400000"/>
                <a:lnTo>
                  <a:pt x="1035315"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class Book</a:t>
            </a:r>
            <a:endParaRPr lang="en-US" sz="1200" dirty="0"/>
          </a:p>
        </p:txBody>
      </p:sp>
      <p:sp>
        <p:nvSpPr>
          <p:cNvPr id="6" name="Text 4"/>
          <p:cNvSpPr/>
          <p:nvPr/>
        </p:nvSpPr>
        <p:spPr>
          <a:xfrm>
            <a:off x="1028700" y="24611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Knows</a:t>
            </a:r>
            <a:endParaRPr lang="en-US" sz="1800" dirty="0"/>
          </a:p>
        </p:txBody>
      </p:sp>
      <p:sp>
        <p:nvSpPr>
          <p:cNvPr id="7" name="Text 5"/>
          <p:cNvSpPr/>
          <p:nvPr/>
        </p:nvSpPr>
        <p:spPr>
          <a:xfrm>
            <a:off x="1028700" y="28370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book id, title, author, and who has it (or nobody).</a:t>
            </a:r>
            <a:endParaRPr lang="en-US" sz="1500" dirty="0"/>
          </a:p>
        </p:txBody>
      </p:sp>
      <p:sp>
        <p:nvSpPr>
          <p:cNvPr id="8" name="Shape 6"/>
          <p:cNvSpPr/>
          <p:nvPr/>
        </p:nvSpPr>
        <p:spPr>
          <a:xfrm>
            <a:off x="3511550" y="1860485"/>
            <a:ext cx="2476500" cy="1986227"/>
          </a:xfrm>
          <a:prstGeom prst="roundRect">
            <a:avLst>
              <a:gd name="adj" fmla="val 6074"/>
            </a:avLst>
          </a:prstGeom>
          <a:solidFill>
            <a:srgbClr val="FFFDF8"/>
          </a:solidFill>
          <a:ln w="12700">
            <a:solidFill>
              <a:srgbClr val="E2DED3"/>
            </a:solidFill>
            <a:prstDash val="solid"/>
          </a:ln>
        </p:spPr>
      </p:sp>
      <p:sp>
        <p:nvSpPr>
          <p:cNvPr id="9" name="Text 7"/>
          <p:cNvSpPr/>
          <p:nvPr/>
        </p:nvSpPr>
        <p:spPr>
          <a:xfrm>
            <a:off x="3721100" y="2070035"/>
            <a:ext cx="1201605" cy="289520"/>
          </a:xfrm>
          <a:custGeom>
            <a:avLst/>
            <a:gdLst/>
            <a:ahLst/>
            <a:cxnLst/>
            <a:rect l="l" t="t" r="r" b="b"/>
            <a:pathLst>
              <a:path w="1201605" h="289520">
                <a:moveTo>
                  <a:pt x="144760" y="0"/>
                </a:moveTo>
                <a:lnTo>
                  <a:pt x="1056845" y="0"/>
                </a:lnTo>
                <a:arcTo hR="144760" wR="144760" stAng="16200000" swAng="5400000"/>
                <a:lnTo>
                  <a:pt x="1201605"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class Library</a:t>
            </a:r>
            <a:endParaRPr lang="en-US" sz="1200" dirty="0"/>
          </a:p>
        </p:txBody>
      </p:sp>
      <p:sp>
        <p:nvSpPr>
          <p:cNvPr id="10" name="Text 8"/>
          <p:cNvSpPr/>
          <p:nvPr/>
        </p:nvSpPr>
        <p:spPr>
          <a:xfrm>
            <a:off x="3721100" y="24611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Does</a:t>
            </a:r>
            <a:endParaRPr lang="en-US" sz="1800" dirty="0"/>
          </a:p>
        </p:txBody>
      </p:sp>
      <p:sp>
        <p:nvSpPr>
          <p:cNvPr id="11" name="Text 9"/>
          <p:cNvSpPr/>
          <p:nvPr/>
        </p:nvSpPr>
        <p:spPr>
          <a:xfrm>
            <a:off x="3721100" y="2837061"/>
            <a:ext cx="21191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add, list, search, issue and return books.</a:t>
            </a:r>
            <a:endParaRPr lang="en-US" sz="1500" dirty="0"/>
          </a:p>
        </p:txBody>
      </p:sp>
      <p:sp>
        <p:nvSpPr>
          <p:cNvPr id="12" name="Shape 10"/>
          <p:cNvSpPr/>
          <p:nvPr/>
        </p:nvSpPr>
        <p:spPr>
          <a:xfrm>
            <a:off x="6203950" y="1860485"/>
            <a:ext cx="2476500" cy="1986227"/>
          </a:xfrm>
          <a:prstGeom prst="roundRect">
            <a:avLst>
              <a:gd name="adj" fmla="val 6074"/>
            </a:avLst>
          </a:prstGeom>
          <a:solidFill>
            <a:srgbClr val="FFFDF8"/>
          </a:solidFill>
          <a:ln w="12700">
            <a:solidFill>
              <a:srgbClr val="E2DED3"/>
            </a:solidFill>
            <a:prstDash val="solid"/>
          </a:ln>
        </p:spPr>
      </p:sp>
      <p:sp>
        <p:nvSpPr>
          <p:cNvPr id="13" name="Text 11"/>
          <p:cNvSpPr/>
          <p:nvPr/>
        </p:nvSpPr>
        <p:spPr>
          <a:xfrm>
            <a:off x="6413500" y="2070035"/>
            <a:ext cx="986830" cy="289520"/>
          </a:xfrm>
          <a:custGeom>
            <a:avLst/>
            <a:gdLst/>
            <a:ahLst/>
            <a:cxnLst/>
            <a:rect l="l" t="t" r="r" b="b"/>
            <a:pathLst>
              <a:path w="986830" h="289520">
                <a:moveTo>
                  <a:pt x="144760" y="0"/>
                </a:moveTo>
                <a:lnTo>
                  <a:pt x="842070" y="0"/>
                </a:lnTo>
                <a:arcTo hR="144760" wR="144760" stAng="16200000" swAng="5400000"/>
                <a:lnTo>
                  <a:pt x="98683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books.csv</a:t>
            </a:r>
            <a:endParaRPr lang="en-US" sz="1200" dirty="0"/>
          </a:p>
        </p:txBody>
      </p:sp>
      <p:sp>
        <p:nvSpPr>
          <p:cNvPr id="14" name="Text 12"/>
          <p:cNvSpPr/>
          <p:nvPr/>
        </p:nvSpPr>
        <p:spPr>
          <a:xfrm>
            <a:off x="6413500" y="24611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Remembers</a:t>
            </a:r>
            <a:endParaRPr lang="en-US" sz="1800" dirty="0"/>
          </a:p>
        </p:txBody>
      </p:sp>
      <p:sp>
        <p:nvSpPr>
          <p:cNvPr id="15" name="Text 13"/>
          <p:cNvSpPr/>
          <p:nvPr/>
        </p:nvSpPr>
        <p:spPr>
          <a:xfrm>
            <a:off x="6413500" y="28370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every book, saved after each change and loaded at start.</a:t>
            </a:r>
            <a:endParaRPr lang="en-US" sz="1500" dirty="0"/>
          </a:p>
        </p:txBody>
      </p:sp>
      <p:sp>
        <p:nvSpPr>
          <p:cNvPr id="16" name="Shape 14"/>
          <p:cNvSpPr/>
          <p:nvPr/>
        </p:nvSpPr>
        <p:spPr>
          <a:xfrm>
            <a:off x="8896350" y="1860485"/>
            <a:ext cx="2476500" cy="1986227"/>
          </a:xfrm>
          <a:prstGeom prst="roundRect">
            <a:avLst>
              <a:gd name="adj" fmla="val 6074"/>
            </a:avLst>
          </a:prstGeom>
          <a:solidFill>
            <a:srgbClr val="FFFDF8"/>
          </a:solidFill>
          <a:ln w="12700">
            <a:solidFill>
              <a:srgbClr val="E2DED3"/>
            </a:solidFill>
            <a:prstDash val="solid"/>
          </a:ln>
        </p:spPr>
      </p:sp>
      <p:sp>
        <p:nvSpPr>
          <p:cNvPr id="17" name="Text 15"/>
          <p:cNvSpPr/>
          <p:nvPr/>
        </p:nvSpPr>
        <p:spPr>
          <a:xfrm>
            <a:off x="9105900" y="2070035"/>
            <a:ext cx="654116" cy="289520"/>
          </a:xfrm>
          <a:custGeom>
            <a:avLst/>
            <a:gdLst/>
            <a:ahLst/>
            <a:cxnLst/>
            <a:rect l="l" t="t" r="r" b="b"/>
            <a:pathLst>
              <a:path w="654116" h="289520">
                <a:moveTo>
                  <a:pt x="144760" y="0"/>
                </a:moveTo>
                <a:lnTo>
                  <a:pt x="509356" y="0"/>
                </a:lnTo>
                <a:arcTo hR="144760" wR="144760" stAng="16200000" swAng="5400000"/>
                <a:lnTo>
                  <a:pt x="65411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menu</a:t>
            </a:r>
            <a:endParaRPr lang="en-US" sz="1200" dirty="0"/>
          </a:p>
        </p:txBody>
      </p:sp>
      <p:sp>
        <p:nvSpPr>
          <p:cNvPr id="18" name="Text 16"/>
          <p:cNvSpPr/>
          <p:nvPr/>
        </p:nvSpPr>
        <p:spPr>
          <a:xfrm>
            <a:off x="9105900" y="24611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Talks</a:t>
            </a:r>
            <a:endParaRPr lang="en-US" sz="1800" dirty="0"/>
          </a:p>
        </p:txBody>
      </p:sp>
      <p:sp>
        <p:nvSpPr>
          <p:cNvPr id="19" name="Text 17"/>
          <p:cNvSpPr/>
          <p:nvPr/>
        </p:nvSpPr>
        <p:spPr>
          <a:xfrm>
            <a:off x="9105900" y="28370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a while loop with try/except so wrong input never crashes it.</a:t>
            </a:r>
            <a:endParaRPr lang="en-US" sz="15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8 · Class 22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22 · STEP 1</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The Book class</a:t>
            </a:r>
            <a:endParaRPr lang="en-US" sz="3200" dirty="0"/>
          </a:p>
        </p:txBody>
      </p:sp>
      <p:sp>
        <p:nvSpPr>
          <p:cNvPr id="4" name="Shape 2"/>
          <p:cNvSpPr/>
          <p:nvPr/>
        </p:nvSpPr>
        <p:spPr>
          <a:xfrm>
            <a:off x="812800" y="1854135"/>
            <a:ext cx="5956234" cy="3788370"/>
          </a:xfrm>
          <a:prstGeom prst="roundRect">
            <a:avLst>
              <a:gd name="adj" fmla="val 3352"/>
            </a:avLst>
          </a:prstGeom>
          <a:solidFill>
            <a:srgbClr val="1B2A41"/>
          </a:solidFill>
          <a:ln/>
        </p:spPr>
      </p:sp>
      <p:sp>
        <p:nvSpPr>
          <p:cNvPr id="5" name="Text 3"/>
          <p:cNvSpPr/>
          <p:nvPr/>
        </p:nvSpPr>
        <p:spPr>
          <a:xfrm>
            <a:off x="1066800" y="2031935"/>
            <a:ext cx="56116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library.py</a:t>
            </a:r>
            <a:endParaRPr lang="en-US" sz="1200" dirty="0"/>
          </a:p>
        </p:txBody>
      </p:sp>
      <p:sp>
        <p:nvSpPr>
          <p:cNvPr id="6" name="Text 4"/>
          <p:cNvSpPr/>
          <p:nvPr/>
        </p:nvSpPr>
        <p:spPr>
          <a:xfrm>
            <a:off x="1066800" y="2321455"/>
            <a:ext cx="5611681" cy="3168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class</a:t>
            </a:r>
            <a:r>
              <a:rPr lang="en-US" sz="1500" dirty="0">
                <a:solidFill>
                  <a:srgbClr val="E8EDF3"/>
                </a:solidFill>
                <a:latin typeface="JetBrains Mono" pitchFamily="49" charset="0"/>
                <a:ea typeface="JetBrains Mono" pitchFamily="49" charset="-122"/>
                <a:cs typeface="JetBrains Mono" pitchFamily="49" charset="-120"/>
              </a:rPr>
              <a:t> Book:</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__init__(</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 bid, title, author,</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holder=</a:t>
            </a:r>
            <a:r>
              <a:rPr lang="en-US" sz="1500" dirty="0">
                <a:solidFill>
                  <a:srgbClr val="9FD8A8"/>
                </a:solidFill>
                <a:latin typeface="JetBrains Mono" pitchFamily="49" charset="0"/>
                <a:ea typeface="JetBrains Mono" pitchFamily="49" charset="-122"/>
                <a:cs typeface="JetBrains Mono" pitchFamily="49" charset="-120"/>
              </a:rPr>
              <a:t>""</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.bid = bid</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.title = title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.author = author</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.holder = holder</a:t>
            </a:r>
            <a:endParaRPr lang="en-US" sz="1500" dirty="0"/>
          </a:p>
          <a:p>
            <a:pPr algn="l" indent="0" marL="0">
              <a:lnSpc>
                <a:spcPts val="2250"/>
              </a:lnSpc>
              <a:buNone/>
            </a:pP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__str__(</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s =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.holder </a:t>
            </a:r>
            <a:r>
              <a:rPr lang="en-US" sz="1500" dirty="0">
                <a:solidFill>
                  <a:srgbClr val="F2B33D"/>
                </a:solidFill>
                <a:latin typeface="JetBrains Mono" pitchFamily="49" charset="0"/>
                <a:ea typeface="JetBrains Mono" pitchFamily="49" charset="-122"/>
                <a:cs typeface="JetBrains Mono" pitchFamily="49" charset="-120"/>
              </a:rPr>
              <a:t>or</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"available"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f"{self.bid} {self.title} - {s}"</a:t>
            </a:r>
            <a:endParaRPr lang="en-US" sz="1500" dirty="0"/>
          </a:p>
        </p:txBody>
      </p:sp>
      <p:sp>
        <p:nvSpPr>
          <p:cNvPr id="7" name="Shape 5"/>
          <p:cNvSpPr/>
          <p:nvPr/>
        </p:nvSpPr>
        <p:spPr>
          <a:xfrm>
            <a:off x="7130984" y="1860485"/>
            <a:ext cx="4241800" cy="1176007"/>
          </a:xfrm>
          <a:prstGeom prst="roundRect">
            <a:avLst>
              <a:gd name="adj" fmla="val 8099"/>
            </a:avLst>
          </a:prstGeom>
          <a:solidFill>
            <a:srgbClr val="FFFDF8"/>
          </a:solidFill>
          <a:ln w="12700">
            <a:solidFill>
              <a:srgbClr val="E2DED3"/>
            </a:solidFill>
            <a:prstDash val="solid"/>
          </a:ln>
        </p:spPr>
      </p:sp>
      <p:sp>
        <p:nvSpPr>
          <p:cNvPr id="8" name="Text 6"/>
          <p:cNvSpPr/>
          <p:nvPr/>
        </p:nvSpPr>
        <p:spPr>
          <a:xfrm>
            <a:off x="7340534" y="2019235"/>
            <a:ext cx="393738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holder</a:t>
            </a:r>
            <a:endParaRPr lang="en-US" sz="1800" dirty="0"/>
          </a:p>
        </p:txBody>
      </p:sp>
      <p:sp>
        <p:nvSpPr>
          <p:cNvPr id="9" name="Text 7"/>
          <p:cNvSpPr/>
          <p:nvPr/>
        </p:nvSpPr>
        <p:spPr>
          <a:xfrm>
            <a:off x="7340534" y="2344341"/>
            <a:ext cx="393738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the name of the person who borrowed it, or empty</a:t>
            </a:r>
            <a:endParaRPr lang="en-US" sz="1500" dirty="0"/>
          </a:p>
        </p:txBody>
      </p:sp>
      <p:sp>
        <p:nvSpPr>
          <p:cNvPr id="10" name="Shape 8"/>
          <p:cNvSpPr/>
          <p:nvPr/>
        </p:nvSpPr>
        <p:spPr>
          <a:xfrm>
            <a:off x="7124634" y="3169841"/>
            <a:ext cx="4254500" cy="787400"/>
          </a:xfrm>
          <a:prstGeom prst="roundRect">
            <a:avLst>
              <a:gd name="adj" fmla="val 11290"/>
            </a:avLst>
          </a:prstGeom>
          <a:solidFill>
            <a:srgbClr val="FBEFD5"/>
          </a:solidFill>
          <a:ln/>
        </p:spPr>
      </p:sp>
      <p:pic>
        <p:nvPicPr>
          <p:cNvPr id="11" name="Image 0" descr="Lightbulb">    </p:cNvPr>
          <p:cNvPicPr>
            <a:picLocks noChangeAspect="1"/>
          </p:cNvPicPr>
          <p:nvPr/>
        </p:nvPicPr>
        <p:blipFill>
          <a:blip r:embed="rId1"/>
          <a:srcRect l="-672" r="-672" t="0" b="0"/>
          <a:stretch/>
        </p:blipFill>
        <p:spPr>
          <a:xfrm>
            <a:off x="7302434" y="3411141"/>
            <a:ext cx="199496" cy="304800"/>
          </a:xfrm>
          <a:prstGeom prst="rect">
            <a:avLst/>
          </a:prstGeom>
        </p:spPr>
      </p:pic>
      <p:sp>
        <p:nvSpPr>
          <p:cNvPr id="12" name="Text 9"/>
          <p:cNvSpPr/>
          <p:nvPr/>
        </p:nvSpPr>
        <p:spPr>
          <a:xfrm>
            <a:off x="7628930" y="3296841"/>
            <a:ext cx="367957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Rubik" pitchFamily="34" charset="0"/>
                <a:ea typeface="Rubik" pitchFamily="34" charset="-122"/>
                <a:cs typeface="Rubik" pitchFamily="34" charset="-120"/>
              </a:rPr>
              <a:t>self.holder or "available"</a:t>
            </a:r>
            <a:r>
              <a:rPr lang="en-US" sz="1500" dirty="0">
                <a:solidFill>
                  <a:srgbClr val="1B2A41"/>
                </a:solidFill>
                <a:latin typeface="Rubik" pitchFamily="34" charset="0"/>
                <a:ea typeface="Rubik" pitchFamily="34" charset="-122"/>
                <a:cs typeface="Rubik" pitchFamily="34" charset="-120"/>
              </a:rPr>
              <a:t> gives the first value that is not empty.</a:t>
            </a:r>
            <a:endParaRPr lang="en-US" sz="15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8 · Class 22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4487"/>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2A64A3"/>
                </a:solidFill>
                <a:latin typeface="Rubik" pitchFamily="34" charset="0"/>
                <a:ea typeface="Rubik" pitchFamily="34" charset="-122"/>
                <a:cs typeface="Rubik" pitchFamily="34" charset="-120"/>
              </a:rPr>
              <a:t>CLASS 22 · STEP 2</a:t>
            </a:r>
            <a:endParaRPr lang="en-US" sz="1196" dirty="0"/>
          </a:p>
        </p:txBody>
      </p:sp>
      <p:sp>
        <p:nvSpPr>
          <p:cNvPr id="3" name="Text 1"/>
          <p:cNvSpPr/>
          <p:nvPr>
            <p:ph type="title"/>
          </p:nvPr>
        </p:nvSpPr>
        <p:spPr>
          <a:xfrm>
            <a:off x="812800" y="1098088"/>
            <a:ext cx="10883392" cy="463418"/>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1B2A41"/>
                </a:solidFill>
                <a:latin typeface="Rubik" pitchFamily="34" charset="0"/>
                <a:ea typeface="Rubik" pitchFamily="34" charset="-122"/>
                <a:cs typeface="Rubik" pitchFamily="34" charset="-120"/>
              </a:rPr>
              <a:t>The Library class: issue and return</a:t>
            </a:r>
            <a:endParaRPr lang="en-US" sz="3150" dirty="0"/>
          </a:p>
        </p:txBody>
      </p:sp>
      <p:sp>
        <p:nvSpPr>
          <p:cNvPr id="4" name="Shape 2"/>
          <p:cNvSpPr/>
          <p:nvPr/>
        </p:nvSpPr>
        <p:spPr>
          <a:xfrm>
            <a:off x="812800" y="1840905"/>
            <a:ext cx="6043083" cy="4074120"/>
          </a:xfrm>
          <a:prstGeom prst="roundRect">
            <a:avLst>
              <a:gd name="adj" fmla="val 3117"/>
            </a:avLst>
          </a:prstGeom>
          <a:solidFill>
            <a:srgbClr val="1B2A41"/>
          </a:solidFill>
          <a:ln/>
        </p:spPr>
      </p:sp>
      <p:sp>
        <p:nvSpPr>
          <p:cNvPr id="5" name="Text 3"/>
          <p:cNvSpPr/>
          <p:nvPr/>
        </p:nvSpPr>
        <p:spPr>
          <a:xfrm>
            <a:off x="1066800" y="2018705"/>
            <a:ext cx="57011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library.py</a:t>
            </a:r>
            <a:endParaRPr lang="en-US" sz="1200" dirty="0"/>
          </a:p>
        </p:txBody>
      </p:sp>
      <p:sp>
        <p:nvSpPr>
          <p:cNvPr id="6" name="Text 4"/>
          <p:cNvSpPr/>
          <p:nvPr/>
        </p:nvSpPr>
        <p:spPr>
          <a:xfrm>
            <a:off x="1066800" y="2308225"/>
            <a:ext cx="5701136" cy="3454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class</a:t>
            </a:r>
            <a:r>
              <a:rPr lang="en-US" sz="1500" dirty="0">
                <a:solidFill>
                  <a:srgbClr val="E8EDF3"/>
                </a:solidFill>
                <a:latin typeface="JetBrains Mono" pitchFamily="49" charset="0"/>
                <a:ea typeface="JetBrains Mono" pitchFamily="49" charset="-122"/>
                <a:cs typeface="JetBrains Mono" pitchFamily="49" charset="-120"/>
              </a:rPr>
              <a:t> Library:</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__init__(</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.books = {}            </a:t>
            </a:r>
            <a:r>
              <a:rPr lang="en-US" sz="1500" dirty="0">
                <a:solidFill>
                  <a:srgbClr val="8FA3B8"/>
                </a:solidFill>
                <a:latin typeface="JetBrains Mono" pitchFamily="49" charset="0"/>
                <a:ea typeface="JetBrains Mono" pitchFamily="49" charset="-122"/>
                <a:cs typeface="JetBrains Mono" pitchFamily="49" charset="-120"/>
              </a:rPr>
              <a:t># bid -&gt; Book</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add(</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 book):</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.books[book.bid] = book</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issue(</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 bid, name):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book =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.books[bid]</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book.holder:</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raise</a:t>
            </a:r>
            <a:r>
              <a:rPr lang="en-US" sz="1500" dirty="0">
                <a:solidFill>
                  <a:srgbClr val="E8EDF3"/>
                </a:solidFill>
                <a:latin typeface="JetBrains Mono" pitchFamily="49" charset="0"/>
                <a:ea typeface="JetBrains Mono" pitchFamily="49" charset="-122"/>
                <a:cs typeface="JetBrains Mono" pitchFamily="49" charset="-120"/>
              </a:rPr>
              <a:t> ValueError(</a:t>
            </a:r>
            <a:r>
              <a:rPr lang="en-US" sz="1500" dirty="0">
                <a:solidFill>
                  <a:srgbClr val="9FD8A8"/>
                </a:solidFill>
                <a:latin typeface="JetBrains Mono" pitchFamily="49" charset="0"/>
                <a:ea typeface="JetBrains Mono" pitchFamily="49" charset="-122"/>
                <a:cs typeface="JetBrains Mono" pitchFamily="49" charset="-120"/>
              </a:rPr>
              <a:t>"Already issued"</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book.holder = name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give_back(</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 bid):</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.books[bid].holder = </a:t>
            </a:r>
            <a:r>
              <a:rPr lang="en-US" sz="1500" dirty="0">
                <a:solidFill>
                  <a:srgbClr val="9FD8A8"/>
                </a:solidFill>
                <a:latin typeface="JetBrains Mono" pitchFamily="49" charset="0"/>
                <a:ea typeface="JetBrains Mono" pitchFamily="49" charset="-122"/>
                <a:cs typeface="JetBrains Mono" pitchFamily="49" charset="-120"/>
              </a:rPr>
              <a:t>""</a:t>
            </a:r>
            <a:endParaRPr lang="en-US" sz="1500" dirty="0"/>
          </a:p>
        </p:txBody>
      </p:sp>
      <p:sp>
        <p:nvSpPr>
          <p:cNvPr id="7" name="Text 5"/>
          <p:cNvSpPr/>
          <p:nvPr/>
        </p:nvSpPr>
        <p:spPr>
          <a:xfrm>
            <a:off x="7211484" y="1840905"/>
            <a:ext cx="4292748"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Rubik" pitchFamily="34" charset="0"/>
                <a:ea typeface="Rubik" pitchFamily="34" charset="-122"/>
                <a:cs typeface="Rubik" pitchFamily="34" charset="-120"/>
              </a:rPr>
              <a:t>A </a:t>
            </a:r>
            <a:r>
              <a:rPr lang="en-US" sz="1500" b="1" dirty="0">
                <a:solidFill>
                  <a:srgbClr val="4A5568"/>
                </a:solidFill>
                <a:latin typeface="Rubik" pitchFamily="34" charset="0"/>
                <a:ea typeface="Rubik" pitchFamily="34" charset="-122"/>
                <a:cs typeface="Rubik" pitchFamily="34" charset="-120"/>
              </a:rPr>
              <a:t>dictionary</a:t>
            </a:r>
            <a:r>
              <a:rPr lang="en-US" sz="1500" dirty="0">
                <a:solidFill>
                  <a:srgbClr val="4A5568"/>
                </a:solidFill>
                <a:latin typeface="Rubik" pitchFamily="34" charset="0"/>
                <a:ea typeface="Rubik" pitchFamily="34" charset="-122"/>
                <a:cs typeface="Rubik" pitchFamily="34" charset="-120"/>
              </a:rPr>
              <a:t> of Book objects, so finding a book by id is instant.</a:t>
            </a:r>
            <a:endParaRPr lang="en-US" sz="1500" dirty="0"/>
          </a:p>
        </p:txBody>
      </p:sp>
      <p:sp>
        <p:nvSpPr>
          <p:cNvPr id="8" name="Shape 6"/>
          <p:cNvSpPr/>
          <p:nvPr/>
        </p:nvSpPr>
        <p:spPr>
          <a:xfrm>
            <a:off x="7217834" y="2545755"/>
            <a:ext cx="4155017" cy="800100"/>
          </a:xfrm>
          <a:prstGeom prst="roundRect">
            <a:avLst>
              <a:gd name="adj" fmla="val 10317"/>
            </a:avLst>
          </a:prstGeom>
          <a:solidFill>
            <a:srgbClr val="FFFDF8"/>
          </a:solidFill>
          <a:ln w="12700">
            <a:solidFill>
              <a:srgbClr val="B54708"/>
            </a:solidFill>
            <a:prstDash val="solid"/>
          </a:ln>
        </p:spPr>
      </p:sp>
      <p:pic>
        <p:nvPicPr>
          <p:cNvPr id="9" name="Image 0" descr="Warning">    </p:cNvPr>
          <p:cNvPicPr>
            <a:picLocks noChangeAspect="1"/>
          </p:cNvPicPr>
          <p:nvPr/>
        </p:nvPicPr>
        <p:blipFill>
          <a:blip r:embed="rId1"/>
          <a:srcRect l="0" r="0" t="-655" b="-655"/>
          <a:stretch/>
        </p:blipFill>
        <p:spPr>
          <a:xfrm>
            <a:off x="7401984" y="2793405"/>
            <a:ext cx="181769" cy="304800"/>
          </a:xfrm>
          <a:prstGeom prst="rect">
            <a:avLst/>
          </a:prstGeom>
        </p:spPr>
      </p:pic>
      <p:sp>
        <p:nvSpPr>
          <p:cNvPr id="10" name="Text 7"/>
          <p:cNvSpPr/>
          <p:nvPr/>
        </p:nvSpPr>
        <p:spPr>
          <a:xfrm>
            <a:off x="7710753" y="2679105"/>
            <a:ext cx="358228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Wrong ids and double issues raise errors. The menu catches them.</a:t>
            </a:r>
            <a:endParaRPr lang="en-US" sz="15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8 · Class 22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4487"/>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2A64A3"/>
                </a:solidFill>
                <a:latin typeface="Rubik" pitchFamily="34" charset="0"/>
                <a:ea typeface="Rubik" pitchFamily="34" charset="-122"/>
                <a:cs typeface="Rubik" pitchFamily="34" charset="-120"/>
              </a:rPr>
              <a:t>CLASS 22 · STEP 3</a:t>
            </a:r>
            <a:endParaRPr lang="en-US" sz="1196" dirty="0"/>
          </a:p>
        </p:txBody>
      </p:sp>
      <p:sp>
        <p:nvSpPr>
          <p:cNvPr id="3" name="Text 1"/>
          <p:cNvSpPr/>
          <p:nvPr>
            <p:ph type="title"/>
          </p:nvPr>
        </p:nvSpPr>
        <p:spPr>
          <a:xfrm>
            <a:off x="812800" y="1098088"/>
            <a:ext cx="10883392" cy="463418"/>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1B2A41"/>
                </a:solidFill>
                <a:latin typeface="Rubik" pitchFamily="34" charset="0"/>
                <a:ea typeface="Rubik" pitchFamily="34" charset="-122"/>
                <a:cs typeface="Rubik" pitchFamily="34" charset="-120"/>
              </a:rPr>
              <a:t>Saving and loading the books</a:t>
            </a:r>
            <a:endParaRPr lang="en-US" sz="3150" dirty="0"/>
          </a:p>
        </p:txBody>
      </p:sp>
      <p:sp>
        <p:nvSpPr>
          <p:cNvPr id="4" name="Shape 2"/>
          <p:cNvSpPr/>
          <p:nvPr/>
        </p:nvSpPr>
        <p:spPr>
          <a:xfrm>
            <a:off x="812800" y="1840905"/>
            <a:ext cx="5956234" cy="4074120"/>
          </a:xfrm>
          <a:prstGeom prst="roundRect">
            <a:avLst>
              <a:gd name="adj" fmla="val 3117"/>
            </a:avLst>
          </a:prstGeom>
          <a:solidFill>
            <a:srgbClr val="1B2A41"/>
          </a:solidFill>
          <a:ln/>
        </p:spPr>
      </p:sp>
      <p:sp>
        <p:nvSpPr>
          <p:cNvPr id="5" name="Text 3"/>
          <p:cNvSpPr/>
          <p:nvPr/>
        </p:nvSpPr>
        <p:spPr>
          <a:xfrm>
            <a:off x="1066800" y="2018705"/>
            <a:ext cx="56116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library.py · inside Library</a:t>
            </a:r>
            <a:endParaRPr lang="en-US" sz="1200" dirty="0"/>
          </a:p>
        </p:txBody>
      </p:sp>
      <p:sp>
        <p:nvSpPr>
          <p:cNvPr id="6" name="Text 4"/>
          <p:cNvSpPr/>
          <p:nvPr/>
        </p:nvSpPr>
        <p:spPr>
          <a:xfrm>
            <a:off x="1066800" y="2308225"/>
            <a:ext cx="5611681" cy="3454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save(</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with</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open</a:t>
            </a:r>
            <a:r>
              <a:rPr lang="en-US" sz="1500" dirty="0">
                <a:solidFill>
                  <a:srgbClr val="E8EDF3"/>
                </a:solidFill>
                <a:latin typeface="JetBrains Mono" pitchFamily="49" charset="0"/>
                <a:ea typeface="JetBrains Mono" pitchFamily="49" charset="-122"/>
                <a:cs typeface="JetBrains Mono" pitchFamily="49" charset="-120"/>
              </a:rPr>
              <a:t>(FILE, </a:t>
            </a:r>
            <a:r>
              <a:rPr lang="en-US" sz="1500" dirty="0">
                <a:solidFill>
                  <a:srgbClr val="9FD8A8"/>
                </a:solidFill>
                <a:latin typeface="JetBrains Mono" pitchFamily="49" charset="0"/>
                <a:ea typeface="JetBrains Mono" pitchFamily="49" charset="-122"/>
                <a:cs typeface="JetBrains Mono" pitchFamily="49" charset="-120"/>
              </a:rPr>
              <a:t>"w"</a:t>
            </a:r>
            <a:r>
              <a:rPr lang="en-US" sz="1500" dirty="0">
                <a:solidFill>
                  <a:srgbClr val="E8EDF3"/>
                </a:solidFill>
                <a:latin typeface="JetBrains Mono" pitchFamily="49" charset="0"/>
                <a:ea typeface="JetBrains Mono" pitchFamily="49" charset="-122"/>
                <a:cs typeface="JetBrains Mono" pitchFamily="49" charset="-120"/>
              </a:rPr>
              <a:t>, newline=</a:t>
            </a:r>
            <a:r>
              <a:rPr lang="en-US" sz="1500" dirty="0">
                <a:solidFill>
                  <a:srgbClr val="9FD8A8"/>
                </a:solidFill>
                <a:latin typeface="JetBrains Mono" pitchFamily="49" charset="0"/>
                <a:ea typeface="JetBrains Mono" pitchFamily="49" charset="-122"/>
                <a:cs typeface="JetBrains Mono" pitchFamily="49" charset="-120"/>
              </a:rPr>
              <a:t>""</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as</a:t>
            </a:r>
            <a:r>
              <a:rPr lang="en-US" sz="1500" dirty="0">
                <a:solidFill>
                  <a:srgbClr val="E8EDF3"/>
                </a:solidFill>
                <a:latin typeface="JetBrains Mono" pitchFamily="49" charset="0"/>
                <a:ea typeface="JetBrains Mono" pitchFamily="49" charset="-122"/>
                <a:cs typeface="JetBrains Mono" pitchFamily="49" charset="-120"/>
              </a:rPr>
              <a:t> 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w = csv.writer(f)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b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.books.values():</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w.writerow([b.bid, b.title,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b.author, b.holder])</a:t>
            </a:r>
            <a:endParaRPr lang="en-US" sz="1500" dirty="0"/>
          </a:p>
          <a:p>
            <a:pPr algn="l" indent="0" marL="0">
              <a:lnSpc>
                <a:spcPts val="2250"/>
              </a:lnSpc>
              <a:buNone/>
            </a:pP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load(</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os.path.exists(FILE):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with</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open</a:t>
            </a:r>
            <a:r>
              <a:rPr lang="en-US" sz="1500" dirty="0">
                <a:solidFill>
                  <a:srgbClr val="E8EDF3"/>
                </a:solidFill>
                <a:latin typeface="JetBrains Mono" pitchFamily="49" charset="0"/>
                <a:ea typeface="JetBrains Mono" pitchFamily="49" charset="-122"/>
                <a:cs typeface="JetBrains Mono" pitchFamily="49" charset="-120"/>
              </a:rPr>
              <a:t>(FILE) </a:t>
            </a:r>
            <a:r>
              <a:rPr lang="en-US" sz="1500" dirty="0">
                <a:solidFill>
                  <a:srgbClr val="F2B33D"/>
                </a:solidFill>
                <a:latin typeface="JetBrains Mono" pitchFamily="49" charset="0"/>
                <a:ea typeface="JetBrains Mono" pitchFamily="49" charset="-122"/>
                <a:cs typeface="JetBrains Mono" pitchFamily="49" charset="-120"/>
              </a:rPr>
              <a:t>as</a:t>
            </a:r>
            <a:r>
              <a:rPr lang="en-US" sz="1500" dirty="0">
                <a:solidFill>
                  <a:srgbClr val="E8EDF3"/>
                </a:solidFill>
                <a:latin typeface="JetBrains Mono" pitchFamily="49" charset="0"/>
                <a:ea typeface="JetBrains Mono" pitchFamily="49" charset="-122"/>
                <a:cs typeface="JetBrains Mono" pitchFamily="49" charset="-120"/>
              </a:rPr>
              <a:t> 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row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csv.reader(f):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self</a:t>
            </a:r>
            <a:r>
              <a:rPr lang="en-US" sz="1500" dirty="0">
                <a:solidFill>
                  <a:srgbClr val="E8EDF3"/>
                </a:solidFill>
                <a:latin typeface="JetBrains Mono" pitchFamily="49" charset="0"/>
                <a:ea typeface="JetBrains Mono" pitchFamily="49" charset="-122"/>
                <a:cs typeface="JetBrains Mono" pitchFamily="49" charset="-120"/>
              </a:rPr>
              <a:t>.add(Book(*row))</a:t>
            </a:r>
            <a:endParaRPr lang="en-US" sz="1500" dirty="0"/>
          </a:p>
        </p:txBody>
      </p:sp>
      <p:sp>
        <p:nvSpPr>
          <p:cNvPr id="7" name="Shape 5"/>
          <p:cNvSpPr/>
          <p:nvPr/>
        </p:nvSpPr>
        <p:spPr>
          <a:xfrm>
            <a:off x="7130984" y="1847255"/>
            <a:ext cx="4241800" cy="749300"/>
          </a:xfrm>
          <a:prstGeom prst="roundRect">
            <a:avLst>
              <a:gd name="adj" fmla="val 11017"/>
            </a:avLst>
          </a:prstGeom>
          <a:solidFill>
            <a:srgbClr val="FFFDF8"/>
          </a:solidFill>
          <a:ln w="12700">
            <a:solidFill>
              <a:srgbClr val="E2DED3"/>
            </a:solidFill>
            <a:prstDash val="solid"/>
          </a:ln>
        </p:spPr>
      </p:sp>
      <p:sp>
        <p:nvSpPr>
          <p:cNvPr id="8" name="Text 6"/>
          <p:cNvSpPr/>
          <p:nvPr/>
        </p:nvSpPr>
        <p:spPr>
          <a:xfrm>
            <a:off x="7289734" y="2088555"/>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9" name="Text 7"/>
          <p:cNvSpPr/>
          <p:nvPr/>
        </p:nvSpPr>
        <p:spPr>
          <a:xfrm>
            <a:off x="7746934" y="1955205"/>
            <a:ext cx="3571113"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save:</a:t>
            </a:r>
            <a:r>
              <a:rPr lang="en-US" sz="1500" dirty="0">
                <a:solidFill>
                  <a:srgbClr val="4A5568"/>
                </a:solidFill>
                <a:latin typeface="Rubik" pitchFamily="34" charset="0"/>
                <a:ea typeface="Rubik" pitchFamily="34" charset="-122"/>
                <a:cs typeface="Rubik" pitchFamily="34" charset="-120"/>
              </a:rPr>
              <a:t> rewrite the whole file after every change</a:t>
            </a:r>
            <a:endParaRPr lang="en-US" sz="1500" dirty="0"/>
          </a:p>
        </p:txBody>
      </p:sp>
      <p:sp>
        <p:nvSpPr>
          <p:cNvPr id="10" name="Shape 8"/>
          <p:cNvSpPr/>
          <p:nvPr/>
        </p:nvSpPr>
        <p:spPr>
          <a:xfrm>
            <a:off x="7130984" y="2736255"/>
            <a:ext cx="4241800" cy="749300"/>
          </a:xfrm>
          <a:prstGeom prst="roundRect">
            <a:avLst>
              <a:gd name="adj" fmla="val 11017"/>
            </a:avLst>
          </a:prstGeom>
          <a:solidFill>
            <a:srgbClr val="FFFDF8"/>
          </a:solidFill>
          <a:ln w="12700">
            <a:solidFill>
              <a:srgbClr val="E2DED3"/>
            </a:solidFill>
            <a:prstDash val="solid"/>
          </a:ln>
        </p:spPr>
      </p:sp>
      <p:sp>
        <p:nvSpPr>
          <p:cNvPr id="11" name="Text 9"/>
          <p:cNvSpPr/>
          <p:nvPr/>
        </p:nvSpPr>
        <p:spPr>
          <a:xfrm>
            <a:off x="7289734" y="2977555"/>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2" name="Text 10"/>
          <p:cNvSpPr/>
          <p:nvPr/>
        </p:nvSpPr>
        <p:spPr>
          <a:xfrm>
            <a:off x="7746934" y="2844205"/>
            <a:ext cx="3571113"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load:</a:t>
            </a:r>
            <a:r>
              <a:rPr lang="en-US" sz="1500" dirty="0">
                <a:solidFill>
                  <a:srgbClr val="4A5568"/>
                </a:solidFill>
                <a:latin typeface="Rubik" pitchFamily="34" charset="0"/>
                <a:ea typeface="Rubik" pitchFamily="34" charset="-122"/>
                <a:cs typeface="Rubik" pitchFamily="34" charset="-120"/>
              </a:rPr>
              <a:t> rebuild each Book from a CSV row</a:t>
            </a:r>
            <a:endParaRPr lang="en-US" sz="1500" dirty="0"/>
          </a:p>
        </p:txBody>
      </p:sp>
      <p:sp>
        <p:nvSpPr>
          <p:cNvPr id="13" name="Shape 11"/>
          <p:cNvSpPr/>
          <p:nvPr/>
        </p:nvSpPr>
        <p:spPr>
          <a:xfrm>
            <a:off x="7124634" y="3618905"/>
            <a:ext cx="4254500" cy="787400"/>
          </a:xfrm>
          <a:prstGeom prst="roundRect">
            <a:avLst>
              <a:gd name="adj" fmla="val 11290"/>
            </a:avLst>
          </a:prstGeom>
          <a:solidFill>
            <a:srgbClr val="FBEFD5"/>
          </a:solidFill>
          <a:ln/>
        </p:spPr>
      </p:sp>
      <p:pic>
        <p:nvPicPr>
          <p:cNvPr id="14" name="Image 0" descr="Lightbulb">    </p:cNvPr>
          <p:cNvPicPr>
            <a:picLocks noChangeAspect="1"/>
          </p:cNvPicPr>
          <p:nvPr/>
        </p:nvPicPr>
        <p:blipFill>
          <a:blip r:embed="rId1"/>
          <a:srcRect l="0" r="0" t="-526" b="-526"/>
          <a:stretch/>
        </p:blipFill>
        <p:spPr>
          <a:xfrm>
            <a:off x="7302434" y="3860205"/>
            <a:ext cx="188516" cy="304800"/>
          </a:xfrm>
          <a:prstGeom prst="rect">
            <a:avLst/>
          </a:prstGeom>
        </p:spPr>
      </p:pic>
      <p:sp>
        <p:nvSpPr>
          <p:cNvPr id="15" name="Text 12"/>
          <p:cNvSpPr/>
          <p:nvPr/>
        </p:nvSpPr>
        <p:spPr>
          <a:xfrm>
            <a:off x="7617950" y="3745905"/>
            <a:ext cx="369088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Rubik" pitchFamily="34" charset="0"/>
                <a:ea typeface="Rubik" pitchFamily="34" charset="-122"/>
                <a:cs typeface="Rubik" pitchFamily="34" charset="-120"/>
              </a:rPr>
              <a:t>Book(*row)</a:t>
            </a:r>
            <a:r>
              <a:rPr lang="en-US" sz="1500" dirty="0">
                <a:solidFill>
                  <a:srgbClr val="1B2A41"/>
                </a:solidFill>
                <a:latin typeface="Rubik" pitchFamily="34" charset="0"/>
                <a:ea typeface="Rubik" pitchFamily="34" charset="-122"/>
                <a:cs typeface="Rubik" pitchFamily="34" charset="-120"/>
              </a:rPr>
              <a:t> spreads the 4 values of the row into the 4 parameters.</a:t>
            </a:r>
            <a:endParaRPr lang="en-US" sz="15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8 · Class 22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22 · STEP 4</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The menu that ties it together</a:t>
            </a:r>
            <a:endParaRPr lang="en-US" sz="3200" dirty="0"/>
          </a:p>
        </p:txBody>
      </p:sp>
      <p:sp>
        <p:nvSpPr>
          <p:cNvPr id="4" name="Shape 2"/>
          <p:cNvSpPr/>
          <p:nvPr/>
        </p:nvSpPr>
        <p:spPr>
          <a:xfrm>
            <a:off x="812800" y="1854135"/>
            <a:ext cx="6126427" cy="3788370"/>
          </a:xfrm>
          <a:prstGeom prst="roundRect">
            <a:avLst>
              <a:gd name="adj" fmla="val 3352"/>
            </a:avLst>
          </a:prstGeom>
          <a:solidFill>
            <a:srgbClr val="1B2A41"/>
          </a:solidFill>
          <a:ln/>
        </p:spPr>
      </p:sp>
      <p:sp>
        <p:nvSpPr>
          <p:cNvPr id="5" name="Text 3"/>
          <p:cNvSpPr/>
          <p:nvPr/>
        </p:nvSpPr>
        <p:spPr>
          <a:xfrm>
            <a:off x="1066800" y="2031935"/>
            <a:ext cx="57869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library.py</a:t>
            </a:r>
            <a:endParaRPr lang="en-US" sz="1200" dirty="0"/>
          </a:p>
        </p:txBody>
      </p:sp>
      <p:sp>
        <p:nvSpPr>
          <p:cNvPr id="6" name="Text 4"/>
          <p:cNvSpPr/>
          <p:nvPr/>
        </p:nvSpPr>
        <p:spPr>
          <a:xfrm>
            <a:off x="1066800" y="2321455"/>
            <a:ext cx="5786980" cy="3168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while</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True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c = </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"1 List 2 Issue 3 Return 0 Exit: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c == </a:t>
            </a:r>
            <a:r>
              <a:rPr lang="en-US" sz="1500" dirty="0">
                <a:solidFill>
                  <a:srgbClr val="9FD8A8"/>
                </a:solidFill>
                <a:latin typeface="JetBrains Mono" pitchFamily="49" charset="0"/>
                <a:ea typeface="JetBrains Mono" pitchFamily="49" charset="-122"/>
                <a:cs typeface="JetBrains Mono" pitchFamily="49" charset="-120"/>
              </a:rPr>
              <a:t>"0"</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break</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try</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handle(lib, c)</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lib.save()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except</a:t>
            </a:r>
            <a:r>
              <a:rPr lang="en-US" sz="1500" dirty="0">
                <a:solidFill>
                  <a:srgbClr val="E8EDF3"/>
                </a:solidFill>
                <a:latin typeface="JetBrains Mono" pitchFamily="49" charset="0"/>
                <a:ea typeface="JetBrains Mono" pitchFamily="49" charset="-122"/>
                <a:cs typeface="JetBrains Mono" pitchFamily="49" charset="-120"/>
              </a:rPr>
              <a:t> KeyError:</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"No book with that id"</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except</a:t>
            </a:r>
            <a:r>
              <a:rPr lang="en-US" sz="1500" dirty="0">
                <a:solidFill>
                  <a:srgbClr val="E8EDF3"/>
                </a:solidFill>
                <a:latin typeface="JetBrains Mono" pitchFamily="49" charset="0"/>
                <a:ea typeface="JetBrains Mono" pitchFamily="49" charset="-122"/>
                <a:cs typeface="JetBrains Mono" pitchFamily="49" charset="-120"/>
              </a:rPr>
              <a:t> ValueError </a:t>
            </a:r>
            <a:r>
              <a:rPr lang="en-US" sz="1500" dirty="0">
                <a:solidFill>
                  <a:srgbClr val="F2B33D"/>
                </a:solidFill>
                <a:latin typeface="JetBrains Mono" pitchFamily="49" charset="0"/>
                <a:ea typeface="JetBrains Mono" pitchFamily="49" charset="-122"/>
                <a:cs typeface="JetBrains Mono" pitchFamily="49" charset="-120"/>
              </a:rPr>
              <a:t>as</a:t>
            </a:r>
            <a:r>
              <a:rPr lang="en-US" sz="1500" dirty="0">
                <a:solidFill>
                  <a:srgbClr val="E8EDF3"/>
                </a:solidFill>
                <a:latin typeface="JetBrains Mono" pitchFamily="49" charset="0"/>
                <a:ea typeface="JetBrains Mono" pitchFamily="49" charset="-122"/>
                <a:cs typeface="JetBrains Mono" pitchFamily="49" charset="-120"/>
              </a:rPr>
              <a:t> 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(e)</a:t>
            </a:r>
            <a:endParaRPr lang="en-US" sz="1500" dirty="0"/>
          </a:p>
        </p:txBody>
      </p:sp>
      <p:sp>
        <p:nvSpPr>
          <p:cNvPr id="7" name="Shape 5"/>
          <p:cNvSpPr/>
          <p:nvPr/>
        </p:nvSpPr>
        <p:spPr>
          <a:xfrm>
            <a:off x="7301178" y="1860485"/>
            <a:ext cx="4071607" cy="1176007"/>
          </a:xfrm>
          <a:prstGeom prst="roundRect">
            <a:avLst>
              <a:gd name="adj" fmla="val 8099"/>
            </a:avLst>
          </a:prstGeom>
          <a:solidFill>
            <a:srgbClr val="FFFDF8"/>
          </a:solidFill>
          <a:ln w="12700">
            <a:solidFill>
              <a:srgbClr val="E2DED3"/>
            </a:solidFill>
            <a:prstDash val="solid"/>
          </a:ln>
        </p:spPr>
      </p:sp>
      <p:sp>
        <p:nvSpPr>
          <p:cNvPr id="8" name="Text 6"/>
          <p:cNvSpPr/>
          <p:nvPr/>
        </p:nvSpPr>
        <p:spPr>
          <a:xfrm>
            <a:off x="7510728" y="2019235"/>
            <a:ext cx="376208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handle(lib, c)</a:t>
            </a:r>
            <a:endParaRPr lang="en-US" sz="1800" dirty="0"/>
          </a:p>
        </p:txBody>
      </p:sp>
      <p:sp>
        <p:nvSpPr>
          <p:cNvPr id="9" name="Text 7"/>
          <p:cNvSpPr/>
          <p:nvPr/>
        </p:nvSpPr>
        <p:spPr>
          <a:xfrm>
            <a:off x="7510728" y="2344341"/>
            <a:ext cx="376208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a small function with an if/elif that calls </a:t>
            </a:r>
            <a:r>
              <a:rPr lang="en-US" sz="1500" dirty="0">
                <a:solidFill>
                  <a:srgbClr val="2A64A3"/>
                </a:solidFill>
                <a:latin typeface="Rubik" pitchFamily="34" charset="0"/>
                <a:ea typeface="Rubik" pitchFamily="34" charset="-122"/>
                <a:cs typeface="Rubik" pitchFamily="34" charset="-120"/>
              </a:rPr>
              <a:t>list_all</a:t>
            </a:r>
            <a:r>
              <a:rPr lang="en-US" sz="1500" dirty="0">
                <a:solidFill>
                  <a:srgbClr val="4A5568"/>
                </a:solidFill>
                <a:latin typeface="Rubik" pitchFamily="34" charset="0"/>
                <a:ea typeface="Rubik" pitchFamily="34" charset="-122"/>
                <a:cs typeface="Rubik" pitchFamily="34" charset="-120"/>
              </a:rPr>
              <a:t>, </a:t>
            </a:r>
            <a:r>
              <a:rPr lang="en-US" sz="1500" dirty="0">
                <a:solidFill>
                  <a:srgbClr val="2A64A3"/>
                </a:solidFill>
                <a:latin typeface="Rubik" pitchFamily="34" charset="0"/>
                <a:ea typeface="Rubik" pitchFamily="34" charset="-122"/>
                <a:cs typeface="Rubik" pitchFamily="34" charset="-120"/>
              </a:rPr>
              <a:t>issue</a:t>
            </a:r>
            <a:r>
              <a:rPr lang="en-US" sz="1500" dirty="0">
                <a:solidFill>
                  <a:srgbClr val="4A5568"/>
                </a:solidFill>
                <a:latin typeface="Rubik" pitchFamily="34" charset="0"/>
                <a:ea typeface="Rubik" pitchFamily="34" charset="-122"/>
                <a:cs typeface="Rubik" pitchFamily="34" charset="-120"/>
              </a:rPr>
              <a:t> or </a:t>
            </a:r>
            <a:r>
              <a:rPr lang="en-US" sz="1500" dirty="0">
                <a:solidFill>
                  <a:srgbClr val="2A64A3"/>
                </a:solidFill>
                <a:latin typeface="Rubik" pitchFamily="34" charset="0"/>
                <a:ea typeface="Rubik" pitchFamily="34" charset="-122"/>
                <a:cs typeface="Rubik" pitchFamily="34" charset="-120"/>
              </a:rPr>
              <a:t>give_back</a:t>
            </a:r>
            <a:endParaRPr lang="en-US" sz="1500" dirty="0"/>
          </a:p>
        </p:txBody>
      </p:sp>
      <p:sp>
        <p:nvSpPr>
          <p:cNvPr id="10" name="Text 8"/>
          <p:cNvSpPr/>
          <p:nvPr/>
        </p:nvSpPr>
        <p:spPr>
          <a:xfrm>
            <a:off x="7294828" y="3169841"/>
            <a:ext cx="4206836"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Rubik" pitchFamily="34" charset="0"/>
                <a:ea typeface="Rubik" pitchFamily="34" charset="-122"/>
                <a:cs typeface="Rubik" pitchFamily="34" charset="-120"/>
              </a:rPr>
              <a:t>Before the loop: </a:t>
            </a:r>
            <a:r>
              <a:rPr lang="en-US" sz="1500" dirty="0">
                <a:solidFill>
                  <a:srgbClr val="2A64A3"/>
                </a:solidFill>
                <a:latin typeface="Rubik" pitchFamily="34" charset="0"/>
                <a:ea typeface="Rubik" pitchFamily="34" charset="-122"/>
                <a:cs typeface="Rubik" pitchFamily="34" charset="-120"/>
              </a:rPr>
              <a:t>lib = Library()</a:t>
            </a:r>
            <a:r>
              <a:rPr lang="en-US" sz="1500" dirty="0">
                <a:solidFill>
                  <a:srgbClr val="4A5568"/>
                </a:solidFill>
                <a:latin typeface="Rubik" pitchFamily="34" charset="0"/>
                <a:ea typeface="Rubik" pitchFamily="34" charset="-122"/>
                <a:cs typeface="Rubik" pitchFamily="34" charset="-120"/>
              </a:rPr>
              <a:t> and </a:t>
            </a:r>
            <a:r>
              <a:rPr lang="en-US" sz="1500" dirty="0">
                <a:solidFill>
                  <a:srgbClr val="2A64A3"/>
                </a:solidFill>
                <a:latin typeface="Rubik" pitchFamily="34" charset="0"/>
                <a:ea typeface="Rubik" pitchFamily="34" charset="-122"/>
                <a:cs typeface="Rubik" pitchFamily="34" charset="-120"/>
              </a:rPr>
              <a:t>lib.load()</a:t>
            </a:r>
            <a:r>
              <a:rPr lang="en-US" sz="1500" dirty="0">
                <a:solidFill>
                  <a:srgbClr val="4A5568"/>
                </a:solidFill>
                <a:latin typeface="Rubik" pitchFamily="34" charset="0"/>
                <a:ea typeface="Rubik" pitchFamily="34" charset="-122"/>
                <a:cs typeface="Rubik" pitchFamily="34" charset="-120"/>
              </a:rPr>
              <a:t>. One </a:t>
            </a:r>
            <a:r>
              <a:rPr lang="en-US" sz="1500" dirty="0">
                <a:solidFill>
                  <a:srgbClr val="2A64A3"/>
                </a:solidFill>
                <a:latin typeface="Rubik" pitchFamily="34" charset="0"/>
                <a:ea typeface="Rubik" pitchFamily="34" charset="-122"/>
                <a:cs typeface="Rubik" pitchFamily="34" charset="-120"/>
              </a:rPr>
              <a:t>try</a:t>
            </a:r>
            <a:r>
              <a:rPr lang="en-US" sz="1500" dirty="0">
                <a:solidFill>
                  <a:srgbClr val="4A5568"/>
                </a:solidFill>
                <a:latin typeface="Rubik" pitchFamily="34" charset="0"/>
                <a:ea typeface="Rubik" pitchFamily="34" charset="-122"/>
                <a:cs typeface="Rubik" pitchFamily="34" charset="-120"/>
              </a:rPr>
              <a:t> protects every choice.</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8 · Class 22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22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extend the capstone</a:t>
            </a:r>
            <a:endParaRPr lang="en-US" sz="3200" dirty="0"/>
          </a:p>
        </p:txBody>
      </p:sp>
      <p:sp>
        <p:nvSpPr>
          <p:cNvPr id="4" name="Shape 2"/>
          <p:cNvSpPr/>
          <p:nvPr/>
        </p:nvSpPr>
        <p:spPr>
          <a:xfrm>
            <a:off x="819150" y="1809685"/>
            <a:ext cx="2476500" cy="2252927"/>
          </a:xfrm>
          <a:prstGeom prst="roundRect">
            <a:avLst>
              <a:gd name="adj" fmla="val 5355"/>
            </a:avLst>
          </a:prstGeom>
          <a:solidFill>
            <a:srgbClr val="FBFCFE"/>
          </a:solidFill>
          <a:ln w="12700">
            <a:solidFill>
              <a:srgbClr val="C9D7E8"/>
            </a:solidFill>
            <a:prstDash val="solid"/>
          </a:ln>
        </p:spPr>
      </p:sp>
      <p:sp>
        <p:nvSpPr>
          <p:cNvPr id="5" name="Text 3"/>
          <p:cNvSpPr/>
          <p:nvPr/>
        </p:nvSpPr>
        <p:spPr>
          <a:xfrm>
            <a:off x="1028700" y="2019235"/>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Search</a:t>
            </a:r>
            <a:endParaRPr lang="en-US" sz="1800" dirty="0"/>
          </a:p>
        </p:txBody>
      </p:sp>
      <p:sp>
        <p:nvSpPr>
          <p:cNvPr id="7" name="Text 5"/>
          <p:cNvSpPr/>
          <p:nvPr/>
        </p:nvSpPr>
        <p:spPr>
          <a:xfrm>
            <a:off x="10287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Search books by title or author, ignoring capital letters.</a:t>
            </a:r>
            <a:endParaRPr lang="en-US" sz="1500" dirty="0"/>
          </a:p>
        </p:txBody>
      </p:sp>
      <p:sp>
        <p:nvSpPr>
          <p:cNvPr id="8" name="Shape 6"/>
          <p:cNvSpPr/>
          <p:nvPr/>
        </p:nvSpPr>
        <p:spPr>
          <a:xfrm>
            <a:off x="3511550" y="1809685"/>
            <a:ext cx="2476500" cy="2252927"/>
          </a:xfrm>
          <a:prstGeom prst="roundRect">
            <a:avLst>
              <a:gd name="adj" fmla="val 5355"/>
            </a:avLst>
          </a:prstGeom>
          <a:solidFill>
            <a:srgbClr val="FBFCFE"/>
          </a:solidFill>
          <a:ln w="12700">
            <a:solidFill>
              <a:srgbClr val="C9D7E8"/>
            </a:solidFill>
            <a:prstDash val="solid"/>
          </a:ln>
        </p:spPr>
      </p:sp>
      <p:sp>
        <p:nvSpPr>
          <p:cNvPr id="9" name="Text 7"/>
          <p:cNvSpPr/>
          <p:nvPr/>
        </p:nvSpPr>
        <p:spPr>
          <a:xfrm>
            <a:off x="3721100" y="2019235"/>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Who has what</a:t>
            </a:r>
            <a:endParaRPr lang="en-US" sz="1800" dirty="0"/>
          </a:p>
        </p:txBody>
      </p:sp>
      <p:sp>
        <p:nvSpPr>
          <p:cNvPr id="11" name="Text 9"/>
          <p:cNvSpPr/>
          <p:nvPr/>
        </p:nvSpPr>
        <p:spPr>
          <a:xfrm>
            <a:off x="37211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List only the issued books and who has each one.</a:t>
            </a:r>
            <a:endParaRPr lang="en-US" sz="1500" dirty="0"/>
          </a:p>
        </p:txBody>
      </p:sp>
      <p:sp>
        <p:nvSpPr>
          <p:cNvPr id="12" name="Shape 10"/>
          <p:cNvSpPr/>
          <p:nvPr/>
        </p:nvSpPr>
        <p:spPr>
          <a:xfrm>
            <a:off x="6203950" y="1809685"/>
            <a:ext cx="2476500" cy="2252927"/>
          </a:xfrm>
          <a:prstGeom prst="roundRect">
            <a:avLst>
              <a:gd name="adj" fmla="val 5355"/>
            </a:avLst>
          </a:prstGeom>
          <a:solidFill>
            <a:srgbClr val="FBFCFE"/>
          </a:solidFill>
          <a:ln w="12700">
            <a:solidFill>
              <a:srgbClr val="C9D7E8"/>
            </a:solidFill>
            <a:prstDash val="solid"/>
          </a:ln>
        </p:spPr>
      </p:sp>
      <p:sp>
        <p:nvSpPr>
          <p:cNvPr id="13" name="Text 11"/>
          <p:cNvSpPr/>
          <p:nvPr/>
        </p:nvSpPr>
        <p:spPr>
          <a:xfrm>
            <a:off x="6413500" y="2019235"/>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Due date</a:t>
            </a:r>
            <a:endParaRPr lang="en-US" sz="1800" dirty="0"/>
          </a:p>
        </p:txBody>
      </p:sp>
      <p:sp>
        <p:nvSpPr>
          <p:cNvPr id="15" name="Text 13"/>
          <p:cNvSpPr/>
          <p:nvPr/>
        </p:nvSpPr>
        <p:spPr>
          <a:xfrm>
            <a:off x="64135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Store the issue date and show books kept longer than 14 days.</a:t>
            </a:r>
            <a:endParaRPr lang="en-US" sz="1500" dirty="0"/>
          </a:p>
        </p:txBody>
      </p:sp>
      <p:sp>
        <p:nvSpPr>
          <p:cNvPr id="16" name="Shape 14"/>
          <p:cNvSpPr/>
          <p:nvPr/>
        </p:nvSpPr>
        <p:spPr>
          <a:xfrm>
            <a:off x="8896350" y="1809685"/>
            <a:ext cx="2476500" cy="2252927"/>
          </a:xfrm>
          <a:prstGeom prst="roundRect">
            <a:avLst>
              <a:gd name="adj" fmla="val 5355"/>
            </a:avLst>
          </a:prstGeom>
          <a:solidFill>
            <a:srgbClr val="FBFCFE"/>
          </a:solidFill>
          <a:ln w="12700">
            <a:solidFill>
              <a:srgbClr val="C9D7E8"/>
            </a:solidFill>
            <a:prstDash val="solid"/>
          </a:ln>
        </p:spPr>
      </p:sp>
      <p:sp>
        <p:nvSpPr>
          <p:cNvPr id="17" name="Text 15"/>
          <p:cNvSpPr/>
          <p:nvPr/>
        </p:nvSpPr>
        <p:spPr>
          <a:xfrm>
            <a:off x="9105900" y="2019235"/>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ATM version</a:t>
            </a:r>
            <a:endParaRPr lang="en-US" sz="1800" dirty="0"/>
          </a:p>
        </p:txBody>
      </p:sp>
      <p:sp>
        <p:nvSpPr>
          <p:cNvPr id="19" name="Text 17"/>
          <p:cNvSpPr/>
          <p:nvPr/>
        </p:nvSpPr>
        <p:spPr>
          <a:xfrm>
            <a:off x="91059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Build the same structure for a bank: Account, Bank, accounts.csv, menu.</a:t>
            </a:r>
            <a:endParaRPr lang="en-US" sz="1500" dirty="0"/>
          </a:p>
        </p:txBody>
      </p:sp>
      <p:sp>
        <p:nvSpPr>
          <p:cNvPr id="20" name="Shape 18"/>
          <p:cNvSpPr/>
          <p:nvPr/>
        </p:nvSpPr>
        <p:spPr>
          <a:xfrm>
            <a:off x="812800" y="4322961"/>
            <a:ext cx="10566400" cy="622300"/>
          </a:xfrm>
          <a:prstGeom prst="roundRect">
            <a:avLst>
              <a:gd name="adj" fmla="val 20408"/>
            </a:avLst>
          </a:prstGeom>
          <a:solidFill>
            <a:srgbClr val="1B2A41"/>
          </a:solidFill>
          <a:ln/>
        </p:spPr>
      </p:sp>
      <p:sp>
        <p:nvSpPr>
          <p:cNvPr id="21" name="Text 19"/>
          <p:cNvSpPr/>
          <p:nvPr/>
        </p:nvSpPr>
        <p:spPr>
          <a:xfrm>
            <a:off x="1066800" y="4527420"/>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500761"/>
            <a:ext cx="896445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Classes</a:t>
            </a:r>
            <a:r>
              <a:rPr lang="en-US" sz="1500" dirty="0">
                <a:solidFill>
                  <a:srgbClr val="F7F5EF"/>
                </a:solidFill>
                <a:latin typeface="Rubik" pitchFamily="34" charset="0"/>
                <a:ea typeface="Rubik" pitchFamily="34" charset="-122"/>
                <a:cs typeface="Rubik" pitchFamily="34" charset="-120"/>
              </a:rPr>
              <a:t> · </a:t>
            </a:r>
            <a:r>
              <a:rPr lang="en-US" sz="1500" u="sng" dirty="0">
                <a:solidFill>
                  <a:srgbClr val="F2B33D"/>
                </a:solidFill>
                <a:latin typeface="Rubik" pitchFamily="34" charset="0"/>
                <a:ea typeface="Rubik" pitchFamily="34" charset="-122"/>
                <a:cs typeface="Rubik" pitchFamily="34" charset="-120"/>
                <a:hlinkClick r:id="rId2" invalidUrl="" action="" tgtFrame="" tooltip="" history="1" highlightClick="0" endSnd="0">
                  <a:extLst>
                    <a:ext uri="{A12FA001-AC4F-418D-AE19-62706E023703}">
                      <ahyp:hlinkClr xmlns:ahyp="http://schemas.microsoft.com/office/drawing/2018/hyperlinkcolor" val="tx"/>
                    </a:ext>
                  </a:extLst>
                </a:hlinkClick>
              </a:rPr>
              <a:t>File handling</a:t>
            </a:r>
            <a:r>
              <a:rPr lang="en-US" sz="1500" dirty="0">
                <a:solidFill>
                  <a:srgbClr val="F7F5EF"/>
                </a:solidFill>
                <a:latin typeface="Rubik" pitchFamily="34" charset="0"/>
                <a:ea typeface="Rubik" pitchFamily="34" charset="-122"/>
                <a:cs typeface="Rubik" pitchFamily="34" charset="-120"/>
              </a:rPr>
              <a:t> · and polish the project to show in the lab</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8 · Class 22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50448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23 OF 24</a:t>
            </a:r>
            <a:endParaRPr lang="en-US" sz="1200" dirty="0"/>
          </a:p>
        </p:txBody>
      </p:sp>
      <p:sp>
        <p:nvSpPr>
          <p:cNvPr id="3" name="Text 1"/>
          <p:cNvSpPr/>
          <p:nvPr>
            <p:ph type="title"/>
          </p:nvPr>
        </p:nvSpPr>
        <p:spPr>
          <a:xfrm>
            <a:off x="812800" y="2895600"/>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Exam revision</a:t>
            </a:r>
            <a:endParaRPr lang="en-US" sz="4800" dirty="0"/>
          </a:p>
        </p:txBody>
      </p:sp>
      <p:sp>
        <p:nvSpPr>
          <p:cNvPr id="4" name="Text 2"/>
          <p:cNvSpPr/>
          <p:nvPr/>
        </p:nvSpPr>
        <p:spPr>
          <a:xfrm>
            <a:off x="812800" y="3713429"/>
            <a:ext cx="5127752"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The programs and questions that come up again and again</a:t>
            </a:r>
            <a:endParaRPr lang="en-US" sz="1800" dirty="0"/>
          </a:p>
        </p:txBody>
      </p:sp>
      <p:sp>
        <p:nvSpPr>
          <p:cNvPr id="5" name="Shape 3"/>
          <p:cNvSpPr/>
          <p:nvPr/>
        </p:nvSpPr>
        <p:spPr>
          <a:xfrm>
            <a:off x="6400800" y="2098018"/>
            <a:ext cx="4978400" cy="2661907"/>
          </a:xfrm>
          <a:prstGeom prst="roundRect">
            <a:avLst>
              <a:gd name="adj" fmla="val 5725"/>
            </a:avLst>
          </a:prstGeom>
          <a:solidFill>
            <a:srgbClr val="1B2A41"/>
          </a:solidFill>
          <a:ln/>
        </p:spPr>
      </p:sp>
      <p:sp>
        <p:nvSpPr>
          <p:cNvPr id="6" name="Text 4"/>
          <p:cNvSpPr/>
          <p:nvPr/>
        </p:nvSpPr>
        <p:spPr>
          <a:xfrm>
            <a:off x="6756400" y="2453618"/>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List the must-know lab programs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Predict tricky outputs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Write bubble sort</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Write binary search</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Avoid the classic mistakes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23 · MUST-KNOW PROGRAMS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Can you write these from memory?</a:t>
            </a:r>
            <a:endParaRPr lang="en-US" sz="3200" dirty="0"/>
          </a:p>
        </p:txBody>
      </p:sp>
      <p:sp>
        <p:nvSpPr>
          <p:cNvPr id="4" name="Shape 2"/>
          <p:cNvSpPr/>
          <p:nvPr/>
        </p:nvSpPr>
        <p:spPr>
          <a:xfrm>
            <a:off x="819150" y="1860488"/>
            <a:ext cx="2476500" cy="2786327"/>
          </a:xfrm>
          <a:prstGeom prst="roundRect">
            <a:avLst>
              <a:gd name="adj" fmla="val 4872"/>
            </a:avLst>
          </a:prstGeom>
          <a:solidFill>
            <a:srgbClr val="FFFDF8"/>
          </a:solidFill>
          <a:ln w="12700">
            <a:solidFill>
              <a:srgbClr val="E2DED3"/>
            </a:solidFill>
            <a:prstDash val="solid"/>
          </a:ln>
        </p:spPr>
      </p:sp>
      <p:sp>
        <p:nvSpPr>
          <p:cNvPr id="5" name="Text 3"/>
          <p:cNvSpPr/>
          <p:nvPr/>
        </p:nvSpPr>
        <p:spPr>
          <a:xfrm>
            <a:off x="1028700" y="2070038"/>
            <a:ext cx="994701" cy="289520"/>
          </a:xfrm>
          <a:custGeom>
            <a:avLst/>
            <a:gdLst/>
            <a:ahLst/>
            <a:cxnLst/>
            <a:rect l="l" t="t" r="r" b="b"/>
            <a:pathLst>
              <a:path w="994701" h="289520">
                <a:moveTo>
                  <a:pt x="144760" y="0"/>
                </a:moveTo>
                <a:lnTo>
                  <a:pt x="849941" y="0"/>
                </a:lnTo>
                <a:arcTo hR="144760" wR="144760" stAng="16200000" swAng="5400000"/>
                <a:lnTo>
                  <a:pt x="99470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Weeks 1–2</a:t>
            </a:r>
            <a:endParaRPr lang="en-US" sz="1200" dirty="0"/>
          </a:p>
        </p:txBody>
      </p:sp>
      <p:sp>
        <p:nvSpPr>
          <p:cNvPr id="6" name="Text 4"/>
          <p:cNvSpPr/>
          <p:nvPr/>
        </p:nvSpPr>
        <p:spPr>
          <a:xfrm>
            <a:off x="10287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Basics and loops</a:t>
            </a:r>
            <a:endParaRPr lang="en-US" sz="1800" dirty="0"/>
          </a:p>
        </p:txBody>
      </p:sp>
      <p:sp>
        <p:nvSpPr>
          <p:cNvPr id="7" name="Text 5"/>
          <p:cNvSpPr/>
          <p:nvPr/>
        </p:nvSpPr>
        <p:spPr>
          <a:xfrm>
            <a:off x="1028700" y="2837061"/>
            <a:ext cx="2119122" cy="16256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Even/odd, largest of 3, leap year, factorial, reverse number, palindrome, Armstrong, prime, Fibonacci, patterns.</a:t>
            </a:r>
            <a:endParaRPr lang="en-US" sz="1500" dirty="0"/>
          </a:p>
        </p:txBody>
      </p:sp>
      <p:sp>
        <p:nvSpPr>
          <p:cNvPr id="8" name="Shape 6"/>
          <p:cNvSpPr/>
          <p:nvPr/>
        </p:nvSpPr>
        <p:spPr>
          <a:xfrm>
            <a:off x="3511550" y="1860488"/>
            <a:ext cx="2476500" cy="2786327"/>
          </a:xfrm>
          <a:prstGeom prst="roundRect">
            <a:avLst>
              <a:gd name="adj" fmla="val 4872"/>
            </a:avLst>
          </a:prstGeom>
          <a:solidFill>
            <a:srgbClr val="FFFDF8"/>
          </a:solidFill>
          <a:ln w="12700">
            <a:solidFill>
              <a:srgbClr val="E2DED3"/>
            </a:solidFill>
            <a:prstDash val="solid"/>
          </a:ln>
        </p:spPr>
      </p:sp>
      <p:sp>
        <p:nvSpPr>
          <p:cNvPr id="9" name="Text 7"/>
          <p:cNvSpPr/>
          <p:nvPr/>
        </p:nvSpPr>
        <p:spPr>
          <a:xfrm>
            <a:off x="3721100" y="2070038"/>
            <a:ext cx="1028237" cy="289520"/>
          </a:xfrm>
          <a:custGeom>
            <a:avLst/>
            <a:gdLst/>
            <a:ahLst/>
            <a:cxnLst/>
            <a:rect l="l" t="t" r="r" b="b"/>
            <a:pathLst>
              <a:path w="1028237" h="289520">
                <a:moveTo>
                  <a:pt x="144760" y="0"/>
                </a:moveTo>
                <a:lnTo>
                  <a:pt x="883477" y="0"/>
                </a:lnTo>
                <a:arcTo hR="144760" wR="144760" stAng="16200000" swAng="5400000"/>
                <a:lnTo>
                  <a:pt x="102823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Weeks 3–4</a:t>
            </a:r>
            <a:endParaRPr lang="en-US" sz="1200" dirty="0"/>
          </a:p>
        </p:txBody>
      </p:sp>
      <p:sp>
        <p:nvSpPr>
          <p:cNvPr id="10" name="Text 8"/>
          <p:cNvSpPr/>
          <p:nvPr/>
        </p:nvSpPr>
        <p:spPr>
          <a:xfrm>
            <a:off x="37211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Collections</a:t>
            </a:r>
            <a:endParaRPr lang="en-US" sz="1800" dirty="0"/>
          </a:p>
        </p:txBody>
      </p:sp>
      <p:sp>
        <p:nvSpPr>
          <p:cNvPr id="11" name="Text 9"/>
          <p:cNvSpPr/>
          <p:nvPr/>
        </p:nvSpPr>
        <p:spPr>
          <a:xfrm>
            <a:off x="3721100" y="2837061"/>
            <a:ext cx="2119122"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Count vowels, string palindrome, largest in list, second largest, matrix add, word frequency.</a:t>
            </a:r>
            <a:endParaRPr lang="en-US" sz="1500" dirty="0"/>
          </a:p>
        </p:txBody>
      </p:sp>
      <p:sp>
        <p:nvSpPr>
          <p:cNvPr id="12" name="Shape 10"/>
          <p:cNvSpPr/>
          <p:nvPr/>
        </p:nvSpPr>
        <p:spPr>
          <a:xfrm>
            <a:off x="6203950" y="1860488"/>
            <a:ext cx="2476500" cy="2786327"/>
          </a:xfrm>
          <a:prstGeom prst="roundRect">
            <a:avLst>
              <a:gd name="adj" fmla="val 4872"/>
            </a:avLst>
          </a:prstGeom>
          <a:solidFill>
            <a:srgbClr val="FFFDF8"/>
          </a:solidFill>
          <a:ln w="12700">
            <a:solidFill>
              <a:srgbClr val="E2DED3"/>
            </a:solidFill>
            <a:prstDash val="solid"/>
          </a:ln>
        </p:spPr>
      </p:sp>
      <p:sp>
        <p:nvSpPr>
          <p:cNvPr id="13" name="Text 11"/>
          <p:cNvSpPr/>
          <p:nvPr/>
        </p:nvSpPr>
        <p:spPr>
          <a:xfrm>
            <a:off x="6413500" y="2070038"/>
            <a:ext cx="1021556" cy="289520"/>
          </a:xfrm>
          <a:custGeom>
            <a:avLst/>
            <a:gdLst/>
            <a:ahLst/>
            <a:cxnLst/>
            <a:rect l="l" t="t" r="r" b="b"/>
            <a:pathLst>
              <a:path w="1021556" h="289520">
                <a:moveTo>
                  <a:pt x="144760" y="0"/>
                </a:moveTo>
                <a:lnTo>
                  <a:pt x="876796" y="0"/>
                </a:lnTo>
                <a:arcTo hR="144760" wR="144760" stAng="16200000" swAng="5400000"/>
                <a:lnTo>
                  <a:pt x="102155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Weeks 5–6</a:t>
            </a:r>
            <a:endParaRPr lang="en-US" sz="1200" dirty="0"/>
          </a:p>
        </p:txBody>
      </p:sp>
      <p:sp>
        <p:nvSpPr>
          <p:cNvPr id="14" name="Text 12"/>
          <p:cNvSpPr/>
          <p:nvPr/>
        </p:nvSpPr>
        <p:spPr>
          <a:xfrm>
            <a:off x="6413500" y="2461158"/>
            <a:ext cx="2119122" cy="574014"/>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Functions and files</a:t>
            </a:r>
            <a:endParaRPr lang="en-US" sz="1800" dirty="0"/>
          </a:p>
        </p:txBody>
      </p:sp>
      <p:sp>
        <p:nvSpPr>
          <p:cNvPr id="15" name="Text 13"/>
          <p:cNvSpPr/>
          <p:nvPr/>
        </p:nvSpPr>
        <p:spPr>
          <a:xfrm>
            <a:off x="6413500" y="3111370"/>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Recursive factorial and Fibonacci, GCD, count words in a file, CSV average.</a:t>
            </a:r>
            <a:endParaRPr lang="en-US" sz="1500" dirty="0"/>
          </a:p>
        </p:txBody>
      </p:sp>
      <p:sp>
        <p:nvSpPr>
          <p:cNvPr id="16" name="Shape 14"/>
          <p:cNvSpPr/>
          <p:nvPr/>
        </p:nvSpPr>
        <p:spPr>
          <a:xfrm>
            <a:off x="8896350" y="1860488"/>
            <a:ext cx="2476500" cy="2786327"/>
          </a:xfrm>
          <a:prstGeom prst="roundRect">
            <a:avLst>
              <a:gd name="adj" fmla="val 4872"/>
            </a:avLst>
          </a:prstGeom>
          <a:solidFill>
            <a:srgbClr val="FFFDF8"/>
          </a:solidFill>
          <a:ln w="12700">
            <a:solidFill>
              <a:srgbClr val="E2DED3"/>
            </a:solidFill>
            <a:prstDash val="solid"/>
          </a:ln>
        </p:spPr>
      </p:sp>
      <p:sp>
        <p:nvSpPr>
          <p:cNvPr id="17" name="Text 15"/>
          <p:cNvSpPr/>
          <p:nvPr/>
        </p:nvSpPr>
        <p:spPr>
          <a:xfrm>
            <a:off x="9105900" y="2070038"/>
            <a:ext cx="1010245" cy="289520"/>
          </a:xfrm>
          <a:custGeom>
            <a:avLst/>
            <a:gdLst/>
            <a:ahLst/>
            <a:cxnLst/>
            <a:rect l="l" t="t" r="r" b="b"/>
            <a:pathLst>
              <a:path w="1010245" h="289520">
                <a:moveTo>
                  <a:pt x="144760" y="0"/>
                </a:moveTo>
                <a:lnTo>
                  <a:pt x="865485" y="0"/>
                </a:lnTo>
                <a:arcTo hR="144760" wR="144760" stAng="16200000" swAng="5400000"/>
                <a:lnTo>
                  <a:pt x="1010245"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Weeks 7–8</a:t>
            </a:r>
            <a:endParaRPr lang="en-US" sz="1200" dirty="0"/>
          </a:p>
        </p:txBody>
      </p:sp>
      <p:sp>
        <p:nvSpPr>
          <p:cNvPr id="18" name="Text 16"/>
          <p:cNvSpPr/>
          <p:nvPr/>
        </p:nvSpPr>
        <p:spPr>
          <a:xfrm>
            <a:off x="91059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Errors and OOP</a:t>
            </a:r>
            <a:endParaRPr lang="en-US" sz="1800" dirty="0"/>
          </a:p>
        </p:txBody>
      </p:sp>
      <p:sp>
        <p:nvSpPr>
          <p:cNvPr id="19" name="Text 17"/>
          <p:cNvSpPr/>
          <p:nvPr/>
        </p:nvSpPr>
        <p:spPr>
          <a:xfrm>
            <a:off x="9105900" y="2837061"/>
            <a:ext cx="2119122"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Safe input, Student class, Bank account, inheritance with super(), sorting and searching.</a:t>
            </a:r>
            <a:endParaRPr lang="en-US" sz="15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8 · Class 23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23 · PREDICT THE OUTPUT</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What does each line print?</a:t>
            </a:r>
            <a:endParaRPr lang="en-US" sz="3200" dirty="0"/>
          </a:p>
        </p:txBody>
      </p:sp>
      <p:sp>
        <p:nvSpPr>
          <p:cNvPr id="4" name="Shape 2"/>
          <p:cNvSpPr/>
          <p:nvPr/>
        </p:nvSpPr>
        <p:spPr>
          <a:xfrm>
            <a:off x="812800" y="1854138"/>
            <a:ext cx="6126427" cy="391120"/>
          </a:xfrm>
          <a:prstGeom prst="roundRect">
            <a:avLst>
              <a:gd name="adj" fmla="val 22730"/>
            </a:avLst>
          </a:prstGeom>
          <a:solidFill>
            <a:srgbClr val="1B2A41"/>
          </a:solidFill>
          <a:ln/>
        </p:spPr>
      </p:sp>
      <p:sp>
        <p:nvSpPr>
          <p:cNvPr id="5" name="Text 3"/>
          <p:cNvSpPr/>
          <p:nvPr/>
        </p:nvSpPr>
        <p:spPr>
          <a:xfrm>
            <a:off x="990600" y="1943038"/>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CODE</a:t>
            </a:r>
            <a:endParaRPr lang="en-US" sz="1200" dirty="0"/>
          </a:p>
        </p:txBody>
      </p:sp>
      <p:sp>
        <p:nvSpPr>
          <p:cNvPr id="6" name="Text 4"/>
          <p:cNvSpPr/>
          <p:nvPr/>
        </p:nvSpPr>
        <p:spPr>
          <a:xfrm>
            <a:off x="4699000" y="1943038"/>
            <a:ext cx="21243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PRINTS</a:t>
            </a:r>
            <a:endParaRPr lang="en-US" sz="1200" dirty="0"/>
          </a:p>
        </p:txBody>
      </p:sp>
      <p:sp>
        <p:nvSpPr>
          <p:cNvPr id="7" name="Shape 5"/>
          <p:cNvSpPr/>
          <p:nvPr/>
        </p:nvSpPr>
        <p:spPr>
          <a:xfrm>
            <a:off x="812800" y="2696108"/>
            <a:ext cx="6126427" cy="0"/>
          </a:xfrm>
          <a:prstGeom prst="line">
            <a:avLst/>
          </a:prstGeom>
          <a:noFill/>
          <a:ln w="12700">
            <a:solidFill>
              <a:srgbClr val="D9DEE5"/>
            </a:solidFill>
            <a:prstDash val="solid"/>
          </a:ln>
        </p:spPr>
      </p:sp>
      <p:sp>
        <p:nvSpPr>
          <p:cNvPr id="8" name="Text 6"/>
          <p:cNvSpPr/>
          <p:nvPr/>
        </p:nvSpPr>
        <p:spPr>
          <a:xfrm>
            <a:off x="990600" y="2334158"/>
            <a:ext cx="36626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print(7 // 2, 7 % 2)</a:t>
            </a:r>
            <a:endParaRPr lang="en-US" sz="1500" dirty="0"/>
          </a:p>
        </p:txBody>
      </p:sp>
      <p:sp>
        <p:nvSpPr>
          <p:cNvPr id="9" name="Text 7"/>
          <p:cNvSpPr/>
          <p:nvPr/>
        </p:nvSpPr>
        <p:spPr>
          <a:xfrm>
            <a:off x="4699000" y="2334158"/>
            <a:ext cx="2124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3 1</a:t>
            </a:r>
            <a:endParaRPr lang="en-US" sz="1500" dirty="0"/>
          </a:p>
        </p:txBody>
      </p:sp>
      <p:sp>
        <p:nvSpPr>
          <p:cNvPr id="10" name="Shape 8"/>
          <p:cNvSpPr/>
          <p:nvPr/>
        </p:nvSpPr>
        <p:spPr>
          <a:xfrm>
            <a:off x="812800" y="3153308"/>
            <a:ext cx="6126427" cy="0"/>
          </a:xfrm>
          <a:prstGeom prst="line">
            <a:avLst/>
          </a:prstGeom>
          <a:noFill/>
          <a:ln w="12700">
            <a:solidFill>
              <a:srgbClr val="D9DEE5"/>
            </a:solidFill>
            <a:prstDash val="solid"/>
          </a:ln>
        </p:spPr>
      </p:sp>
      <p:sp>
        <p:nvSpPr>
          <p:cNvPr id="11" name="Text 9"/>
          <p:cNvSpPr/>
          <p:nvPr/>
        </p:nvSpPr>
        <p:spPr>
          <a:xfrm>
            <a:off x="990600" y="2791358"/>
            <a:ext cx="36626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print("Hi" * 2 + "!")</a:t>
            </a:r>
            <a:endParaRPr lang="en-US" sz="1500" dirty="0"/>
          </a:p>
        </p:txBody>
      </p:sp>
      <p:sp>
        <p:nvSpPr>
          <p:cNvPr id="12" name="Text 10"/>
          <p:cNvSpPr/>
          <p:nvPr/>
        </p:nvSpPr>
        <p:spPr>
          <a:xfrm>
            <a:off x="4699000" y="2791358"/>
            <a:ext cx="2124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HiHi!</a:t>
            </a:r>
            <a:endParaRPr lang="en-US" sz="1500" dirty="0"/>
          </a:p>
        </p:txBody>
      </p:sp>
      <p:sp>
        <p:nvSpPr>
          <p:cNvPr id="13" name="Shape 11"/>
          <p:cNvSpPr/>
          <p:nvPr/>
        </p:nvSpPr>
        <p:spPr>
          <a:xfrm>
            <a:off x="812800" y="3610508"/>
            <a:ext cx="6126427" cy="0"/>
          </a:xfrm>
          <a:prstGeom prst="line">
            <a:avLst/>
          </a:prstGeom>
          <a:noFill/>
          <a:ln w="12700">
            <a:solidFill>
              <a:srgbClr val="D9DEE5"/>
            </a:solidFill>
            <a:prstDash val="solid"/>
          </a:ln>
        </p:spPr>
      </p:sp>
      <p:sp>
        <p:nvSpPr>
          <p:cNvPr id="14" name="Text 12"/>
          <p:cNvSpPr/>
          <p:nvPr/>
        </p:nvSpPr>
        <p:spPr>
          <a:xfrm>
            <a:off x="990600" y="3248558"/>
            <a:ext cx="36626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print(list(range(2, 9, 3)))</a:t>
            </a:r>
            <a:endParaRPr lang="en-US" sz="1500" dirty="0"/>
          </a:p>
        </p:txBody>
      </p:sp>
      <p:sp>
        <p:nvSpPr>
          <p:cNvPr id="15" name="Text 13"/>
          <p:cNvSpPr/>
          <p:nvPr/>
        </p:nvSpPr>
        <p:spPr>
          <a:xfrm>
            <a:off x="4699000" y="3248558"/>
            <a:ext cx="2124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[2, 5, 8]</a:t>
            </a:r>
            <a:endParaRPr lang="en-US" sz="1500" dirty="0"/>
          </a:p>
        </p:txBody>
      </p:sp>
      <p:sp>
        <p:nvSpPr>
          <p:cNvPr id="16" name="Shape 14"/>
          <p:cNvSpPr/>
          <p:nvPr/>
        </p:nvSpPr>
        <p:spPr>
          <a:xfrm>
            <a:off x="812800" y="4067708"/>
            <a:ext cx="6126427" cy="0"/>
          </a:xfrm>
          <a:prstGeom prst="line">
            <a:avLst/>
          </a:prstGeom>
          <a:noFill/>
          <a:ln w="12700">
            <a:solidFill>
              <a:srgbClr val="D9DEE5"/>
            </a:solidFill>
            <a:prstDash val="solid"/>
          </a:ln>
        </p:spPr>
      </p:sp>
      <p:sp>
        <p:nvSpPr>
          <p:cNvPr id="17" name="Text 15"/>
          <p:cNvSpPr/>
          <p:nvPr/>
        </p:nvSpPr>
        <p:spPr>
          <a:xfrm>
            <a:off x="990600" y="3705758"/>
            <a:ext cx="36626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print("Python"[1:4])</a:t>
            </a:r>
            <a:endParaRPr lang="en-US" sz="1500" dirty="0"/>
          </a:p>
        </p:txBody>
      </p:sp>
      <p:sp>
        <p:nvSpPr>
          <p:cNvPr id="18" name="Text 16"/>
          <p:cNvSpPr/>
          <p:nvPr/>
        </p:nvSpPr>
        <p:spPr>
          <a:xfrm>
            <a:off x="4699000" y="3705758"/>
            <a:ext cx="2124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yth</a:t>
            </a:r>
            <a:endParaRPr lang="en-US" sz="1500" dirty="0"/>
          </a:p>
        </p:txBody>
      </p:sp>
      <p:sp>
        <p:nvSpPr>
          <p:cNvPr id="19" name="Shape 17"/>
          <p:cNvSpPr/>
          <p:nvPr/>
        </p:nvSpPr>
        <p:spPr>
          <a:xfrm>
            <a:off x="812800" y="4524908"/>
            <a:ext cx="6126427" cy="0"/>
          </a:xfrm>
          <a:prstGeom prst="line">
            <a:avLst/>
          </a:prstGeom>
          <a:noFill/>
          <a:ln w="12700">
            <a:solidFill>
              <a:srgbClr val="D9DEE5"/>
            </a:solidFill>
            <a:prstDash val="solid"/>
          </a:ln>
        </p:spPr>
      </p:sp>
      <p:sp>
        <p:nvSpPr>
          <p:cNvPr id="20" name="Text 18"/>
          <p:cNvSpPr/>
          <p:nvPr/>
        </p:nvSpPr>
        <p:spPr>
          <a:xfrm>
            <a:off x="990600" y="4162958"/>
            <a:ext cx="36626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print(len({1, 2, 2, 3}))</a:t>
            </a:r>
            <a:endParaRPr lang="en-US" sz="1500" dirty="0"/>
          </a:p>
        </p:txBody>
      </p:sp>
      <p:sp>
        <p:nvSpPr>
          <p:cNvPr id="21" name="Text 19"/>
          <p:cNvSpPr/>
          <p:nvPr/>
        </p:nvSpPr>
        <p:spPr>
          <a:xfrm>
            <a:off x="4699000" y="4162958"/>
            <a:ext cx="2124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3</a:t>
            </a:r>
            <a:endParaRPr lang="en-US" sz="1500" dirty="0"/>
          </a:p>
        </p:txBody>
      </p:sp>
      <p:sp>
        <p:nvSpPr>
          <p:cNvPr id="22" name="Shape 20"/>
          <p:cNvSpPr/>
          <p:nvPr/>
        </p:nvSpPr>
        <p:spPr>
          <a:xfrm>
            <a:off x="812800" y="4982108"/>
            <a:ext cx="6126427" cy="0"/>
          </a:xfrm>
          <a:prstGeom prst="line">
            <a:avLst/>
          </a:prstGeom>
          <a:noFill/>
          <a:ln w="12700">
            <a:solidFill>
              <a:srgbClr val="D9DEE5"/>
            </a:solidFill>
            <a:prstDash val="solid"/>
          </a:ln>
        </p:spPr>
      </p:sp>
      <p:sp>
        <p:nvSpPr>
          <p:cNvPr id="23" name="Text 21"/>
          <p:cNvSpPr/>
          <p:nvPr/>
        </p:nvSpPr>
        <p:spPr>
          <a:xfrm>
            <a:off x="990600" y="4620158"/>
            <a:ext cx="36626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print(bool(""), bool("0"))</a:t>
            </a:r>
            <a:endParaRPr lang="en-US" sz="1500" dirty="0"/>
          </a:p>
        </p:txBody>
      </p:sp>
      <p:sp>
        <p:nvSpPr>
          <p:cNvPr id="24" name="Text 22"/>
          <p:cNvSpPr/>
          <p:nvPr/>
        </p:nvSpPr>
        <p:spPr>
          <a:xfrm>
            <a:off x="4699000" y="4620158"/>
            <a:ext cx="2124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False True</a:t>
            </a:r>
            <a:endParaRPr lang="en-US" sz="1500" dirty="0"/>
          </a:p>
        </p:txBody>
      </p:sp>
      <p:sp>
        <p:nvSpPr>
          <p:cNvPr id="25" name="Shape 23"/>
          <p:cNvSpPr/>
          <p:nvPr/>
        </p:nvSpPr>
        <p:spPr>
          <a:xfrm>
            <a:off x="812800" y="5439308"/>
            <a:ext cx="6126427" cy="0"/>
          </a:xfrm>
          <a:prstGeom prst="line">
            <a:avLst/>
          </a:prstGeom>
          <a:noFill/>
          <a:ln w="12700">
            <a:solidFill>
              <a:srgbClr val="D9DEE5"/>
            </a:solidFill>
            <a:prstDash val="solid"/>
          </a:ln>
        </p:spPr>
      </p:sp>
      <p:sp>
        <p:nvSpPr>
          <p:cNvPr id="26" name="Text 24"/>
          <p:cNvSpPr/>
          <p:nvPr/>
        </p:nvSpPr>
        <p:spPr>
          <a:xfrm>
            <a:off x="990600" y="5077358"/>
            <a:ext cx="36626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print(10 / 5)</a:t>
            </a:r>
            <a:endParaRPr lang="en-US" sz="1500" dirty="0"/>
          </a:p>
        </p:txBody>
      </p:sp>
      <p:sp>
        <p:nvSpPr>
          <p:cNvPr id="27" name="Text 25"/>
          <p:cNvSpPr/>
          <p:nvPr/>
        </p:nvSpPr>
        <p:spPr>
          <a:xfrm>
            <a:off x="4699000" y="5077358"/>
            <a:ext cx="2124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2.0</a:t>
            </a:r>
            <a:endParaRPr lang="en-US" sz="1500" dirty="0"/>
          </a:p>
        </p:txBody>
      </p:sp>
      <p:sp>
        <p:nvSpPr>
          <p:cNvPr id="28" name="Text 26"/>
          <p:cNvSpPr/>
          <p:nvPr/>
        </p:nvSpPr>
        <p:spPr>
          <a:xfrm>
            <a:off x="7294828" y="1854138"/>
            <a:ext cx="4206836"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B2A41"/>
                </a:solidFill>
                <a:latin typeface="Rubik" pitchFamily="34" charset="0"/>
                <a:ea typeface="Rubik" pitchFamily="34" charset="-122"/>
                <a:cs typeface="Rubik" pitchFamily="34" charset="-120"/>
              </a:rPr>
              <a:t>Cover the right column and answer first.</a:t>
            </a:r>
            <a:endParaRPr lang="en-US" sz="1800" dirty="0"/>
          </a:p>
        </p:txBody>
      </p:sp>
      <p:sp>
        <p:nvSpPr>
          <p:cNvPr id="29" name="Text 27"/>
          <p:cNvSpPr/>
          <p:nvPr/>
        </p:nvSpPr>
        <p:spPr>
          <a:xfrm>
            <a:off x="7294828" y="2598279"/>
            <a:ext cx="4206836"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Rubik" pitchFamily="34" charset="0"/>
                <a:ea typeface="Rubik" pitchFamily="34" charset="-122"/>
                <a:cs typeface="Rubik" pitchFamily="34" charset="-120"/>
              </a:rPr>
              <a:t>These are exactly the kind of one-mark questions in theory exams.</a:t>
            </a:r>
            <a:endParaRPr lang="en-US" sz="1500" dirty="0"/>
          </a:p>
        </p:txBody>
      </p:sp>
      <p:sp>
        <p:nvSpPr>
          <p:cNvPr id="30" name="Shape 28"/>
          <p:cNvSpPr/>
          <p:nvPr/>
        </p:nvSpPr>
        <p:spPr>
          <a:xfrm>
            <a:off x="7294828" y="3296779"/>
            <a:ext cx="4084307" cy="787400"/>
          </a:xfrm>
          <a:prstGeom prst="roundRect">
            <a:avLst>
              <a:gd name="adj" fmla="val 11290"/>
            </a:avLst>
          </a:prstGeom>
          <a:solidFill>
            <a:srgbClr val="FBEFD5"/>
          </a:solidFill>
          <a:ln/>
        </p:spPr>
      </p:sp>
      <p:pic>
        <p:nvPicPr>
          <p:cNvPr id="31" name="Image 0" descr="Lightbulb">    </p:cNvPr>
          <p:cNvPicPr>
            <a:picLocks noChangeAspect="1"/>
          </p:cNvPicPr>
          <p:nvPr/>
        </p:nvPicPr>
        <p:blipFill>
          <a:blip r:embed="rId1"/>
          <a:srcRect l="-108" r="-108" t="0" b="0"/>
          <a:stretch/>
        </p:blipFill>
        <p:spPr>
          <a:xfrm>
            <a:off x="7472628" y="3538079"/>
            <a:ext cx="184547" cy="304800"/>
          </a:xfrm>
          <a:prstGeom prst="rect">
            <a:avLst/>
          </a:prstGeom>
        </p:spPr>
      </p:pic>
      <p:sp>
        <p:nvSpPr>
          <p:cNvPr id="32" name="Text 29"/>
          <p:cNvSpPr/>
          <p:nvPr/>
        </p:nvSpPr>
        <p:spPr>
          <a:xfrm>
            <a:off x="7784174" y="3423779"/>
            <a:ext cx="351967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When unsure, type it into the Python shell: it is the best teacher.</a:t>
            </a:r>
            <a:endParaRPr lang="en-US" sz="1500" dirty="0"/>
          </a:p>
        </p:txBody>
      </p:sp>
      <p:sp>
        <p:nvSpPr>
          <p:cNvPr id="33" name="Text 3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8 · Class 23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23 · BUBBLE SORT</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Bubble sort: the classic sorting algorithm</a:t>
            </a:r>
            <a:endParaRPr lang="en-US" sz="3200" dirty="0"/>
          </a:p>
        </p:txBody>
      </p:sp>
      <p:sp>
        <p:nvSpPr>
          <p:cNvPr id="4" name="Shape 2"/>
          <p:cNvSpPr/>
          <p:nvPr/>
        </p:nvSpPr>
        <p:spPr>
          <a:xfrm>
            <a:off x="812800" y="1854138"/>
            <a:ext cx="6916936" cy="2645370"/>
          </a:xfrm>
          <a:prstGeom prst="roundRect">
            <a:avLst>
              <a:gd name="adj" fmla="val 4801"/>
            </a:avLst>
          </a:prstGeom>
          <a:solidFill>
            <a:srgbClr val="1B2A41"/>
          </a:solidFill>
          <a:ln/>
        </p:spPr>
      </p:sp>
      <p:sp>
        <p:nvSpPr>
          <p:cNvPr id="5" name="Text 3"/>
          <p:cNvSpPr/>
          <p:nvPr/>
        </p:nvSpPr>
        <p:spPr>
          <a:xfrm>
            <a:off x="1066800" y="2031938"/>
            <a:ext cx="66012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bubble.py</a:t>
            </a:r>
            <a:endParaRPr lang="en-US" sz="1200" dirty="0"/>
          </a:p>
        </p:txBody>
      </p:sp>
      <p:sp>
        <p:nvSpPr>
          <p:cNvPr id="6" name="Text 4"/>
          <p:cNvSpPr/>
          <p:nvPr/>
        </p:nvSpPr>
        <p:spPr>
          <a:xfrm>
            <a:off x="1066800" y="2321458"/>
            <a:ext cx="6601204" cy="2025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nums = [64, 25, 12, 22, 11]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 = </a:t>
            </a:r>
            <a:r>
              <a:rPr lang="en-US" sz="1500" dirty="0">
                <a:solidFill>
                  <a:srgbClr val="F2B33D"/>
                </a:solidFill>
                <a:latin typeface="JetBrains Mono" pitchFamily="49" charset="0"/>
                <a:ea typeface="JetBrains Mono" pitchFamily="49" charset="-122"/>
                <a:cs typeface="JetBrains Mono" pitchFamily="49" charset="-120"/>
              </a:rPr>
              <a:t>len</a:t>
            </a:r>
            <a:r>
              <a:rPr lang="en-US" sz="1500" dirty="0">
                <a:solidFill>
                  <a:srgbClr val="E8EDF3"/>
                </a:solidFill>
                <a:latin typeface="JetBrains Mono" pitchFamily="49" charset="0"/>
                <a:ea typeface="JetBrains Mono" pitchFamily="49" charset="-122"/>
                <a:cs typeface="JetBrains Mono" pitchFamily="49" charset="-120"/>
              </a:rPr>
              <a:t>(nums)</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i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(n - 1):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j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(n - 1 - i):</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nums[j] &gt; nums[j + 1]: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nums[j], nums[j + 1] = nums[j + 1], nums[j]</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(nums)</a:t>
            </a:r>
            <a:endParaRPr lang="en-US" sz="1500" dirty="0"/>
          </a:p>
        </p:txBody>
      </p:sp>
      <p:sp>
        <p:nvSpPr>
          <p:cNvPr id="7" name="Shape 5"/>
          <p:cNvSpPr/>
          <p:nvPr/>
        </p:nvSpPr>
        <p:spPr>
          <a:xfrm>
            <a:off x="819150" y="4632858"/>
            <a:ext cx="6904236" cy="943570"/>
          </a:xfrm>
          <a:prstGeom prst="roundRect">
            <a:avLst>
              <a:gd name="adj" fmla="val 12787"/>
            </a:avLst>
          </a:prstGeom>
          <a:solidFill>
            <a:srgbClr val="FFFDF8"/>
          </a:solidFill>
          <a:ln w="12700">
            <a:solidFill>
              <a:srgbClr val="D9DEE5"/>
            </a:solidFill>
            <a:prstDash val="solid"/>
          </a:ln>
        </p:spPr>
      </p:sp>
      <p:sp>
        <p:nvSpPr>
          <p:cNvPr id="8" name="Text 6"/>
          <p:cNvSpPr/>
          <p:nvPr/>
        </p:nvSpPr>
        <p:spPr>
          <a:xfrm>
            <a:off x="1079500" y="4817008"/>
            <a:ext cx="657504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1079500" y="5106529"/>
            <a:ext cx="6575042"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[11, 12, 22, 25, 64]</a:t>
            </a:r>
            <a:endParaRPr lang="en-US" sz="1500" dirty="0"/>
          </a:p>
        </p:txBody>
      </p:sp>
      <p:sp>
        <p:nvSpPr>
          <p:cNvPr id="10" name="Text 8"/>
          <p:cNvSpPr/>
          <p:nvPr/>
        </p:nvSpPr>
        <p:spPr>
          <a:xfrm>
            <a:off x="8085336" y="1854138"/>
            <a:ext cx="3392612"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B2A41"/>
                </a:solidFill>
                <a:latin typeface="Rubik" pitchFamily="34" charset="0"/>
                <a:ea typeface="Rubik" pitchFamily="34" charset="-122"/>
                <a:cs typeface="Rubik" pitchFamily="34" charset="-120"/>
              </a:rPr>
              <a:t>Compare neighbours, swap if they are in the wrong order.</a:t>
            </a:r>
            <a:endParaRPr lang="en-US" sz="1800" dirty="0"/>
          </a:p>
        </p:txBody>
      </p:sp>
      <p:sp>
        <p:nvSpPr>
          <p:cNvPr id="11" name="Text 9"/>
          <p:cNvSpPr/>
          <p:nvPr/>
        </p:nvSpPr>
        <p:spPr>
          <a:xfrm>
            <a:off x="8085336" y="2598279"/>
            <a:ext cx="3392612"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Rubik" pitchFamily="34" charset="0"/>
                <a:ea typeface="Rubik" pitchFamily="34" charset="-122"/>
                <a:cs typeface="Rubik" pitchFamily="34" charset="-120"/>
              </a:rPr>
              <a:t>After each round the biggest number has "bubbled" to the end, so the next round can stop one place earlier.</a:t>
            </a:r>
            <a:endParaRPr lang="en-US" sz="15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8 · Class 23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23 · BINARY SEARCH</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Binary search: halve the list each time</a:t>
            </a:r>
            <a:endParaRPr lang="en-US" sz="3200" dirty="0"/>
          </a:p>
        </p:txBody>
      </p:sp>
      <p:sp>
        <p:nvSpPr>
          <p:cNvPr id="4" name="Shape 2"/>
          <p:cNvSpPr/>
          <p:nvPr/>
        </p:nvSpPr>
        <p:spPr>
          <a:xfrm>
            <a:off x="812800" y="1854138"/>
            <a:ext cx="6043083" cy="3788370"/>
          </a:xfrm>
          <a:prstGeom prst="roundRect">
            <a:avLst>
              <a:gd name="adj" fmla="val 3352"/>
            </a:avLst>
          </a:prstGeom>
          <a:solidFill>
            <a:srgbClr val="1B2A41"/>
          </a:solidFill>
          <a:ln/>
        </p:spPr>
      </p:sp>
      <p:sp>
        <p:nvSpPr>
          <p:cNvPr id="5" name="Text 3"/>
          <p:cNvSpPr/>
          <p:nvPr/>
        </p:nvSpPr>
        <p:spPr>
          <a:xfrm>
            <a:off x="1066800" y="2031938"/>
            <a:ext cx="57011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binary.py</a:t>
            </a:r>
            <a:endParaRPr lang="en-US" sz="1200" dirty="0"/>
          </a:p>
        </p:txBody>
      </p:sp>
      <p:sp>
        <p:nvSpPr>
          <p:cNvPr id="6" name="Text 4"/>
          <p:cNvSpPr/>
          <p:nvPr/>
        </p:nvSpPr>
        <p:spPr>
          <a:xfrm>
            <a:off x="1066800" y="2321458"/>
            <a:ext cx="5701136" cy="3168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binary_search(nums, target):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low, high = 0, </a:t>
            </a:r>
            <a:r>
              <a:rPr lang="en-US" sz="1500" dirty="0">
                <a:solidFill>
                  <a:srgbClr val="F2B33D"/>
                </a:solidFill>
                <a:latin typeface="JetBrains Mono" pitchFamily="49" charset="0"/>
                <a:ea typeface="JetBrains Mono" pitchFamily="49" charset="-122"/>
                <a:cs typeface="JetBrains Mono" pitchFamily="49" charset="-120"/>
              </a:rPr>
              <a:t>len</a:t>
            </a:r>
            <a:r>
              <a:rPr lang="en-US" sz="1500" dirty="0">
                <a:solidFill>
                  <a:srgbClr val="E8EDF3"/>
                </a:solidFill>
                <a:latin typeface="JetBrains Mono" pitchFamily="49" charset="0"/>
                <a:ea typeface="JetBrains Mono" pitchFamily="49" charset="-122"/>
                <a:cs typeface="JetBrains Mono" pitchFamily="49" charset="-120"/>
              </a:rPr>
              <a:t>(nums) - 1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while</a:t>
            </a:r>
            <a:r>
              <a:rPr lang="en-US" sz="1500" dirty="0">
                <a:solidFill>
                  <a:srgbClr val="E8EDF3"/>
                </a:solidFill>
                <a:latin typeface="JetBrains Mono" pitchFamily="49" charset="0"/>
                <a:ea typeface="JetBrains Mono" pitchFamily="49" charset="-122"/>
                <a:cs typeface="JetBrains Mono" pitchFamily="49" charset="-120"/>
              </a:rPr>
              <a:t> low &lt;= high:</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mid = (low + high) // 2</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nums[mid] == target: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mid</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elif</a:t>
            </a:r>
            <a:r>
              <a:rPr lang="en-US" sz="1500" dirty="0">
                <a:solidFill>
                  <a:srgbClr val="E8EDF3"/>
                </a:solidFill>
                <a:latin typeface="JetBrains Mono" pitchFamily="49" charset="0"/>
                <a:ea typeface="JetBrains Mono" pitchFamily="49" charset="-122"/>
                <a:cs typeface="JetBrains Mono" pitchFamily="49" charset="-120"/>
              </a:rPr>
              <a:t> nums[mid] &lt; target: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low = mid + 1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else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high = mid - 1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-1</a:t>
            </a:r>
            <a:endParaRPr lang="en-US" sz="1500" dirty="0"/>
          </a:p>
        </p:txBody>
      </p:sp>
      <p:sp>
        <p:nvSpPr>
          <p:cNvPr id="7" name="Shape 5"/>
          <p:cNvSpPr/>
          <p:nvPr/>
        </p:nvSpPr>
        <p:spPr>
          <a:xfrm>
            <a:off x="7211484" y="1854138"/>
            <a:ext cx="4167717" cy="1216620"/>
          </a:xfrm>
          <a:prstGeom prst="roundRect">
            <a:avLst>
              <a:gd name="adj" fmla="val 10439"/>
            </a:avLst>
          </a:prstGeom>
          <a:solidFill>
            <a:srgbClr val="1B2A41"/>
          </a:solidFill>
          <a:ln/>
        </p:spPr>
      </p:sp>
      <p:sp>
        <p:nvSpPr>
          <p:cNvPr id="8" name="Text 6"/>
          <p:cNvSpPr/>
          <p:nvPr/>
        </p:nvSpPr>
        <p:spPr>
          <a:xfrm>
            <a:off x="7465484" y="2031938"/>
            <a:ext cx="37695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use it</a:t>
            </a:r>
            <a:endParaRPr lang="en-US" sz="1200" dirty="0"/>
          </a:p>
        </p:txBody>
      </p:sp>
      <p:sp>
        <p:nvSpPr>
          <p:cNvPr id="9" name="Text 7"/>
          <p:cNvSpPr/>
          <p:nvPr/>
        </p:nvSpPr>
        <p:spPr>
          <a:xfrm>
            <a:off x="7465484" y="2321458"/>
            <a:ext cx="3769508"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nums = [11, 12, 22, 25, 64]</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(binary_search(nums, 25))</a:t>
            </a:r>
            <a:endParaRPr lang="en-US" sz="1500" dirty="0"/>
          </a:p>
        </p:txBody>
      </p:sp>
      <p:sp>
        <p:nvSpPr>
          <p:cNvPr id="10" name="Shape 8"/>
          <p:cNvSpPr/>
          <p:nvPr/>
        </p:nvSpPr>
        <p:spPr>
          <a:xfrm>
            <a:off x="7217834" y="3204108"/>
            <a:ext cx="4155017" cy="943570"/>
          </a:xfrm>
          <a:prstGeom prst="roundRect">
            <a:avLst>
              <a:gd name="adj" fmla="val 12787"/>
            </a:avLst>
          </a:prstGeom>
          <a:solidFill>
            <a:srgbClr val="FFFDF8"/>
          </a:solidFill>
          <a:ln w="12700">
            <a:solidFill>
              <a:srgbClr val="D9DEE5"/>
            </a:solidFill>
            <a:prstDash val="solid"/>
          </a:ln>
        </p:spPr>
      </p:sp>
      <p:sp>
        <p:nvSpPr>
          <p:cNvPr id="11" name="Text 9"/>
          <p:cNvSpPr/>
          <p:nvPr/>
        </p:nvSpPr>
        <p:spPr>
          <a:xfrm>
            <a:off x="7478184" y="3388258"/>
            <a:ext cx="374334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12" name="Text 10"/>
          <p:cNvSpPr/>
          <p:nvPr/>
        </p:nvSpPr>
        <p:spPr>
          <a:xfrm>
            <a:off x="7478184" y="3677779"/>
            <a:ext cx="3743346"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3</a:t>
            </a:r>
            <a:endParaRPr lang="en-US" sz="1500" dirty="0"/>
          </a:p>
        </p:txBody>
      </p:sp>
      <p:sp>
        <p:nvSpPr>
          <p:cNvPr id="13" name="Shape 11"/>
          <p:cNvSpPr/>
          <p:nvPr/>
        </p:nvSpPr>
        <p:spPr>
          <a:xfrm>
            <a:off x="7217834" y="4287379"/>
            <a:ext cx="4155017" cy="571500"/>
          </a:xfrm>
          <a:prstGeom prst="roundRect">
            <a:avLst>
              <a:gd name="adj" fmla="val 14444"/>
            </a:avLst>
          </a:prstGeom>
          <a:solidFill>
            <a:srgbClr val="FFFDF8"/>
          </a:solidFill>
          <a:ln w="12700">
            <a:solidFill>
              <a:srgbClr val="B54708"/>
            </a:solidFill>
            <a:prstDash val="solid"/>
          </a:ln>
        </p:spPr>
      </p:sp>
      <p:pic>
        <p:nvPicPr>
          <p:cNvPr id="14" name="Image 0" descr="Warning">    </p:cNvPr>
          <p:cNvPicPr>
            <a:picLocks noChangeAspect="1"/>
          </p:cNvPicPr>
          <p:nvPr/>
        </p:nvPicPr>
        <p:blipFill>
          <a:blip r:embed="rId1"/>
          <a:srcRect l="0" r="0" t="0" b="0"/>
          <a:stretch/>
        </p:blipFill>
        <p:spPr>
          <a:xfrm>
            <a:off x="7401984" y="4420729"/>
            <a:ext cx="304800" cy="304800"/>
          </a:xfrm>
          <a:prstGeom prst="rect">
            <a:avLst/>
          </a:prstGeom>
        </p:spPr>
      </p:pic>
      <p:sp>
        <p:nvSpPr>
          <p:cNvPr id="15" name="Text 12"/>
          <p:cNvSpPr/>
          <p:nvPr/>
        </p:nvSpPr>
        <p:spPr>
          <a:xfrm>
            <a:off x="7833784" y="4439779"/>
            <a:ext cx="288075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Works only on a </a:t>
            </a:r>
            <a:r>
              <a:rPr lang="en-US" sz="1500" b="1" dirty="0">
                <a:solidFill>
                  <a:srgbClr val="1B2A41"/>
                </a:solidFill>
                <a:latin typeface="Rubik" pitchFamily="34" charset="0"/>
                <a:ea typeface="Rubik" pitchFamily="34" charset="-122"/>
                <a:cs typeface="Rubik" pitchFamily="34" charset="-120"/>
              </a:rPr>
              <a:t>sorted</a:t>
            </a:r>
            <a:r>
              <a:rPr lang="en-US" sz="1500" dirty="0">
                <a:solidFill>
                  <a:srgbClr val="1B2A41"/>
                </a:solidFill>
                <a:latin typeface="Rubik" pitchFamily="34" charset="0"/>
                <a:ea typeface="Rubik" pitchFamily="34" charset="-122"/>
                <a:cs typeface="Rubik" pitchFamily="34" charset="-120"/>
              </a:rPr>
              <a:t> list.</a:t>
            </a:r>
            <a:endParaRPr lang="en-US" sz="15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8 · Class 23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23 · COMMON MISTAKES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Mistakes that cost marks</a:t>
            </a:r>
            <a:endParaRPr lang="en-US" sz="3200" dirty="0"/>
          </a:p>
        </p:txBody>
      </p:sp>
      <p:sp>
        <p:nvSpPr>
          <p:cNvPr id="4" name="Shape 2"/>
          <p:cNvSpPr/>
          <p:nvPr/>
        </p:nvSpPr>
        <p:spPr>
          <a:xfrm>
            <a:off x="819150" y="1860488"/>
            <a:ext cx="5168900" cy="1328407"/>
          </a:xfrm>
          <a:prstGeom prst="roundRect">
            <a:avLst>
              <a:gd name="adj" fmla="val 9082"/>
            </a:avLst>
          </a:prstGeom>
          <a:solidFill>
            <a:srgbClr val="FFFDF8"/>
          </a:solidFill>
          <a:ln w="12700">
            <a:solidFill>
              <a:srgbClr val="E2DED3"/>
            </a:solidFill>
            <a:prstDash val="solid"/>
          </a:ln>
        </p:spPr>
      </p:sp>
      <p:sp>
        <p:nvSpPr>
          <p:cNvPr id="5" name="Text 3"/>
          <p:cNvSpPr/>
          <p:nvPr/>
        </p:nvSpPr>
        <p:spPr>
          <a:xfrm>
            <a:off x="10287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 vs ==</a:t>
            </a:r>
            <a:endParaRPr lang="en-US" sz="1800" dirty="0"/>
          </a:p>
        </p:txBody>
      </p:sp>
      <p:sp>
        <p:nvSpPr>
          <p:cNvPr id="6" name="Text 4"/>
          <p:cNvSpPr/>
          <p:nvPr/>
        </p:nvSpPr>
        <p:spPr>
          <a:xfrm>
            <a:off x="1028700" y="2445941"/>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Rubik" pitchFamily="34" charset="0"/>
                <a:ea typeface="Rubik" pitchFamily="34" charset="-122"/>
                <a:cs typeface="Rubik" pitchFamily="34" charset="-120"/>
              </a:rPr>
              <a:t>=</a:t>
            </a:r>
            <a:r>
              <a:rPr lang="en-US" sz="1500" dirty="0">
                <a:solidFill>
                  <a:srgbClr val="4A5568"/>
                </a:solidFill>
                <a:latin typeface="Rubik" pitchFamily="34" charset="0"/>
                <a:ea typeface="Rubik" pitchFamily="34" charset="-122"/>
                <a:cs typeface="Rubik" pitchFamily="34" charset="-120"/>
              </a:rPr>
              <a:t> stores a value, </a:t>
            </a:r>
            <a:r>
              <a:rPr lang="en-US" sz="1500" dirty="0">
                <a:solidFill>
                  <a:srgbClr val="2A64A3"/>
                </a:solidFill>
                <a:latin typeface="Rubik" pitchFamily="34" charset="0"/>
                <a:ea typeface="Rubik" pitchFamily="34" charset="-122"/>
                <a:cs typeface="Rubik" pitchFamily="34" charset="-120"/>
              </a:rPr>
              <a:t>==</a:t>
            </a:r>
            <a:r>
              <a:rPr lang="en-US" sz="1500" dirty="0">
                <a:solidFill>
                  <a:srgbClr val="4A5568"/>
                </a:solidFill>
                <a:latin typeface="Rubik" pitchFamily="34" charset="0"/>
                <a:ea typeface="Rubik" pitchFamily="34" charset="-122"/>
                <a:cs typeface="Rubik" pitchFamily="34" charset="-120"/>
              </a:rPr>
              <a:t> compares. </a:t>
            </a:r>
            <a:r>
              <a:rPr lang="en-US" sz="1500" dirty="0">
                <a:solidFill>
                  <a:srgbClr val="2A64A3"/>
                </a:solidFill>
                <a:latin typeface="Rubik" pitchFamily="34" charset="0"/>
                <a:ea typeface="Rubik" pitchFamily="34" charset="-122"/>
                <a:cs typeface="Rubik" pitchFamily="34" charset="-120"/>
              </a:rPr>
              <a:t>if x = 5:</a:t>
            </a:r>
            <a:r>
              <a:rPr lang="en-US" sz="1500" dirty="0">
                <a:solidFill>
                  <a:srgbClr val="4A5568"/>
                </a:solidFill>
                <a:latin typeface="Rubik" pitchFamily="34" charset="0"/>
                <a:ea typeface="Rubik" pitchFamily="34" charset="-122"/>
                <a:cs typeface="Rubik" pitchFamily="34" charset="-120"/>
              </a:rPr>
              <a:t> is a syntax error.</a:t>
            </a:r>
            <a:endParaRPr lang="en-US" sz="1500" dirty="0"/>
          </a:p>
        </p:txBody>
      </p:sp>
      <p:sp>
        <p:nvSpPr>
          <p:cNvPr id="7" name="Shape 5"/>
          <p:cNvSpPr/>
          <p:nvPr/>
        </p:nvSpPr>
        <p:spPr>
          <a:xfrm>
            <a:off x="6203950" y="1860488"/>
            <a:ext cx="5168900" cy="1328407"/>
          </a:xfrm>
          <a:prstGeom prst="roundRect">
            <a:avLst>
              <a:gd name="adj" fmla="val 9082"/>
            </a:avLst>
          </a:prstGeom>
          <a:solidFill>
            <a:srgbClr val="FFFDF8"/>
          </a:solidFill>
          <a:ln w="12700">
            <a:solidFill>
              <a:srgbClr val="E2DED3"/>
            </a:solidFill>
            <a:prstDash val="solid"/>
          </a:ln>
        </p:spPr>
      </p:sp>
      <p:sp>
        <p:nvSpPr>
          <p:cNvPr id="8" name="Text 6"/>
          <p:cNvSpPr/>
          <p:nvPr/>
        </p:nvSpPr>
        <p:spPr>
          <a:xfrm>
            <a:off x="64135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input() is text</a:t>
            </a:r>
            <a:endParaRPr lang="en-US" sz="1800" dirty="0"/>
          </a:p>
        </p:txBody>
      </p:sp>
      <p:sp>
        <p:nvSpPr>
          <p:cNvPr id="9" name="Text 7"/>
          <p:cNvSpPr/>
          <p:nvPr/>
        </p:nvSpPr>
        <p:spPr>
          <a:xfrm>
            <a:off x="6413500" y="2445941"/>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Convert with </a:t>
            </a:r>
            <a:r>
              <a:rPr lang="en-US" sz="1500" dirty="0">
                <a:solidFill>
                  <a:srgbClr val="2A64A3"/>
                </a:solidFill>
                <a:latin typeface="Rubik" pitchFamily="34" charset="0"/>
                <a:ea typeface="Rubik" pitchFamily="34" charset="-122"/>
                <a:cs typeface="Rubik" pitchFamily="34" charset="-120"/>
              </a:rPr>
              <a:t>int()</a:t>
            </a:r>
            <a:r>
              <a:rPr lang="en-US" sz="1500" dirty="0">
                <a:solidFill>
                  <a:srgbClr val="4A5568"/>
                </a:solidFill>
                <a:latin typeface="Rubik" pitchFamily="34" charset="0"/>
                <a:ea typeface="Rubik" pitchFamily="34" charset="-122"/>
                <a:cs typeface="Rubik" pitchFamily="34" charset="-120"/>
              </a:rPr>
              <a:t> or </a:t>
            </a:r>
            <a:r>
              <a:rPr lang="en-US" sz="1500" dirty="0">
                <a:solidFill>
                  <a:srgbClr val="2A64A3"/>
                </a:solidFill>
                <a:latin typeface="Rubik" pitchFamily="34" charset="0"/>
                <a:ea typeface="Rubik" pitchFamily="34" charset="-122"/>
                <a:cs typeface="Rubik" pitchFamily="34" charset="-120"/>
              </a:rPr>
              <a:t>float()</a:t>
            </a:r>
            <a:r>
              <a:rPr lang="en-US" sz="1500" dirty="0">
                <a:solidFill>
                  <a:srgbClr val="4A5568"/>
                </a:solidFill>
                <a:latin typeface="Rubik" pitchFamily="34" charset="0"/>
                <a:ea typeface="Rubik" pitchFamily="34" charset="-122"/>
                <a:cs typeface="Rubik" pitchFamily="34" charset="-120"/>
              </a:rPr>
              <a:t> before doing maths.</a:t>
            </a:r>
            <a:endParaRPr lang="en-US" sz="1500" dirty="0"/>
          </a:p>
        </p:txBody>
      </p:sp>
      <p:sp>
        <p:nvSpPr>
          <p:cNvPr id="10" name="Shape 8"/>
          <p:cNvSpPr/>
          <p:nvPr/>
        </p:nvSpPr>
        <p:spPr>
          <a:xfrm>
            <a:off x="819150" y="3404791"/>
            <a:ext cx="5168900" cy="1328407"/>
          </a:xfrm>
          <a:prstGeom prst="roundRect">
            <a:avLst>
              <a:gd name="adj" fmla="val 9082"/>
            </a:avLst>
          </a:prstGeom>
          <a:solidFill>
            <a:srgbClr val="FFFDF8"/>
          </a:solidFill>
          <a:ln w="12700">
            <a:solidFill>
              <a:srgbClr val="E2DED3"/>
            </a:solidFill>
            <a:prstDash val="solid"/>
          </a:ln>
        </p:spPr>
      </p:sp>
      <p:sp>
        <p:nvSpPr>
          <p:cNvPr id="11" name="Text 9"/>
          <p:cNvSpPr/>
          <p:nvPr/>
        </p:nvSpPr>
        <p:spPr>
          <a:xfrm>
            <a:off x="1028700" y="3614341"/>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range stops early</a:t>
            </a:r>
            <a:endParaRPr lang="en-US" sz="1800" dirty="0"/>
          </a:p>
        </p:txBody>
      </p:sp>
      <p:sp>
        <p:nvSpPr>
          <p:cNvPr id="12" name="Text 10"/>
          <p:cNvSpPr/>
          <p:nvPr/>
        </p:nvSpPr>
        <p:spPr>
          <a:xfrm>
            <a:off x="1028700" y="3990249"/>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Rubik" pitchFamily="34" charset="0"/>
                <a:ea typeface="Rubik" pitchFamily="34" charset="-122"/>
                <a:cs typeface="Rubik" pitchFamily="34" charset="-120"/>
              </a:rPr>
              <a:t>range(1, 10)</a:t>
            </a:r>
            <a:r>
              <a:rPr lang="en-US" sz="1500" dirty="0">
                <a:solidFill>
                  <a:srgbClr val="4A5568"/>
                </a:solidFill>
                <a:latin typeface="Rubik" pitchFamily="34" charset="0"/>
                <a:ea typeface="Rubik" pitchFamily="34" charset="-122"/>
                <a:cs typeface="Rubik" pitchFamily="34" charset="-120"/>
              </a:rPr>
              <a:t> ends at 9. Use </a:t>
            </a:r>
            <a:r>
              <a:rPr lang="en-US" sz="1500" dirty="0">
                <a:solidFill>
                  <a:srgbClr val="2A64A3"/>
                </a:solidFill>
                <a:latin typeface="Rubik" pitchFamily="34" charset="0"/>
                <a:ea typeface="Rubik" pitchFamily="34" charset="-122"/>
                <a:cs typeface="Rubik" pitchFamily="34" charset="-120"/>
              </a:rPr>
              <a:t>range(1, n + 1)</a:t>
            </a:r>
            <a:r>
              <a:rPr lang="en-US" sz="1500" dirty="0">
                <a:solidFill>
                  <a:srgbClr val="4A5568"/>
                </a:solidFill>
                <a:latin typeface="Rubik" pitchFamily="34" charset="0"/>
                <a:ea typeface="Rubik" pitchFamily="34" charset="-122"/>
                <a:cs typeface="Rubik" pitchFamily="34" charset="-120"/>
              </a:rPr>
              <a:t>.</a:t>
            </a:r>
            <a:endParaRPr lang="en-US" sz="1500" dirty="0"/>
          </a:p>
        </p:txBody>
      </p:sp>
      <p:sp>
        <p:nvSpPr>
          <p:cNvPr id="13" name="Shape 11"/>
          <p:cNvSpPr/>
          <p:nvPr/>
        </p:nvSpPr>
        <p:spPr>
          <a:xfrm>
            <a:off x="6203950" y="3404791"/>
            <a:ext cx="5168900" cy="1328407"/>
          </a:xfrm>
          <a:prstGeom prst="roundRect">
            <a:avLst>
              <a:gd name="adj" fmla="val 9082"/>
            </a:avLst>
          </a:prstGeom>
          <a:solidFill>
            <a:srgbClr val="FFFDF8"/>
          </a:solidFill>
          <a:ln w="12700">
            <a:solidFill>
              <a:srgbClr val="E2DED3"/>
            </a:solidFill>
            <a:prstDash val="solid"/>
          </a:ln>
        </p:spPr>
      </p:sp>
      <p:sp>
        <p:nvSpPr>
          <p:cNvPr id="14" name="Text 12"/>
          <p:cNvSpPr/>
          <p:nvPr/>
        </p:nvSpPr>
        <p:spPr>
          <a:xfrm>
            <a:off x="6413500" y="3614341"/>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print vs return</a:t>
            </a:r>
            <a:endParaRPr lang="en-US" sz="1800" dirty="0"/>
          </a:p>
        </p:txBody>
      </p:sp>
      <p:sp>
        <p:nvSpPr>
          <p:cNvPr id="15" name="Text 13"/>
          <p:cNvSpPr/>
          <p:nvPr/>
        </p:nvSpPr>
        <p:spPr>
          <a:xfrm>
            <a:off x="6413500" y="3990249"/>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A function that prints gives back None. Return what the caller needs.</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8 · Class 23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23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revision practice</a:t>
            </a:r>
            <a:endParaRPr lang="en-US" sz="3200" dirty="0"/>
          </a:p>
        </p:txBody>
      </p:sp>
      <p:sp>
        <p:nvSpPr>
          <p:cNvPr id="4" name="Shape 2"/>
          <p:cNvSpPr/>
          <p:nvPr/>
        </p:nvSpPr>
        <p:spPr>
          <a:xfrm>
            <a:off x="819150" y="1809688"/>
            <a:ext cx="2476500" cy="2252927"/>
          </a:xfrm>
          <a:prstGeom prst="roundRect">
            <a:avLst>
              <a:gd name="adj" fmla="val 5355"/>
            </a:avLst>
          </a:prstGeom>
          <a:solidFill>
            <a:srgbClr val="FBFCFE"/>
          </a:solidFill>
          <a:ln w="12700">
            <a:solidFill>
              <a:srgbClr val="C9D7E8"/>
            </a:solidFill>
            <a:prstDash val="solid"/>
          </a:ln>
        </p:spPr>
      </p:sp>
      <p:sp>
        <p:nvSpPr>
          <p:cNvPr id="5" name="Text 3"/>
          <p:cNvSpPr/>
          <p:nvPr/>
        </p:nvSpPr>
        <p:spPr>
          <a:xfrm>
            <a:off x="1028700" y="2019238"/>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From memory</a:t>
            </a:r>
            <a:endParaRPr lang="en-US" sz="1800" dirty="0"/>
          </a:p>
        </p:txBody>
      </p:sp>
      <p:sp>
        <p:nvSpPr>
          <p:cNvPr id="7" name="Text 5"/>
          <p:cNvSpPr/>
          <p:nvPr/>
        </p:nvSpPr>
        <p:spPr>
          <a:xfrm>
            <a:off x="10287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Write the Armstrong number and pyramid programs without notes. Time yourself.</a:t>
            </a:r>
            <a:endParaRPr lang="en-US" sz="1500" dirty="0"/>
          </a:p>
        </p:txBody>
      </p:sp>
      <p:sp>
        <p:nvSpPr>
          <p:cNvPr id="8" name="Shape 6"/>
          <p:cNvSpPr/>
          <p:nvPr/>
        </p:nvSpPr>
        <p:spPr>
          <a:xfrm>
            <a:off x="3511550" y="1809688"/>
            <a:ext cx="2476500" cy="2252927"/>
          </a:xfrm>
          <a:prstGeom prst="roundRect">
            <a:avLst>
              <a:gd name="adj" fmla="val 5355"/>
            </a:avLst>
          </a:prstGeom>
          <a:solidFill>
            <a:srgbClr val="FBFCFE"/>
          </a:solidFill>
          <a:ln w="12700">
            <a:solidFill>
              <a:srgbClr val="C9D7E8"/>
            </a:solidFill>
            <a:prstDash val="solid"/>
          </a:ln>
        </p:spPr>
      </p:sp>
      <p:sp>
        <p:nvSpPr>
          <p:cNvPr id="9" name="Text 7"/>
          <p:cNvSpPr/>
          <p:nvPr/>
        </p:nvSpPr>
        <p:spPr>
          <a:xfrm>
            <a:off x="3721100" y="2019238"/>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Selection sort</a:t>
            </a:r>
            <a:endParaRPr lang="en-US" sz="1800" dirty="0"/>
          </a:p>
        </p:txBody>
      </p:sp>
      <p:sp>
        <p:nvSpPr>
          <p:cNvPr id="11" name="Text 9"/>
          <p:cNvSpPr/>
          <p:nvPr/>
        </p:nvSpPr>
        <p:spPr>
          <a:xfrm>
            <a:off x="37211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Sort by finding the smallest and moving it to the front, round by round.</a:t>
            </a:r>
            <a:endParaRPr lang="en-US" sz="1500" dirty="0"/>
          </a:p>
        </p:txBody>
      </p:sp>
      <p:sp>
        <p:nvSpPr>
          <p:cNvPr id="12" name="Shape 10"/>
          <p:cNvSpPr/>
          <p:nvPr/>
        </p:nvSpPr>
        <p:spPr>
          <a:xfrm>
            <a:off x="6203950" y="1809688"/>
            <a:ext cx="2476500" cy="2252927"/>
          </a:xfrm>
          <a:prstGeom prst="roundRect">
            <a:avLst>
              <a:gd name="adj" fmla="val 5355"/>
            </a:avLst>
          </a:prstGeom>
          <a:solidFill>
            <a:srgbClr val="FBFCFE"/>
          </a:solidFill>
          <a:ln w="12700">
            <a:solidFill>
              <a:srgbClr val="C9D7E8"/>
            </a:solidFill>
            <a:prstDash val="solid"/>
          </a:ln>
        </p:spPr>
      </p:sp>
      <p:sp>
        <p:nvSpPr>
          <p:cNvPr id="13" name="Text 11"/>
          <p:cNvSpPr/>
          <p:nvPr/>
        </p:nvSpPr>
        <p:spPr>
          <a:xfrm>
            <a:off x="6413500" y="2019238"/>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Search count</a:t>
            </a:r>
            <a:endParaRPr lang="en-US" sz="1800" dirty="0"/>
          </a:p>
        </p:txBody>
      </p:sp>
      <p:sp>
        <p:nvSpPr>
          <p:cNvPr id="15" name="Text 13"/>
          <p:cNvSpPr/>
          <p:nvPr/>
        </p:nvSpPr>
        <p:spPr>
          <a:xfrm>
            <a:off x="64135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Count how many checks linear and binary search need to find 64.</a:t>
            </a:r>
            <a:endParaRPr lang="en-US" sz="1500" dirty="0"/>
          </a:p>
        </p:txBody>
      </p:sp>
      <p:sp>
        <p:nvSpPr>
          <p:cNvPr id="16" name="Shape 14"/>
          <p:cNvSpPr/>
          <p:nvPr/>
        </p:nvSpPr>
        <p:spPr>
          <a:xfrm>
            <a:off x="8896350" y="1809688"/>
            <a:ext cx="2476500" cy="2252927"/>
          </a:xfrm>
          <a:prstGeom prst="roundRect">
            <a:avLst>
              <a:gd name="adj" fmla="val 5355"/>
            </a:avLst>
          </a:prstGeom>
          <a:solidFill>
            <a:srgbClr val="FBFCFE"/>
          </a:solidFill>
          <a:ln w="12700">
            <a:solidFill>
              <a:srgbClr val="C9D7E8"/>
            </a:solidFill>
            <a:prstDash val="solid"/>
          </a:ln>
        </p:spPr>
      </p:sp>
      <p:sp>
        <p:nvSpPr>
          <p:cNvPr id="17" name="Text 15"/>
          <p:cNvSpPr/>
          <p:nvPr/>
        </p:nvSpPr>
        <p:spPr>
          <a:xfrm>
            <a:off x="9105900" y="2019238"/>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Output quiz</a:t>
            </a:r>
            <a:endParaRPr lang="en-US" sz="1800" dirty="0"/>
          </a:p>
        </p:txBody>
      </p:sp>
      <p:sp>
        <p:nvSpPr>
          <p:cNvPr id="19" name="Text 17"/>
          <p:cNvSpPr/>
          <p:nvPr/>
        </p:nvSpPr>
        <p:spPr>
          <a:xfrm>
            <a:off x="91059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Write 5 predict-the-output questions for a friend, with answers.</a:t>
            </a:r>
            <a:endParaRPr lang="en-US" sz="1500" dirty="0"/>
          </a:p>
        </p:txBody>
      </p:sp>
      <p:sp>
        <p:nvSpPr>
          <p:cNvPr id="20" name="Shape 18"/>
          <p:cNvSpPr/>
          <p:nvPr/>
        </p:nvSpPr>
        <p:spPr>
          <a:xfrm>
            <a:off x="812800" y="4322961"/>
            <a:ext cx="10566400" cy="622300"/>
          </a:xfrm>
          <a:prstGeom prst="roundRect">
            <a:avLst>
              <a:gd name="adj" fmla="val 20408"/>
            </a:avLst>
          </a:prstGeom>
          <a:solidFill>
            <a:srgbClr val="1B2A41"/>
          </a:solidFill>
          <a:ln/>
        </p:spPr>
      </p:sp>
      <p:sp>
        <p:nvSpPr>
          <p:cNvPr id="21" name="Text 19"/>
          <p:cNvSpPr/>
          <p:nvPr/>
        </p:nvSpPr>
        <p:spPr>
          <a:xfrm>
            <a:off x="1066800" y="4527420"/>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500761"/>
            <a:ext cx="54818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Python exercises</a:t>
            </a:r>
            <a:r>
              <a:rPr lang="en-US" sz="1500" dirty="0">
                <a:solidFill>
                  <a:srgbClr val="F7F5EF"/>
                </a:solidFill>
                <a:latin typeface="Rubik" pitchFamily="34" charset="0"/>
                <a:ea typeface="Rubik" pitchFamily="34" charset="-122"/>
                <a:cs typeface="Rubik" pitchFamily="34" charset="-120"/>
              </a:rPr>
              <a:t> · </a:t>
            </a:r>
            <a:r>
              <a:rPr lang="en-US" sz="1500" u="sng" dirty="0">
                <a:solidFill>
                  <a:srgbClr val="F2B33D"/>
                </a:solidFill>
                <a:latin typeface="Rubik" pitchFamily="34" charset="0"/>
                <a:ea typeface="Rubik" pitchFamily="34" charset="-122"/>
                <a:cs typeface="Rubik" pitchFamily="34" charset="-120"/>
                <a:hlinkClick r:id="rId2" invalidUrl="" action="" tgtFrame="" tooltip="" history="1" highlightClick="0" endSnd="0">
                  <a:extLst>
                    <a:ext uri="{A12FA001-AC4F-418D-AE19-62706E023703}">
                      <ahyp:hlinkClr xmlns:ahyp="http://schemas.microsoft.com/office/drawing/2018/hyperlinkcolor" val="tx"/>
                    </a:ext>
                  </a:extLst>
                </a:hlinkClick>
              </a:rPr>
              <a:t>Python quiz</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8 · Class 23</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50448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24 OF 24</a:t>
            </a:r>
            <a:endParaRPr lang="en-US" sz="1200" dirty="0"/>
          </a:p>
        </p:txBody>
      </p:sp>
      <p:sp>
        <p:nvSpPr>
          <p:cNvPr id="3" name="Text 1"/>
          <p:cNvSpPr/>
          <p:nvPr>
            <p:ph type="title"/>
          </p:nvPr>
        </p:nvSpPr>
        <p:spPr>
          <a:xfrm>
            <a:off x="812800" y="2895600"/>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Mock viva</a:t>
            </a:r>
            <a:endParaRPr lang="en-US" sz="4800" dirty="0"/>
          </a:p>
        </p:txBody>
      </p:sp>
      <p:sp>
        <p:nvSpPr>
          <p:cNvPr id="4" name="Text 2"/>
          <p:cNvSpPr/>
          <p:nvPr/>
        </p:nvSpPr>
        <p:spPr>
          <a:xfrm>
            <a:off x="812800" y="3713435"/>
            <a:ext cx="5127752"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Practise answering clearly, the way the examiner will ask</a:t>
            </a:r>
            <a:endParaRPr lang="en-US" sz="1800" dirty="0"/>
          </a:p>
        </p:txBody>
      </p:sp>
      <p:sp>
        <p:nvSpPr>
          <p:cNvPr id="5" name="Shape 3"/>
          <p:cNvSpPr/>
          <p:nvPr/>
        </p:nvSpPr>
        <p:spPr>
          <a:xfrm>
            <a:off x="6400800" y="2098018"/>
            <a:ext cx="4978400" cy="2661907"/>
          </a:xfrm>
          <a:prstGeom prst="roundRect">
            <a:avLst>
              <a:gd name="adj" fmla="val 5725"/>
            </a:avLst>
          </a:prstGeom>
          <a:solidFill>
            <a:srgbClr val="1B2A41"/>
          </a:solidFill>
          <a:ln/>
        </p:spPr>
      </p:sp>
      <p:sp>
        <p:nvSpPr>
          <p:cNvPr id="6" name="Text 4"/>
          <p:cNvSpPr/>
          <p:nvPr/>
        </p:nvSpPr>
        <p:spPr>
          <a:xfrm>
            <a:off x="6756400" y="2453618"/>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Answer basic Python questions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Explain functions and recursion</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Explain files, errors and OOP</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Follow lab-exam tips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Plan what to learn next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24 · VIVA ROUND 1</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Basics</a:t>
            </a:r>
            <a:endParaRPr lang="en-US" sz="3200" dirty="0"/>
          </a:p>
        </p:txBody>
      </p:sp>
      <p:sp>
        <p:nvSpPr>
          <p:cNvPr id="4" name="Shape 2"/>
          <p:cNvSpPr/>
          <p:nvPr/>
        </p:nvSpPr>
        <p:spPr>
          <a:xfrm>
            <a:off x="819150" y="1860488"/>
            <a:ext cx="5168900" cy="1328407"/>
          </a:xfrm>
          <a:prstGeom prst="roundRect">
            <a:avLst>
              <a:gd name="adj" fmla="val 9082"/>
            </a:avLst>
          </a:prstGeom>
          <a:solidFill>
            <a:srgbClr val="FFFDF8"/>
          </a:solidFill>
          <a:ln w="12700">
            <a:solidFill>
              <a:srgbClr val="E2DED3"/>
            </a:solidFill>
            <a:prstDash val="solid"/>
          </a:ln>
        </p:spPr>
      </p:sp>
      <p:sp>
        <p:nvSpPr>
          <p:cNvPr id="5" name="Text 3"/>
          <p:cNvSpPr/>
          <p:nvPr/>
        </p:nvSpPr>
        <p:spPr>
          <a:xfrm>
            <a:off x="10287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Is Python compiled or interpreted?</a:t>
            </a:r>
            <a:endParaRPr lang="en-US" sz="1800" dirty="0"/>
          </a:p>
        </p:txBody>
      </p:sp>
      <p:sp>
        <p:nvSpPr>
          <p:cNvPr id="6" name="Text 4"/>
          <p:cNvSpPr/>
          <p:nvPr/>
        </p:nvSpPr>
        <p:spPr>
          <a:xfrm>
            <a:off x="1028700" y="2445941"/>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Interpreted: it runs line by line (after turning code into bytecode).</a:t>
            </a:r>
            <a:endParaRPr lang="en-US" sz="1500" dirty="0"/>
          </a:p>
        </p:txBody>
      </p:sp>
      <p:sp>
        <p:nvSpPr>
          <p:cNvPr id="7" name="Shape 5"/>
          <p:cNvSpPr/>
          <p:nvPr/>
        </p:nvSpPr>
        <p:spPr>
          <a:xfrm>
            <a:off x="6203950" y="1860488"/>
            <a:ext cx="5168900" cy="1328407"/>
          </a:xfrm>
          <a:prstGeom prst="roundRect">
            <a:avLst>
              <a:gd name="adj" fmla="val 9082"/>
            </a:avLst>
          </a:prstGeom>
          <a:solidFill>
            <a:srgbClr val="FFFDF8"/>
          </a:solidFill>
          <a:ln w="12700">
            <a:solidFill>
              <a:srgbClr val="E2DED3"/>
            </a:solidFill>
            <a:prstDash val="solid"/>
          </a:ln>
        </p:spPr>
      </p:sp>
      <p:sp>
        <p:nvSpPr>
          <p:cNvPr id="8" name="Text 6"/>
          <p:cNvSpPr/>
          <p:nvPr/>
        </p:nvSpPr>
        <p:spPr>
          <a:xfrm>
            <a:off x="64135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Mutable vs immutable?</a:t>
            </a:r>
            <a:endParaRPr lang="en-US" sz="1800" dirty="0"/>
          </a:p>
        </p:txBody>
      </p:sp>
      <p:sp>
        <p:nvSpPr>
          <p:cNvPr id="9" name="Text 7"/>
          <p:cNvSpPr/>
          <p:nvPr/>
        </p:nvSpPr>
        <p:spPr>
          <a:xfrm>
            <a:off x="6413500" y="2445941"/>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Mutable can change in place (list, dict, set). Immutable cannot (int, str, tuple).</a:t>
            </a:r>
            <a:endParaRPr lang="en-US" sz="1500" dirty="0"/>
          </a:p>
        </p:txBody>
      </p:sp>
      <p:sp>
        <p:nvSpPr>
          <p:cNvPr id="10" name="Shape 8"/>
          <p:cNvSpPr/>
          <p:nvPr/>
        </p:nvSpPr>
        <p:spPr>
          <a:xfrm>
            <a:off x="819150" y="3404791"/>
            <a:ext cx="5168900" cy="1328407"/>
          </a:xfrm>
          <a:prstGeom prst="roundRect">
            <a:avLst>
              <a:gd name="adj" fmla="val 9082"/>
            </a:avLst>
          </a:prstGeom>
          <a:solidFill>
            <a:srgbClr val="FFFDF8"/>
          </a:solidFill>
          <a:ln w="12700">
            <a:solidFill>
              <a:srgbClr val="E2DED3"/>
            </a:solidFill>
            <a:prstDash val="solid"/>
          </a:ln>
        </p:spPr>
      </p:sp>
      <p:sp>
        <p:nvSpPr>
          <p:cNvPr id="11" name="Text 9"/>
          <p:cNvSpPr/>
          <p:nvPr/>
        </p:nvSpPr>
        <p:spPr>
          <a:xfrm>
            <a:off x="1028700" y="3614341"/>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List vs tuple?</a:t>
            </a:r>
            <a:endParaRPr lang="en-US" sz="1800" dirty="0"/>
          </a:p>
        </p:txBody>
      </p:sp>
      <p:sp>
        <p:nvSpPr>
          <p:cNvPr id="12" name="Text 10"/>
          <p:cNvSpPr/>
          <p:nvPr/>
        </p:nvSpPr>
        <p:spPr>
          <a:xfrm>
            <a:off x="1028700" y="3990256"/>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List: [ ], can change. Tuple: ( ), fixed, a bit faster, can be a dict key.</a:t>
            </a:r>
            <a:endParaRPr lang="en-US" sz="1500" dirty="0"/>
          </a:p>
        </p:txBody>
      </p:sp>
      <p:sp>
        <p:nvSpPr>
          <p:cNvPr id="13" name="Shape 11"/>
          <p:cNvSpPr/>
          <p:nvPr/>
        </p:nvSpPr>
        <p:spPr>
          <a:xfrm>
            <a:off x="6203950" y="3404791"/>
            <a:ext cx="5168900" cy="1328407"/>
          </a:xfrm>
          <a:prstGeom prst="roundRect">
            <a:avLst>
              <a:gd name="adj" fmla="val 9082"/>
            </a:avLst>
          </a:prstGeom>
          <a:solidFill>
            <a:srgbClr val="FFFDF8"/>
          </a:solidFill>
          <a:ln w="12700">
            <a:solidFill>
              <a:srgbClr val="E2DED3"/>
            </a:solidFill>
            <a:prstDash val="solid"/>
          </a:ln>
        </p:spPr>
      </p:sp>
      <p:sp>
        <p:nvSpPr>
          <p:cNvPr id="14" name="Text 12"/>
          <p:cNvSpPr/>
          <p:nvPr/>
        </p:nvSpPr>
        <p:spPr>
          <a:xfrm>
            <a:off x="6413500" y="3614341"/>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Why indentation?</a:t>
            </a:r>
            <a:endParaRPr lang="en-US" sz="1800" dirty="0"/>
          </a:p>
        </p:txBody>
      </p:sp>
      <p:sp>
        <p:nvSpPr>
          <p:cNvPr id="15" name="Text 13"/>
          <p:cNvSpPr/>
          <p:nvPr/>
        </p:nvSpPr>
        <p:spPr>
          <a:xfrm>
            <a:off x="6413500" y="3990256"/>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Python uses it to group lines into blocks, where C uses { }.</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8 · Class 24</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24 · VIVA ROUND 2</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Functions and collections</a:t>
            </a:r>
            <a:endParaRPr lang="en-US" sz="3200" dirty="0"/>
          </a:p>
        </p:txBody>
      </p:sp>
      <p:sp>
        <p:nvSpPr>
          <p:cNvPr id="4" name="Shape 2"/>
          <p:cNvSpPr/>
          <p:nvPr/>
        </p:nvSpPr>
        <p:spPr>
          <a:xfrm>
            <a:off x="819150" y="1860488"/>
            <a:ext cx="5168900" cy="1328407"/>
          </a:xfrm>
          <a:prstGeom prst="roundRect">
            <a:avLst>
              <a:gd name="adj" fmla="val 9082"/>
            </a:avLst>
          </a:prstGeom>
          <a:solidFill>
            <a:srgbClr val="FFFDF8"/>
          </a:solidFill>
          <a:ln w="12700">
            <a:solidFill>
              <a:srgbClr val="E2DED3"/>
            </a:solidFill>
            <a:prstDash val="solid"/>
          </a:ln>
        </p:spPr>
      </p:sp>
      <p:sp>
        <p:nvSpPr>
          <p:cNvPr id="5" name="Text 3"/>
          <p:cNvSpPr/>
          <p:nvPr/>
        </p:nvSpPr>
        <p:spPr>
          <a:xfrm>
            <a:off x="10287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Parameter vs argument?</a:t>
            </a:r>
            <a:endParaRPr lang="en-US" sz="1800" dirty="0"/>
          </a:p>
        </p:txBody>
      </p:sp>
      <p:sp>
        <p:nvSpPr>
          <p:cNvPr id="6" name="Text 4"/>
          <p:cNvSpPr/>
          <p:nvPr/>
        </p:nvSpPr>
        <p:spPr>
          <a:xfrm>
            <a:off x="1028700" y="2445941"/>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Parameter: the name in def. Argument: the value passed when calling.</a:t>
            </a:r>
            <a:endParaRPr lang="en-US" sz="1500" dirty="0"/>
          </a:p>
        </p:txBody>
      </p:sp>
      <p:sp>
        <p:nvSpPr>
          <p:cNvPr id="7" name="Shape 5"/>
          <p:cNvSpPr/>
          <p:nvPr/>
        </p:nvSpPr>
        <p:spPr>
          <a:xfrm>
            <a:off x="6203950" y="1860488"/>
            <a:ext cx="5168900" cy="1328407"/>
          </a:xfrm>
          <a:prstGeom prst="roundRect">
            <a:avLst>
              <a:gd name="adj" fmla="val 9082"/>
            </a:avLst>
          </a:prstGeom>
          <a:solidFill>
            <a:srgbClr val="FFFDF8"/>
          </a:solidFill>
          <a:ln w="12700">
            <a:solidFill>
              <a:srgbClr val="E2DED3"/>
            </a:solidFill>
            <a:prstDash val="solid"/>
          </a:ln>
        </p:spPr>
      </p:sp>
      <p:sp>
        <p:nvSpPr>
          <p:cNvPr id="8" name="Text 6"/>
          <p:cNvSpPr/>
          <p:nvPr/>
        </p:nvSpPr>
        <p:spPr>
          <a:xfrm>
            <a:off x="64135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What is recursion?</a:t>
            </a:r>
            <a:endParaRPr lang="en-US" sz="1800" dirty="0"/>
          </a:p>
        </p:txBody>
      </p:sp>
      <p:sp>
        <p:nvSpPr>
          <p:cNvPr id="9" name="Text 7"/>
          <p:cNvSpPr/>
          <p:nvPr/>
        </p:nvSpPr>
        <p:spPr>
          <a:xfrm>
            <a:off x="6413500" y="2445941"/>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A function calling itself. Needs a base case or it never stops.</a:t>
            </a:r>
            <a:endParaRPr lang="en-US" sz="1500" dirty="0"/>
          </a:p>
        </p:txBody>
      </p:sp>
      <p:sp>
        <p:nvSpPr>
          <p:cNvPr id="10" name="Shape 8"/>
          <p:cNvSpPr/>
          <p:nvPr/>
        </p:nvSpPr>
        <p:spPr>
          <a:xfrm>
            <a:off x="819150" y="3404791"/>
            <a:ext cx="5168900" cy="1328407"/>
          </a:xfrm>
          <a:prstGeom prst="roundRect">
            <a:avLst>
              <a:gd name="adj" fmla="val 9082"/>
            </a:avLst>
          </a:prstGeom>
          <a:solidFill>
            <a:srgbClr val="FFFDF8"/>
          </a:solidFill>
          <a:ln w="12700">
            <a:solidFill>
              <a:srgbClr val="E2DED3"/>
            </a:solidFill>
            <a:prstDash val="solid"/>
          </a:ln>
        </p:spPr>
      </p:sp>
      <p:sp>
        <p:nvSpPr>
          <p:cNvPr id="11" name="Text 9"/>
          <p:cNvSpPr/>
          <p:nvPr/>
        </p:nvSpPr>
        <p:spPr>
          <a:xfrm>
            <a:off x="1028700" y="3614341"/>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What is a lambda?</a:t>
            </a:r>
            <a:endParaRPr lang="en-US" sz="1800" dirty="0"/>
          </a:p>
        </p:txBody>
      </p:sp>
      <p:sp>
        <p:nvSpPr>
          <p:cNvPr id="12" name="Text 10"/>
          <p:cNvSpPr/>
          <p:nvPr/>
        </p:nvSpPr>
        <p:spPr>
          <a:xfrm>
            <a:off x="1028700" y="3990256"/>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A small one-line function with no name: </a:t>
            </a:r>
            <a:r>
              <a:rPr lang="en-US" sz="1500" dirty="0">
                <a:solidFill>
                  <a:srgbClr val="2A64A3"/>
                </a:solidFill>
                <a:latin typeface="Rubik" pitchFamily="34" charset="0"/>
                <a:ea typeface="Rubik" pitchFamily="34" charset="-122"/>
                <a:cs typeface="Rubik" pitchFamily="34" charset="-120"/>
              </a:rPr>
              <a:t>lambda x: x * 2</a:t>
            </a:r>
            <a:r>
              <a:rPr lang="en-US" sz="1500" dirty="0">
                <a:solidFill>
                  <a:srgbClr val="4A5568"/>
                </a:solidFill>
                <a:latin typeface="Rubik" pitchFamily="34" charset="0"/>
                <a:ea typeface="Rubik" pitchFamily="34" charset="-122"/>
                <a:cs typeface="Rubik" pitchFamily="34" charset="-120"/>
              </a:rPr>
              <a:t>.</a:t>
            </a:r>
            <a:endParaRPr lang="en-US" sz="1500" dirty="0"/>
          </a:p>
        </p:txBody>
      </p:sp>
      <p:sp>
        <p:nvSpPr>
          <p:cNvPr id="13" name="Shape 11"/>
          <p:cNvSpPr/>
          <p:nvPr/>
        </p:nvSpPr>
        <p:spPr>
          <a:xfrm>
            <a:off x="6203950" y="3404791"/>
            <a:ext cx="5168900" cy="1328407"/>
          </a:xfrm>
          <a:prstGeom prst="roundRect">
            <a:avLst>
              <a:gd name="adj" fmla="val 9082"/>
            </a:avLst>
          </a:prstGeom>
          <a:solidFill>
            <a:srgbClr val="FFFDF8"/>
          </a:solidFill>
          <a:ln w="12700">
            <a:solidFill>
              <a:srgbClr val="E2DED3"/>
            </a:solidFill>
            <a:prstDash val="solid"/>
          </a:ln>
        </p:spPr>
      </p:sp>
      <p:sp>
        <p:nvSpPr>
          <p:cNvPr id="14" name="Text 12"/>
          <p:cNvSpPr/>
          <p:nvPr/>
        </p:nvSpPr>
        <p:spPr>
          <a:xfrm>
            <a:off x="6413500" y="3614341"/>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What is a dictionary?</a:t>
            </a:r>
            <a:endParaRPr lang="en-US" sz="1800" dirty="0"/>
          </a:p>
        </p:txBody>
      </p:sp>
      <p:sp>
        <p:nvSpPr>
          <p:cNvPr id="15" name="Text 13"/>
          <p:cNvSpPr/>
          <p:nvPr/>
        </p:nvSpPr>
        <p:spPr>
          <a:xfrm>
            <a:off x="6413500" y="3990256"/>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Key–value pairs, looked up by key: </a:t>
            </a:r>
            <a:r>
              <a:rPr lang="en-US" sz="1500" dirty="0">
                <a:solidFill>
                  <a:srgbClr val="2A64A3"/>
                </a:solidFill>
                <a:latin typeface="Rubik" pitchFamily="34" charset="0"/>
                <a:ea typeface="Rubik" pitchFamily="34" charset="-122"/>
                <a:cs typeface="Rubik" pitchFamily="34" charset="-120"/>
              </a:rPr>
              <a:t>{"Puri": 3}</a:t>
            </a:r>
            <a:r>
              <a:rPr lang="en-US" sz="1500" dirty="0">
                <a:solidFill>
                  <a:srgbClr val="4A5568"/>
                </a:solidFill>
                <a:latin typeface="Rubik" pitchFamily="34" charset="0"/>
                <a:ea typeface="Rubik" pitchFamily="34" charset="-122"/>
                <a:cs typeface="Rubik" pitchFamily="34" charset="-120"/>
              </a:rPr>
              <a:t>.</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8 · Class 24</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24 · VIVA ROUND 3</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Files, errors and OOP</a:t>
            </a:r>
            <a:endParaRPr lang="en-US" sz="3200" dirty="0"/>
          </a:p>
        </p:txBody>
      </p:sp>
      <p:sp>
        <p:nvSpPr>
          <p:cNvPr id="4" name="Shape 2"/>
          <p:cNvSpPr/>
          <p:nvPr/>
        </p:nvSpPr>
        <p:spPr>
          <a:xfrm>
            <a:off x="819150" y="1860488"/>
            <a:ext cx="5168900" cy="1328407"/>
          </a:xfrm>
          <a:prstGeom prst="roundRect">
            <a:avLst>
              <a:gd name="adj" fmla="val 9082"/>
            </a:avLst>
          </a:prstGeom>
          <a:solidFill>
            <a:srgbClr val="FFFDF8"/>
          </a:solidFill>
          <a:ln w="12700">
            <a:solidFill>
              <a:srgbClr val="E2DED3"/>
            </a:solidFill>
            <a:prstDash val="solid"/>
          </a:ln>
        </p:spPr>
      </p:sp>
      <p:sp>
        <p:nvSpPr>
          <p:cNvPr id="5" name="Text 3"/>
          <p:cNvSpPr/>
          <p:nvPr/>
        </p:nvSpPr>
        <p:spPr>
          <a:xfrm>
            <a:off x="10287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Class vs object?</a:t>
            </a:r>
            <a:endParaRPr lang="en-US" sz="1800" dirty="0"/>
          </a:p>
        </p:txBody>
      </p:sp>
      <p:sp>
        <p:nvSpPr>
          <p:cNvPr id="6" name="Text 4"/>
          <p:cNvSpPr/>
          <p:nvPr/>
        </p:nvSpPr>
        <p:spPr>
          <a:xfrm>
            <a:off x="1028700" y="2445941"/>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Class: the blueprint. Object: one real instance made from it.</a:t>
            </a:r>
            <a:endParaRPr lang="en-US" sz="1500" dirty="0"/>
          </a:p>
        </p:txBody>
      </p:sp>
      <p:sp>
        <p:nvSpPr>
          <p:cNvPr id="7" name="Shape 5"/>
          <p:cNvSpPr/>
          <p:nvPr/>
        </p:nvSpPr>
        <p:spPr>
          <a:xfrm>
            <a:off x="6203950" y="1860488"/>
            <a:ext cx="5168900" cy="1328407"/>
          </a:xfrm>
          <a:prstGeom prst="roundRect">
            <a:avLst>
              <a:gd name="adj" fmla="val 9082"/>
            </a:avLst>
          </a:prstGeom>
          <a:solidFill>
            <a:srgbClr val="FFFDF8"/>
          </a:solidFill>
          <a:ln w="12700">
            <a:solidFill>
              <a:srgbClr val="E2DED3"/>
            </a:solidFill>
            <a:prstDash val="solid"/>
          </a:ln>
        </p:spPr>
      </p:sp>
      <p:sp>
        <p:nvSpPr>
          <p:cNvPr id="8" name="Text 6"/>
          <p:cNvSpPr/>
          <p:nvPr/>
        </p:nvSpPr>
        <p:spPr>
          <a:xfrm>
            <a:off x="64135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What is self?</a:t>
            </a:r>
            <a:endParaRPr lang="en-US" sz="1800" dirty="0"/>
          </a:p>
        </p:txBody>
      </p:sp>
      <p:sp>
        <p:nvSpPr>
          <p:cNvPr id="9" name="Text 7"/>
          <p:cNvSpPr/>
          <p:nvPr/>
        </p:nvSpPr>
        <p:spPr>
          <a:xfrm>
            <a:off x="6413500" y="2445941"/>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The object the method was called on.</a:t>
            </a:r>
            <a:endParaRPr lang="en-US" sz="1500" dirty="0"/>
          </a:p>
        </p:txBody>
      </p:sp>
      <p:sp>
        <p:nvSpPr>
          <p:cNvPr id="10" name="Shape 8"/>
          <p:cNvSpPr/>
          <p:nvPr/>
        </p:nvSpPr>
        <p:spPr>
          <a:xfrm>
            <a:off x="819150" y="3404791"/>
            <a:ext cx="5168900" cy="1328407"/>
          </a:xfrm>
          <a:prstGeom prst="roundRect">
            <a:avLst>
              <a:gd name="adj" fmla="val 9082"/>
            </a:avLst>
          </a:prstGeom>
          <a:solidFill>
            <a:srgbClr val="FFFDF8"/>
          </a:solidFill>
          <a:ln w="12700">
            <a:solidFill>
              <a:srgbClr val="E2DED3"/>
            </a:solidFill>
            <a:prstDash val="solid"/>
          </a:ln>
        </p:spPr>
      </p:sp>
      <p:sp>
        <p:nvSpPr>
          <p:cNvPr id="11" name="Text 9"/>
          <p:cNvSpPr/>
          <p:nvPr/>
        </p:nvSpPr>
        <p:spPr>
          <a:xfrm>
            <a:off x="1028700" y="3614341"/>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What is exception handling?</a:t>
            </a:r>
            <a:endParaRPr lang="en-US" sz="1800" dirty="0"/>
          </a:p>
        </p:txBody>
      </p:sp>
      <p:sp>
        <p:nvSpPr>
          <p:cNvPr id="12" name="Text 10"/>
          <p:cNvSpPr/>
          <p:nvPr/>
        </p:nvSpPr>
        <p:spPr>
          <a:xfrm>
            <a:off x="1028700" y="3990256"/>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Catching run-time errors with try/except so the program does not crash.</a:t>
            </a:r>
            <a:endParaRPr lang="en-US" sz="1500" dirty="0"/>
          </a:p>
        </p:txBody>
      </p:sp>
      <p:sp>
        <p:nvSpPr>
          <p:cNvPr id="13" name="Shape 11"/>
          <p:cNvSpPr/>
          <p:nvPr/>
        </p:nvSpPr>
        <p:spPr>
          <a:xfrm>
            <a:off x="6203950" y="3404791"/>
            <a:ext cx="5168900" cy="1328407"/>
          </a:xfrm>
          <a:prstGeom prst="roundRect">
            <a:avLst>
              <a:gd name="adj" fmla="val 9082"/>
            </a:avLst>
          </a:prstGeom>
          <a:solidFill>
            <a:srgbClr val="FFFDF8"/>
          </a:solidFill>
          <a:ln w="12700">
            <a:solidFill>
              <a:srgbClr val="E2DED3"/>
            </a:solidFill>
            <a:prstDash val="solid"/>
          </a:ln>
        </p:spPr>
      </p:sp>
      <p:sp>
        <p:nvSpPr>
          <p:cNvPr id="14" name="Text 12"/>
          <p:cNvSpPr/>
          <p:nvPr/>
        </p:nvSpPr>
        <p:spPr>
          <a:xfrm>
            <a:off x="6413500" y="3614341"/>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 vs a file modes?</a:t>
            </a:r>
            <a:endParaRPr lang="en-US" sz="1800" dirty="0"/>
          </a:p>
        </p:txBody>
      </p:sp>
      <p:sp>
        <p:nvSpPr>
          <p:cNvPr id="15" name="Text 13"/>
          <p:cNvSpPr/>
          <p:nvPr/>
        </p:nvSpPr>
        <p:spPr>
          <a:xfrm>
            <a:off x="6413500" y="3990256"/>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w erases and writes fresh. a adds to the end and keeps old data.</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8 · Class 24</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24 · LAB EXAM TIPS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In the lab exam</a:t>
            </a:r>
            <a:endParaRPr lang="en-US" sz="3200" dirty="0"/>
          </a:p>
        </p:txBody>
      </p:sp>
      <p:sp>
        <p:nvSpPr>
          <p:cNvPr id="4" name="Shape 2"/>
          <p:cNvSpPr/>
          <p:nvPr/>
        </p:nvSpPr>
        <p:spPr>
          <a:xfrm>
            <a:off x="819150" y="1860488"/>
            <a:ext cx="2476500" cy="1986227"/>
          </a:xfrm>
          <a:prstGeom prst="roundRect">
            <a:avLst>
              <a:gd name="adj" fmla="val 6074"/>
            </a:avLst>
          </a:prstGeom>
          <a:solidFill>
            <a:srgbClr val="FFFDF8"/>
          </a:solidFill>
          <a:ln w="12700">
            <a:solidFill>
              <a:srgbClr val="E2DED3"/>
            </a:solidFill>
            <a:prstDash val="solid"/>
          </a:ln>
        </p:spPr>
      </p:sp>
      <p:sp>
        <p:nvSpPr>
          <p:cNvPr id="5" name="Text 3"/>
          <p:cNvSpPr/>
          <p:nvPr/>
        </p:nvSpPr>
        <p:spPr>
          <a:xfrm>
            <a:off x="1028700" y="2070038"/>
            <a:ext cx="304403" cy="289520"/>
          </a:xfrm>
          <a:custGeom>
            <a:avLst/>
            <a:gdLst/>
            <a:ahLst/>
            <a:cxnLst/>
            <a:rect l="l" t="t" r="r" b="b"/>
            <a:pathLst>
              <a:path w="304403" h="289520">
                <a:moveTo>
                  <a:pt x="144760" y="0"/>
                </a:moveTo>
                <a:lnTo>
                  <a:pt x="159643" y="0"/>
                </a:lnTo>
                <a:arcTo hR="144760" wR="144760" stAng="16200000" swAng="5400000"/>
                <a:lnTo>
                  <a:pt x="304403"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1</a:t>
            </a:r>
            <a:endParaRPr lang="en-US" sz="1200" dirty="0"/>
          </a:p>
        </p:txBody>
      </p:sp>
      <p:sp>
        <p:nvSpPr>
          <p:cNvPr id="6" name="Text 4"/>
          <p:cNvSpPr/>
          <p:nvPr/>
        </p:nvSpPr>
        <p:spPr>
          <a:xfrm>
            <a:off x="10287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Read twice</a:t>
            </a:r>
            <a:endParaRPr lang="en-US" sz="1800" dirty="0"/>
          </a:p>
        </p:txBody>
      </p:sp>
      <p:sp>
        <p:nvSpPr>
          <p:cNvPr id="7" name="Text 5"/>
          <p:cNvSpPr/>
          <p:nvPr/>
        </p:nvSpPr>
        <p:spPr>
          <a:xfrm>
            <a:off x="1028700" y="28370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Underline the inputs and outputs the question asks for.</a:t>
            </a:r>
            <a:endParaRPr lang="en-US" sz="1500" dirty="0"/>
          </a:p>
        </p:txBody>
      </p:sp>
      <p:sp>
        <p:nvSpPr>
          <p:cNvPr id="8" name="Shape 6"/>
          <p:cNvSpPr/>
          <p:nvPr/>
        </p:nvSpPr>
        <p:spPr>
          <a:xfrm>
            <a:off x="3511550" y="1860488"/>
            <a:ext cx="2476500" cy="1986227"/>
          </a:xfrm>
          <a:prstGeom prst="roundRect">
            <a:avLst>
              <a:gd name="adj" fmla="val 6074"/>
            </a:avLst>
          </a:prstGeom>
          <a:solidFill>
            <a:srgbClr val="FFFDF8"/>
          </a:solidFill>
          <a:ln w="12700">
            <a:solidFill>
              <a:srgbClr val="E2DED3"/>
            </a:solidFill>
            <a:prstDash val="solid"/>
          </a:ln>
        </p:spPr>
      </p:sp>
      <p:sp>
        <p:nvSpPr>
          <p:cNvPr id="9" name="Text 7"/>
          <p:cNvSpPr/>
          <p:nvPr/>
        </p:nvSpPr>
        <p:spPr>
          <a:xfrm>
            <a:off x="3721100" y="2070038"/>
            <a:ext cx="327686" cy="289520"/>
          </a:xfrm>
          <a:custGeom>
            <a:avLst/>
            <a:gdLst/>
            <a:ahLst/>
            <a:cxnLst/>
            <a:rect l="l" t="t" r="r" b="b"/>
            <a:pathLst>
              <a:path w="327686" h="289520">
                <a:moveTo>
                  <a:pt x="144760" y="0"/>
                </a:moveTo>
                <a:lnTo>
                  <a:pt x="182926" y="0"/>
                </a:lnTo>
                <a:arcTo hR="144760" wR="144760" stAng="16200000" swAng="5400000"/>
                <a:lnTo>
                  <a:pt x="32768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2</a:t>
            </a:r>
            <a:endParaRPr lang="en-US" sz="1200" dirty="0"/>
          </a:p>
        </p:txBody>
      </p:sp>
      <p:sp>
        <p:nvSpPr>
          <p:cNvPr id="10" name="Text 8"/>
          <p:cNvSpPr/>
          <p:nvPr/>
        </p:nvSpPr>
        <p:spPr>
          <a:xfrm>
            <a:off x="37211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Plan on paper</a:t>
            </a:r>
            <a:endParaRPr lang="en-US" sz="1800" dirty="0"/>
          </a:p>
        </p:txBody>
      </p:sp>
      <p:sp>
        <p:nvSpPr>
          <p:cNvPr id="11" name="Text 9"/>
          <p:cNvSpPr/>
          <p:nvPr/>
        </p:nvSpPr>
        <p:spPr>
          <a:xfrm>
            <a:off x="3721100" y="28370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A few lines of steps or a flowchart before typing.</a:t>
            </a:r>
            <a:endParaRPr lang="en-US" sz="1500" dirty="0"/>
          </a:p>
        </p:txBody>
      </p:sp>
      <p:sp>
        <p:nvSpPr>
          <p:cNvPr id="12" name="Shape 10"/>
          <p:cNvSpPr/>
          <p:nvPr/>
        </p:nvSpPr>
        <p:spPr>
          <a:xfrm>
            <a:off x="6203950" y="1860488"/>
            <a:ext cx="2476500" cy="1986227"/>
          </a:xfrm>
          <a:prstGeom prst="roundRect">
            <a:avLst>
              <a:gd name="adj" fmla="val 6074"/>
            </a:avLst>
          </a:prstGeom>
          <a:solidFill>
            <a:srgbClr val="FFFDF8"/>
          </a:solidFill>
          <a:ln w="12700">
            <a:solidFill>
              <a:srgbClr val="E2DED3"/>
            </a:solidFill>
            <a:prstDash val="solid"/>
          </a:ln>
        </p:spPr>
      </p:sp>
      <p:sp>
        <p:nvSpPr>
          <p:cNvPr id="13" name="Text 11"/>
          <p:cNvSpPr/>
          <p:nvPr/>
        </p:nvSpPr>
        <p:spPr>
          <a:xfrm>
            <a:off x="6413500" y="2070038"/>
            <a:ext cx="329076" cy="289520"/>
          </a:xfrm>
          <a:custGeom>
            <a:avLst/>
            <a:gdLst/>
            <a:ahLst/>
            <a:cxnLst/>
            <a:rect l="l" t="t" r="r" b="b"/>
            <a:pathLst>
              <a:path w="329076" h="289520">
                <a:moveTo>
                  <a:pt x="144760" y="0"/>
                </a:moveTo>
                <a:lnTo>
                  <a:pt x="184315" y="0"/>
                </a:lnTo>
                <a:arcTo hR="144760" wR="144760" stAng="16200000" swAng="5400000"/>
                <a:lnTo>
                  <a:pt x="329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3</a:t>
            </a:r>
            <a:endParaRPr lang="en-US" sz="1200" dirty="0"/>
          </a:p>
        </p:txBody>
      </p:sp>
      <p:sp>
        <p:nvSpPr>
          <p:cNvPr id="14" name="Text 12"/>
          <p:cNvSpPr/>
          <p:nvPr/>
        </p:nvSpPr>
        <p:spPr>
          <a:xfrm>
            <a:off x="64135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Test</a:t>
            </a:r>
            <a:endParaRPr lang="en-US" sz="1800" dirty="0"/>
          </a:p>
        </p:txBody>
      </p:sp>
      <p:sp>
        <p:nvSpPr>
          <p:cNvPr id="15" name="Text 13"/>
          <p:cNvSpPr/>
          <p:nvPr/>
        </p:nvSpPr>
        <p:spPr>
          <a:xfrm>
            <a:off x="6413500" y="28370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Try normal, edge (0, 1, negative) and wrong input.</a:t>
            </a:r>
            <a:endParaRPr lang="en-US" sz="1500" dirty="0"/>
          </a:p>
        </p:txBody>
      </p:sp>
      <p:sp>
        <p:nvSpPr>
          <p:cNvPr id="16" name="Shape 14"/>
          <p:cNvSpPr/>
          <p:nvPr/>
        </p:nvSpPr>
        <p:spPr>
          <a:xfrm>
            <a:off x="8896350" y="1860488"/>
            <a:ext cx="2476500" cy="1986227"/>
          </a:xfrm>
          <a:prstGeom prst="roundRect">
            <a:avLst>
              <a:gd name="adj" fmla="val 6074"/>
            </a:avLst>
          </a:prstGeom>
          <a:solidFill>
            <a:srgbClr val="FFFDF8"/>
          </a:solidFill>
          <a:ln w="12700">
            <a:solidFill>
              <a:srgbClr val="E2DED3"/>
            </a:solidFill>
            <a:prstDash val="solid"/>
          </a:ln>
        </p:spPr>
      </p:sp>
      <p:sp>
        <p:nvSpPr>
          <p:cNvPr id="17" name="Text 15"/>
          <p:cNvSpPr/>
          <p:nvPr/>
        </p:nvSpPr>
        <p:spPr>
          <a:xfrm>
            <a:off x="9105900" y="2070038"/>
            <a:ext cx="332581" cy="289520"/>
          </a:xfrm>
          <a:custGeom>
            <a:avLst/>
            <a:gdLst/>
            <a:ahLst/>
            <a:cxnLst/>
            <a:rect l="l" t="t" r="r" b="b"/>
            <a:pathLst>
              <a:path w="332581" h="289520">
                <a:moveTo>
                  <a:pt x="144760" y="0"/>
                </a:moveTo>
                <a:lnTo>
                  <a:pt x="187821" y="0"/>
                </a:lnTo>
                <a:arcTo hR="144760" wR="144760" stAng="16200000" swAng="5400000"/>
                <a:lnTo>
                  <a:pt x="3325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4</a:t>
            </a:r>
            <a:endParaRPr lang="en-US" sz="1200" dirty="0"/>
          </a:p>
        </p:txBody>
      </p:sp>
      <p:sp>
        <p:nvSpPr>
          <p:cNvPr id="18" name="Text 16"/>
          <p:cNvSpPr/>
          <p:nvPr/>
        </p:nvSpPr>
        <p:spPr>
          <a:xfrm>
            <a:off x="91059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Make it readable</a:t>
            </a:r>
            <a:endParaRPr lang="en-US" sz="1800" dirty="0"/>
          </a:p>
        </p:txBody>
      </p:sp>
      <p:sp>
        <p:nvSpPr>
          <p:cNvPr id="19" name="Text 17"/>
          <p:cNvSpPr/>
          <p:nvPr/>
        </p:nvSpPr>
        <p:spPr>
          <a:xfrm>
            <a:off x="9105900" y="28370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Clear names, a comment at the top, neat output.</a:t>
            </a:r>
            <a:endParaRPr lang="en-US" sz="15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8 · Class 24</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24 · WHAT NEXT</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Where to go after this course</a:t>
            </a:r>
            <a:endParaRPr lang="en-US" sz="3200" dirty="0"/>
          </a:p>
        </p:txBody>
      </p:sp>
      <p:sp>
        <p:nvSpPr>
          <p:cNvPr id="4" name="Shape 2"/>
          <p:cNvSpPr/>
          <p:nvPr/>
        </p:nvSpPr>
        <p:spPr>
          <a:xfrm>
            <a:off x="819150" y="1860488"/>
            <a:ext cx="2476500" cy="2252927"/>
          </a:xfrm>
          <a:prstGeom prst="roundRect">
            <a:avLst>
              <a:gd name="adj" fmla="val 5355"/>
            </a:avLst>
          </a:prstGeom>
          <a:solidFill>
            <a:srgbClr val="FFFDF8"/>
          </a:solidFill>
          <a:ln w="12700">
            <a:solidFill>
              <a:srgbClr val="E2DED3"/>
            </a:solidFill>
            <a:prstDash val="solid"/>
          </a:ln>
        </p:spPr>
      </p:sp>
      <p:sp>
        <p:nvSpPr>
          <p:cNvPr id="5" name="Text 3"/>
          <p:cNvSpPr/>
          <p:nvPr/>
        </p:nvSpPr>
        <p:spPr>
          <a:xfrm>
            <a:off x="1028700" y="2070038"/>
            <a:ext cx="874382" cy="289520"/>
          </a:xfrm>
          <a:custGeom>
            <a:avLst/>
            <a:gdLst/>
            <a:ahLst/>
            <a:cxnLst/>
            <a:rect l="l" t="t" r="r" b="b"/>
            <a:pathLst>
              <a:path w="874382" h="289520">
                <a:moveTo>
                  <a:pt x="144760" y="0"/>
                </a:moveTo>
                <a:lnTo>
                  <a:pt x="729622" y="0"/>
                </a:lnTo>
                <a:arcTo hR="144760" wR="144760" stAng="16200000" swAng="5400000"/>
                <a:lnTo>
                  <a:pt x="874382"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Practice</a:t>
            </a:r>
            <a:endParaRPr lang="en-US" sz="1200" dirty="0"/>
          </a:p>
        </p:txBody>
      </p:sp>
      <p:sp>
        <p:nvSpPr>
          <p:cNvPr id="6" name="Text 4"/>
          <p:cNvSpPr/>
          <p:nvPr/>
        </p:nvSpPr>
        <p:spPr>
          <a:xfrm>
            <a:off x="10287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A little every day</a:t>
            </a:r>
            <a:endParaRPr lang="en-US" sz="1800" dirty="0"/>
          </a:p>
        </p:txBody>
      </p:sp>
      <p:sp>
        <p:nvSpPr>
          <p:cNvPr id="7" name="Text 5"/>
          <p:cNvSpPr/>
          <p:nvPr/>
        </p:nvSpPr>
        <p:spPr>
          <a:xfrm>
            <a:off x="1028700" y="28370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Easy problems on HackerRank or LeetCode, 20 minutes a day.</a:t>
            </a:r>
            <a:endParaRPr lang="en-US" sz="1500" dirty="0"/>
          </a:p>
        </p:txBody>
      </p:sp>
      <p:sp>
        <p:nvSpPr>
          <p:cNvPr id="8" name="Shape 6"/>
          <p:cNvSpPr/>
          <p:nvPr/>
        </p:nvSpPr>
        <p:spPr>
          <a:xfrm>
            <a:off x="3511550" y="1860488"/>
            <a:ext cx="2476500" cy="2252927"/>
          </a:xfrm>
          <a:prstGeom prst="roundRect">
            <a:avLst>
              <a:gd name="adj" fmla="val 5355"/>
            </a:avLst>
          </a:prstGeom>
          <a:solidFill>
            <a:srgbClr val="FFFDF8"/>
          </a:solidFill>
          <a:ln w="12700">
            <a:solidFill>
              <a:srgbClr val="E2DED3"/>
            </a:solidFill>
            <a:prstDash val="solid"/>
          </a:ln>
        </p:spPr>
      </p:sp>
      <p:sp>
        <p:nvSpPr>
          <p:cNvPr id="9" name="Text 7"/>
          <p:cNvSpPr/>
          <p:nvPr/>
        </p:nvSpPr>
        <p:spPr>
          <a:xfrm>
            <a:off x="3721100" y="2070038"/>
            <a:ext cx="588103" cy="289520"/>
          </a:xfrm>
          <a:custGeom>
            <a:avLst/>
            <a:gdLst/>
            <a:ahLst/>
            <a:cxnLst/>
            <a:rect l="l" t="t" r="r" b="b"/>
            <a:pathLst>
              <a:path w="588103" h="289520">
                <a:moveTo>
                  <a:pt x="144760" y="0"/>
                </a:moveTo>
                <a:lnTo>
                  <a:pt x="443342" y="0"/>
                </a:lnTo>
                <a:arcTo hR="144760" wR="144760" stAng="16200000" swAng="5400000"/>
                <a:lnTo>
                  <a:pt x="588103"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Data</a:t>
            </a:r>
            <a:endParaRPr lang="en-US" sz="1200" dirty="0"/>
          </a:p>
        </p:txBody>
      </p:sp>
      <p:sp>
        <p:nvSpPr>
          <p:cNvPr id="10" name="Text 8"/>
          <p:cNvSpPr/>
          <p:nvPr/>
        </p:nvSpPr>
        <p:spPr>
          <a:xfrm>
            <a:off x="3721100" y="2461158"/>
            <a:ext cx="2119122" cy="574014"/>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NumPy, pandas, matplotlib</a:t>
            </a:r>
            <a:endParaRPr lang="en-US" sz="1800" dirty="0"/>
          </a:p>
        </p:txBody>
      </p:sp>
      <p:sp>
        <p:nvSpPr>
          <p:cNvPr id="11" name="Text 9"/>
          <p:cNvSpPr/>
          <p:nvPr/>
        </p:nvSpPr>
        <p:spPr>
          <a:xfrm>
            <a:off x="3721100" y="3111376"/>
            <a:ext cx="21191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Analyse spreadsheets and draw charts.</a:t>
            </a:r>
            <a:endParaRPr lang="en-US" sz="1500" dirty="0"/>
          </a:p>
        </p:txBody>
      </p:sp>
      <p:sp>
        <p:nvSpPr>
          <p:cNvPr id="12" name="Shape 10"/>
          <p:cNvSpPr/>
          <p:nvPr/>
        </p:nvSpPr>
        <p:spPr>
          <a:xfrm>
            <a:off x="6203950" y="1860488"/>
            <a:ext cx="2476500" cy="2252927"/>
          </a:xfrm>
          <a:prstGeom prst="roundRect">
            <a:avLst>
              <a:gd name="adj" fmla="val 5355"/>
            </a:avLst>
          </a:prstGeom>
          <a:solidFill>
            <a:srgbClr val="FFFDF8"/>
          </a:solidFill>
          <a:ln w="12700">
            <a:solidFill>
              <a:srgbClr val="E2DED3"/>
            </a:solidFill>
            <a:prstDash val="solid"/>
          </a:ln>
        </p:spPr>
      </p:sp>
      <p:sp>
        <p:nvSpPr>
          <p:cNvPr id="13" name="Text 11"/>
          <p:cNvSpPr/>
          <p:nvPr/>
        </p:nvSpPr>
        <p:spPr>
          <a:xfrm>
            <a:off x="6413500" y="2070038"/>
            <a:ext cx="539022" cy="289520"/>
          </a:xfrm>
          <a:custGeom>
            <a:avLst/>
            <a:gdLst/>
            <a:ahLst/>
            <a:cxnLst/>
            <a:rect l="l" t="t" r="r" b="b"/>
            <a:pathLst>
              <a:path w="539022" h="289520">
                <a:moveTo>
                  <a:pt x="144760" y="0"/>
                </a:moveTo>
                <a:lnTo>
                  <a:pt x="394262" y="0"/>
                </a:lnTo>
                <a:arcTo hR="144760" wR="144760" stAng="16200000" swAng="5400000"/>
                <a:lnTo>
                  <a:pt x="539022"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Web</a:t>
            </a:r>
            <a:endParaRPr lang="en-US" sz="1200" dirty="0"/>
          </a:p>
        </p:txBody>
      </p:sp>
      <p:sp>
        <p:nvSpPr>
          <p:cNvPr id="14" name="Text 12"/>
          <p:cNvSpPr/>
          <p:nvPr/>
        </p:nvSpPr>
        <p:spPr>
          <a:xfrm>
            <a:off x="64135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Flask or Django</a:t>
            </a:r>
            <a:endParaRPr lang="en-US" sz="1800" dirty="0"/>
          </a:p>
        </p:txBody>
      </p:sp>
      <p:sp>
        <p:nvSpPr>
          <p:cNvPr id="15" name="Text 13"/>
          <p:cNvSpPr/>
          <p:nvPr/>
        </p:nvSpPr>
        <p:spPr>
          <a:xfrm>
            <a:off x="6413500" y="2837061"/>
            <a:ext cx="21191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Turn the library project into a website.</a:t>
            </a:r>
            <a:endParaRPr lang="en-US" sz="1500" dirty="0"/>
          </a:p>
        </p:txBody>
      </p:sp>
      <p:sp>
        <p:nvSpPr>
          <p:cNvPr id="16" name="Shape 14"/>
          <p:cNvSpPr/>
          <p:nvPr/>
        </p:nvSpPr>
        <p:spPr>
          <a:xfrm>
            <a:off x="8896350" y="1860488"/>
            <a:ext cx="2476500" cy="2252927"/>
          </a:xfrm>
          <a:prstGeom prst="roundRect">
            <a:avLst>
              <a:gd name="adj" fmla="val 5355"/>
            </a:avLst>
          </a:prstGeom>
          <a:solidFill>
            <a:srgbClr val="FFFDF8"/>
          </a:solidFill>
          <a:ln w="12700">
            <a:solidFill>
              <a:srgbClr val="E2DED3"/>
            </a:solidFill>
            <a:prstDash val="solid"/>
          </a:ln>
        </p:spPr>
      </p:sp>
      <p:sp>
        <p:nvSpPr>
          <p:cNvPr id="17" name="Text 15"/>
          <p:cNvSpPr/>
          <p:nvPr/>
        </p:nvSpPr>
        <p:spPr>
          <a:xfrm>
            <a:off x="9105900" y="2070038"/>
            <a:ext cx="387152" cy="289520"/>
          </a:xfrm>
          <a:custGeom>
            <a:avLst/>
            <a:gdLst/>
            <a:ahLst/>
            <a:cxnLst/>
            <a:rect l="l" t="t" r="r" b="b"/>
            <a:pathLst>
              <a:path w="387152" h="289520">
                <a:moveTo>
                  <a:pt x="144760" y="0"/>
                </a:moveTo>
                <a:lnTo>
                  <a:pt x="242391" y="0"/>
                </a:lnTo>
                <a:arcTo hR="144760" wR="144760" stAng="16200000" swAng="5400000"/>
                <a:lnTo>
                  <a:pt x="387152"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AI</a:t>
            </a:r>
            <a:endParaRPr lang="en-US" sz="1200" dirty="0"/>
          </a:p>
        </p:txBody>
      </p:sp>
      <p:sp>
        <p:nvSpPr>
          <p:cNvPr id="18" name="Text 16"/>
          <p:cNvSpPr/>
          <p:nvPr/>
        </p:nvSpPr>
        <p:spPr>
          <a:xfrm>
            <a:off x="91059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Machine learning</a:t>
            </a:r>
            <a:endParaRPr lang="en-US" sz="1800" dirty="0"/>
          </a:p>
        </p:txBody>
      </p:sp>
      <p:sp>
        <p:nvSpPr>
          <p:cNvPr id="19" name="Text 17"/>
          <p:cNvSpPr/>
          <p:nvPr/>
        </p:nvSpPr>
        <p:spPr>
          <a:xfrm>
            <a:off x="9105900" y="28370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scikit-learn, then deep learning, once the basics are solid.</a:t>
            </a:r>
            <a:endParaRPr lang="en-US" sz="15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8 · Class 24</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WEEK 8 RECAP</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EF"/>
                </a:solidFill>
                <a:latin typeface="Rubik" pitchFamily="34" charset="0"/>
                <a:ea typeface="Rubik" pitchFamily="34" charset="-122"/>
                <a:cs typeface="Rubik" pitchFamily="34" charset="-120"/>
              </a:rPr>
              <a:t>Course complete!</a:t>
            </a:r>
            <a:endParaRPr lang="en-US" sz="3200" dirty="0"/>
          </a:p>
        </p:txBody>
      </p:sp>
      <p:sp>
        <p:nvSpPr>
          <p:cNvPr id="4" name="Shape 2"/>
          <p:cNvSpPr/>
          <p:nvPr/>
        </p:nvSpPr>
        <p:spPr>
          <a:xfrm>
            <a:off x="812800" y="1854138"/>
            <a:ext cx="2527300" cy="1282700"/>
          </a:xfrm>
          <a:prstGeom prst="roundRect">
            <a:avLst>
              <a:gd name="adj" fmla="val 9901"/>
            </a:avLst>
          </a:prstGeom>
          <a:solidFill>
            <a:srgbClr val="24364F"/>
          </a:solidFill>
          <a:ln/>
        </p:spPr>
      </p:sp>
      <p:sp>
        <p:nvSpPr>
          <p:cNvPr id="5" name="Text 3"/>
          <p:cNvSpPr/>
          <p:nvPr/>
        </p:nvSpPr>
        <p:spPr>
          <a:xfrm>
            <a:off x="10160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print → class</a:t>
            </a:r>
            <a:endParaRPr lang="en-US" sz="1500" dirty="0"/>
          </a:p>
        </p:txBody>
      </p:sp>
      <p:sp>
        <p:nvSpPr>
          <p:cNvPr id="6" name="Text 4"/>
          <p:cNvSpPr/>
          <p:nvPr/>
        </p:nvSpPr>
        <p:spPr>
          <a:xfrm>
            <a:off x="10160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8 weeks: from your first line to OOP</a:t>
            </a:r>
            <a:endParaRPr lang="en-US" sz="1500" dirty="0"/>
          </a:p>
        </p:txBody>
      </p:sp>
      <p:sp>
        <p:nvSpPr>
          <p:cNvPr id="7" name="Shape 5"/>
          <p:cNvSpPr/>
          <p:nvPr/>
        </p:nvSpPr>
        <p:spPr>
          <a:xfrm>
            <a:off x="3492500" y="1854138"/>
            <a:ext cx="2527300" cy="1282700"/>
          </a:xfrm>
          <a:prstGeom prst="roundRect">
            <a:avLst>
              <a:gd name="adj" fmla="val 9901"/>
            </a:avLst>
          </a:prstGeom>
          <a:solidFill>
            <a:srgbClr val="24364F"/>
          </a:solidFill>
          <a:ln/>
        </p:spPr>
      </p:sp>
      <p:sp>
        <p:nvSpPr>
          <p:cNvPr id="8" name="Text 6"/>
          <p:cNvSpPr/>
          <p:nvPr/>
        </p:nvSpPr>
        <p:spPr>
          <a:xfrm>
            <a:off x="36957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3 projects</a:t>
            </a:r>
            <a:endParaRPr lang="en-US" sz="1500" dirty="0"/>
          </a:p>
        </p:txBody>
      </p:sp>
      <p:sp>
        <p:nvSpPr>
          <p:cNvPr id="9" name="Text 7"/>
          <p:cNvSpPr/>
          <p:nvPr/>
        </p:nvSpPr>
        <p:spPr>
          <a:xfrm>
            <a:off x="36957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Records, expense tracker, library</a:t>
            </a:r>
            <a:endParaRPr lang="en-US" sz="1500" dirty="0"/>
          </a:p>
        </p:txBody>
      </p:sp>
      <p:sp>
        <p:nvSpPr>
          <p:cNvPr id="10" name="Shape 8"/>
          <p:cNvSpPr/>
          <p:nvPr/>
        </p:nvSpPr>
        <p:spPr>
          <a:xfrm>
            <a:off x="6172200" y="1854138"/>
            <a:ext cx="2527300" cy="1282700"/>
          </a:xfrm>
          <a:prstGeom prst="roundRect">
            <a:avLst>
              <a:gd name="adj" fmla="val 9901"/>
            </a:avLst>
          </a:prstGeom>
          <a:solidFill>
            <a:srgbClr val="24364F"/>
          </a:solidFill>
          <a:ln/>
        </p:spPr>
      </p:sp>
      <p:sp>
        <p:nvSpPr>
          <p:cNvPr id="11" name="Text 9"/>
          <p:cNvSpPr/>
          <p:nvPr/>
        </p:nvSpPr>
        <p:spPr>
          <a:xfrm>
            <a:off x="63754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24 classes</a:t>
            </a:r>
            <a:endParaRPr lang="en-US" sz="1500" dirty="0"/>
          </a:p>
        </p:txBody>
      </p:sp>
      <p:sp>
        <p:nvSpPr>
          <p:cNvPr id="12" name="Text 10"/>
          <p:cNvSpPr/>
          <p:nvPr/>
        </p:nvSpPr>
        <p:spPr>
          <a:xfrm>
            <a:off x="63754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Every lab-exam program practised</a:t>
            </a:r>
            <a:endParaRPr lang="en-US" sz="1500" dirty="0"/>
          </a:p>
        </p:txBody>
      </p:sp>
      <p:sp>
        <p:nvSpPr>
          <p:cNvPr id="13" name="Shape 11"/>
          <p:cNvSpPr/>
          <p:nvPr/>
        </p:nvSpPr>
        <p:spPr>
          <a:xfrm>
            <a:off x="8851900" y="1854138"/>
            <a:ext cx="2527300" cy="1282700"/>
          </a:xfrm>
          <a:prstGeom prst="roundRect">
            <a:avLst>
              <a:gd name="adj" fmla="val 9901"/>
            </a:avLst>
          </a:prstGeom>
          <a:solidFill>
            <a:srgbClr val="24364F"/>
          </a:solidFill>
          <a:ln/>
        </p:spPr>
      </p:sp>
      <p:sp>
        <p:nvSpPr>
          <p:cNvPr id="14" name="Text 12"/>
          <p:cNvSpPr/>
          <p:nvPr/>
        </p:nvSpPr>
        <p:spPr>
          <a:xfrm>
            <a:off x="90551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python file.py</a:t>
            </a:r>
            <a:endParaRPr lang="en-US" sz="1500" dirty="0"/>
          </a:p>
        </p:txBody>
      </p:sp>
      <p:sp>
        <p:nvSpPr>
          <p:cNvPr id="15" name="Text 13"/>
          <p:cNvSpPr/>
          <p:nvPr/>
        </p:nvSpPr>
        <p:spPr>
          <a:xfrm>
            <a:off x="90551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Ready to build things on your own</a:t>
            </a:r>
            <a:endParaRPr lang="en-US" sz="1500" dirty="0"/>
          </a:p>
        </p:txBody>
      </p:sp>
      <p:sp>
        <p:nvSpPr>
          <p:cNvPr id="16" name="Shape 14"/>
          <p:cNvSpPr/>
          <p:nvPr/>
        </p:nvSpPr>
        <p:spPr>
          <a:xfrm>
            <a:off x="812800" y="3441638"/>
            <a:ext cx="10566400" cy="967647"/>
          </a:xfrm>
          <a:prstGeom prst="roundRect">
            <a:avLst>
              <a:gd name="adj" fmla="val 13125"/>
            </a:avLst>
          </a:prstGeom>
          <a:solidFill>
            <a:srgbClr val="F2B33D"/>
          </a:solidFill>
          <a:ln/>
        </p:spPr>
      </p:sp>
      <p:sp>
        <p:nvSpPr>
          <p:cNvPr id="17" name="Text 15"/>
          <p:cNvSpPr/>
          <p:nvPr/>
        </p:nvSpPr>
        <p:spPr>
          <a:xfrm>
            <a:off x="1066800" y="3644838"/>
            <a:ext cx="103601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B2A41"/>
                </a:solidFill>
                <a:latin typeface="Rubik" pitchFamily="34" charset="0"/>
                <a:ea typeface="Rubik" pitchFamily="34" charset="-122"/>
                <a:cs typeface="Rubik" pitchFamily="34" charset="-120"/>
              </a:rPr>
              <a:t>KEEP GOING</a:t>
            </a:r>
            <a:endParaRPr lang="en-US" sz="1200" dirty="0"/>
          </a:p>
        </p:txBody>
      </p:sp>
      <p:sp>
        <p:nvSpPr>
          <p:cNvPr id="18" name="Text 16"/>
          <p:cNvSpPr/>
          <p:nvPr/>
        </p:nvSpPr>
        <p:spPr>
          <a:xfrm>
            <a:off x="1066800" y="3908958"/>
            <a:ext cx="10360152" cy="322527"/>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B2A41"/>
                </a:solidFill>
                <a:latin typeface="Rubik" pitchFamily="34" charset="0"/>
                <a:ea typeface="Rubik" pitchFamily="34" charset="-122"/>
                <a:cs typeface="Rubik" pitchFamily="34" charset="-120"/>
              </a:rPr>
              <a:t>Write one small program every day. Small and daily beats long and rare.</a:t>
            </a:r>
            <a:endParaRPr lang="en-US" sz="1800" dirty="0"/>
          </a:p>
        </p:txBody>
      </p:sp>
      <p:sp>
        <p:nvSpPr>
          <p:cNvPr id="19" name="Text 17"/>
          <p:cNvSpPr/>
          <p:nvPr/>
        </p:nvSpPr>
        <p:spPr>
          <a:xfrm>
            <a:off x="812800" y="471408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9D4E2"/>
                </a:solidFill>
                <a:latin typeface="Rubik" pitchFamily="34" charset="0"/>
                <a:ea typeface="Rubik" pitchFamily="34" charset="-122"/>
                <a:cs typeface="Rubik" pitchFamily="34" charset="-120"/>
              </a:rPr>
              <a:t>Last tip:</a:t>
            </a:r>
            <a:r>
              <a:rPr lang="en-US" sz="1500" dirty="0">
                <a:solidFill>
                  <a:srgbClr val="C9D4E2"/>
                </a:solidFill>
                <a:latin typeface="Rubik" pitchFamily="34" charset="0"/>
                <a:ea typeface="Rubik" pitchFamily="34" charset="-122"/>
                <a:cs typeface="Rubik" pitchFamily="34" charset="-120"/>
              </a:rPr>
              <a:t> when something breaks, read the last line of the error first. It usually tells you exactly what is wrong.</a:t>
            </a:r>
            <a:endParaRPr lang="en-US" sz="15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6"/>
                </a:solidFill>
                <a:latin typeface="Rubik" pitchFamily="34" charset="0"/>
                <a:ea typeface="Rubik" pitchFamily="34" charset="-122"/>
                <a:cs typeface="Rubik" pitchFamily="34" charset="-120"/>
              </a:rPr>
              <a:t>Python Programming · Week 8</a:t>
            </a:r>
            <a:endParaRPr lang="en-US" sz="1200" dirty="0"/>
          </a:p>
        </p:txBody>
      </p:sp>
    </p:spTree>
  </p:cSld>
  <p:clrMapOvr>
    <a:masterClrMapping/>
  </p:clrMapOvr>
</p:sld>
</file>

<file path=ppt/theme/theme1.xml><?xml version="1.0" encoding="utf-8"?>
<a:theme xmlns:a="http://schemas.openxmlformats.org/drawingml/2006/main" name="Python Week 8 – Capstone, Revision &amp; Viva">
  <a:themeElements>
    <a:clrScheme name="Python Week 8 – Capstone, Revision &amp; Viva">
      <a:dk1>
        <a:srgbClr val="1B2A41"/>
      </a:dk1>
      <a:lt1>
        <a:srgbClr val="F7F5EF"/>
      </a:lt1>
      <a:dk2>
        <a:srgbClr val="525D6D"/>
      </a:dk2>
      <a:lt2>
        <a:srgbClr val="E1E1DE"/>
      </a:lt2>
      <a:accent1>
        <a:srgbClr val="F2B33D"/>
      </a:accent1>
      <a:accent2>
        <a:srgbClr val="2A64A3"/>
      </a:accent2>
      <a:accent3>
        <a:srgbClr val="8FA3B8"/>
      </a:accent3>
      <a:accent4>
        <a:srgbClr val="9FB0C6"/>
      </a:accent4>
      <a:accent5>
        <a:srgbClr val="2A3D5A"/>
      </a:accent5>
      <a:accent6>
        <a:srgbClr val="4A5568"/>
      </a:accent6>
      <a:hlink>
        <a:srgbClr val="0563C1"/>
      </a:hlink>
      <a:folHlink>
        <a:srgbClr val="954F72"/>
      </a:folHlink>
    </a:clrScheme>
    <a:fontScheme name="Python Week 8 – Capstone, Revision &amp; Viva">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Week 8 – Capstone, Revision &amp; Viva</dc:title>
  <dc:subject/>
  <dc:creator/>
  <cp:lastModifiedBy/>
  <cp:revision>1</cp:revision>
  <dcterms:created xsi:type="dcterms:W3CDTF">2026-10-06T16:46:51Z</dcterms:created>
  <dcterms:modified xsi:type="dcterms:W3CDTF">2026-10-06T16:46:51Z</dcterms:modified>
</cp:coreProperties>
</file>