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4 finishes the data structures and ends with the first mini-project. Classes: (10) 2D lists and list comprehensions; (11) tuples, sets and dictionaries; (12) Mini-project 1, a student record manager that uses everything so far. Check the Week 3 homework first, especially the list practice: the mini-project depends on lists and loops being comfortable.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Warm-up: write the largest-without-max program from memory. Then ask how to store marks of 3 students in 3 subjects: the answer is a table, which in Python is a list of lists. Matrix programs (addition, transpose, diagonal sum) are very common lab exercises, and the student meets matrices in Mathematics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3 by 3 grid on paper with row numbers 0 to 2 down the side and column numbers 0 to 2 across the top. m[1] is the whole second row [4, 5, 6]; m[1][2] is the third item of that row, 6. Ask: how do you get 7? (m[2][0].) And the centre? (m[1][1].) Writing the list on three lines is optional, but it makes the table shape visible. Same as a 2D array in C, int m[3][3], but without declaring the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this to Week 2: nested loops again, but now they walk through stored data instead of printing stars. The index version is also important for exams: for i in range(len(m)): for j in range(len(m[i])): print(m[i][j]). Use the index version whenever you need the position, for example the diagonal: m[i][i] for i in range(3) gives 1, 5, 9. Ask the student to change the program to print column sums instead (harder: loop over j outside and i inside).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 addition by hand first: add matching cells. Then trace i = 0: j = 0 gives 6, j = 1 gives 8, so row [6, 8] goes into C. Transpose (rows become columns) uses the same loops with T[j][i] = m[i][j], or row.append(m[j][i]) when building row i. Matrix multiplication is a three-loop program: show it only if the student's lab list includes it. Common bug: creating row = [] outside the outer loop, which glues all rows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list comprehension is just the append loop squeezed into one line. Write the long version first, then move the pieces: the expression (x * x) goes to the front, the for part follows. Both give the same list. Use comprehensions when they are easy to read; when the logic gets long, the normal loop is better. Viva: what is a list comprehension? (A short way to create a new list from a loop, optionally with a condition.)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row and say it in English: "n times 2 for each n in nums", "n for each n in nums, if n is more than 50". The if version is a filter. The input line in the tip is extremely useful in labs: the user types 10 20 30 on one line and gets the list [10, 20, 30]. Challenge: write the even numbers from 1 to 20 as a comprehension. ([x for x in range(1, 21) if x % 2 ==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are in solutions/class10_practice.py. Hints. Task 1: read each row with [int(x) for x in input().split()], then total += m[i][i]. Task 2: the result has 3 rows of 2: for j in range(3): row = [m[i][j] for i in range(2)]. Task 3: [x * x for x in range(1, 11) if x % 2 == 0] gives [4, 16, 36, 64, 100]. Task 4: for row in m: print(max(row)).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Warm-up: make a list of 5 cities and sort it. Today's three containers: tuple (a list that cannot change), set (no repeats, no order) and dictionary (look things up by name instead of by position). Dictionaries are the most important of the three and are used directly in Friday's mini-project. They also show up in viva questions comparing the four containers.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 2 is unpacking: the two values in the tuple go into x and y in one step. The swap trick a, b = b, a from Week 1 was secretly using tuples. Run the commented line to show the error. Why use a tuple at all? It protects data that should never change, and it can be a dictionary key (a list cannot). Viva: difference between a list and a tuple? (A list is mutable with [ ], a tuple is immutable with ( ).) Show (5) versus (5,) with type(): the first is just the int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to Mathematics: these are the same union, intersection and difference from set theory, so draw a Venn diagram. a - b is "in a but not in b", a ^ b is "in exactly one of them". Real use: students in both the cricket team and the coding club = cricket &amp; coding. Sets have no index (a[0] is an error) because they have no order. An empty set is set(), not { } (that is an empty dictionary). Add items with a.add(9).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a real dictionary or a phone book, where you look up a word (key) to get its meaning (value). Keys must be unique and are usually strings; values can be anything, even lists. Line 5 adds a new pair, line 6 changes an existing one. Show the KeyError from student["age"], then the safe way, student.get("age"), which gives None, or student.get("age", 0). Viva: can two keys be the same? (No, the second one overwrites the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checks the keys, not the values. .items() gives key-value pairs, unpacked into k and v like the tuple slide. Looping over d directly (for k in d) gives just the keys. Removing: d.pop("Puri") removes and returns the value; del d["Puri"] just removes. Since Python 3.7 a dictionary remembers the order you added the keys, which is why the loop prints Puri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counting pattern is one of the most useful in all of programming: votes, word counts, marks per grade. Trace banana: b new (1), a new (1), n new (1), a seen (2), n seen (2), a seen (3). Without get you need an if: if ch in freq: freq[ch] += 1 else: freq[ch] = 1. Show both; exams accept either. Ask: which letter is most common? Loop through freq.items() and keep the biggest, the same pattern as the largest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pure viva preparation. Ask the student to classify: roll numbers of students who submitted homework (set, no repeats), the 7 days of the week (tuple, fixed), a shopping list (list), state capitals (dict: state to capital). Quick summary to memorise: list mutable ordered; tuple immutable ordered; set mutable unordered unique; dict mutable, key-value, unique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are in solutions/class11_practice.py. Hints. Task 1: book[name] = number in a loop; then if name in book. Task 2: convert both lists with set(), then &amp; and ^. Task 3: the frequency program with line.split(). Task 4: loop over items(), keep the best, and divide sum(d.values()) by len(d).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class is a guided build. The student types the program, you guide. Plan on paper first (10 min), then build in four steps, running the program after each step. It uses input, if/elif, while True with break, lists, dictionaries, f-strings and loops: a full review of Weeks 1 to 4. Save the finished file: Week 5 rewrites it with functions.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student to describe the program in their own words before showing code: what should the user see, what does the program remember, what are the choices. Decide the data structure together: why a dictionary and not a list? (Fast lookup by name for searching.) Why a list for the marks? (Several numbers, in a fixed subject order.) Subjects used here are Maths, Physics and Python; change them to the student's actual first-year subjects.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and run this skeleton first, before any feature works. The placeholder print for choice 1 is replaced in the next step. This is how real programmers work: a running skeleton, then one feature at a time. Choices stay strings ("1" not 1), so typing letters cannot crash the program. Ask: what happens if we forget break? (The program never ends.) Add elif branches for 2, 3 and 4 with placeholders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 add block (lines 2 to 6) inside the if choice == "1" branch, indented, and the show block (lines 8 and 9) inside elif choice == "2". The subject list makes the loop ask three questions with one input line. Test: add two students, then choose 2. Edge case to discuss: what if nobody has been added yet and the user picks 2? Add if not students: print("No students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Search uses in on the dictionary keys, which is why the names were stored in title case. The topper search starts with best_total = -1 so that any real total wins. Once both blocks work, the full program is in code/class12_records.py. Run through a full test: add three students, show, search for one that exists and one that does not, show the topper, exit.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are in solutions/class12_practice.py (each extension as a small separate piece). Hints. Task 1: compute avg, then the grade ladder. Task 2: if name in students: students.pop(name). Task 3: for i in range(3): total of m[i] over all students, divided by len(students). Task 4: for name, m in students.items(): if min(m) &lt; 40: print(name). Encourage the student to invent a sixth feature of their own; this is good practice for the capstone in Week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Oral quiz: 1. How do you get the centre of a 3 by 3 matrix m? 2. Write a comprehension for the cubes of 1 to 5. 3. List versus tuple? 4. What does {1, 2} &amp; {2, 3} give? 5. How do you avoid a KeyError? (get, or check with in.) 6. How do you loop over keys and values together? 7. Which container for unique roll numbers? Keep the mini-project file: next week it becomes neater with functions.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1B2A41"/>
                </a:solidFill>
                <a:latin typeface="Rubik" pitchFamily="34" charset="0"/>
                <a:ea typeface="Rubik" pitchFamily="34" charset="-122"/>
                <a:cs typeface="Rubi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34"/>
            <a:ext cx="10566400" cy="4191066"/>
          </a:xfrm>
          <a:prstGeom prst="rect">
            <a:avLst/>
          </a:prstGeom>
          <a:noFill/>
          <a:ln/>
        </p:spPr>
        <p:txBody>
          <a:bodyPr wrap="square" lIns="0" tIns="0" rIns="0" bIns="0" rtlCol="0" anchor="t"/>
          <a:lstStyle>
            <a:lvl1pPr algn="l" indent="0" marL="0">
              <a:lnSpc>
                <a:spcPct val="140000"/>
              </a:lnSpc>
              <a:buNone/>
              <a:defRPr lang="en-US" sz="1600" dirty="0">
                <a:solidFill>
                  <a:srgbClr val="1B2A41"/>
                </a:solidFill>
                <a:latin typeface="Rubik" pitchFamily="34" charset="0"/>
                <a:ea typeface="Rubik" pitchFamily="34" charset="-122"/>
                <a:cs typeface="Rubik"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1B2A41"/>
                </a:solidFill>
                <a:latin typeface="Rubik" pitchFamily="34" charset="0"/>
                <a:ea typeface="Rubik" pitchFamily="34" charset="-122"/>
                <a:cs typeface="Rubi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34"/>
            <a:ext cx="10566400" cy="4191066"/>
          </a:xfrm>
          <a:prstGeom prst="rect">
            <a:avLst/>
          </a:prstGeom>
          <a:noFill/>
          <a:ln/>
        </p:spPr>
        <p:txBody>
          <a:bodyPr wrap="square" lIns="0" tIns="0" rIns="0" bIns="0" rtlCol="0" anchor="t"/>
          <a:lstStyle>
            <a:lvl1pPr algn="l" indent="0" marL="0">
              <a:lnSpc>
                <a:spcPct val="140000"/>
              </a:lnSpc>
              <a:buNone/>
              <a:defRPr lang="en-US" sz="1600" dirty="0">
                <a:solidFill>
                  <a:srgbClr val="1B2A41"/>
                </a:solidFill>
                <a:latin typeface="Rubik" pitchFamily="34" charset="0"/>
                <a:ea typeface="Rubik" pitchFamily="34" charset="-122"/>
                <a:cs typeface="Rubik"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www.w3schools.com/python/python_lists.asp" TargetMode="External"/><Relationship Id="rId2" Type="http://schemas.openxmlformats.org/officeDocument/2006/relationships/hyperlink" Target="https://www.w3schools.com/python/python_lists_comprehension.asp" TargetMode="External"/><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www.w3schools.com/python/python_tuples.asp" TargetMode="External"/><Relationship Id="rId2" Type="http://schemas.openxmlformats.org/officeDocument/2006/relationships/hyperlink" Target="https://www.w3schools.com/python/python_sets.asp" TargetMode="External"/><Relationship Id="rId3" Type="http://schemas.openxmlformats.org/officeDocument/2006/relationships/hyperlink" Target="https://www.w3schools.com/python/python_dictionaries.asp" TargetMode="External"/><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www.w3schools.com/python/python_dictionaries.asp" TargetMode="External"/><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1"/>
        </a:solidFill>
      </p:bgPr>
    </p:bg>
    <p:spTree>
      <p:nvGrpSpPr>
        <p:cNvPr id="1" name=""/>
        <p:cNvGrpSpPr/>
        <p:nvPr/>
      </p:nvGrpSpPr>
      <p:grpSpPr>
        <a:xfrm>
          <a:off x="0" y="0"/>
          <a:ext cx="0" cy="0"/>
          <a:chOff x="0" y="0"/>
          <a:chExt cx="0" cy="0"/>
        </a:xfrm>
      </p:grpSpPr>
      <p:sp>
        <p:nvSpPr>
          <p:cNvPr id="2" name="Text 0"/>
          <p:cNvSpPr/>
          <p:nvPr/>
        </p:nvSpPr>
        <p:spPr>
          <a:xfrm>
            <a:off x="6670040" y="812800"/>
            <a:ext cx="4709160" cy="1295400"/>
          </a:xfrm>
          <a:prstGeom prst="rect">
            <a:avLst/>
          </a:prstGeom>
          <a:noFill/>
          <a:ln/>
        </p:spPr>
        <p:txBody>
          <a:bodyPr wrap="square" lIns="0" tIns="0" rIns="0" bIns="0" rtlCol="0" anchor="t">
            <a:normAutofit/>
          </a:bodyPr>
          <a:lstStyle/>
          <a:p>
            <a:pPr algn="r" indent="0" marL="0">
              <a:lnSpc>
                <a:spcPts val="10000"/>
              </a:lnSpc>
              <a:buNone/>
            </a:pPr>
            <a:r>
              <a:rPr lang="en-US" sz="10000" b="1" dirty="0">
                <a:solidFill>
                  <a:srgbClr val="2A3D5A"/>
                </a:solidFill>
                <a:latin typeface="JetBrains Mono" pitchFamily="49" charset="0"/>
                <a:ea typeface="JetBrains Mono" pitchFamily="49" charset="-122"/>
                <a:cs typeface="JetBrains Mono" pitchFamily="49" charset="-120"/>
              </a:rPr>
              <a:t>{ }</a:t>
            </a:r>
            <a:endParaRPr lang="en-US" sz="10000" dirty="0"/>
          </a:p>
        </p:txBody>
      </p:sp>
      <p:sp>
        <p:nvSpPr>
          <p:cNvPr id="3" name="Text 1"/>
          <p:cNvSpPr/>
          <p:nvPr/>
        </p:nvSpPr>
        <p:spPr>
          <a:xfrm>
            <a:off x="812800" y="2032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2B33D"/>
                </a:solidFill>
                <a:latin typeface="Rubik" pitchFamily="34" charset="0"/>
                <a:ea typeface="Rubik" pitchFamily="34" charset="-122"/>
                <a:cs typeface="Rubik" pitchFamily="34" charset="-120"/>
              </a:rPr>
              <a:t>WEEK 4 · CLASSES 10–12</a:t>
            </a:r>
            <a:endParaRPr lang="en-US" sz="1200" dirty="0"/>
          </a:p>
        </p:txBody>
      </p:sp>
      <p:sp>
        <p:nvSpPr>
          <p:cNvPr id="4" name="Text 2"/>
          <p:cNvSpPr/>
          <p:nvPr>
            <p:ph type="title"/>
          </p:nvPr>
        </p:nvSpPr>
        <p:spPr>
          <a:xfrm>
            <a:off x="812800" y="247392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7F5EF"/>
                </a:solidFill>
                <a:latin typeface="Rubik" pitchFamily="34" charset="0"/>
                <a:ea typeface="Rubik" pitchFamily="34" charset="-122"/>
                <a:cs typeface="Rubik" pitchFamily="34" charset="-120"/>
              </a:rPr>
              <a:t>Collections</a:t>
            </a:r>
            <a:endParaRPr lang="en-US" sz="6000" dirty="0"/>
          </a:p>
          <a:p>
            <a:pPr algn="l" indent="0" marL="0">
              <a:lnSpc>
                <a:spcPts val="6300"/>
              </a:lnSpc>
              <a:buNone/>
            </a:pPr>
            <a:r>
              <a:rPr lang="en-US" sz="6000" b="1" i="0" dirty="0">
                <a:solidFill>
                  <a:srgbClr val="F7F5EF"/>
                </a:solidFill>
                <a:latin typeface="Rubik" pitchFamily="34" charset="0"/>
                <a:ea typeface="Rubik" pitchFamily="34" charset="-122"/>
                <a:cs typeface="Rubik" pitchFamily="34" charset="-120"/>
              </a:rPr>
              <a:t>and Mini-project 1</a:t>
            </a:r>
            <a:endParaRPr lang="en-US" sz="6000" dirty="0"/>
          </a:p>
        </p:txBody>
      </p:sp>
      <p:sp>
        <p:nvSpPr>
          <p:cNvPr id="5" name="Text 3"/>
          <p:cNvSpPr/>
          <p:nvPr/>
        </p:nvSpPr>
        <p:spPr>
          <a:xfrm>
            <a:off x="812800" y="4302720"/>
            <a:ext cx="9144000"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4E2"/>
                </a:solidFill>
                <a:latin typeface="Rubik" pitchFamily="34" charset="0"/>
                <a:ea typeface="Rubik" pitchFamily="34" charset="-122"/>
                <a:cs typeface="Rubik" pitchFamily="34" charset="-120"/>
              </a:rPr>
              <a:t>Tables of data, tuples, sets and dictionaries, then your first real program</a:t>
            </a:r>
            <a:endParaRPr lang="en-US" sz="1800" dirty="0"/>
          </a:p>
        </p:txBody>
      </p:sp>
      <p:sp>
        <p:nvSpPr>
          <p:cNvPr id="6"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C6"/>
                </a:solidFill>
                <a:latin typeface="Rubik" pitchFamily="34" charset="0"/>
                <a:ea typeface="Rubik" pitchFamily="34" charset="-122"/>
                <a:cs typeface="Rubik" pitchFamily="34" charset="-120"/>
              </a:rPr>
              <a:t>Python Programming · B.Tech 1st Year · 8-week course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B33D"/>
        </a:solidFill>
      </p:bgPr>
    </p:bg>
    <p:spTree>
      <p:nvGrpSpPr>
        <p:cNvPr id="1" name=""/>
        <p:cNvGrpSpPr/>
        <p:nvPr/>
      </p:nvGrpSpPr>
      <p:grpSpPr>
        <a:xfrm>
          <a:off x="0" y="0"/>
          <a:ext cx="0" cy="0"/>
          <a:chOff x="0" y="0"/>
          <a:chExt cx="0" cy="0"/>
        </a:xfrm>
      </p:grpSpPr>
      <p:sp>
        <p:nvSpPr>
          <p:cNvPr id="2" name="Text 0"/>
          <p:cNvSpPr/>
          <p:nvPr/>
        </p:nvSpPr>
        <p:spPr>
          <a:xfrm>
            <a:off x="812800" y="2344473"/>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1B2A41"/>
                </a:solidFill>
                <a:latin typeface="Rubik" pitchFamily="34" charset="0"/>
                <a:ea typeface="Rubik" pitchFamily="34" charset="-122"/>
                <a:cs typeface="Rubik" pitchFamily="34" charset="-120"/>
              </a:rPr>
              <a:t>CLASS 10 OF 24</a:t>
            </a:r>
            <a:endParaRPr lang="en-US" sz="1200" dirty="0"/>
          </a:p>
        </p:txBody>
      </p:sp>
      <p:sp>
        <p:nvSpPr>
          <p:cNvPr id="3" name="Text 1"/>
          <p:cNvSpPr/>
          <p:nvPr>
            <p:ph type="title"/>
          </p:nvPr>
        </p:nvSpPr>
        <p:spPr>
          <a:xfrm>
            <a:off x="812800" y="2735593"/>
            <a:ext cx="5127752" cy="1305454"/>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1B2A41"/>
                </a:solidFill>
                <a:latin typeface="Rubik" pitchFamily="34" charset="0"/>
                <a:ea typeface="Rubik" pitchFamily="34" charset="-122"/>
                <a:cs typeface="Rubik" pitchFamily="34" charset="-120"/>
              </a:rPr>
              <a:t>Tables and shortcuts</a:t>
            </a:r>
            <a:endParaRPr lang="en-US" sz="4800" dirty="0"/>
          </a:p>
        </p:txBody>
      </p:sp>
      <p:sp>
        <p:nvSpPr>
          <p:cNvPr id="4" name="Text 2"/>
          <p:cNvSpPr/>
          <p:nvPr/>
        </p:nvSpPr>
        <p:spPr>
          <a:xfrm>
            <a:off x="812800" y="4193448"/>
            <a:ext cx="5127752"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B2A41"/>
                </a:solidFill>
                <a:latin typeface="Rubik" pitchFamily="34" charset="0"/>
                <a:ea typeface="Rubik" pitchFamily="34" charset="-122"/>
                <a:cs typeface="Rubik" pitchFamily="34" charset="-120"/>
              </a:rPr>
              <a:t>Lists inside lists, and building lists in one line</a:t>
            </a:r>
            <a:endParaRPr lang="en-US" sz="1800" dirty="0"/>
          </a:p>
        </p:txBody>
      </p:sp>
      <p:sp>
        <p:nvSpPr>
          <p:cNvPr id="5" name="Shape 3"/>
          <p:cNvSpPr/>
          <p:nvPr/>
        </p:nvSpPr>
        <p:spPr>
          <a:xfrm>
            <a:off x="6400800" y="2098014"/>
            <a:ext cx="4978400" cy="2661907"/>
          </a:xfrm>
          <a:prstGeom prst="roundRect">
            <a:avLst>
              <a:gd name="adj" fmla="val 5725"/>
            </a:avLst>
          </a:prstGeom>
          <a:solidFill>
            <a:srgbClr val="1B2A41"/>
          </a:solidFill>
          <a:ln/>
        </p:spPr>
      </p:sp>
      <p:sp>
        <p:nvSpPr>
          <p:cNvPr id="6" name="Text 4"/>
          <p:cNvSpPr/>
          <p:nvPr/>
        </p:nvSpPr>
        <p:spPr>
          <a:xfrm>
            <a:off x="6756400" y="2453614"/>
            <a:ext cx="439521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B33D"/>
                </a:solidFill>
                <a:latin typeface="Rubik" pitchFamily="34" charset="0"/>
                <a:ea typeface="Rubik" pitchFamily="34" charset="-122"/>
                <a:cs typeface="Rubik" pitchFamily="34" charset="-120"/>
              </a:rPr>
              <a:t>By the end of today you can</a:t>
            </a:r>
            <a:endParaRPr lang="en-US" sz="1800" dirty="0"/>
          </a:p>
        </p:txBody>
      </p:sp>
      <p:sp>
        <p:nvSpPr>
          <p:cNvPr id="7" name="Text 5"/>
          <p:cNvSpPr/>
          <p:nvPr/>
        </p:nvSpPr>
        <p:spPr>
          <a:xfrm>
            <a:off x="6840220" y="2880320"/>
            <a:ext cx="4303776" cy="1549400"/>
          </a:xfrm>
          <a:prstGeom prst="rect">
            <a:avLst/>
          </a:prstGeom>
          <a:noFill/>
          <a:ln/>
        </p:spPr>
        <p:txBody>
          <a:bodyPr wrap="square" lIns="0" tIns="0" rIns="0" bIns="0" rtlCol="0" anchor="t">
            <a:normAutofit/>
          </a:bodyPr>
          <a:lstStyle/>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Store a table as a 2D list</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Reach any cell with m[row][col]</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Loop over every row and cell</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Add two matrices</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Write list comprehensions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7397"/>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2A64A3"/>
                </a:solidFill>
                <a:latin typeface="Rubik" pitchFamily="34" charset="0"/>
                <a:ea typeface="Rubik" pitchFamily="34" charset="-122"/>
                <a:cs typeface="Rubik" pitchFamily="34" charset="-120"/>
              </a:rPr>
              <a:t>CLASS 10 · 2D LISTS</a:t>
            </a:r>
            <a:endParaRPr lang="en-US" sz="1196" dirty="0"/>
          </a:p>
        </p:txBody>
      </p:sp>
      <p:sp>
        <p:nvSpPr>
          <p:cNvPr id="3" name="Text 1"/>
          <p:cNvSpPr/>
          <p:nvPr>
            <p:ph type="title"/>
          </p:nvPr>
        </p:nvSpPr>
        <p:spPr>
          <a:xfrm>
            <a:off x="812800" y="1100998"/>
            <a:ext cx="10883392" cy="469635"/>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A table is a list of rows</a:t>
            </a:r>
            <a:endParaRPr lang="en-US" sz="3200" dirty="0"/>
          </a:p>
        </p:txBody>
      </p:sp>
      <p:sp>
        <p:nvSpPr>
          <p:cNvPr id="4" name="Shape 2"/>
          <p:cNvSpPr/>
          <p:nvPr/>
        </p:nvSpPr>
        <p:spPr>
          <a:xfrm>
            <a:off x="812800" y="1850033"/>
            <a:ext cx="5461529" cy="2359620"/>
          </a:xfrm>
          <a:prstGeom prst="roundRect">
            <a:avLst>
              <a:gd name="adj" fmla="val 5382"/>
            </a:avLst>
          </a:prstGeom>
          <a:solidFill>
            <a:srgbClr val="1B2A41"/>
          </a:solidFill>
          <a:ln/>
        </p:spPr>
      </p:sp>
      <p:sp>
        <p:nvSpPr>
          <p:cNvPr id="5" name="Text 3"/>
          <p:cNvSpPr/>
          <p:nvPr/>
        </p:nvSpPr>
        <p:spPr>
          <a:xfrm>
            <a:off x="1066800" y="2027833"/>
            <a:ext cx="51021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matrix.py</a:t>
            </a:r>
            <a:endParaRPr lang="en-US" sz="1200" dirty="0"/>
          </a:p>
        </p:txBody>
      </p:sp>
      <p:sp>
        <p:nvSpPr>
          <p:cNvPr id="6" name="Text 4"/>
          <p:cNvSpPr/>
          <p:nvPr/>
        </p:nvSpPr>
        <p:spPr>
          <a:xfrm>
            <a:off x="1066800" y="2317353"/>
            <a:ext cx="5102135" cy="1739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m = [[1, 2, 3],</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[4, 5, 6],</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[7, 8, 9]]</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(m[0])</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(m[1][2])</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F2B33D"/>
                </a:solidFill>
                <a:latin typeface="JetBrains Mono" pitchFamily="49" charset="0"/>
                <a:ea typeface="JetBrains Mono" pitchFamily="49" charset="-122"/>
                <a:cs typeface="JetBrains Mono" pitchFamily="49" charset="-120"/>
              </a:rPr>
              <a:t>len</a:t>
            </a:r>
            <a:r>
              <a:rPr lang="en-US" sz="1500" dirty="0">
                <a:solidFill>
                  <a:srgbClr val="E8EDF3"/>
                </a:solidFill>
                <a:latin typeface="JetBrains Mono" pitchFamily="49" charset="0"/>
                <a:ea typeface="JetBrains Mono" pitchFamily="49" charset="-122"/>
                <a:cs typeface="JetBrains Mono" pitchFamily="49" charset="-120"/>
              </a:rPr>
              <a:t>(m), </a:t>
            </a:r>
            <a:r>
              <a:rPr lang="en-US" sz="1500" dirty="0">
                <a:solidFill>
                  <a:srgbClr val="F2B33D"/>
                </a:solidFill>
                <a:latin typeface="JetBrains Mono" pitchFamily="49" charset="0"/>
                <a:ea typeface="JetBrains Mono" pitchFamily="49" charset="-122"/>
                <a:cs typeface="JetBrains Mono" pitchFamily="49" charset="-120"/>
              </a:rPr>
              <a:t>len</a:t>
            </a:r>
            <a:r>
              <a:rPr lang="en-US" sz="1500" dirty="0">
                <a:solidFill>
                  <a:srgbClr val="E8EDF3"/>
                </a:solidFill>
                <a:latin typeface="JetBrains Mono" pitchFamily="49" charset="0"/>
                <a:ea typeface="JetBrains Mono" pitchFamily="49" charset="-122"/>
                <a:cs typeface="JetBrains Mono" pitchFamily="49" charset="-120"/>
              </a:rPr>
              <a:t>(m[0]))</a:t>
            </a:r>
            <a:endParaRPr lang="en-US" sz="1500" dirty="0"/>
          </a:p>
        </p:txBody>
      </p:sp>
      <p:sp>
        <p:nvSpPr>
          <p:cNvPr id="7" name="Shape 5"/>
          <p:cNvSpPr/>
          <p:nvPr/>
        </p:nvSpPr>
        <p:spPr>
          <a:xfrm>
            <a:off x="819150" y="4343003"/>
            <a:ext cx="5448829" cy="1515070"/>
          </a:xfrm>
          <a:prstGeom prst="roundRect">
            <a:avLst>
              <a:gd name="adj" fmla="val 7963"/>
            </a:avLst>
          </a:prstGeom>
          <a:solidFill>
            <a:srgbClr val="FFFDF8"/>
          </a:solidFill>
          <a:ln w="12700">
            <a:solidFill>
              <a:srgbClr val="D9DEE5"/>
            </a:solidFill>
            <a:prstDash val="solid"/>
          </a:ln>
        </p:spPr>
      </p:sp>
      <p:sp>
        <p:nvSpPr>
          <p:cNvPr id="8" name="Text 6"/>
          <p:cNvSpPr/>
          <p:nvPr/>
        </p:nvSpPr>
        <p:spPr>
          <a:xfrm>
            <a:off x="1079500" y="4527153"/>
            <a:ext cx="507597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a:t>
            </a:r>
            <a:endParaRPr lang="en-US" sz="1200" dirty="0"/>
          </a:p>
        </p:txBody>
      </p:sp>
      <p:sp>
        <p:nvSpPr>
          <p:cNvPr id="9" name="Text 7"/>
          <p:cNvSpPr/>
          <p:nvPr/>
        </p:nvSpPr>
        <p:spPr>
          <a:xfrm>
            <a:off x="1079500" y="4816673"/>
            <a:ext cx="5075973" cy="882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[1, 2, 3]</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6</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3 3</a:t>
            </a:r>
            <a:endParaRPr lang="en-US" sz="1500" dirty="0"/>
          </a:p>
        </p:txBody>
      </p:sp>
      <p:sp>
        <p:nvSpPr>
          <p:cNvPr id="10" name="Shape 8"/>
          <p:cNvSpPr/>
          <p:nvPr/>
        </p:nvSpPr>
        <p:spPr>
          <a:xfrm>
            <a:off x="6636279" y="1856383"/>
            <a:ext cx="4736571" cy="1176007"/>
          </a:xfrm>
          <a:prstGeom prst="roundRect">
            <a:avLst>
              <a:gd name="adj" fmla="val 8099"/>
            </a:avLst>
          </a:prstGeom>
          <a:solidFill>
            <a:srgbClr val="FFFDF8"/>
          </a:solidFill>
          <a:ln w="12700">
            <a:solidFill>
              <a:srgbClr val="E2DED3"/>
            </a:solidFill>
            <a:prstDash val="solid"/>
          </a:ln>
        </p:spPr>
      </p:sp>
      <p:sp>
        <p:nvSpPr>
          <p:cNvPr id="11" name="Text 9"/>
          <p:cNvSpPr/>
          <p:nvPr/>
        </p:nvSpPr>
        <p:spPr>
          <a:xfrm>
            <a:off x="6845829" y="2015133"/>
            <a:ext cx="4446995"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m[row][col]</a:t>
            </a:r>
            <a:endParaRPr lang="en-US" sz="1800" dirty="0"/>
          </a:p>
        </p:txBody>
      </p:sp>
      <p:sp>
        <p:nvSpPr>
          <p:cNvPr id="12" name="Text 10"/>
          <p:cNvSpPr/>
          <p:nvPr/>
        </p:nvSpPr>
        <p:spPr>
          <a:xfrm>
            <a:off x="6845829" y="2340240"/>
            <a:ext cx="444699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First pick the row, then the column inside that row.</a:t>
            </a:r>
            <a:endParaRPr lang="en-US" sz="1500" dirty="0"/>
          </a:p>
        </p:txBody>
      </p:sp>
      <p:sp>
        <p:nvSpPr>
          <p:cNvPr id="13" name="Text 11"/>
          <p:cNvSpPr/>
          <p:nvPr/>
        </p:nvSpPr>
        <p:spPr>
          <a:xfrm>
            <a:off x="6629929" y="3165740"/>
            <a:ext cx="4749271" cy="838200"/>
          </a:xfrm>
          <a:prstGeom prst="roundRect">
            <a:avLst>
              <a:gd name="adj" fmla="val 15152"/>
            </a:avLst>
          </a:prstGeom>
          <a:solidFill>
            <a:srgbClr val="FBEFD5"/>
          </a:solidFill>
          <a:ln/>
        </p:spPr>
        <p:txBody>
          <a:bodyPr wrap="square" lIns="166003" tIns="115203" rIns="35717" bIns="89803" rtlCol="0" anchor="t">
            <a:normAutofit/>
          </a:bodyPr>
          <a:lstStyle/>
          <a:p>
            <a:pPr algn="l" indent="0" marL="0">
              <a:lnSpc>
                <a:spcPts val="2100"/>
              </a:lnSpc>
              <a:buNone/>
            </a:pPr>
            <a:r>
              <a:rPr lang="en-US" sz="1500" dirty="0">
                <a:solidFill>
                  <a:srgbClr val="1B2A41"/>
                </a:solidFill>
                <a:latin typeface="Rubik" pitchFamily="34" charset="0"/>
                <a:ea typeface="Rubik" pitchFamily="34" charset="-122"/>
                <a:cs typeface="Rubik" pitchFamily="34" charset="-120"/>
              </a:rPr>
              <a:t>Like a class register: each row is a student, each column a subject.</a:t>
            </a:r>
            <a:endParaRPr lang="en-US" sz="1500" dirty="0"/>
          </a:p>
        </p:txBody>
      </p:sp>
      <p:sp>
        <p:nvSpPr>
          <p:cNvPr id="14" name="Text 12"/>
          <p:cNvSpPr/>
          <p:nvPr/>
        </p:nvSpPr>
        <p:spPr>
          <a:xfrm>
            <a:off x="6629929" y="4130940"/>
            <a:ext cx="4891749"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2A64A3"/>
                </a:solidFill>
                <a:latin typeface="Rubik" pitchFamily="34" charset="0"/>
                <a:ea typeface="Rubik" pitchFamily="34" charset="-122"/>
                <a:cs typeface="Rubik" pitchFamily="34" charset="-120"/>
              </a:rPr>
              <a:t>len(m)</a:t>
            </a:r>
            <a:r>
              <a:rPr lang="en-US" sz="1500" dirty="0">
                <a:solidFill>
                  <a:srgbClr val="4A5568"/>
                </a:solidFill>
                <a:latin typeface="Rubik" pitchFamily="34" charset="0"/>
                <a:ea typeface="Rubik" pitchFamily="34" charset="-122"/>
                <a:cs typeface="Rubik" pitchFamily="34" charset="-120"/>
              </a:rPr>
              <a:t> counts rows. </a:t>
            </a:r>
            <a:r>
              <a:rPr lang="en-US" sz="1500" dirty="0">
                <a:solidFill>
                  <a:srgbClr val="2A64A3"/>
                </a:solidFill>
                <a:latin typeface="Rubik" pitchFamily="34" charset="0"/>
                <a:ea typeface="Rubik" pitchFamily="34" charset="-122"/>
                <a:cs typeface="Rubik" pitchFamily="34" charset="-120"/>
              </a:rPr>
              <a:t>len(m[0])</a:t>
            </a:r>
            <a:r>
              <a:rPr lang="en-US" sz="1500" dirty="0">
                <a:solidFill>
                  <a:srgbClr val="4A5568"/>
                </a:solidFill>
                <a:latin typeface="Rubik" pitchFamily="34" charset="0"/>
                <a:ea typeface="Rubik" pitchFamily="34" charset="-122"/>
                <a:cs typeface="Rubik" pitchFamily="34" charset="-120"/>
              </a:rPr>
              <a:t> counts columns.</a:t>
            </a:r>
            <a:endParaRPr lang="en-US" sz="15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4 · Class 10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10 · LOOPING A TABLE</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Visiting every cell</a:t>
            </a:r>
            <a:endParaRPr lang="en-US" sz="3200" dirty="0"/>
          </a:p>
        </p:txBody>
      </p:sp>
      <p:sp>
        <p:nvSpPr>
          <p:cNvPr id="4" name="Shape 2"/>
          <p:cNvSpPr/>
          <p:nvPr/>
        </p:nvSpPr>
        <p:spPr>
          <a:xfrm>
            <a:off x="812800" y="1854135"/>
            <a:ext cx="5771290" cy="2073870"/>
          </a:xfrm>
          <a:prstGeom prst="roundRect">
            <a:avLst>
              <a:gd name="adj" fmla="val 6124"/>
            </a:avLst>
          </a:prstGeom>
          <a:solidFill>
            <a:srgbClr val="1B2A41"/>
          </a:solidFill>
          <a:ln/>
        </p:spPr>
      </p:sp>
      <p:sp>
        <p:nvSpPr>
          <p:cNvPr id="5" name="Text 3"/>
          <p:cNvSpPr/>
          <p:nvPr/>
        </p:nvSpPr>
        <p:spPr>
          <a:xfrm>
            <a:off x="1066800" y="2031935"/>
            <a:ext cx="54211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rows.py</a:t>
            </a:r>
            <a:endParaRPr lang="en-US" sz="1200" dirty="0"/>
          </a:p>
        </p:txBody>
      </p:sp>
      <p:sp>
        <p:nvSpPr>
          <p:cNvPr id="6" name="Text 4"/>
          <p:cNvSpPr/>
          <p:nvPr/>
        </p:nvSpPr>
        <p:spPr>
          <a:xfrm>
            <a:off x="1066800" y="2321455"/>
            <a:ext cx="5421189" cy="1454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m = [[1, 2, 3], [4, 5, 6], [7, 8, 9]]</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for</a:t>
            </a:r>
            <a:r>
              <a:rPr lang="en-US" sz="1500" dirty="0">
                <a:solidFill>
                  <a:srgbClr val="E8EDF3"/>
                </a:solidFill>
                <a:latin typeface="JetBrains Mono" pitchFamily="49" charset="0"/>
                <a:ea typeface="JetBrains Mono" pitchFamily="49" charset="-122"/>
                <a:cs typeface="JetBrains Mono" pitchFamily="49" charset="-120"/>
              </a:rPr>
              <a:t> row </a:t>
            </a:r>
            <a:r>
              <a:rPr lang="en-US" sz="1500" dirty="0">
                <a:solidFill>
                  <a:srgbClr val="F2B33D"/>
                </a:solidFill>
                <a:latin typeface="JetBrains Mono" pitchFamily="49" charset="0"/>
                <a:ea typeface="JetBrains Mono" pitchFamily="49" charset="-122"/>
                <a:cs typeface="JetBrains Mono" pitchFamily="49" charset="-120"/>
              </a:rPr>
              <a:t>in</a:t>
            </a:r>
            <a:r>
              <a:rPr lang="en-US" sz="1500" dirty="0">
                <a:solidFill>
                  <a:srgbClr val="E8EDF3"/>
                </a:solidFill>
                <a:latin typeface="JetBrains Mono" pitchFamily="49" charset="0"/>
                <a:ea typeface="JetBrains Mono" pitchFamily="49" charset="-122"/>
                <a:cs typeface="JetBrains Mono" pitchFamily="49" charset="-120"/>
              </a:rPr>
              <a:t> m:</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for</a:t>
            </a:r>
            <a:r>
              <a:rPr lang="en-US" sz="1500" dirty="0">
                <a:solidFill>
                  <a:srgbClr val="E8EDF3"/>
                </a:solidFill>
                <a:latin typeface="JetBrains Mono" pitchFamily="49" charset="0"/>
                <a:ea typeface="JetBrains Mono" pitchFamily="49" charset="-122"/>
                <a:cs typeface="JetBrains Mono" pitchFamily="49" charset="-120"/>
              </a:rPr>
              <a:t> x </a:t>
            </a:r>
            <a:r>
              <a:rPr lang="en-US" sz="1500" dirty="0">
                <a:solidFill>
                  <a:srgbClr val="F2B33D"/>
                </a:solidFill>
                <a:latin typeface="JetBrains Mono" pitchFamily="49" charset="0"/>
                <a:ea typeface="JetBrains Mono" pitchFamily="49" charset="-122"/>
                <a:cs typeface="JetBrains Mono" pitchFamily="49" charset="-120"/>
              </a:rPr>
              <a:t>in</a:t>
            </a:r>
            <a:r>
              <a:rPr lang="en-US" sz="1500" dirty="0">
                <a:solidFill>
                  <a:srgbClr val="E8EDF3"/>
                </a:solidFill>
                <a:latin typeface="JetBrains Mono" pitchFamily="49" charset="0"/>
                <a:ea typeface="JetBrains Mono" pitchFamily="49" charset="-122"/>
                <a:cs typeface="JetBrains Mono" pitchFamily="49" charset="-120"/>
              </a:rPr>
              <a:t> row:</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(x, end=</a:t>
            </a:r>
            <a:r>
              <a:rPr lang="en-US" sz="1500" dirty="0">
                <a:solidFill>
                  <a:srgbClr val="9FD8A8"/>
                </a:solidFill>
                <a:latin typeface="JetBrains Mono" pitchFamily="49" charset="0"/>
                <a:ea typeface="JetBrains Mono" pitchFamily="49" charset="-122"/>
                <a:cs typeface="JetBrains Mono" pitchFamily="49" charset="-120"/>
              </a:rPr>
              <a:t>" "</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 sum ="</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sum</a:t>
            </a:r>
            <a:r>
              <a:rPr lang="en-US" sz="1500" dirty="0">
                <a:solidFill>
                  <a:srgbClr val="E8EDF3"/>
                </a:solidFill>
                <a:latin typeface="JetBrains Mono" pitchFamily="49" charset="0"/>
                <a:ea typeface="JetBrains Mono" pitchFamily="49" charset="-122"/>
                <a:cs typeface="JetBrains Mono" pitchFamily="49" charset="-120"/>
              </a:rPr>
              <a:t>(row))</a:t>
            </a:r>
            <a:endParaRPr lang="en-US" sz="1500" dirty="0"/>
          </a:p>
        </p:txBody>
      </p:sp>
      <p:sp>
        <p:nvSpPr>
          <p:cNvPr id="7" name="Shape 5"/>
          <p:cNvSpPr/>
          <p:nvPr/>
        </p:nvSpPr>
        <p:spPr>
          <a:xfrm>
            <a:off x="819150" y="4061355"/>
            <a:ext cx="5758590" cy="1515070"/>
          </a:xfrm>
          <a:prstGeom prst="roundRect">
            <a:avLst>
              <a:gd name="adj" fmla="val 7963"/>
            </a:avLst>
          </a:prstGeom>
          <a:solidFill>
            <a:srgbClr val="FFFDF8"/>
          </a:solidFill>
          <a:ln w="12700">
            <a:solidFill>
              <a:srgbClr val="D9DEE5"/>
            </a:solidFill>
            <a:prstDash val="solid"/>
          </a:ln>
        </p:spPr>
      </p:sp>
      <p:sp>
        <p:nvSpPr>
          <p:cNvPr id="8" name="Text 6"/>
          <p:cNvSpPr/>
          <p:nvPr/>
        </p:nvSpPr>
        <p:spPr>
          <a:xfrm>
            <a:off x="1079500" y="4245505"/>
            <a:ext cx="5395027"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a:t>
            </a:r>
            <a:endParaRPr lang="en-US" sz="1200" dirty="0"/>
          </a:p>
        </p:txBody>
      </p:sp>
      <p:sp>
        <p:nvSpPr>
          <p:cNvPr id="9" name="Text 7"/>
          <p:cNvSpPr/>
          <p:nvPr/>
        </p:nvSpPr>
        <p:spPr>
          <a:xfrm>
            <a:off x="1079500" y="4535026"/>
            <a:ext cx="5395027" cy="882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1 2 3 | sum = 6</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4 5 6 | sum = 15</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7 8 9 | sum = 24</a:t>
            </a:r>
            <a:endParaRPr lang="en-US" sz="1500" dirty="0"/>
          </a:p>
        </p:txBody>
      </p:sp>
      <p:sp>
        <p:nvSpPr>
          <p:cNvPr id="10" name="Shape 8"/>
          <p:cNvSpPr/>
          <p:nvPr/>
        </p:nvSpPr>
        <p:spPr>
          <a:xfrm>
            <a:off x="6946040" y="1860485"/>
            <a:ext cx="4426810" cy="749300"/>
          </a:xfrm>
          <a:prstGeom prst="roundRect">
            <a:avLst>
              <a:gd name="adj" fmla="val 11017"/>
            </a:avLst>
          </a:prstGeom>
          <a:solidFill>
            <a:srgbClr val="FFFDF8"/>
          </a:solidFill>
          <a:ln w="12700">
            <a:solidFill>
              <a:srgbClr val="E2DED3"/>
            </a:solidFill>
            <a:prstDash val="solid"/>
          </a:ln>
        </p:spPr>
      </p:sp>
      <p:sp>
        <p:nvSpPr>
          <p:cNvPr id="11" name="Text 9"/>
          <p:cNvSpPr/>
          <p:nvPr/>
        </p:nvSpPr>
        <p:spPr>
          <a:xfrm>
            <a:off x="7104790" y="2101785"/>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1</a:t>
            </a:r>
            <a:endParaRPr lang="en-US" sz="1500" dirty="0"/>
          </a:p>
        </p:txBody>
      </p:sp>
      <p:sp>
        <p:nvSpPr>
          <p:cNvPr id="12" name="Text 10"/>
          <p:cNvSpPr/>
          <p:nvPr/>
        </p:nvSpPr>
        <p:spPr>
          <a:xfrm>
            <a:off x="7561990" y="1968435"/>
            <a:ext cx="3761673"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Outer loop:</a:t>
            </a:r>
            <a:r>
              <a:rPr lang="en-US" sz="1500" dirty="0">
                <a:solidFill>
                  <a:srgbClr val="4A5568"/>
                </a:solidFill>
                <a:latin typeface="Rubik" pitchFamily="34" charset="0"/>
                <a:ea typeface="Rubik" pitchFamily="34" charset="-122"/>
                <a:cs typeface="Rubik" pitchFamily="34" charset="-120"/>
              </a:rPr>
              <a:t> gives one row (a list) per round</a:t>
            </a:r>
            <a:endParaRPr lang="en-US" sz="1500" dirty="0"/>
          </a:p>
        </p:txBody>
      </p:sp>
      <p:sp>
        <p:nvSpPr>
          <p:cNvPr id="13" name="Shape 11"/>
          <p:cNvSpPr/>
          <p:nvPr/>
        </p:nvSpPr>
        <p:spPr>
          <a:xfrm>
            <a:off x="6946040" y="2749485"/>
            <a:ext cx="4426810" cy="749300"/>
          </a:xfrm>
          <a:prstGeom prst="roundRect">
            <a:avLst>
              <a:gd name="adj" fmla="val 11017"/>
            </a:avLst>
          </a:prstGeom>
          <a:solidFill>
            <a:srgbClr val="FFFDF8"/>
          </a:solidFill>
          <a:ln w="12700">
            <a:solidFill>
              <a:srgbClr val="E2DED3"/>
            </a:solidFill>
            <a:prstDash val="solid"/>
          </a:ln>
        </p:spPr>
      </p:sp>
      <p:sp>
        <p:nvSpPr>
          <p:cNvPr id="14" name="Text 12"/>
          <p:cNvSpPr/>
          <p:nvPr/>
        </p:nvSpPr>
        <p:spPr>
          <a:xfrm>
            <a:off x="7104790" y="2990785"/>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2</a:t>
            </a:r>
            <a:endParaRPr lang="en-US" sz="1500" dirty="0"/>
          </a:p>
        </p:txBody>
      </p:sp>
      <p:sp>
        <p:nvSpPr>
          <p:cNvPr id="15" name="Text 13"/>
          <p:cNvSpPr/>
          <p:nvPr/>
        </p:nvSpPr>
        <p:spPr>
          <a:xfrm>
            <a:off x="7561990" y="2857435"/>
            <a:ext cx="3761673"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Inner loop:</a:t>
            </a:r>
            <a:r>
              <a:rPr lang="en-US" sz="1500" dirty="0">
                <a:solidFill>
                  <a:srgbClr val="4A5568"/>
                </a:solidFill>
                <a:latin typeface="Rubik" pitchFamily="34" charset="0"/>
                <a:ea typeface="Rubik" pitchFamily="34" charset="-122"/>
                <a:cs typeface="Rubik" pitchFamily="34" charset="-120"/>
              </a:rPr>
              <a:t> gives each number in that row</a:t>
            </a:r>
            <a:endParaRPr lang="en-US" sz="1500" dirty="0"/>
          </a:p>
        </p:txBody>
      </p:sp>
      <p:sp>
        <p:nvSpPr>
          <p:cNvPr id="16" name="Shape 14"/>
          <p:cNvSpPr/>
          <p:nvPr/>
        </p:nvSpPr>
        <p:spPr>
          <a:xfrm>
            <a:off x="6939690" y="3632135"/>
            <a:ext cx="4439510" cy="787400"/>
          </a:xfrm>
          <a:prstGeom prst="roundRect">
            <a:avLst>
              <a:gd name="adj" fmla="val 11290"/>
            </a:avLst>
          </a:prstGeom>
          <a:solidFill>
            <a:srgbClr val="FBEFD5"/>
          </a:solidFill>
          <a:ln/>
        </p:spPr>
      </p:sp>
      <p:pic>
        <p:nvPicPr>
          <p:cNvPr id="17" name="Image 0" descr="Lightbulb">    </p:cNvPr>
          <p:cNvPicPr>
            <a:picLocks noChangeAspect="1"/>
          </p:cNvPicPr>
          <p:nvPr/>
        </p:nvPicPr>
        <p:blipFill>
          <a:blip r:embed="rId1"/>
          <a:srcRect l="-108" r="-108" t="0" b="0"/>
          <a:stretch/>
        </p:blipFill>
        <p:spPr>
          <a:xfrm>
            <a:off x="7117490" y="3873435"/>
            <a:ext cx="184547" cy="304800"/>
          </a:xfrm>
          <a:prstGeom prst="rect">
            <a:avLst/>
          </a:prstGeom>
        </p:spPr>
      </p:pic>
      <p:sp>
        <p:nvSpPr>
          <p:cNvPr id="18" name="Text 15"/>
          <p:cNvSpPr/>
          <p:nvPr/>
        </p:nvSpPr>
        <p:spPr>
          <a:xfrm>
            <a:off x="7429037" y="3759135"/>
            <a:ext cx="388553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Rubik" pitchFamily="34" charset="0"/>
                <a:ea typeface="Rubik" pitchFamily="34" charset="-122"/>
                <a:cs typeface="Rubik" pitchFamily="34" charset="-120"/>
              </a:rPr>
              <a:t>Same shape as the Week 2 star patterns: rows outside, columns inside.</a:t>
            </a:r>
            <a:endParaRPr lang="en-US" sz="1500" dirty="0"/>
          </a:p>
        </p:txBody>
      </p:sp>
      <p:sp>
        <p:nvSpPr>
          <p:cNvPr id="19"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4 · Class 10</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10 · MATRIX ADDITION</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Adding two matrices</a:t>
            </a:r>
            <a:endParaRPr lang="en-US" sz="3200" dirty="0"/>
          </a:p>
        </p:txBody>
      </p:sp>
      <p:sp>
        <p:nvSpPr>
          <p:cNvPr id="4" name="Shape 2"/>
          <p:cNvSpPr/>
          <p:nvPr/>
        </p:nvSpPr>
        <p:spPr>
          <a:xfrm>
            <a:off x="812800" y="1854135"/>
            <a:ext cx="5771290" cy="3216870"/>
          </a:xfrm>
          <a:prstGeom prst="roundRect">
            <a:avLst>
              <a:gd name="adj" fmla="val 3948"/>
            </a:avLst>
          </a:prstGeom>
          <a:solidFill>
            <a:srgbClr val="1B2A41"/>
          </a:solidFill>
          <a:ln/>
        </p:spPr>
      </p:sp>
      <p:sp>
        <p:nvSpPr>
          <p:cNvPr id="5" name="Text 3"/>
          <p:cNvSpPr/>
          <p:nvPr/>
        </p:nvSpPr>
        <p:spPr>
          <a:xfrm>
            <a:off x="1066800" y="2031935"/>
            <a:ext cx="54211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matrix_add.py</a:t>
            </a:r>
            <a:endParaRPr lang="en-US" sz="1200" dirty="0"/>
          </a:p>
        </p:txBody>
      </p:sp>
      <p:sp>
        <p:nvSpPr>
          <p:cNvPr id="6" name="Text 4"/>
          <p:cNvSpPr/>
          <p:nvPr/>
        </p:nvSpPr>
        <p:spPr>
          <a:xfrm>
            <a:off x="1066800" y="2321455"/>
            <a:ext cx="5421189" cy="2597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A = [[1, 2], [3, 4]]</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B = [[5, 6], [7, 8]]</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C = []</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for</a:t>
            </a:r>
            <a:r>
              <a:rPr lang="en-US" sz="1500" dirty="0">
                <a:solidFill>
                  <a:srgbClr val="E8EDF3"/>
                </a:solidFill>
                <a:latin typeface="JetBrains Mono" pitchFamily="49" charset="0"/>
                <a:ea typeface="JetBrains Mono" pitchFamily="49" charset="-122"/>
                <a:cs typeface="JetBrains Mono" pitchFamily="49" charset="-120"/>
              </a:rPr>
              <a:t> i </a:t>
            </a:r>
            <a:r>
              <a:rPr lang="en-US" sz="1500" dirty="0">
                <a:solidFill>
                  <a:srgbClr val="F2B33D"/>
                </a:solidFill>
                <a:latin typeface="JetBrains Mono" pitchFamily="49" charset="0"/>
                <a:ea typeface="JetBrains Mono" pitchFamily="49" charset="-122"/>
                <a:cs typeface="JetBrains Mono" pitchFamily="49" charset="-120"/>
              </a:rPr>
              <a:t>in</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range</a:t>
            </a:r>
            <a:r>
              <a:rPr lang="en-US" sz="1500" dirty="0">
                <a:solidFill>
                  <a:srgbClr val="E8EDF3"/>
                </a:solidFill>
                <a:latin typeface="JetBrains Mono" pitchFamily="49" charset="0"/>
                <a:ea typeface="JetBrains Mono" pitchFamily="49" charset="-122"/>
                <a:cs typeface="JetBrains Mono" pitchFamily="49" charset="-120"/>
              </a:rPr>
              <a:t>(2):</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row = []</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for</a:t>
            </a:r>
            <a:r>
              <a:rPr lang="en-US" sz="1500" dirty="0">
                <a:solidFill>
                  <a:srgbClr val="E8EDF3"/>
                </a:solidFill>
                <a:latin typeface="JetBrains Mono" pitchFamily="49" charset="0"/>
                <a:ea typeface="JetBrains Mono" pitchFamily="49" charset="-122"/>
                <a:cs typeface="JetBrains Mono" pitchFamily="49" charset="-120"/>
              </a:rPr>
              <a:t> j </a:t>
            </a:r>
            <a:r>
              <a:rPr lang="en-US" sz="1500" dirty="0">
                <a:solidFill>
                  <a:srgbClr val="F2B33D"/>
                </a:solidFill>
                <a:latin typeface="JetBrains Mono" pitchFamily="49" charset="0"/>
                <a:ea typeface="JetBrains Mono" pitchFamily="49" charset="-122"/>
                <a:cs typeface="JetBrains Mono" pitchFamily="49" charset="-120"/>
              </a:rPr>
              <a:t>in</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range</a:t>
            </a:r>
            <a:r>
              <a:rPr lang="en-US" sz="1500" dirty="0">
                <a:solidFill>
                  <a:srgbClr val="E8EDF3"/>
                </a:solidFill>
                <a:latin typeface="JetBrains Mono" pitchFamily="49" charset="0"/>
                <a:ea typeface="JetBrains Mono" pitchFamily="49" charset="-122"/>
                <a:cs typeface="JetBrains Mono" pitchFamily="49" charset="-120"/>
              </a:rPr>
              <a:t>(2):</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row.append(A[i][j] + B[i][j])</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C.append(row)</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(C)</a:t>
            </a:r>
            <a:endParaRPr lang="en-US" sz="1500" dirty="0"/>
          </a:p>
        </p:txBody>
      </p:sp>
      <p:sp>
        <p:nvSpPr>
          <p:cNvPr id="7" name="Shape 5"/>
          <p:cNvSpPr/>
          <p:nvPr/>
        </p:nvSpPr>
        <p:spPr>
          <a:xfrm>
            <a:off x="6946040" y="1860485"/>
            <a:ext cx="4426810" cy="1156891"/>
          </a:xfrm>
          <a:prstGeom prst="roundRect">
            <a:avLst>
              <a:gd name="adj" fmla="val 10429"/>
            </a:avLst>
          </a:prstGeom>
          <a:solidFill>
            <a:srgbClr val="FFFDF8"/>
          </a:solidFill>
          <a:ln w="12700">
            <a:solidFill>
              <a:srgbClr val="D9DEE5"/>
            </a:solidFill>
            <a:prstDash val="solid"/>
          </a:ln>
        </p:spPr>
      </p:sp>
      <p:sp>
        <p:nvSpPr>
          <p:cNvPr id="8" name="Text 6"/>
          <p:cNvSpPr/>
          <p:nvPr/>
        </p:nvSpPr>
        <p:spPr>
          <a:xfrm>
            <a:off x="7206390" y="2044635"/>
            <a:ext cx="4023293" cy="452041"/>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 · ORANGE = WHAT THE USER TYPES</a:t>
            </a:r>
            <a:endParaRPr lang="en-US" sz="1200" dirty="0"/>
          </a:p>
        </p:txBody>
      </p:sp>
      <p:sp>
        <p:nvSpPr>
          <p:cNvPr id="9" name="Text 7"/>
          <p:cNvSpPr/>
          <p:nvPr/>
        </p:nvSpPr>
        <p:spPr>
          <a:xfrm>
            <a:off x="7206390" y="2547476"/>
            <a:ext cx="4023293"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B54708"/>
                </a:solidFill>
                <a:latin typeface="JetBrains Mono" pitchFamily="49" charset="0"/>
                <a:ea typeface="JetBrains Mono" pitchFamily="49" charset="-122"/>
                <a:cs typeface="JetBrains Mono" pitchFamily="49" charset="-120"/>
              </a:rPr>
              <a:t>6, 8], [10, 12</a:t>
            </a:r>
            <a:endParaRPr lang="en-US" sz="1500" dirty="0"/>
          </a:p>
        </p:txBody>
      </p:sp>
      <p:sp>
        <p:nvSpPr>
          <p:cNvPr id="10" name="Shape 8"/>
          <p:cNvSpPr/>
          <p:nvPr/>
        </p:nvSpPr>
        <p:spPr>
          <a:xfrm>
            <a:off x="6946040" y="3157076"/>
            <a:ext cx="4426810" cy="482600"/>
          </a:xfrm>
          <a:prstGeom prst="roundRect">
            <a:avLst>
              <a:gd name="adj" fmla="val 17105"/>
            </a:avLst>
          </a:prstGeom>
          <a:solidFill>
            <a:srgbClr val="FFFDF8"/>
          </a:solidFill>
          <a:ln w="12700">
            <a:solidFill>
              <a:srgbClr val="E2DED3"/>
            </a:solidFill>
            <a:prstDash val="solid"/>
          </a:ln>
        </p:spPr>
      </p:sp>
      <p:sp>
        <p:nvSpPr>
          <p:cNvPr id="11" name="Text 9"/>
          <p:cNvSpPr/>
          <p:nvPr/>
        </p:nvSpPr>
        <p:spPr>
          <a:xfrm>
            <a:off x="7104790" y="3265026"/>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1</a:t>
            </a:r>
            <a:endParaRPr lang="en-US" sz="1500" dirty="0"/>
          </a:p>
        </p:txBody>
      </p:sp>
      <p:sp>
        <p:nvSpPr>
          <p:cNvPr id="12" name="Text 10"/>
          <p:cNvSpPr/>
          <p:nvPr/>
        </p:nvSpPr>
        <p:spPr>
          <a:xfrm>
            <a:off x="7561990" y="3265026"/>
            <a:ext cx="351464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Each row:</a:t>
            </a:r>
            <a:r>
              <a:rPr lang="en-US" sz="1500" dirty="0">
                <a:solidFill>
                  <a:srgbClr val="4A5568"/>
                </a:solidFill>
                <a:latin typeface="Rubik" pitchFamily="34" charset="0"/>
                <a:ea typeface="Rubik" pitchFamily="34" charset="-122"/>
                <a:cs typeface="Rubik" pitchFamily="34" charset="-120"/>
              </a:rPr>
              <a:t> starts as an empty list</a:t>
            </a:r>
            <a:endParaRPr lang="en-US" sz="1500" dirty="0"/>
          </a:p>
        </p:txBody>
      </p:sp>
      <p:sp>
        <p:nvSpPr>
          <p:cNvPr id="13" name="Shape 11"/>
          <p:cNvSpPr/>
          <p:nvPr/>
        </p:nvSpPr>
        <p:spPr>
          <a:xfrm>
            <a:off x="6946040" y="3779376"/>
            <a:ext cx="4426810" cy="482600"/>
          </a:xfrm>
          <a:prstGeom prst="roundRect">
            <a:avLst>
              <a:gd name="adj" fmla="val 17105"/>
            </a:avLst>
          </a:prstGeom>
          <a:solidFill>
            <a:srgbClr val="FFFDF8"/>
          </a:solidFill>
          <a:ln w="12700">
            <a:solidFill>
              <a:srgbClr val="E2DED3"/>
            </a:solidFill>
            <a:prstDash val="solid"/>
          </a:ln>
        </p:spPr>
      </p:sp>
      <p:sp>
        <p:nvSpPr>
          <p:cNvPr id="14" name="Text 12"/>
          <p:cNvSpPr/>
          <p:nvPr/>
        </p:nvSpPr>
        <p:spPr>
          <a:xfrm>
            <a:off x="7104790" y="3887326"/>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2</a:t>
            </a:r>
            <a:endParaRPr lang="en-US" sz="1500" dirty="0"/>
          </a:p>
        </p:txBody>
      </p:sp>
      <p:sp>
        <p:nvSpPr>
          <p:cNvPr id="15" name="Text 13"/>
          <p:cNvSpPr/>
          <p:nvPr/>
        </p:nvSpPr>
        <p:spPr>
          <a:xfrm>
            <a:off x="7561990" y="3887326"/>
            <a:ext cx="275796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Each cell:</a:t>
            </a:r>
            <a:r>
              <a:rPr lang="en-US" sz="1500" dirty="0">
                <a:solidFill>
                  <a:srgbClr val="4A5568"/>
                </a:solidFill>
                <a:latin typeface="Rubik" pitchFamily="34" charset="0"/>
                <a:ea typeface="Rubik" pitchFamily="34" charset="-122"/>
                <a:cs typeface="Rubik" pitchFamily="34" charset="-120"/>
              </a:rPr>
              <a:t> is </a:t>
            </a:r>
            <a:r>
              <a:rPr lang="en-US" sz="1500" dirty="0">
                <a:solidFill>
                  <a:srgbClr val="2A64A3"/>
                </a:solidFill>
                <a:latin typeface="Rubik" pitchFamily="34" charset="0"/>
                <a:ea typeface="Rubik" pitchFamily="34" charset="-122"/>
                <a:cs typeface="Rubik" pitchFamily="34" charset="-120"/>
              </a:rPr>
              <a:t>A[i][j] + B[i][j]</a:t>
            </a:r>
            <a:endParaRPr lang="en-US" sz="1500" dirty="0"/>
          </a:p>
        </p:txBody>
      </p:sp>
      <p:sp>
        <p:nvSpPr>
          <p:cNvPr id="16" name="Shape 14"/>
          <p:cNvSpPr/>
          <p:nvPr/>
        </p:nvSpPr>
        <p:spPr>
          <a:xfrm>
            <a:off x="6946040" y="4401676"/>
            <a:ext cx="4426810" cy="482600"/>
          </a:xfrm>
          <a:prstGeom prst="roundRect">
            <a:avLst>
              <a:gd name="adj" fmla="val 17105"/>
            </a:avLst>
          </a:prstGeom>
          <a:solidFill>
            <a:srgbClr val="FFFDF8"/>
          </a:solidFill>
          <a:ln w="12700">
            <a:solidFill>
              <a:srgbClr val="E2DED3"/>
            </a:solidFill>
            <a:prstDash val="solid"/>
          </a:ln>
        </p:spPr>
      </p:sp>
      <p:sp>
        <p:nvSpPr>
          <p:cNvPr id="17" name="Text 15"/>
          <p:cNvSpPr/>
          <p:nvPr/>
        </p:nvSpPr>
        <p:spPr>
          <a:xfrm>
            <a:off x="7104790" y="4509626"/>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3</a:t>
            </a:r>
            <a:endParaRPr lang="en-US" sz="1500" dirty="0"/>
          </a:p>
        </p:txBody>
      </p:sp>
      <p:sp>
        <p:nvSpPr>
          <p:cNvPr id="18" name="Text 16"/>
          <p:cNvSpPr/>
          <p:nvPr/>
        </p:nvSpPr>
        <p:spPr>
          <a:xfrm>
            <a:off x="7561990" y="4509626"/>
            <a:ext cx="334811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Finished row:</a:t>
            </a:r>
            <a:r>
              <a:rPr lang="en-US" sz="1500" dirty="0">
                <a:solidFill>
                  <a:srgbClr val="4A5568"/>
                </a:solidFill>
                <a:latin typeface="Rubik" pitchFamily="34" charset="0"/>
                <a:ea typeface="Rubik" pitchFamily="34" charset="-122"/>
                <a:cs typeface="Rubik" pitchFamily="34" charset="-120"/>
              </a:rPr>
              <a:t> is appended to C</a:t>
            </a:r>
            <a:endParaRPr lang="en-US" sz="1500" dirty="0"/>
          </a:p>
        </p:txBody>
      </p:sp>
      <p:sp>
        <p:nvSpPr>
          <p:cNvPr id="19"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4 · Class 10</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10 · COMPREHENSIONS</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Building a list in one line</a:t>
            </a:r>
            <a:endParaRPr lang="en-US" sz="3200" dirty="0"/>
          </a:p>
        </p:txBody>
      </p:sp>
      <p:sp>
        <p:nvSpPr>
          <p:cNvPr id="4" name="Shape 2"/>
          <p:cNvSpPr/>
          <p:nvPr/>
        </p:nvSpPr>
        <p:spPr>
          <a:xfrm>
            <a:off x="819150" y="1860485"/>
            <a:ext cx="5168900" cy="2807957"/>
          </a:xfrm>
          <a:prstGeom prst="roundRect">
            <a:avLst>
              <a:gd name="adj" fmla="val 4297"/>
            </a:avLst>
          </a:prstGeom>
          <a:solidFill>
            <a:srgbClr val="FFFDF8"/>
          </a:solidFill>
          <a:ln w="12700">
            <a:solidFill>
              <a:srgbClr val="E2DED3"/>
            </a:solidFill>
            <a:prstDash val="solid"/>
          </a:ln>
        </p:spPr>
      </p:sp>
      <p:sp>
        <p:nvSpPr>
          <p:cNvPr id="5" name="Text 3"/>
          <p:cNvSpPr/>
          <p:nvPr/>
        </p:nvSpPr>
        <p:spPr>
          <a:xfrm>
            <a:off x="1028700" y="2070035"/>
            <a:ext cx="489229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The long way</a:t>
            </a:r>
            <a:endParaRPr lang="en-US" sz="1800" dirty="0"/>
          </a:p>
        </p:txBody>
      </p:sp>
      <p:sp>
        <p:nvSpPr>
          <p:cNvPr id="6" name="Text 4"/>
          <p:cNvSpPr/>
          <p:nvPr/>
        </p:nvSpPr>
        <p:spPr>
          <a:xfrm>
            <a:off x="1028700" y="2445941"/>
            <a:ext cx="4749800" cy="1397000"/>
          </a:xfrm>
          <a:prstGeom prst="roundRect">
            <a:avLst>
              <a:gd name="adj" fmla="val 6364"/>
            </a:avLst>
          </a:prstGeom>
          <a:solidFill>
            <a:srgbClr val="1B2A41"/>
          </a:solidFill>
          <a:ln/>
        </p:spPr>
        <p:txBody>
          <a:bodyPr wrap="square" lIns="126362" tIns="100962" rIns="0" bIns="75562" rtlCol="0" anchor="t">
            <a:normAutofit/>
          </a:bodyPr>
          <a:lstStyle/>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sq = []</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for</a:t>
            </a:r>
            <a:r>
              <a:rPr lang="en-US" sz="1500" dirty="0">
                <a:solidFill>
                  <a:srgbClr val="E8EDF3"/>
                </a:solidFill>
                <a:latin typeface="JetBrains Mono" pitchFamily="49" charset="0"/>
                <a:ea typeface="JetBrains Mono" pitchFamily="49" charset="-122"/>
                <a:cs typeface="JetBrains Mono" pitchFamily="49" charset="-120"/>
              </a:rPr>
              <a:t> x </a:t>
            </a:r>
            <a:r>
              <a:rPr lang="en-US" sz="1500" dirty="0">
                <a:solidFill>
                  <a:srgbClr val="F2B33D"/>
                </a:solidFill>
                <a:latin typeface="JetBrains Mono" pitchFamily="49" charset="0"/>
                <a:ea typeface="JetBrains Mono" pitchFamily="49" charset="-122"/>
                <a:cs typeface="JetBrains Mono" pitchFamily="49" charset="-120"/>
              </a:rPr>
              <a:t>in</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range</a:t>
            </a:r>
            <a:r>
              <a:rPr lang="en-US" sz="1500" dirty="0">
                <a:solidFill>
                  <a:srgbClr val="E8EDF3"/>
                </a:solidFill>
                <a:latin typeface="JetBrains Mono" pitchFamily="49" charset="0"/>
                <a:ea typeface="JetBrains Mono" pitchFamily="49" charset="-122"/>
                <a:cs typeface="JetBrains Mono" pitchFamily="49" charset="-120"/>
              </a:rPr>
              <a:t>(1, 6):</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sq.append(x * x)</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(sq)</a:t>
            </a:r>
            <a:endParaRPr lang="en-US" sz="1500" dirty="0"/>
          </a:p>
        </p:txBody>
      </p:sp>
      <p:sp>
        <p:nvSpPr>
          <p:cNvPr id="7" name="Text 5"/>
          <p:cNvSpPr/>
          <p:nvPr/>
        </p:nvSpPr>
        <p:spPr>
          <a:xfrm>
            <a:off x="1035050" y="3950891"/>
            <a:ext cx="4737100" cy="501650"/>
          </a:xfrm>
          <a:prstGeom prst="roundRect">
            <a:avLst>
              <a:gd name="adj" fmla="val 16456"/>
            </a:avLst>
          </a:prstGeom>
          <a:solidFill>
            <a:srgbClr val="F7F5EF"/>
          </a:solidFill>
          <a:ln w="12700">
            <a:solidFill>
              <a:srgbClr val="D9DEE5"/>
            </a:solidFill>
            <a:prstDash val="solid"/>
          </a:ln>
        </p:spPr>
        <p:txBody>
          <a:bodyPr wrap="square" lIns="134572" tIns="83772" rIns="1984" bIns="58372"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[1, 4, 9, 16, 25]</a:t>
            </a:r>
            <a:endParaRPr lang="en-US" sz="1500" dirty="0"/>
          </a:p>
        </p:txBody>
      </p:sp>
      <p:sp>
        <p:nvSpPr>
          <p:cNvPr id="8" name="Shape 6"/>
          <p:cNvSpPr/>
          <p:nvPr/>
        </p:nvSpPr>
        <p:spPr>
          <a:xfrm>
            <a:off x="6203950" y="1860485"/>
            <a:ext cx="5168900" cy="2807957"/>
          </a:xfrm>
          <a:prstGeom prst="roundRect">
            <a:avLst>
              <a:gd name="adj" fmla="val 4297"/>
            </a:avLst>
          </a:prstGeom>
          <a:solidFill>
            <a:srgbClr val="FFFDF8"/>
          </a:solidFill>
          <a:ln w="12700">
            <a:solidFill>
              <a:srgbClr val="E2DED3"/>
            </a:solidFill>
            <a:prstDash val="solid"/>
          </a:ln>
        </p:spPr>
      </p:sp>
      <p:sp>
        <p:nvSpPr>
          <p:cNvPr id="9" name="Text 7"/>
          <p:cNvSpPr/>
          <p:nvPr/>
        </p:nvSpPr>
        <p:spPr>
          <a:xfrm>
            <a:off x="6413500" y="2070035"/>
            <a:ext cx="489229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The short way</a:t>
            </a:r>
            <a:endParaRPr lang="en-US" sz="1800" dirty="0"/>
          </a:p>
        </p:txBody>
      </p:sp>
      <p:sp>
        <p:nvSpPr>
          <p:cNvPr id="10" name="Text 8"/>
          <p:cNvSpPr/>
          <p:nvPr/>
        </p:nvSpPr>
        <p:spPr>
          <a:xfrm>
            <a:off x="6413500" y="2445941"/>
            <a:ext cx="4749800" cy="825500"/>
          </a:xfrm>
          <a:prstGeom prst="roundRect">
            <a:avLst>
              <a:gd name="adj" fmla="val 10769"/>
            </a:avLst>
          </a:prstGeom>
          <a:solidFill>
            <a:srgbClr val="1B2A41"/>
          </a:solidFill>
          <a:ln/>
        </p:spPr>
        <p:txBody>
          <a:bodyPr wrap="square" lIns="126362" tIns="100962" rIns="0" bIns="75562" rtlCol="0" anchor="t">
            <a:normAutofit/>
          </a:bodyPr>
          <a:lstStyle/>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sq = [x * x </a:t>
            </a:r>
            <a:r>
              <a:rPr lang="en-US" sz="1500" dirty="0">
                <a:solidFill>
                  <a:srgbClr val="F2B33D"/>
                </a:solidFill>
                <a:latin typeface="JetBrains Mono" pitchFamily="49" charset="0"/>
                <a:ea typeface="JetBrains Mono" pitchFamily="49" charset="-122"/>
                <a:cs typeface="JetBrains Mono" pitchFamily="49" charset="-120"/>
              </a:rPr>
              <a:t>for</a:t>
            </a:r>
            <a:r>
              <a:rPr lang="en-US" sz="1500" dirty="0">
                <a:solidFill>
                  <a:srgbClr val="E8EDF3"/>
                </a:solidFill>
                <a:latin typeface="JetBrains Mono" pitchFamily="49" charset="0"/>
                <a:ea typeface="JetBrains Mono" pitchFamily="49" charset="-122"/>
                <a:cs typeface="JetBrains Mono" pitchFamily="49" charset="-120"/>
              </a:rPr>
              <a:t> x </a:t>
            </a:r>
            <a:r>
              <a:rPr lang="en-US" sz="1500" dirty="0">
                <a:solidFill>
                  <a:srgbClr val="F2B33D"/>
                </a:solidFill>
                <a:latin typeface="JetBrains Mono" pitchFamily="49" charset="0"/>
                <a:ea typeface="JetBrains Mono" pitchFamily="49" charset="-122"/>
                <a:cs typeface="JetBrains Mono" pitchFamily="49" charset="-120"/>
              </a:rPr>
              <a:t>in</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range</a:t>
            </a:r>
            <a:r>
              <a:rPr lang="en-US" sz="1500" dirty="0">
                <a:solidFill>
                  <a:srgbClr val="E8EDF3"/>
                </a:solidFill>
                <a:latin typeface="JetBrains Mono" pitchFamily="49" charset="0"/>
                <a:ea typeface="JetBrains Mono" pitchFamily="49" charset="-122"/>
                <a:cs typeface="JetBrains Mono" pitchFamily="49" charset="-120"/>
              </a:rPr>
              <a:t>(1, 6)]</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(sq)</a:t>
            </a:r>
            <a:endParaRPr lang="en-US" sz="1500" dirty="0"/>
          </a:p>
        </p:txBody>
      </p:sp>
      <p:sp>
        <p:nvSpPr>
          <p:cNvPr id="11" name="Text 9"/>
          <p:cNvSpPr/>
          <p:nvPr/>
        </p:nvSpPr>
        <p:spPr>
          <a:xfrm>
            <a:off x="6419850" y="3379391"/>
            <a:ext cx="4737100" cy="501650"/>
          </a:xfrm>
          <a:prstGeom prst="roundRect">
            <a:avLst>
              <a:gd name="adj" fmla="val 16456"/>
            </a:avLst>
          </a:prstGeom>
          <a:solidFill>
            <a:srgbClr val="F7F5EF"/>
          </a:solidFill>
          <a:ln w="12700">
            <a:solidFill>
              <a:srgbClr val="D9DEE5"/>
            </a:solidFill>
            <a:prstDash val="solid"/>
          </a:ln>
        </p:spPr>
        <p:txBody>
          <a:bodyPr wrap="square" lIns="134572" tIns="83772" rIns="1984" bIns="58372"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[1, 4, 9, 16, 25]</a:t>
            </a:r>
            <a:endParaRPr lang="en-US" sz="1500" dirty="0"/>
          </a:p>
        </p:txBody>
      </p:sp>
      <p:sp>
        <p:nvSpPr>
          <p:cNvPr id="12" name="Shape 10"/>
          <p:cNvSpPr/>
          <p:nvPr/>
        </p:nvSpPr>
        <p:spPr>
          <a:xfrm>
            <a:off x="812800" y="4979591"/>
            <a:ext cx="10566400" cy="762000"/>
          </a:xfrm>
          <a:prstGeom prst="roundRect">
            <a:avLst>
              <a:gd name="adj" fmla="val 20000"/>
            </a:avLst>
          </a:prstGeom>
          <a:solidFill>
            <a:srgbClr val="FBEFD5"/>
          </a:solidFill>
          <a:ln/>
        </p:spPr>
      </p:sp>
      <p:pic>
        <p:nvPicPr>
          <p:cNvPr id="13" name="Image 0" descr="Lightbulb">    </p:cNvPr>
          <p:cNvPicPr>
            <a:picLocks noChangeAspect="1"/>
          </p:cNvPicPr>
          <p:nvPr/>
        </p:nvPicPr>
        <p:blipFill>
          <a:blip r:embed="rId1"/>
          <a:srcRect l="0" r="0" t="0" b="0"/>
          <a:stretch/>
        </p:blipFill>
        <p:spPr>
          <a:xfrm>
            <a:off x="1117600" y="5182791"/>
            <a:ext cx="355600" cy="355600"/>
          </a:xfrm>
          <a:prstGeom prst="rect">
            <a:avLst/>
          </a:prstGeom>
        </p:spPr>
      </p:pic>
      <p:sp>
        <p:nvSpPr>
          <p:cNvPr id="14" name="Text 11"/>
          <p:cNvSpPr/>
          <p:nvPr/>
        </p:nvSpPr>
        <p:spPr>
          <a:xfrm>
            <a:off x="1676400" y="5217716"/>
            <a:ext cx="7901147"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Rubik" pitchFamily="34" charset="0"/>
                <a:ea typeface="Rubik" pitchFamily="34" charset="-122"/>
                <a:cs typeface="Rubik" pitchFamily="34" charset="-120"/>
              </a:rPr>
              <a:t>Read it aloud: </a:t>
            </a:r>
            <a:r>
              <a:rPr lang="en-US" sz="1500" b="1" dirty="0">
                <a:solidFill>
                  <a:srgbClr val="1B2A41"/>
                </a:solidFill>
                <a:latin typeface="Rubik" pitchFamily="34" charset="0"/>
                <a:ea typeface="Rubik" pitchFamily="34" charset="-122"/>
                <a:cs typeface="Rubik" pitchFamily="34" charset="-120"/>
              </a:rPr>
              <a:t>x * x</a:t>
            </a:r>
            <a:r>
              <a:rPr lang="en-US" sz="1500" dirty="0">
                <a:solidFill>
                  <a:srgbClr val="1B2A41"/>
                </a:solidFill>
                <a:latin typeface="Rubik" pitchFamily="34" charset="0"/>
                <a:ea typeface="Rubik" pitchFamily="34" charset="-122"/>
                <a:cs typeface="Rubik" pitchFamily="34" charset="-120"/>
              </a:rPr>
              <a:t>, for each x in range(1, 6). The loop is inside the brackets.</a:t>
            </a:r>
            <a:endParaRPr lang="en-US" sz="1500" dirty="0"/>
          </a:p>
        </p:txBody>
      </p:sp>
      <p:sp>
        <p:nvSpPr>
          <p:cNvPr id="15"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4 · Class 10</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10 · COMPREHENSIONS</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More one-line lists</a:t>
            </a:r>
            <a:endParaRPr lang="en-US" sz="3200" dirty="0"/>
          </a:p>
        </p:txBody>
      </p:sp>
      <p:sp>
        <p:nvSpPr>
          <p:cNvPr id="4" name="Shape 2"/>
          <p:cNvSpPr/>
          <p:nvPr/>
        </p:nvSpPr>
        <p:spPr>
          <a:xfrm>
            <a:off x="812800" y="1854135"/>
            <a:ext cx="6428978" cy="391120"/>
          </a:xfrm>
          <a:prstGeom prst="roundRect">
            <a:avLst>
              <a:gd name="adj" fmla="val 22730"/>
            </a:avLst>
          </a:prstGeom>
          <a:solidFill>
            <a:srgbClr val="1B2A41"/>
          </a:solidFill>
          <a:ln/>
        </p:spPr>
      </p:sp>
      <p:sp>
        <p:nvSpPr>
          <p:cNvPr id="5" name="Text 3"/>
          <p:cNvSpPr/>
          <p:nvPr/>
        </p:nvSpPr>
        <p:spPr>
          <a:xfrm>
            <a:off x="990600" y="1943035"/>
            <a:ext cx="34010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7F5EF"/>
                </a:solidFill>
                <a:latin typeface="Rubik" pitchFamily="34" charset="0"/>
                <a:ea typeface="Rubik" pitchFamily="34" charset="-122"/>
                <a:cs typeface="Rubik" pitchFamily="34" charset="-120"/>
              </a:rPr>
              <a:t>YOU WRITE</a:t>
            </a:r>
            <a:endParaRPr lang="en-US" sz="1200" dirty="0"/>
          </a:p>
        </p:txBody>
      </p:sp>
      <p:sp>
        <p:nvSpPr>
          <p:cNvPr id="6" name="Text 4"/>
          <p:cNvSpPr/>
          <p:nvPr/>
        </p:nvSpPr>
        <p:spPr>
          <a:xfrm>
            <a:off x="4445000" y="1943035"/>
            <a:ext cx="2697547"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7F5EF"/>
                </a:solidFill>
                <a:latin typeface="Rubik" pitchFamily="34" charset="0"/>
                <a:ea typeface="Rubik" pitchFamily="34" charset="-122"/>
                <a:cs typeface="Rubik" pitchFamily="34" charset="-120"/>
              </a:rPr>
              <a:t>YOU GET</a:t>
            </a:r>
            <a:endParaRPr lang="en-US" sz="1200" dirty="0"/>
          </a:p>
        </p:txBody>
      </p:sp>
      <p:sp>
        <p:nvSpPr>
          <p:cNvPr id="7" name="Shape 5"/>
          <p:cNvSpPr/>
          <p:nvPr/>
        </p:nvSpPr>
        <p:spPr>
          <a:xfrm>
            <a:off x="812800" y="2696105"/>
            <a:ext cx="6428978" cy="0"/>
          </a:xfrm>
          <a:prstGeom prst="line">
            <a:avLst/>
          </a:prstGeom>
          <a:noFill/>
          <a:ln w="12700">
            <a:solidFill>
              <a:srgbClr val="D9DEE5"/>
            </a:solidFill>
            <a:prstDash val="solid"/>
          </a:ln>
        </p:spPr>
      </p:sp>
      <p:sp>
        <p:nvSpPr>
          <p:cNvPr id="8" name="Text 6"/>
          <p:cNvSpPr/>
          <p:nvPr/>
        </p:nvSpPr>
        <p:spPr>
          <a:xfrm>
            <a:off x="990600" y="2334155"/>
            <a:ext cx="340106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[n * 2 for n in nums]</a:t>
            </a:r>
            <a:endParaRPr lang="en-US" sz="1500" dirty="0"/>
          </a:p>
        </p:txBody>
      </p:sp>
      <p:sp>
        <p:nvSpPr>
          <p:cNvPr id="9" name="Text 7"/>
          <p:cNvSpPr/>
          <p:nvPr/>
        </p:nvSpPr>
        <p:spPr>
          <a:xfrm>
            <a:off x="4445000" y="2334155"/>
            <a:ext cx="269754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[68, 156, 24, 182]</a:t>
            </a:r>
            <a:endParaRPr lang="en-US" sz="1500" dirty="0"/>
          </a:p>
        </p:txBody>
      </p:sp>
      <p:sp>
        <p:nvSpPr>
          <p:cNvPr id="10" name="Shape 8"/>
          <p:cNvSpPr/>
          <p:nvPr/>
        </p:nvSpPr>
        <p:spPr>
          <a:xfrm>
            <a:off x="812800" y="3153305"/>
            <a:ext cx="6428978" cy="0"/>
          </a:xfrm>
          <a:prstGeom prst="line">
            <a:avLst/>
          </a:prstGeom>
          <a:noFill/>
          <a:ln w="12700">
            <a:solidFill>
              <a:srgbClr val="D9DEE5"/>
            </a:solidFill>
            <a:prstDash val="solid"/>
          </a:ln>
        </p:spPr>
      </p:sp>
      <p:sp>
        <p:nvSpPr>
          <p:cNvPr id="11" name="Text 9"/>
          <p:cNvSpPr/>
          <p:nvPr/>
        </p:nvSpPr>
        <p:spPr>
          <a:xfrm>
            <a:off x="990600" y="2791355"/>
            <a:ext cx="340106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[n for n in nums if n &gt; 50]</a:t>
            </a:r>
            <a:endParaRPr lang="en-US" sz="1500" dirty="0"/>
          </a:p>
        </p:txBody>
      </p:sp>
      <p:sp>
        <p:nvSpPr>
          <p:cNvPr id="12" name="Text 10"/>
          <p:cNvSpPr/>
          <p:nvPr/>
        </p:nvSpPr>
        <p:spPr>
          <a:xfrm>
            <a:off x="4445000" y="2791355"/>
            <a:ext cx="269754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[78, 91]</a:t>
            </a:r>
            <a:endParaRPr lang="en-US" sz="1500" dirty="0"/>
          </a:p>
        </p:txBody>
      </p:sp>
      <p:sp>
        <p:nvSpPr>
          <p:cNvPr id="13" name="Shape 11"/>
          <p:cNvSpPr/>
          <p:nvPr/>
        </p:nvSpPr>
        <p:spPr>
          <a:xfrm>
            <a:off x="812800" y="3610505"/>
            <a:ext cx="6428978" cy="0"/>
          </a:xfrm>
          <a:prstGeom prst="line">
            <a:avLst/>
          </a:prstGeom>
          <a:noFill/>
          <a:ln w="12700">
            <a:solidFill>
              <a:srgbClr val="D9DEE5"/>
            </a:solidFill>
            <a:prstDash val="solid"/>
          </a:ln>
        </p:spPr>
      </p:sp>
      <p:sp>
        <p:nvSpPr>
          <p:cNvPr id="14" name="Text 12"/>
          <p:cNvSpPr/>
          <p:nvPr/>
        </p:nvSpPr>
        <p:spPr>
          <a:xfrm>
            <a:off x="990600" y="3248555"/>
            <a:ext cx="340106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[n % 10 for n in nums]</a:t>
            </a:r>
            <a:endParaRPr lang="en-US" sz="1500" dirty="0"/>
          </a:p>
        </p:txBody>
      </p:sp>
      <p:sp>
        <p:nvSpPr>
          <p:cNvPr id="15" name="Text 13"/>
          <p:cNvSpPr/>
          <p:nvPr/>
        </p:nvSpPr>
        <p:spPr>
          <a:xfrm>
            <a:off x="4445000" y="3248555"/>
            <a:ext cx="269754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[4, 8, 2, 1]</a:t>
            </a:r>
            <a:endParaRPr lang="en-US" sz="1500" dirty="0"/>
          </a:p>
        </p:txBody>
      </p:sp>
      <p:sp>
        <p:nvSpPr>
          <p:cNvPr id="16" name="Shape 14"/>
          <p:cNvSpPr/>
          <p:nvPr/>
        </p:nvSpPr>
        <p:spPr>
          <a:xfrm>
            <a:off x="812800" y="4067705"/>
            <a:ext cx="6428978" cy="0"/>
          </a:xfrm>
          <a:prstGeom prst="line">
            <a:avLst/>
          </a:prstGeom>
          <a:noFill/>
          <a:ln w="12700">
            <a:solidFill>
              <a:srgbClr val="D9DEE5"/>
            </a:solidFill>
            <a:prstDash val="solid"/>
          </a:ln>
        </p:spPr>
      </p:sp>
      <p:sp>
        <p:nvSpPr>
          <p:cNvPr id="17" name="Text 15"/>
          <p:cNvSpPr/>
          <p:nvPr/>
        </p:nvSpPr>
        <p:spPr>
          <a:xfrm>
            <a:off x="990600" y="3705755"/>
            <a:ext cx="340106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[n // 10 for n in nums]</a:t>
            </a:r>
            <a:endParaRPr lang="en-US" sz="1500" dirty="0"/>
          </a:p>
        </p:txBody>
      </p:sp>
      <p:sp>
        <p:nvSpPr>
          <p:cNvPr id="18" name="Text 16"/>
          <p:cNvSpPr/>
          <p:nvPr/>
        </p:nvSpPr>
        <p:spPr>
          <a:xfrm>
            <a:off x="4445000" y="3705755"/>
            <a:ext cx="269754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[3, 7, 1, 9]</a:t>
            </a:r>
            <a:endParaRPr lang="en-US" sz="1500" dirty="0"/>
          </a:p>
        </p:txBody>
      </p:sp>
      <p:sp>
        <p:nvSpPr>
          <p:cNvPr id="19" name="Shape 17"/>
          <p:cNvSpPr/>
          <p:nvPr/>
        </p:nvSpPr>
        <p:spPr>
          <a:xfrm>
            <a:off x="812800" y="4524905"/>
            <a:ext cx="6428978" cy="0"/>
          </a:xfrm>
          <a:prstGeom prst="line">
            <a:avLst/>
          </a:prstGeom>
          <a:noFill/>
          <a:ln w="12700">
            <a:solidFill>
              <a:srgbClr val="D9DEE5"/>
            </a:solidFill>
            <a:prstDash val="solid"/>
          </a:ln>
        </p:spPr>
      </p:sp>
      <p:sp>
        <p:nvSpPr>
          <p:cNvPr id="20" name="Text 18"/>
          <p:cNvSpPr/>
          <p:nvPr/>
        </p:nvSpPr>
        <p:spPr>
          <a:xfrm>
            <a:off x="990600" y="4162955"/>
            <a:ext cx="340106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[c.upper() for c in "odia"]</a:t>
            </a:r>
            <a:endParaRPr lang="en-US" sz="1500" dirty="0"/>
          </a:p>
        </p:txBody>
      </p:sp>
      <p:sp>
        <p:nvSpPr>
          <p:cNvPr id="21" name="Text 19"/>
          <p:cNvSpPr/>
          <p:nvPr/>
        </p:nvSpPr>
        <p:spPr>
          <a:xfrm>
            <a:off x="4445000" y="4162955"/>
            <a:ext cx="269754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['O', 'D', 'I', 'A']</a:t>
            </a:r>
            <a:endParaRPr lang="en-US" sz="1500" dirty="0"/>
          </a:p>
        </p:txBody>
      </p:sp>
      <p:sp>
        <p:nvSpPr>
          <p:cNvPr id="22" name="Shape 20"/>
          <p:cNvSpPr/>
          <p:nvPr/>
        </p:nvSpPr>
        <p:spPr>
          <a:xfrm>
            <a:off x="7597378" y="1854135"/>
            <a:ext cx="3781756" cy="930870"/>
          </a:xfrm>
          <a:prstGeom prst="roundRect">
            <a:avLst>
              <a:gd name="adj" fmla="val 13643"/>
            </a:avLst>
          </a:prstGeom>
          <a:solidFill>
            <a:srgbClr val="1B2A41"/>
          </a:solidFill>
          <a:ln/>
        </p:spPr>
      </p:sp>
      <p:sp>
        <p:nvSpPr>
          <p:cNvPr id="23" name="Text 21"/>
          <p:cNvSpPr/>
          <p:nvPr/>
        </p:nvSpPr>
        <p:spPr>
          <a:xfrm>
            <a:off x="7851378" y="2031935"/>
            <a:ext cx="337196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nums.py</a:t>
            </a:r>
            <a:endParaRPr lang="en-US" sz="1200" dirty="0"/>
          </a:p>
        </p:txBody>
      </p:sp>
      <p:sp>
        <p:nvSpPr>
          <p:cNvPr id="24" name="Text 22"/>
          <p:cNvSpPr/>
          <p:nvPr/>
        </p:nvSpPr>
        <p:spPr>
          <a:xfrm>
            <a:off x="7851378" y="2321455"/>
            <a:ext cx="3371969"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nums = [34, 78, 12, 91]</a:t>
            </a:r>
            <a:endParaRPr lang="en-US" sz="1500" dirty="0"/>
          </a:p>
        </p:txBody>
      </p:sp>
      <p:sp>
        <p:nvSpPr>
          <p:cNvPr id="25" name="Text 23"/>
          <p:cNvSpPr/>
          <p:nvPr/>
        </p:nvSpPr>
        <p:spPr>
          <a:xfrm>
            <a:off x="7597378" y="2912005"/>
            <a:ext cx="3781756" cy="838200"/>
          </a:xfrm>
          <a:prstGeom prst="roundRect">
            <a:avLst>
              <a:gd name="adj" fmla="val 15152"/>
            </a:avLst>
          </a:prstGeom>
          <a:solidFill>
            <a:srgbClr val="FBEFD5"/>
          </a:solidFill>
          <a:ln/>
        </p:spPr>
        <p:txBody>
          <a:bodyPr wrap="square" lIns="166003" tIns="115203" rIns="64742" bIns="89803" rtlCol="0" anchor="t">
            <a:normAutofit/>
          </a:bodyPr>
          <a:lstStyle/>
          <a:p>
            <a:pPr algn="l" indent="0" marL="0">
              <a:lnSpc>
                <a:spcPts val="2100"/>
              </a:lnSpc>
              <a:buNone/>
            </a:pPr>
            <a:r>
              <a:rPr lang="en-US" sz="1500" dirty="0">
                <a:solidFill>
                  <a:srgbClr val="1B2A41"/>
                </a:solidFill>
                <a:latin typeface="Rubik" pitchFamily="34" charset="0"/>
                <a:ea typeface="Rubik" pitchFamily="34" charset="-122"/>
                <a:cs typeface="Rubik" pitchFamily="34" charset="-120"/>
              </a:rPr>
              <a:t>Add </a:t>
            </a:r>
            <a:r>
              <a:rPr lang="en-US" sz="1500" dirty="0">
                <a:solidFill>
                  <a:srgbClr val="2A64A3"/>
                </a:solidFill>
                <a:latin typeface="Rubik" pitchFamily="34" charset="0"/>
                <a:ea typeface="Rubik" pitchFamily="34" charset="-122"/>
                <a:cs typeface="Rubik" pitchFamily="34" charset="-120"/>
              </a:rPr>
              <a:t>if</a:t>
            </a:r>
            <a:r>
              <a:rPr lang="en-US" sz="1500" dirty="0">
                <a:solidFill>
                  <a:srgbClr val="1B2A41"/>
                </a:solidFill>
                <a:latin typeface="Rubik" pitchFamily="34" charset="0"/>
                <a:ea typeface="Rubik" pitchFamily="34" charset="-122"/>
                <a:cs typeface="Rubik" pitchFamily="34" charset="-120"/>
              </a:rPr>
              <a:t> at the end to keep only some items.</a:t>
            </a:r>
            <a:endParaRPr lang="en-US" sz="1500" dirty="0"/>
          </a:p>
        </p:txBody>
      </p:sp>
      <p:sp>
        <p:nvSpPr>
          <p:cNvPr id="26" name="Shape 24"/>
          <p:cNvSpPr/>
          <p:nvPr/>
        </p:nvSpPr>
        <p:spPr>
          <a:xfrm>
            <a:off x="7597378" y="3877205"/>
            <a:ext cx="3781756" cy="787400"/>
          </a:xfrm>
          <a:prstGeom prst="roundRect">
            <a:avLst>
              <a:gd name="adj" fmla="val 11290"/>
            </a:avLst>
          </a:prstGeom>
          <a:solidFill>
            <a:srgbClr val="FBEFD5"/>
          </a:solidFill>
          <a:ln/>
        </p:spPr>
      </p:sp>
      <p:pic>
        <p:nvPicPr>
          <p:cNvPr id="27" name="Image 0" descr="Lightbulb">    </p:cNvPr>
          <p:cNvPicPr>
            <a:picLocks noChangeAspect="1"/>
          </p:cNvPicPr>
          <p:nvPr/>
        </p:nvPicPr>
        <p:blipFill>
          <a:blip r:embed="rId1"/>
          <a:srcRect l="0" r="0" t="-168" b="-168"/>
          <a:stretch/>
        </p:blipFill>
        <p:spPr>
          <a:xfrm>
            <a:off x="7775178" y="4118505"/>
            <a:ext cx="177205" cy="304800"/>
          </a:xfrm>
          <a:prstGeom prst="rect">
            <a:avLst/>
          </a:prstGeom>
        </p:spPr>
      </p:pic>
      <p:sp>
        <p:nvSpPr>
          <p:cNvPr id="28" name="Text 25"/>
          <p:cNvSpPr/>
          <p:nvPr/>
        </p:nvSpPr>
        <p:spPr>
          <a:xfrm>
            <a:off x="8079383" y="4004205"/>
            <a:ext cx="321561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Rubik" pitchFamily="34" charset="0"/>
                <a:ea typeface="Rubik" pitchFamily="34" charset="-122"/>
                <a:cs typeface="Rubik" pitchFamily="34" charset="-120"/>
              </a:rPr>
              <a:t>Read numbers typed on one line: </a:t>
            </a:r>
            <a:r>
              <a:rPr lang="en-US" sz="1500" dirty="0">
                <a:solidFill>
                  <a:srgbClr val="2A64A3"/>
                </a:solidFill>
                <a:latin typeface="Rubik" pitchFamily="34" charset="0"/>
                <a:ea typeface="Rubik" pitchFamily="34" charset="-122"/>
                <a:cs typeface="Rubik" pitchFamily="34" charset="-120"/>
              </a:rPr>
              <a:t>[int(x) for x in input().split()]</a:t>
            </a:r>
            <a:endParaRPr lang="en-US" sz="1500" dirty="0"/>
          </a:p>
        </p:txBody>
      </p:sp>
      <p:sp>
        <p:nvSpPr>
          <p:cNvPr id="29" name="Text 2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4 · Class 10</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6EE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10 · PRACTICE</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Your turn: four programs</a:t>
            </a:r>
            <a:endParaRPr lang="en-US" sz="3200" dirty="0"/>
          </a:p>
        </p:txBody>
      </p:sp>
      <p:sp>
        <p:nvSpPr>
          <p:cNvPr id="4" name="Shape 2"/>
          <p:cNvSpPr/>
          <p:nvPr/>
        </p:nvSpPr>
        <p:spPr>
          <a:xfrm>
            <a:off x="819150" y="1809685"/>
            <a:ext cx="2476500" cy="2519627"/>
          </a:xfrm>
          <a:prstGeom prst="roundRect">
            <a:avLst>
              <a:gd name="adj" fmla="val 4872"/>
            </a:avLst>
          </a:prstGeom>
          <a:solidFill>
            <a:srgbClr val="FBFCFE"/>
          </a:solidFill>
          <a:ln w="12700">
            <a:solidFill>
              <a:srgbClr val="C9D7E8"/>
            </a:solidFill>
            <a:prstDash val="solid"/>
          </a:ln>
        </p:spPr>
      </p:sp>
      <p:sp>
        <p:nvSpPr>
          <p:cNvPr id="5" name="Text 3"/>
          <p:cNvSpPr/>
          <p:nvPr/>
        </p:nvSpPr>
        <p:spPr>
          <a:xfrm>
            <a:off x="1028700" y="2019235"/>
            <a:ext cx="681897" cy="289520"/>
          </a:xfrm>
          <a:custGeom>
            <a:avLst/>
            <a:gdLst/>
            <a:ahLst/>
            <a:cxnLst/>
            <a:rect l="l" t="t" r="r" b="b"/>
            <a:pathLst>
              <a:path w="681897" h="289520">
                <a:moveTo>
                  <a:pt x="144760" y="0"/>
                </a:moveTo>
                <a:lnTo>
                  <a:pt x="537137" y="0"/>
                </a:lnTo>
                <a:arcTo hR="144760" wR="144760" stAng="16200000" swAng="5400000"/>
                <a:lnTo>
                  <a:pt x="681897"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1</a:t>
            </a:r>
            <a:endParaRPr lang="en-US" sz="1200" dirty="0"/>
          </a:p>
        </p:txBody>
      </p:sp>
      <p:sp>
        <p:nvSpPr>
          <p:cNvPr id="6" name="Text 4"/>
          <p:cNvSpPr/>
          <p:nvPr/>
        </p:nvSpPr>
        <p:spPr>
          <a:xfrm>
            <a:off x="1028700" y="2410355"/>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Diagonal</a:t>
            </a:r>
            <a:endParaRPr lang="en-US" sz="1800" dirty="0"/>
          </a:p>
        </p:txBody>
      </p:sp>
      <p:sp>
        <p:nvSpPr>
          <p:cNvPr id="7" name="Text 5"/>
          <p:cNvSpPr/>
          <p:nvPr/>
        </p:nvSpPr>
        <p:spPr>
          <a:xfrm>
            <a:off x="1028700" y="27862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Read a 3 by 3 matrix and print the sum of its main diagonal.</a:t>
            </a:r>
            <a:endParaRPr lang="en-US" sz="1500" dirty="0"/>
          </a:p>
        </p:txBody>
      </p:sp>
      <p:sp>
        <p:nvSpPr>
          <p:cNvPr id="8" name="Shape 6"/>
          <p:cNvSpPr/>
          <p:nvPr/>
        </p:nvSpPr>
        <p:spPr>
          <a:xfrm>
            <a:off x="3511550" y="1809685"/>
            <a:ext cx="2476500" cy="2519627"/>
          </a:xfrm>
          <a:prstGeom prst="roundRect">
            <a:avLst>
              <a:gd name="adj" fmla="val 4872"/>
            </a:avLst>
          </a:prstGeom>
          <a:solidFill>
            <a:srgbClr val="FBFCFE"/>
          </a:solidFill>
          <a:ln w="12700">
            <a:solidFill>
              <a:srgbClr val="C9D7E8"/>
            </a:solidFill>
            <a:prstDash val="solid"/>
          </a:ln>
        </p:spPr>
      </p:sp>
      <p:sp>
        <p:nvSpPr>
          <p:cNvPr id="9" name="Text 7"/>
          <p:cNvSpPr/>
          <p:nvPr/>
        </p:nvSpPr>
        <p:spPr>
          <a:xfrm>
            <a:off x="3721100" y="2019235"/>
            <a:ext cx="705181" cy="289520"/>
          </a:xfrm>
          <a:custGeom>
            <a:avLst/>
            <a:gdLst/>
            <a:ahLst/>
            <a:cxnLst/>
            <a:rect l="l" t="t" r="r" b="b"/>
            <a:pathLst>
              <a:path w="705181" h="289520">
                <a:moveTo>
                  <a:pt x="144760" y="0"/>
                </a:moveTo>
                <a:lnTo>
                  <a:pt x="560421" y="0"/>
                </a:lnTo>
                <a:arcTo hR="144760" wR="144760" stAng="16200000" swAng="5400000"/>
                <a:lnTo>
                  <a:pt x="705181"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2</a:t>
            </a:r>
            <a:endParaRPr lang="en-US" sz="1200" dirty="0"/>
          </a:p>
        </p:txBody>
      </p:sp>
      <p:sp>
        <p:nvSpPr>
          <p:cNvPr id="10" name="Text 8"/>
          <p:cNvSpPr/>
          <p:nvPr/>
        </p:nvSpPr>
        <p:spPr>
          <a:xfrm>
            <a:off x="3721100" y="2410355"/>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Transpose</a:t>
            </a:r>
            <a:endParaRPr lang="en-US" sz="1800" dirty="0"/>
          </a:p>
        </p:txBody>
      </p:sp>
      <p:sp>
        <p:nvSpPr>
          <p:cNvPr id="11" name="Text 9"/>
          <p:cNvSpPr/>
          <p:nvPr/>
        </p:nvSpPr>
        <p:spPr>
          <a:xfrm>
            <a:off x="3721100" y="27862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Print the transpose of [[1, 2, 3], [4, 5, 6]] (rows become columns).</a:t>
            </a:r>
            <a:endParaRPr lang="en-US" sz="1500" dirty="0"/>
          </a:p>
        </p:txBody>
      </p:sp>
      <p:sp>
        <p:nvSpPr>
          <p:cNvPr id="12" name="Shape 10"/>
          <p:cNvSpPr/>
          <p:nvPr/>
        </p:nvSpPr>
        <p:spPr>
          <a:xfrm>
            <a:off x="6203950" y="1809685"/>
            <a:ext cx="2476500" cy="2519627"/>
          </a:xfrm>
          <a:prstGeom prst="roundRect">
            <a:avLst>
              <a:gd name="adj" fmla="val 4872"/>
            </a:avLst>
          </a:prstGeom>
          <a:solidFill>
            <a:srgbClr val="FBFCFE"/>
          </a:solidFill>
          <a:ln w="12700">
            <a:solidFill>
              <a:srgbClr val="C9D7E8"/>
            </a:solidFill>
            <a:prstDash val="solid"/>
          </a:ln>
        </p:spPr>
      </p:sp>
      <p:sp>
        <p:nvSpPr>
          <p:cNvPr id="13" name="Text 11"/>
          <p:cNvSpPr/>
          <p:nvPr/>
        </p:nvSpPr>
        <p:spPr>
          <a:xfrm>
            <a:off x="6413500" y="2019235"/>
            <a:ext cx="706570" cy="289520"/>
          </a:xfrm>
          <a:custGeom>
            <a:avLst/>
            <a:gdLst/>
            <a:ahLst/>
            <a:cxnLst/>
            <a:rect l="l" t="t" r="r" b="b"/>
            <a:pathLst>
              <a:path w="706570" h="289520">
                <a:moveTo>
                  <a:pt x="144760" y="0"/>
                </a:moveTo>
                <a:lnTo>
                  <a:pt x="561810" y="0"/>
                </a:lnTo>
                <a:arcTo hR="144760" wR="144760" stAng="16200000" swAng="5400000"/>
                <a:lnTo>
                  <a:pt x="706570"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3</a:t>
            </a:r>
            <a:endParaRPr lang="en-US" sz="1200" dirty="0"/>
          </a:p>
        </p:txBody>
      </p:sp>
      <p:sp>
        <p:nvSpPr>
          <p:cNvPr id="14" name="Text 12"/>
          <p:cNvSpPr/>
          <p:nvPr/>
        </p:nvSpPr>
        <p:spPr>
          <a:xfrm>
            <a:off x="6413500" y="2410355"/>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Even squares</a:t>
            </a:r>
            <a:endParaRPr lang="en-US" sz="1800" dirty="0"/>
          </a:p>
        </p:txBody>
      </p:sp>
      <p:sp>
        <p:nvSpPr>
          <p:cNvPr id="15" name="Text 13"/>
          <p:cNvSpPr/>
          <p:nvPr/>
        </p:nvSpPr>
        <p:spPr>
          <a:xfrm>
            <a:off x="6413500" y="2786261"/>
            <a:ext cx="2119122" cy="13589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With one comprehension, make the squares of the even numbers from 1 to 10.</a:t>
            </a:r>
            <a:endParaRPr lang="en-US" sz="1500" dirty="0"/>
          </a:p>
        </p:txBody>
      </p:sp>
      <p:sp>
        <p:nvSpPr>
          <p:cNvPr id="16" name="Shape 14"/>
          <p:cNvSpPr/>
          <p:nvPr/>
        </p:nvSpPr>
        <p:spPr>
          <a:xfrm>
            <a:off x="8896350" y="1809685"/>
            <a:ext cx="2476500" cy="2519627"/>
          </a:xfrm>
          <a:prstGeom prst="roundRect">
            <a:avLst>
              <a:gd name="adj" fmla="val 4872"/>
            </a:avLst>
          </a:prstGeom>
          <a:solidFill>
            <a:srgbClr val="FBFCFE"/>
          </a:solidFill>
          <a:ln w="12700">
            <a:solidFill>
              <a:srgbClr val="C9D7E8"/>
            </a:solidFill>
            <a:prstDash val="solid"/>
          </a:ln>
        </p:spPr>
      </p:sp>
      <p:sp>
        <p:nvSpPr>
          <p:cNvPr id="17" name="Text 15"/>
          <p:cNvSpPr/>
          <p:nvPr/>
        </p:nvSpPr>
        <p:spPr>
          <a:xfrm>
            <a:off x="9105900" y="2019235"/>
            <a:ext cx="710076" cy="289520"/>
          </a:xfrm>
          <a:custGeom>
            <a:avLst/>
            <a:gdLst/>
            <a:ahLst/>
            <a:cxnLst/>
            <a:rect l="l" t="t" r="r" b="b"/>
            <a:pathLst>
              <a:path w="710076" h="289520">
                <a:moveTo>
                  <a:pt x="144760" y="0"/>
                </a:moveTo>
                <a:lnTo>
                  <a:pt x="565315" y="0"/>
                </a:lnTo>
                <a:arcTo hR="144760" wR="144760" stAng="16200000" swAng="5400000"/>
                <a:lnTo>
                  <a:pt x="710076"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4</a:t>
            </a:r>
            <a:endParaRPr lang="en-US" sz="1200" dirty="0"/>
          </a:p>
        </p:txBody>
      </p:sp>
      <p:sp>
        <p:nvSpPr>
          <p:cNvPr id="18" name="Text 16"/>
          <p:cNvSpPr/>
          <p:nvPr/>
        </p:nvSpPr>
        <p:spPr>
          <a:xfrm>
            <a:off x="9105900" y="2410355"/>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Row toppers</a:t>
            </a:r>
            <a:endParaRPr lang="en-US" sz="1800" dirty="0"/>
          </a:p>
        </p:txBody>
      </p:sp>
      <p:sp>
        <p:nvSpPr>
          <p:cNvPr id="19" name="Text 17"/>
          <p:cNvSpPr/>
          <p:nvPr/>
        </p:nvSpPr>
        <p:spPr>
          <a:xfrm>
            <a:off x="9105900" y="27862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For a marks table, print the largest number in each row.</a:t>
            </a:r>
            <a:endParaRPr lang="en-US" sz="1500" dirty="0"/>
          </a:p>
        </p:txBody>
      </p:sp>
      <p:sp>
        <p:nvSpPr>
          <p:cNvPr id="20" name="Shape 18"/>
          <p:cNvSpPr/>
          <p:nvPr/>
        </p:nvSpPr>
        <p:spPr>
          <a:xfrm>
            <a:off x="812800" y="4589661"/>
            <a:ext cx="10566400" cy="622300"/>
          </a:xfrm>
          <a:prstGeom prst="roundRect">
            <a:avLst>
              <a:gd name="adj" fmla="val 20408"/>
            </a:avLst>
          </a:prstGeom>
          <a:solidFill>
            <a:srgbClr val="1B2A41"/>
          </a:solidFill>
          <a:ln/>
        </p:spPr>
      </p:sp>
      <p:sp>
        <p:nvSpPr>
          <p:cNvPr id="21" name="Text 19"/>
          <p:cNvSpPr/>
          <p:nvPr/>
        </p:nvSpPr>
        <p:spPr>
          <a:xfrm>
            <a:off x="1066800" y="4794120"/>
            <a:ext cx="121569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B33D"/>
                </a:solidFill>
                <a:latin typeface="Rubik" pitchFamily="34" charset="0"/>
                <a:ea typeface="Rubik" pitchFamily="34" charset="-122"/>
                <a:cs typeface="Rubik" pitchFamily="34" charset="-120"/>
              </a:rPr>
              <a:t>HOMEWORK</a:t>
            </a:r>
            <a:endParaRPr lang="en-US" sz="1200" dirty="0"/>
          </a:p>
        </p:txBody>
      </p:sp>
      <p:sp>
        <p:nvSpPr>
          <p:cNvPr id="22" name="Text 20"/>
          <p:cNvSpPr/>
          <p:nvPr/>
        </p:nvSpPr>
        <p:spPr>
          <a:xfrm>
            <a:off x="2282494" y="4767461"/>
            <a:ext cx="499054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7F5EF"/>
                </a:solidFill>
                <a:latin typeface="Rubik" pitchFamily="34" charset="0"/>
                <a:ea typeface="Rubik" pitchFamily="34" charset="-122"/>
                <a:cs typeface="Rubik" pitchFamily="34" charset="-120"/>
              </a:rPr>
              <a:t>Read on W3Schools: </a:t>
            </a:r>
            <a:r>
              <a:rPr lang="en-US" sz="1500" u="sng" dirty="0">
                <a:solidFill>
                  <a:srgbClr val="F2B33D"/>
                </a:solidFill>
                <a:latin typeface="Rubik" pitchFamily="34" charset="0"/>
                <a:ea typeface="Rubik" pitchFamily="34" charset="-122"/>
                <a:cs typeface="Rubik"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Lists</a:t>
            </a:r>
            <a:r>
              <a:rPr lang="en-US" sz="1500" dirty="0">
                <a:solidFill>
                  <a:srgbClr val="F7F5EF"/>
                </a:solidFill>
                <a:latin typeface="Rubik" pitchFamily="34" charset="0"/>
                <a:ea typeface="Rubik" pitchFamily="34" charset="-122"/>
                <a:cs typeface="Rubik" pitchFamily="34" charset="-120"/>
              </a:rPr>
              <a:t> · </a:t>
            </a:r>
            <a:r>
              <a:rPr lang="en-US" sz="1500" u="sng" dirty="0">
                <a:solidFill>
                  <a:srgbClr val="F2B33D"/>
                </a:solidFill>
                <a:latin typeface="Rubik" pitchFamily="34" charset="0"/>
                <a:ea typeface="Rubik" pitchFamily="34" charset="-122"/>
                <a:cs typeface="Rubik"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List comprehension</a:t>
            </a:r>
            <a:endParaRPr lang="en-US" sz="1500" dirty="0"/>
          </a:p>
        </p:txBody>
      </p:sp>
      <p:sp>
        <p:nvSpPr>
          <p:cNvPr id="23"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4 · Class 10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B33D"/>
        </a:solidFill>
      </p:bgPr>
    </p:bg>
    <p:spTree>
      <p:nvGrpSpPr>
        <p:cNvPr id="1" name=""/>
        <p:cNvGrpSpPr/>
        <p:nvPr/>
      </p:nvGrpSpPr>
      <p:grpSpPr>
        <a:xfrm>
          <a:off x="0" y="0"/>
          <a:ext cx="0" cy="0"/>
          <a:chOff x="0" y="0"/>
          <a:chExt cx="0" cy="0"/>
        </a:xfrm>
      </p:grpSpPr>
      <p:sp>
        <p:nvSpPr>
          <p:cNvPr id="2" name="Text 0"/>
          <p:cNvSpPr/>
          <p:nvPr/>
        </p:nvSpPr>
        <p:spPr>
          <a:xfrm>
            <a:off x="812800" y="2344477"/>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1B2A41"/>
                </a:solidFill>
                <a:latin typeface="Rubik" pitchFamily="34" charset="0"/>
                <a:ea typeface="Rubik" pitchFamily="34" charset="-122"/>
                <a:cs typeface="Rubik" pitchFamily="34" charset="-120"/>
              </a:rPr>
              <a:t>CLASS 11 OF 24</a:t>
            </a:r>
            <a:endParaRPr lang="en-US" sz="1200" dirty="0"/>
          </a:p>
        </p:txBody>
      </p:sp>
      <p:sp>
        <p:nvSpPr>
          <p:cNvPr id="3" name="Text 1"/>
          <p:cNvSpPr/>
          <p:nvPr>
            <p:ph type="title"/>
          </p:nvPr>
        </p:nvSpPr>
        <p:spPr>
          <a:xfrm>
            <a:off x="812800" y="2735597"/>
            <a:ext cx="5127752" cy="1305454"/>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1B2A41"/>
                </a:solidFill>
                <a:latin typeface="Rubik" pitchFamily="34" charset="0"/>
                <a:ea typeface="Rubik" pitchFamily="34" charset="-122"/>
                <a:cs typeface="Rubik" pitchFamily="34" charset="-120"/>
              </a:rPr>
              <a:t>Tuples, sets and dictionaries</a:t>
            </a:r>
            <a:endParaRPr lang="en-US" sz="4800" dirty="0"/>
          </a:p>
        </p:txBody>
      </p:sp>
      <p:sp>
        <p:nvSpPr>
          <p:cNvPr id="4" name="Text 2"/>
          <p:cNvSpPr/>
          <p:nvPr/>
        </p:nvSpPr>
        <p:spPr>
          <a:xfrm>
            <a:off x="812800" y="4193449"/>
            <a:ext cx="5127752"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B2A41"/>
                </a:solidFill>
                <a:latin typeface="Rubik" pitchFamily="34" charset="0"/>
                <a:ea typeface="Rubik" pitchFamily="34" charset="-122"/>
                <a:cs typeface="Rubik" pitchFamily="34" charset="-120"/>
              </a:rPr>
              <a:t>Three more containers, each with its own job</a:t>
            </a:r>
            <a:endParaRPr lang="en-US" sz="1800" dirty="0"/>
          </a:p>
        </p:txBody>
      </p:sp>
      <p:sp>
        <p:nvSpPr>
          <p:cNvPr id="5" name="Shape 3"/>
          <p:cNvSpPr/>
          <p:nvPr/>
        </p:nvSpPr>
        <p:spPr>
          <a:xfrm>
            <a:off x="6400800" y="2098018"/>
            <a:ext cx="4978400" cy="2661907"/>
          </a:xfrm>
          <a:prstGeom prst="roundRect">
            <a:avLst>
              <a:gd name="adj" fmla="val 5725"/>
            </a:avLst>
          </a:prstGeom>
          <a:solidFill>
            <a:srgbClr val="1B2A41"/>
          </a:solidFill>
          <a:ln/>
        </p:spPr>
      </p:sp>
      <p:sp>
        <p:nvSpPr>
          <p:cNvPr id="6" name="Text 4"/>
          <p:cNvSpPr/>
          <p:nvPr/>
        </p:nvSpPr>
        <p:spPr>
          <a:xfrm>
            <a:off x="6756400" y="2453618"/>
            <a:ext cx="439521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B33D"/>
                </a:solidFill>
                <a:latin typeface="Rubik" pitchFamily="34" charset="0"/>
                <a:ea typeface="Rubik" pitchFamily="34" charset="-122"/>
                <a:cs typeface="Rubik" pitchFamily="34" charset="-120"/>
              </a:rPr>
              <a:t>By the end of today you can</a:t>
            </a:r>
            <a:endParaRPr lang="en-US" sz="1800" dirty="0"/>
          </a:p>
        </p:txBody>
      </p:sp>
      <p:sp>
        <p:nvSpPr>
          <p:cNvPr id="7" name="Text 5"/>
          <p:cNvSpPr/>
          <p:nvPr/>
        </p:nvSpPr>
        <p:spPr>
          <a:xfrm>
            <a:off x="6840220" y="2880320"/>
            <a:ext cx="4303776" cy="1549400"/>
          </a:xfrm>
          <a:prstGeom prst="rect">
            <a:avLst/>
          </a:prstGeom>
          <a:noFill/>
          <a:ln/>
        </p:spPr>
        <p:txBody>
          <a:bodyPr wrap="square" lIns="0" tIns="0" rIns="0" bIns="0" rtlCol="0" anchor="t">
            <a:normAutofit/>
          </a:bodyPr>
          <a:lstStyle/>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Use tuples for fixed data</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Remove repeats and compare with sets</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Store key–value pairs in a dictionary</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Loop through a dictionary</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Pick the right container</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11 · TUPLES</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Tuples: lists that cannot change</a:t>
            </a:r>
            <a:endParaRPr lang="en-US" sz="3200" dirty="0"/>
          </a:p>
        </p:txBody>
      </p:sp>
      <p:sp>
        <p:nvSpPr>
          <p:cNvPr id="4" name="Shape 2"/>
          <p:cNvSpPr/>
          <p:nvPr/>
        </p:nvSpPr>
        <p:spPr>
          <a:xfrm>
            <a:off x="812800" y="1854138"/>
            <a:ext cx="5461529" cy="2359620"/>
          </a:xfrm>
          <a:prstGeom prst="roundRect">
            <a:avLst>
              <a:gd name="adj" fmla="val 5382"/>
            </a:avLst>
          </a:prstGeom>
          <a:solidFill>
            <a:srgbClr val="1B2A41"/>
          </a:solidFill>
          <a:ln/>
        </p:spPr>
      </p:sp>
      <p:sp>
        <p:nvSpPr>
          <p:cNvPr id="5" name="Text 3"/>
          <p:cNvSpPr/>
          <p:nvPr/>
        </p:nvSpPr>
        <p:spPr>
          <a:xfrm>
            <a:off x="1066800" y="2031938"/>
            <a:ext cx="51021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tuples.py</a:t>
            </a:r>
            <a:endParaRPr lang="en-US" sz="1200" dirty="0"/>
          </a:p>
        </p:txBody>
      </p:sp>
      <p:sp>
        <p:nvSpPr>
          <p:cNvPr id="6" name="Text 4"/>
          <p:cNvSpPr/>
          <p:nvPr/>
        </p:nvSpPr>
        <p:spPr>
          <a:xfrm>
            <a:off x="1066800" y="2321458"/>
            <a:ext cx="5102135" cy="1739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point = (3, 4)</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x, y = point</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(x, y)</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days = (</a:t>
            </a:r>
            <a:r>
              <a:rPr lang="en-US" sz="1500" dirty="0">
                <a:solidFill>
                  <a:srgbClr val="9FD8A8"/>
                </a:solidFill>
                <a:latin typeface="JetBrains Mono" pitchFamily="49" charset="0"/>
                <a:ea typeface="JetBrains Mono" pitchFamily="49" charset="-122"/>
                <a:cs typeface="JetBrains Mono" pitchFamily="49" charset="-120"/>
              </a:rPr>
              <a:t>"Mon"</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9FD8A8"/>
                </a:solidFill>
                <a:latin typeface="JetBrains Mono" pitchFamily="49" charset="0"/>
                <a:ea typeface="JetBrains Mono" pitchFamily="49" charset="-122"/>
                <a:cs typeface="JetBrains Mono" pitchFamily="49" charset="-120"/>
              </a:rPr>
              <a:t>"Tue"</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9FD8A8"/>
                </a:solidFill>
                <a:latin typeface="JetBrains Mono" pitchFamily="49" charset="0"/>
                <a:ea typeface="JetBrains Mono" pitchFamily="49" charset="-122"/>
                <a:cs typeface="JetBrains Mono" pitchFamily="49" charset="-120"/>
              </a:rPr>
              <a:t>"Wed"</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(days[1], </a:t>
            </a:r>
            <a:r>
              <a:rPr lang="en-US" sz="1500" dirty="0">
                <a:solidFill>
                  <a:srgbClr val="F2B33D"/>
                </a:solidFill>
                <a:latin typeface="JetBrains Mono" pitchFamily="49" charset="0"/>
                <a:ea typeface="JetBrains Mono" pitchFamily="49" charset="-122"/>
                <a:cs typeface="JetBrains Mono" pitchFamily="49" charset="-120"/>
              </a:rPr>
              <a:t>len</a:t>
            </a:r>
            <a:r>
              <a:rPr lang="en-US" sz="1500" dirty="0">
                <a:solidFill>
                  <a:srgbClr val="E8EDF3"/>
                </a:solidFill>
                <a:latin typeface="JetBrains Mono" pitchFamily="49" charset="0"/>
                <a:ea typeface="JetBrains Mono" pitchFamily="49" charset="-122"/>
                <a:cs typeface="JetBrains Mono" pitchFamily="49" charset="-120"/>
              </a:rPr>
              <a:t>(days))</a:t>
            </a:r>
            <a:endParaRPr lang="en-US" sz="1500" dirty="0"/>
          </a:p>
          <a:p>
            <a:pPr algn="l" indent="0" marL="0">
              <a:lnSpc>
                <a:spcPts val="2250"/>
              </a:lnSpc>
              <a:buNone/>
            </a:pPr>
            <a:r>
              <a:rPr lang="en-US" sz="1500" dirty="0">
                <a:solidFill>
                  <a:srgbClr val="8FA3B8"/>
                </a:solidFill>
                <a:latin typeface="JetBrains Mono" pitchFamily="49" charset="0"/>
                <a:ea typeface="JetBrains Mono" pitchFamily="49" charset="-122"/>
                <a:cs typeface="JetBrains Mono" pitchFamily="49" charset="-120"/>
              </a:rPr>
              <a:t># days[0] = "Sun"   TypeError!</a:t>
            </a:r>
            <a:endParaRPr lang="en-US" sz="1500" dirty="0"/>
          </a:p>
        </p:txBody>
      </p:sp>
      <p:sp>
        <p:nvSpPr>
          <p:cNvPr id="7" name="Shape 5"/>
          <p:cNvSpPr/>
          <p:nvPr/>
        </p:nvSpPr>
        <p:spPr>
          <a:xfrm>
            <a:off x="819150" y="4347108"/>
            <a:ext cx="5448829" cy="1229320"/>
          </a:xfrm>
          <a:prstGeom prst="roundRect">
            <a:avLst>
              <a:gd name="adj" fmla="val 9814"/>
            </a:avLst>
          </a:prstGeom>
          <a:solidFill>
            <a:srgbClr val="FFFDF8"/>
          </a:solidFill>
          <a:ln w="12700">
            <a:solidFill>
              <a:srgbClr val="D9DEE5"/>
            </a:solidFill>
            <a:prstDash val="solid"/>
          </a:ln>
        </p:spPr>
      </p:sp>
      <p:sp>
        <p:nvSpPr>
          <p:cNvPr id="8" name="Text 6"/>
          <p:cNvSpPr/>
          <p:nvPr/>
        </p:nvSpPr>
        <p:spPr>
          <a:xfrm>
            <a:off x="1079500" y="4531258"/>
            <a:ext cx="507597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a:t>
            </a:r>
            <a:endParaRPr lang="en-US" sz="1200" dirty="0"/>
          </a:p>
        </p:txBody>
      </p:sp>
      <p:sp>
        <p:nvSpPr>
          <p:cNvPr id="9" name="Text 7"/>
          <p:cNvSpPr/>
          <p:nvPr/>
        </p:nvSpPr>
        <p:spPr>
          <a:xfrm>
            <a:off x="1079500" y="4820779"/>
            <a:ext cx="5075973"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3 4</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Tue 3</a:t>
            </a:r>
            <a:endParaRPr lang="en-US" sz="1500" dirty="0"/>
          </a:p>
        </p:txBody>
      </p:sp>
      <p:sp>
        <p:nvSpPr>
          <p:cNvPr id="10" name="Text 8"/>
          <p:cNvSpPr/>
          <p:nvPr/>
        </p:nvSpPr>
        <p:spPr>
          <a:xfrm>
            <a:off x="6629929" y="1854138"/>
            <a:ext cx="4891749" cy="642541"/>
          </a:xfrm>
          <a:prstGeom prst="rect">
            <a:avLst/>
          </a:prstGeom>
          <a:noFill/>
          <a:ln/>
        </p:spPr>
        <p:txBody>
          <a:bodyPr wrap="square" lIns="0" tIns="0" rIns="0" bIns="0" rtlCol="0" anchor="t">
            <a:normAutofit/>
          </a:bodyPr>
          <a:lstStyle/>
          <a:p>
            <a:pPr algn="l" indent="0" marL="0">
              <a:lnSpc>
                <a:spcPts val="2430"/>
              </a:lnSpc>
              <a:buNone/>
            </a:pPr>
            <a:r>
              <a:rPr lang="en-US" sz="1800" b="1" dirty="0">
                <a:solidFill>
                  <a:srgbClr val="1B2A41"/>
                </a:solidFill>
                <a:latin typeface="Rubik" pitchFamily="34" charset="0"/>
                <a:ea typeface="Rubik" pitchFamily="34" charset="-122"/>
                <a:cs typeface="Rubik" pitchFamily="34" charset="-120"/>
              </a:rPr>
              <a:t>Round brackets. Indexing and slicing work, changing does not.</a:t>
            </a:r>
            <a:endParaRPr lang="en-US" sz="1800" dirty="0"/>
          </a:p>
        </p:txBody>
      </p:sp>
      <p:sp>
        <p:nvSpPr>
          <p:cNvPr id="11" name="Shape 9"/>
          <p:cNvSpPr/>
          <p:nvPr/>
        </p:nvSpPr>
        <p:spPr>
          <a:xfrm>
            <a:off x="6636279" y="2604629"/>
            <a:ext cx="4736571" cy="1176007"/>
          </a:xfrm>
          <a:prstGeom prst="roundRect">
            <a:avLst>
              <a:gd name="adj" fmla="val 8099"/>
            </a:avLst>
          </a:prstGeom>
          <a:solidFill>
            <a:srgbClr val="FFFDF8"/>
          </a:solidFill>
          <a:ln w="12700">
            <a:solidFill>
              <a:srgbClr val="E2DED3"/>
            </a:solidFill>
            <a:prstDash val="solid"/>
          </a:ln>
        </p:spPr>
      </p:sp>
      <p:sp>
        <p:nvSpPr>
          <p:cNvPr id="12" name="Text 10"/>
          <p:cNvSpPr/>
          <p:nvPr/>
        </p:nvSpPr>
        <p:spPr>
          <a:xfrm>
            <a:off x="6845829" y="2763379"/>
            <a:ext cx="4446995"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When to use</a:t>
            </a:r>
            <a:endParaRPr lang="en-US" sz="1800" dirty="0"/>
          </a:p>
        </p:txBody>
      </p:sp>
      <p:sp>
        <p:nvSpPr>
          <p:cNvPr id="13" name="Text 11"/>
          <p:cNvSpPr/>
          <p:nvPr/>
        </p:nvSpPr>
        <p:spPr>
          <a:xfrm>
            <a:off x="6845829" y="3088481"/>
            <a:ext cx="444699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Fixed data: days of the week, a date, an (x, y) point.</a:t>
            </a:r>
            <a:endParaRPr lang="en-US" sz="1500" dirty="0"/>
          </a:p>
        </p:txBody>
      </p:sp>
      <p:sp>
        <p:nvSpPr>
          <p:cNvPr id="14" name="Text 12"/>
          <p:cNvSpPr/>
          <p:nvPr/>
        </p:nvSpPr>
        <p:spPr>
          <a:xfrm>
            <a:off x="6629929" y="3913981"/>
            <a:ext cx="4749271" cy="571500"/>
          </a:xfrm>
          <a:prstGeom prst="roundRect">
            <a:avLst>
              <a:gd name="adj" fmla="val 22222"/>
            </a:avLst>
          </a:prstGeom>
          <a:solidFill>
            <a:srgbClr val="FBEFD5"/>
          </a:solidFill>
          <a:ln/>
        </p:spPr>
        <p:txBody>
          <a:bodyPr wrap="square" lIns="166003" tIns="115203" rIns="35717" bIns="89803" rtlCol="0" anchor="t">
            <a:normAutofit/>
          </a:bodyPr>
          <a:lstStyle/>
          <a:p>
            <a:pPr algn="l" indent="0" marL="0">
              <a:lnSpc>
                <a:spcPts val="2100"/>
              </a:lnSpc>
              <a:buNone/>
            </a:pPr>
            <a:r>
              <a:rPr lang="en-US" sz="1500" dirty="0">
                <a:solidFill>
                  <a:srgbClr val="1B2A41"/>
                </a:solidFill>
                <a:latin typeface="Rubik" pitchFamily="34" charset="0"/>
                <a:ea typeface="Rubik" pitchFamily="34" charset="-122"/>
                <a:cs typeface="Rubik" pitchFamily="34" charset="-120"/>
              </a:rPr>
              <a:t>A one-item tuple needs a comma: </a:t>
            </a:r>
            <a:r>
              <a:rPr lang="en-US" sz="1500" dirty="0">
                <a:solidFill>
                  <a:srgbClr val="2A64A3"/>
                </a:solidFill>
                <a:latin typeface="Rubik" pitchFamily="34" charset="0"/>
                <a:ea typeface="Rubik" pitchFamily="34" charset="-122"/>
                <a:cs typeface="Rubik" pitchFamily="34" charset="-120"/>
              </a:rPr>
              <a:t>(5,)</a:t>
            </a:r>
            <a:endParaRPr lang="en-US" sz="15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4 · Class 11</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11 · SETS</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Sets: no repeats, no order</a:t>
            </a:r>
            <a:endParaRPr lang="en-US" sz="3200" dirty="0"/>
          </a:p>
        </p:txBody>
      </p:sp>
      <p:sp>
        <p:nvSpPr>
          <p:cNvPr id="4" name="Shape 2"/>
          <p:cNvSpPr/>
          <p:nvPr/>
        </p:nvSpPr>
        <p:spPr>
          <a:xfrm>
            <a:off x="812800" y="1854138"/>
            <a:ext cx="5771290" cy="391120"/>
          </a:xfrm>
          <a:prstGeom prst="roundRect">
            <a:avLst>
              <a:gd name="adj" fmla="val 22730"/>
            </a:avLst>
          </a:prstGeom>
          <a:solidFill>
            <a:srgbClr val="1B2A41"/>
          </a:solidFill>
          <a:ln/>
        </p:spPr>
      </p:sp>
      <p:sp>
        <p:nvSpPr>
          <p:cNvPr id="5" name="Text 3"/>
          <p:cNvSpPr/>
          <p:nvPr/>
        </p:nvSpPr>
        <p:spPr>
          <a:xfrm>
            <a:off x="990600" y="1943038"/>
            <a:ext cx="235458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7F5EF"/>
                </a:solidFill>
                <a:latin typeface="Rubik" pitchFamily="34" charset="0"/>
                <a:ea typeface="Rubik" pitchFamily="34" charset="-122"/>
                <a:cs typeface="Rubik" pitchFamily="34" charset="-120"/>
              </a:rPr>
              <a:t>YOU WRITE</a:t>
            </a:r>
            <a:endParaRPr lang="en-US" sz="1200" dirty="0"/>
          </a:p>
        </p:txBody>
      </p:sp>
      <p:sp>
        <p:nvSpPr>
          <p:cNvPr id="6" name="Text 4"/>
          <p:cNvSpPr/>
          <p:nvPr/>
        </p:nvSpPr>
        <p:spPr>
          <a:xfrm>
            <a:off x="3429000" y="1943038"/>
            <a:ext cx="306660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7F5EF"/>
                </a:solidFill>
                <a:latin typeface="Rubik" pitchFamily="34" charset="0"/>
                <a:ea typeface="Rubik" pitchFamily="34" charset="-122"/>
                <a:cs typeface="Rubik" pitchFamily="34" charset="-120"/>
              </a:rPr>
              <a:t>YOU GET</a:t>
            </a:r>
            <a:endParaRPr lang="en-US" sz="1200" dirty="0"/>
          </a:p>
        </p:txBody>
      </p:sp>
      <p:sp>
        <p:nvSpPr>
          <p:cNvPr id="7" name="Shape 5"/>
          <p:cNvSpPr/>
          <p:nvPr/>
        </p:nvSpPr>
        <p:spPr>
          <a:xfrm>
            <a:off x="812800" y="2696108"/>
            <a:ext cx="5771290" cy="0"/>
          </a:xfrm>
          <a:prstGeom prst="line">
            <a:avLst/>
          </a:prstGeom>
          <a:noFill/>
          <a:ln w="12700">
            <a:solidFill>
              <a:srgbClr val="D9DEE5"/>
            </a:solidFill>
            <a:prstDash val="solid"/>
          </a:ln>
        </p:spPr>
      </p:sp>
      <p:sp>
        <p:nvSpPr>
          <p:cNvPr id="8" name="Text 6"/>
          <p:cNvSpPr/>
          <p:nvPr/>
        </p:nvSpPr>
        <p:spPr>
          <a:xfrm>
            <a:off x="990600" y="2334158"/>
            <a:ext cx="235458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a | b</a:t>
            </a:r>
            <a:endParaRPr lang="en-US" sz="1500" dirty="0"/>
          </a:p>
        </p:txBody>
      </p:sp>
      <p:sp>
        <p:nvSpPr>
          <p:cNvPr id="9" name="Text 7"/>
          <p:cNvSpPr/>
          <p:nvPr/>
        </p:nvSpPr>
        <p:spPr>
          <a:xfrm>
            <a:off x="3429000" y="2334158"/>
            <a:ext cx="306660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{1, 2, 3, 4, 5}</a:t>
            </a:r>
            <a:endParaRPr lang="en-US" sz="1500" dirty="0"/>
          </a:p>
        </p:txBody>
      </p:sp>
      <p:sp>
        <p:nvSpPr>
          <p:cNvPr id="10" name="Shape 8"/>
          <p:cNvSpPr/>
          <p:nvPr/>
        </p:nvSpPr>
        <p:spPr>
          <a:xfrm>
            <a:off x="812800" y="3153308"/>
            <a:ext cx="5771290" cy="0"/>
          </a:xfrm>
          <a:prstGeom prst="line">
            <a:avLst/>
          </a:prstGeom>
          <a:noFill/>
          <a:ln w="12700">
            <a:solidFill>
              <a:srgbClr val="D9DEE5"/>
            </a:solidFill>
            <a:prstDash val="solid"/>
          </a:ln>
        </p:spPr>
      </p:sp>
      <p:sp>
        <p:nvSpPr>
          <p:cNvPr id="11" name="Text 9"/>
          <p:cNvSpPr/>
          <p:nvPr/>
        </p:nvSpPr>
        <p:spPr>
          <a:xfrm>
            <a:off x="990600" y="2791358"/>
            <a:ext cx="235458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a &amp; b</a:t>
            </a:r>
            <a:endParaRPr lang="en-US" sz="1500" dirty="0"/>
          </a:p>
        </p:txBody>
      </p:sp>
      <p:sp>
        <p:nvSpPr>
          <p:cNvPr id="12" name="Text 10"/>
          <p:cNvSpPr/>
          <p:nvPr/>
        </p:nvSpPr>
        <p:spPr>
          <a:xfrm>
            <a:off x="3429000" y="2791358"/>
            <a:ext cx="306660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{3, 4}</a:t>
            </a:r>
            <a:endParaRPr lang="en-US" sz="1500" dirty="0"/>
          </a:p>
        </p:txBody>
      </p:sp>
      <p:sp>
        <p:nvSpPr>
          <p:cNvPr id="13" name="Shape 11"/>
          <p:cNvSpPr/>
          <p:nvPr/>
        </p:nvSpPr>
        <p:spPr>
          <a:xfrm>
            <a:off x="812800" y="3610508"/>
            <a:ext cx="5771290" cy="0"/>
          </a:xfrm>
          <a:prstGeom prst="line">
            <a:avLst/>
          </a:prstGeom>
          <a:noFill/>
          <a:ln w="12700">
            <a:solidFill>
              <a:srgbClr val="D9DEE5"/>
            </a:solidFill>
            <a:prstDash val="solid"/>
          </a:ln>
        </p:spPr>
      </p:sp>
      <p:sp>
        <p:nvSpPr>
          <p:cNvPr id="14" name="Text 12"/>
          <p:cNvSpPr/>
          <p:nvPr/>
        </p:nvSpPr>
        <p:spPr>
          <a:xfrm>
            <a:off x="990600" y="3248558"/>
            <a:ext cx="235458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a - b</a:t>
            </a:r>
            <a:endParaRPr lang="en-US" sz="1500" dirty="0"/>
          </a:p>
        </p:txBody>
      </p:sp>
      <p:sp>
        <p:nvSpPr>
          <p:cNvPr id="15" name="Text 13"/>
          <p:cNvSpPr/>
          <p:nvPr/>
        </p:nvSpPr>
        <p:spPr>
          <a:xfrm>
            <a:off x="3429000" y="3248558"/>
            <a:ext cx="306660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{1, 2}</a:t>
            </a:r>
            <a:endParaRPr lang="en-US" sz="1500" dirty="0"/>
          </a:p>
        </p:txBody>
      </p:sp>
      <p:sp>
        <p:nvSpPr>
          <p:cNvPr id="16" name="Shape 14"/>
          <p:cNvSpPr/>
          <p:nvPr/>
        </p:nvSpPr>
        <p:spPr>
          <a:xfrm>
            <a:off x="812800" y="4067708"/>
            <a:ext cx="5771290" cy="0"/>
          </a:xfrm>
          <a:prstGeom prst="line">
            <a:avLst/>
          </a:prstGeom>
          <a:noFill/>
          <a:ln w="12700">
            <a:solidFill>
              <a:srgbClr val="D9DEE5"/>
            </a:solidFill>
            <a:prstDash val="solid"/>
          </a:ln>
        </p:spPr>
      </p:sp>
      <p:sp>
        <p:nvSpPr>
          <p:cNvPr id="17" name="Text 15"/>
          <p:cNvSpPr/>
          <p:nvPr/>
        </p:nvSpPr>
        <p:spPr>
          <a:xfrm>
            <a:off x="990600" y="3705758"/>
            <a:ext cx="235458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a ^ b</a:t>
            </a:r>
            <a:endParaRPr lang="en-US" sz="1500" dirty="0"/>
          </a:p>
        </p:txBody>
      </p:sp>
      <p:sp>
        <p:nvSpPr>
          <p:cNvPr id="18" name="Text 16"/>
          <p:cNvSpPr/>
          <p:nvPr/>
        </p:nvSpPr>
        <p:spPr>
          <a:xfrm>
            <a:off x="3429000" y="3705758"/>
            <a:ext cx="306660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{1, 2, 5}</a:t>
            </a:r>
            <a:endParaRPr lang="en-US" sz="1500" dirty="0"/>
          </a:p>
        </p:txBody>
      </p:sp>
      <p:sp>
        <p:nvSpPr>
          <p:cNvPr id="19" name="Shape 17"/>
          <p:cNvSpPr/>
          <p:nvPr/>
        </p:nvSpPr>
        <p:spPr>
          <a:xfrm>
            <a:off x="812800" y="4524908"/>
            <a:ext cx="5771290" cy="0"/>
          </a:xfrm>
          <a:prstGeom prst="line">
            <a:avLst/>
          </a:prstGeom>
          <a:noFill/>
          <a:ln w="12700">
            <a:solidFill>
              <a:srgbClr val="D9DEE5"/>
            </a:solidFill>
            <a:prstDash val="solid"/>
          </a:ln>
        </p:spPr>
      </p:sp>
      <p:sp>
        <p:nvSpPr>
          <p:cNvPr id="20" name="Text 18"/>
          <p:cNvSpPr/>
          <p:nvPr/>
        </p:nvSpPr>
        <p:spPr>
          <a:xfrm>
            <a:off x="990600" y="4162958"/>
            <a:ext cx="235458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set([1, 1, 2, 2])</a:t>
            </a:r>
            <a:endParaRPr lang="en-US" sz="1500" dirty="0"/>
          </a:p>
        </p:txBody>
      </p:sp>
      <p:sp>
        <p:nvSpPr>
          <p:cNvPr id="21" name="Text 19"/>
          <p:cNvSpPr/>
          <p:nvPr/>
        </p:nvSpPr>
        <p:spPr>
          <a:xfrm>
            <a:off x="3429000" y="4162958"/>
            <a:ext cx="306660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{1, 2}</a:t>
            </a:r>
            <a:endParaRPr lang="en-US" sz="1500" dirty="0"/>
          </a:p>
        </p:txBody>
      </p:sp>
      <p:sp>
        <p:nvSpPr>
          <p:cNvPr id="22" name="Shape 20"/>
          <p:cNvSpPr/>
          <p:nvPr/>
        </p:nvSpPr>
        <p:spPr>
          <a:xfrm>
            <a:off x="812800" y="4982108"/>
            <a:ext cx="5771290" cy="0"/>
          </a:xfrm>
          <a:prstGeom prst="line">
            <a:avLst/>
          </a:prstGeom>
          <a:noFill/>
          <a:ln w="12700">
            <a:solidFill>
              <a:srgbClr val="D9DEE5"/>
            </a:solidFill>
            <a:prstDash val="solid"/>
          </a:ln>
        </p:spPr>
      </p:sp>
      <p:sp>
        <p:nvSpPr>
          <p:cNvPr id="23" name="Text 21"/>
          <p:cNvSpPr/>
          <p:nvPr/>
        </p:nvSpPr>
        <p:spPr>
          <a:xfrm>
            <a:off x="990600" y="4620158"/>
            <a:ext cx="235458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3 in a</a:t>
            </a:r>
            <a:endParaRPr lang="en-US" sz="1500" dirty="0"/>
          </a:p>
        </p:txBody>
      </p:sp>
      <p:sp>
        <p:nvSpPr>
          <p:cNvPr id="24" name="Text 22"/>
          <p:cNvSpPr/>
          <p:nvPr/>
        </p:nvSpPr>
        <p:spPr>
          <a:xfrm>
            <a:off x="3429000" y="4620158"/>
            <a:ext cx="306660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True</a:t>
            </a:r>
            <a:endParaRPr lang="en-US" sz="1500" dirty="0"/>
          </a:p>
        </p:txBody>
      </p:sp>
      <p:sp>
        <p:nvSpPr>
          <p:cNvPr id="25" name="Shape 23"/>
          <p:cNvSpPr/>
          <p:nvPr/>
        </p:nvSpPr>
        <p:spPr>
          <a:xfrm>
            <a:off x="6939690" y="1854138"/>
            <a:ext cx="4439510" cy="1216620"/>
          </a:xfrm>
          <a:prstGeom prst="roundRect">
            <a:avLst>
              <a:gd name="adj" fmla="val 10439"/>
            </a:avLst>
          </a:prstGeom>
          <a:solidFill>
            <a:srgbClr val="1B2A41"/>
          </a:solidFill>
          <a:ln/>
        </p:spPr>
      </p:sp>
      <p:sp>
        <p:nvSpPr>
          <p:cNvPr id="26" name="Text 24"/>
          <p:cNvSpPr/>
          <p:nvPr/>
        </p:nvSpPr>
        <p:spPr>
          <a:xfrm>
            <a:off x="7193690" y="2031938"/>
            <a:ext cx="40494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sets.py</a:t>
            </a:r>
            <a:endParaRPr lang="en-US" sz="1200" dirty="0"/>
          </a:p>
        </p:txBody>
      </p:sp>
      <p:sp>
        <p:nvSpPr>
          <p:cNvPr id="27" name="Text 25"/>
          <p:cNvSpPr/>
          <p:nvPr/>
        </p:nvSpPr>
        <p:spPr>
          <a:xfrm>
            <a:off x="7193690" y="2321458"/>
            <a:ext cx="4049455"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a = {1, 2, 3, 4}</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b = {3, 4, 5}</a:t>
            </a:r>
            <a:endParaRPr lang="en-US" sz="1500" dirty="0"/>
          </a:p>
        </p:txBody>
      </p:sp>
      <p:sp>
        <p:nvSpPr>
          <p:cNvPr id="28" name="Shape 26"/>
          <p:cNvSpPr/>
          <p:nvPr/>
        </p:nvSpPr>
        <p:spPr>
          <a:xfrm>
            <a:off x="6946040" y="3204108"/>
            <a:ext cx="4426810" cy="482600"/>
          </a:xfrm>
          <a:prstGeom prst="roundRect">
            <a:avLst>
              <a:gd name="adj" fmla="val 17105"/>
            </a:avLst>
          </a:prstGeom>
          <a:solidFill>
            <a:srgbClr val="FFFDF8"/>
          </a:solidFill>
          <a:ln w="12700">
            <a:solidFill>
              <a:srgbClr val="E2DED3"/>
            </a:solidFill>
            <a:prstDash val="solid"/>
          </a:ln>
        </p:spPr>
      </p:sp>
      <p:sp>
        <p:nvSpPr>
          <p:cNvPr id="29" name="Text 27"/>
          <p:cNvSpPr/>
          <p:nvPr/>
        </p:nvSpPr>
        <p:spPr>
          <a:xfrm>
            <a:off x="7104790" y="3312058"/>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1</a:t>
            </a:r>
            <a:endParaRPr lang="en-US" sz="1500" dirty="0"/>
          </a:p>
        </p:txBody>
      </p:sp>
      <p:sp>
        <p:nvSpPr>
          <p:cNvPr id="30" name="Text 28"/>
          <p:cNvSpPr/>
          <p:nvPr/>
        </p:nvSpPr>
        <p:spPr>
          <a:xfrm>
            <a:off x="7561990" y="3312058"/>
            <a:ext cx="215995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a:t>
            </a:r>
            <a:r>
              <a:rPr lang="en-US" sz="1500" dirty="0">
                <a:solidFill>
                  <a:srgbClr val="4A5568"/>
                </a:solidFill>
                <a:latin typeface="Rubik" pitchFamily="34" charset="0"/>
                <a:ea typeface="Rubik" pitchFamily="34" charset="-122"/>
                <a:cs typeface="Rubik" pitchFamily="34" charset="-120"/>
              </a:rPr>
              <a:t> union: in either set</a:t>
            </a:r>
            <a:endParaRPr lang="en-US" sz="1500" dirty="0"/>
          </a:p>
        </p:txBody>
      </p:sp>
      <p:sp>
        <p:nvSpPr>
          <p:cNvPr id="31" name="Shape 29"/>
          <p:cNvSpPr/>
          <p:nvPr/>
        </p:nvSpPr>
        <p:spPr>
          <a:xfrm>
            <a:off x="6946040" y="3826408"/>
            <a:ext cx="4426810" cy="482600"/>
          </a:xfrm>
          <a:prstGeom prst="roundRect">
            <a:avLst>
              <a:gd name="adj" fmla="val 17105"/>
            </a:avLst>
          </a:prstGeom>
          <a:solidFill>
            <a:srgbClr val="FFFDF8"/>
          </a:solidFill>
          <a:ln w="12700">
            <a:solidFill>
              <a:srgbClr val="E2DED3"/>
            </a:solidFill>
            <a:prstDash val="solid"/>
          </a:ln>
        </p:spPr>
      </p:sp>
      <p:sp>
        <p:nvSpPr>
          <p:cNvPr id="32" name="Text 30"/>
          <p:cNvSpPr/>
          <p:nvPr/>
        </p:nvSpPr>
        <p:spPr>
          <a:xfrm>
            <a:off x="7104790" y="3934358"/>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2</a:t>
            </a:r>
            <a:endParaRPr lang="en-US" sz="1500" dirty="0"/>
          </a:p>
        </p:txBody>
      </p:sp>
      <p:sp>
        <p:nvSpPr>
          <p:cNvPr id="33" name="Text 31"/>
          <p:cNvSpPr/>
          <p:nvPr/>
        </p:nvSpPr>
        <p:spPr>
          <a:xfrm>
            <a:off x="7561990" y="3934358"/>
            <a:ext cx="243324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&amp;:</a:t>
            </a:r>
            <a:r>
              <a:rPr lang="en-US" sz="1500" dirty="0">
                <a:solidFill>
                  <a:srgbClr val="4A5568"/>
                </a:solidFill>
                <a:latin typeface="Rubik" pitchFamily="34" charset="0"/>
                <a:ea typeface="Rubik" pitchFamily="34" charset="-122"/>
                <a:cs typeface="Rubik" pitchFamily="34" charset="-120"/>
              </a:rPr>
              <a:t> intersection: in both</a:t>
            </a:r>
            <a:endParaRPr lang="en-US" sz="1500" dirty="0"/>
          </a:p>
        </p:txBody>
      </p:sp>
      <p:sp>
        <p:nvSpPr>
          <p:cNvPr id="34" name="Shape 32"/>
          <p:cNvSpPr/>
          <p:nvPr/>
        </p:nvSpPr>
        <p:spPr>
          <a:xfrm>
            <a:off x="6939690" y="4442358"/>
            <a:ext cx="4439510" cy="787400"/>
          </a:xfrm>
          <a:prstGeom prst="roundRect">
            <a:avLst>
              <a:gd name="adj" fmla="val 11290"/>
            </a:avLst>
          </a:prstGeom>
          <a:solidFill>
            <a:srgbClr val="FBEFD5"/>
          </a:solidFill>
          <a:ln/>
        </p:spPr>
      </p:sp>
      <p:pic>
        <p:nvPicPr>
          <p:cNvPr id="35" name="Image 0" descr="Lightbulb">    </p:cNvPr>
          <p:cNvPicPr>
            <a:picLocks noChangeAspect="1"/>
          </p:cNvPicPr>
          <p:nvPr/>
        </p:nvPicPr>
        <p:blipFill>
          <a:blip r:embed="rId1"/>
          <a:srcRect l="-66" r="-66" t="0" b="0"/>
          <a:stretch/>
        </p:blipFill>
        <p:spPr>
          <a:xfrm>
            <a:off x="7117490" y="4683658"/>
            <a:ext cx="298847" cy="304800"/>
          </a:xfrm>
          <a:prstGeom prst="rect">
            <a:avLst/>
          </a:prstGeom>
        </p:spPr>
      </p:pic>
      <p:sp>
        <p:nvSpPr>
          <p:cNvPr id="36" name="Text 33"/>
          <p:cNvSpPr/>
          <p:nvPr/>
        </p:nvSpPr>
        <p:spPr>
          <a:xfrm>
            <a:off x="7543337" y="4569358"/>
            <a:ext cx="376780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Rubik" pitchFamily="34" charset="0"/>
                <a:ea typeface="Rubik" pitchFamily="34" charset="-122"/>
                <a:cs typeface="Rubik" pitchFamily="34" charset="-120"/>
              </a:rPr>
              <a:t>Remove repeats from a list: </a:t>
            </a:r>
            <a:r>
              <a:rPr lang="en-US" sz="1500" dirty="0">
                <a:solidFill>
                  <a:srgbClr val="2A64A3"/>
                </a:solidFill>
                <a:latin typeface="Rubik" pitchFamily="34" charset="0"/>
                <a:ea typeface="Rubik" pitchFamily="34" charset="-122"/>
                <a:cs typeface="Rubik" pitchFamily="34" charset="-120"/>
              </a:rPr>
              <a:t>list(set(nums))</a:t>
            </a:r>
            <a:endParaRPr lang="en-US" sz="1500" dirty="0"/>
          </a:p>
        </p:txBody>
      </p:sp>
      <p:sp>
        <p:nvSpPr>
          <p:cNvPr id="37" name="Text 3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4 · Class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7397"/>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2A64A3"/>
                </a:solidFill>
                <a:latin typeface="Rubik" pitchFamily="34" charset="0"/>
                <a:ea typeface="Rubik" pitchFamily="34" charset="-122"/>
                <a:cs typeface="Rubik" pitchFamily="34" charset="-120"/>
              </a:rPr>
              <a:t>CLASS 11 · DICTIONARIES</a:t>
            </a:r>
            <a:endParaRPr lang="en-US" sz="1196" dirty="0"/>
          </a:p>
        </p:txBody>
      </p:sp>
      <p:sp>
        <p:nvSpPr>
          <p:cNvPr id="3" name="Text 1"/>
          <p:cNvSpPr/>
          <p:nvPr>
            <p:ph type="title"/>
          </p:nvPr>
        </p:nvSpPr>
        <p:spPr>
          <a:xfrm>
            <a:off x="812800" y="1100999"/>
            <a:ext cx="10883392" cy="469635"/>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Dictionaries: look things up by name</a:t>
            </a:r>
            <a:endParaRPr lang="en-US" sz="3200" dirty="0"/>
          </a:p>
        </p:txBody>
      </p:sp>
      <p:sp>
        <p:nvSpPr>
          <p:cNvPr id="4" name="Shape 2"/>
          <p:cNvSpPr/>
          <p:nvPr/>
        </p:nvSpPr>
        <p:spPr>
          <a:xfrm>
            <a:off x="812800" y="1850033"/>
            <a:ext cx="5461529" cy="2645370"/>
          </a:xfrm>
          <a:prstGeom prst="roundRect">
            <a:avLst>
              <a:gd name="adj" fmla="val 4801"/>
            </a:avLst>
          </a:prstGeom>
          <a:solidFill>
            <a:srgbClr val="1B2A41"/>
          </a:solidFill>
          <a:ln/>
        </p:spPr>
      </p:sp>
      <p:sp>
        <p:nvSpPr>
          <p:cNvPr id="5" name="Text 3"/>
          <p:cNvSpPr/>
          <p:nvPr/>
        </p:nvSpPr>
        <p:spPr>
          <a:xfrm>
            <a:off x="1066800" y="2027833"/>
            <a:ext cx="51021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student.py</a:t>
            </a:r>
            <a:endParaRPr lang="en-US" sz="1200" dirty="0"/>
          </a:p>
        </p:txBody>
      </p:sp>
      <p:sp>
        <p:nvSpPr>
          <p:cNvPr id="6" name="Text 4"/>
          <p:cNvSpPr/>
          <p:nvPr/>
        </p:nvSpPr>
        <p:spPr>
          <a:xfrm>
            <a:off x="1066800" y="2317353"/>
            <a:ext cx="5102135" cy="2025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student = {</a:t>
            </a:r>
            <a:r>
              <a:rPr lang="en-US" sz="1500" dirty="0">
                <a:solidFill>
                  <a:srgbClr val="9FD8A8"/>
                </a:solidFill>
                <a:latin typeface="JetBrains Mono" pitchFamily="49" charset="0"/>
                <a:ea typeface="JetBrains Mono" pitchFamily="49" charset="-122"/>
                <a:cs typeface="JetBrains Mono" pitchFamily="49" charset="-120"/>
              </a:rPr>
              <a:t>"name"</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9FD8A8"/>
                </a:solidFill>
                <a:latin typeface="JetBrains Mono" pitchFamily="49" charset="0"/>
                <a:ea typeface="JetBrains Mono" pitchFamily="49" charset="-122"/>
                <a:cs typeface="JetBrains Mono" pitchFamily="49" charset="-120"/>
              </a:rPr>
              <a:t>"Subham"</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9FD8A8"/>
                </a:solidFill>
                <a:latin typeface="JetBrains Mono" pitchFamily="49" charset="0"/>
                <a:ea typeface="JetBrains Mono" pitchFamily="49" charset="-122"/>
                <a:cs typeface="JetBrains Mono" pitchFamily="49" charset="-120"/>
              </a:rPr>
              <a:t>"roll"</a:t>
            </a:r>
            <a:r>
              <a:rPr lang="en-US" sz="1500" dirty="0">
                <a:solidFill>
                  <a:srgbClr val="E8EDF3"/>
                </a:solidFill>
                <a:latin typeface="JetBrains Mono" pitchFamily="49" charset="0"/>
                <a:ea typeface="JetBrains Mono" pitchFamily="49" charset="-122"/>
                <a:cs typeface="JetBrains Mono" pitchFamily="49" charset="-120"/>
              </a:rPr>
              <a:t>: 21,</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9FD8A8"/>
                </a:solidFill>
                <a:latin typeface="JetBrains Mono" pitchFamily="49" charset="0"/>
                <a:ea typeface="JetBrains Mono" pitchFamily="49" charset="-122"/>
                <a:cs typeface="JetBrains Mono" pitchFamily="49" charset="-120"/>
              </a:rPr>
              <a:t>"city"</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9FD8A8"/>
                </a:solidFill>
                <a:latin typeface="JetBrains Mono" pitchFamily="49" charset="0"/>
                <a:ea typeface="JetBrains Mono" pitchFamily="49" charset="-122"/>
                <a:cs typeface="JetBrains Mono" pitchFamily="49" charset="-120"/>
              </a:rPr>
              <a:t>"Cuttack"</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(student[</a:t>
            </a:r>
            <a:r>
              <a:rPr lang="en-US" sz="1500" dirty="0">
                <a:solidFill>
                  <a:srgbClr val="9FD8A8"/>
                </a:solidFill>
                <a:latin typeface="JetBrains Mono" pitchFamily="49" charset="0"/>
                <a:ea typeface="JetBrains Mono" pitchFamily="49" charset="-122"/>
                <a:cs typeface="JetBrains Mono" pitchFamily="49" charset="-120"/>
              </a:rPr>
              <a:t>"name"</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student[</a:t>
            </a:r>
            <a:r>
              <a:rPr lang="en-US" sz="1500" dirty="0">
                <a:solidFill>
                  <a:srgbClr val="9FD8A8"/>
                </a:solidFill>
                <a:latin typeface="JetBrains Mono" pitchFamily="49" charset="0"/>
                <a:ea typeface="JetBrains Mono" pitchFamily="49" charset="-122"/>
                <a:cs typeface="JetBrains Mono" pitchFamily="49" charset="-120"/>
              </a:rPr>
              <a:t>"cgpa"</a:t>
            </a:r>
            <a:r>
              <a:rPr lang="en-US" sz="1500" dirty="0">
                <a:solidFill>
                  <a:srgbClr val="E8EDF3"/>
                </a:solidFill>
                <a:latin typeface="JetBrains Mono" pitchFamily="49" charset="0"/>
                <a:ea typeface="JetBrains Mono" pitchFamily="49" charset="-122"/>
                <a:cs typeface="JetBrains Mono" pitchFamily="49" charset="-120"/>
              </a:rPr>
              <a:t>] = 8.4</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student[</a:t>
            </a:r>
            <a:r>
              <a:rPr lang="en-US" sz="1500" dirty="0">
                <a:solidFill>
                  <a:srgbClr val="9FD8A8"/>
                </a:solidFill>
                <a:latin typeface="JetBrains Mono" pitchFamily="49" charset="0"/>
                <a:ea typeface="JetBrains Mono" pitchFamily="49" charset="-122"/>
                <a:cs typeface="JetBrains Mono" pitchFamily="49" charset="-120"/>
              </a:rPr>
              <a:t>"city"</a:t>
            </a:r>
            <a:r>
              <a:rPr lang="en-US" sz="1500" dirty="0">
                <a:solidFill>
                  <a:srgbClr val="E8EDF3"/>
                </a:solidFill>
                <a:latin typeface="JetBrains Mono" pitchFamily="49" charset="0"/>
                <a:ea typeface="JetBrains Mono" pitchFamily="49" charset="-122"/>
                <a:cs typeface="JetBrains Mono" pitchFamily="49" charset="-120"/>
              </a:rPr>
              <a:t>] = </a:t>
            </a:r>
            <a:r>
              <a:rPr lang="en-US" sz="1500" dirty="0">
                <a:solidFill>
                  <a:srgbClr val="9FD8A8"/>
                </a:solidFill>
                <a:latin typeface="JetBrains Mono" pitchFamily="49" charset="0"/>
                <a:ea typeface="JetBrains Mono" pitchFamily="49" charset="-122"/>
                <a:cs typeface="JetBrains Mono" pitchFamily="49" charset="-120"/>
              </a:rPr>
              <a:t>"Puri"</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(student[</a:t>
            </a:r>
            <a:r>
              <a:rPr lang="en-US" sz="1500" dirty="0">
                <a:solidFill>
                  <a:srgbClr val="9FD8A8"/>
                </a:solidFill>
                <a:latin typeface="JetBrains Mono" pitchFamily="49" charset="0"/>
                <a:ea typeface="JetBrains Mono" pitchFamily="49" charset="-122"/>
                <a:cs typeface="JetBrains Mono" pitchFamily="49" charset="-120"/>
              </a:rPr>
              <a:t>"city"</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len</a:t>
            </a:r>
            <a:r>
              <a:rPr lang="en-US" sz="1500" dirty="0">
                <a:solidFill>
                  <a:srgbClr val="E8EDF3"/>
                </a:solidFill>
                <a:latin typeface="JetBrains Mono" pitchFamily="49" charset="0"/>
                <a:ea typeface="JetBrains Mono" pitchFamily="49" charset="-122"/>
                <a:cs typeface="JetBrains Mono" pitchFamily="49" charset="-120"/>
              </a:rPr>
              <a:t>(student))</a:t>
            </a:r>
            <a:endParaRPr lang="en-US" sz="1500" dirty="0"/>
          </a:p>
        </p:txBody>
      </p:sp>
      <p:sp>
        <p:nvSpPr>
          <p:cNvPr id="7" name="Shape 5"/>
          <p:cNvSpPr/>
          <p:nvPr/>
        </p:nvSpPr>
        <p:spPr>
          <a:xfrm>
            <a:off x="819150" y="4628753"/>
            <a:ext cx="5448829" cy="1229320"/>
          </a:xfrm>
          <a:prstGeom prst="roundRect">
            <a:avLst>
              <a:gd name="adj" fmla="val 9814"/>
            </a:avLst>
          </a:prstGeom>
          <a:solidFill>
            <a:srgbClr val="FFFDF8"/>
          </a:solidFill>
          <a:ln w="12700">
            <a:solidFill>
              <a:srgbClr val="D9DEE5"/>
            </a:solidFill>
            <a:prstDash val="solid"/>
          </a:ln>
        </p:spPr>
      </p:sp>
      <p:sp>
        <p:nvSpPr>
          <p:cNvPr id="8" name="Text 6"/>
          <p:cNvSpPr/>
          <p:nvPr/>
        </p:nvSpPr>
        <p:spPr>
          <a:xfrm>
            <a:off x="1079500" y="4812903"/>
            <a:ext cx="507597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a:t>
            </a:r>
            <a:endParaRPr lang="en-US" sz="1200" dirty="0"/>
          </a:p>
        </p:txBody>
      </p:sp>
      <p:sp>
        <p:nvSpPr>
          <p:cNvPr id="9" name="Text 7"/>
          <p:cNvSpPr/>
          <p:nvPr/>
        </p:nvSpPr>
        <p:spPr>
          <a:xfrm>
            <a:off x="1079500" y="5102423"/>
            <a:ext cx="5075973"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Subham</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Puri 4</a:t>
            </a:r>
            <a:endParaRPr lang="en-US" sz="1500" dirty="0"/>
          </a:p>
        </p:txBody>
      </p:sp>
      <p:sp>
        <p:nvSpPr>
          <p:cNvPr id="10" name="Shape 8"/>
          <p:cNvSpPr/>
          <p:nvPr/>
        </p:nvSpPr>
        <p:spPr>
          <a:xfrm>
            <a:off x="6636279" y="1856383"/>
            <a:ext cx="4736571" cy="482600"/>
          </a:xfrm>
          <a:prstGeom prst="roundRect">
            <a:avLst>
              <a:gd name="adj" fmla="val 17105"/>
            </a:avLst>
          </a:prstGeom>
          <a:solidFill>
            <a:srgbClr val="FFFDF8"/>
          </a:solidFill>
          <a:ln w="12700">
            <a:solidFill>
              <a:srgbClr val="E2DED3"/>
            </a:solidFill>
            <a:prstDash val="solid"/>
          </a:ln>
        </p:spPr>
      </p:sp>
      <p:sp>
        <p:nvSpPr>
          <p:cNvPr id="11" name="Text 9"/>
          <p:cNvSpPr/>
          <p:nvPr/>
        </p:nvSpPr>
        <p:spPr>
          <a:xfrm>
            <a:off x="6795029" y="1964333"/>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1</a:t>
            </a:r>
            <a:endParaRPr lang="en-US" sz="1500" dirty="0"/>
          </a:p>
        </p:txBody>
      </p:sp>
      <p:sp>
        <p:nvSpPr>
          <p:cNvPr id="12" name="Text 10"/>
          <p:cNvSpPr/>
          <p:nvPr/>
        </p:nvSpPr>
        <p:spPr>
          <a:xfrm>
            <a:off x="7252229" y="1964333"/>
            <a:ext cx="4046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Pairs:</a:t>
            </a:r>
            <a:r>
              <a:rPr lang="en-US" sz="1500" dirty="0">
                <a:solidFill>
                  <a:srgbClr val="4A5568"/>
                </a:solidFill>
                <a:latin typeface="Rubik" pitchFamily="34" charset="0"/>
                <a:ea typeface="Rubik" pitchFamily="34" charset="-122"/>
                <a:cs typeface="Rubik" pitchFamily="34" charset="-120"/>
              </a:rPr>
              <a:t> each item is </a:t>
            </a:r>
            <a:r>
              <a:rPr lang="en-US" sz="1500" dirty="0">
                <a:solidFill>
                  <a:srgbClr val="2A64A3"/>
                </a:solidFill>
                <a:latin typeface="Rubik" pitchFamily="34" charset="0"/>
                <a:ea typeface="Rubik" pitchFamily="34" charset="-122"/>
                <a:cs typeface="Rubik" pitchFamily="34" charset="-120"/>
              </a:rPr>
              <a:t>key: value</a:t>
            </a:r>
            <a:r>
              <a:rPr lang="en-US" sz="1500" dirty="0">
                <a:solidFill>
                  <a:srgbClr val="4A5568"/>
                </a:solidFill>
                <a:latin typeface="Rubik" pitchFamily="34" charset="0"/>
                <a:ea typeface="Rubik" pitchFamily="34" charset="-122"/>
                <a:cs typeface="Rubik" pitchFamily="34" charset="-120"/>
              </a:rPr>
              <a:t> inside { }</a:t>
            </a:r>
            <a:endParaRPr lang="en-US" sz="1500" dirty="0"/>
          </a:p>
        </p:txBody>
      </p:sp>
      <p:sp>
        <p:nvSpPr>
          <p:cNvPr id="13" name="Shape 11"/>
          <p:cNvSpPr/>
          <p:nvPr/>
        </p:nvSpPr>
        <p:spPr>
          <a:xfrm>
            <a:off x="6636279" y="2478683"/>
            <a:ext cx="4736571" cy="482600"/>
          </a:xfrm>
          <a:prstGeom prst="roundRect">
            <a:avLst>
              <a:gd name="adj" fmla="val 17105"/>
            </a:avLst>
          </a:prstGeom>
          <a:solidFill>
            <a:srgbClr val="FFFDF8"/>
          </a:solidFill>
          <a:ln w="12700">
            <a:solidFill>
              <a:srgbClr val="E2DED3"/>
            </a:solidFill>
            <a:prstDash val="solid"/>
          </a:ln>
        </p:spPr>
      </p:sp>
      <p:sp>
        <p:nvSpPr>
          <p:cNvPr id="14" name="Text 12"/>
          <p:cNvSpPr/>
          <p:nvPr/>
        </p:nvSpPr>
        <p:spPr>
          <a:xfrm>
            <a:off x="6795029" y="2586633"/>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2</a:t>
            </a:r>
            <a:endParaRPr lang="en-US" sz="1500" dirty="0"/>
          </a:p>
        </p:txBody>
      </p:sp>
      <p:sp>
        <p:nvSpPr>
          <p:cNvPr id="15" name="Text 13"/>
          <p:cNvSpPr/>
          <p:nvPr/>
        </p:nvSpPr>
        <p:spPr>
          <a:xfrm>
            <a:off x="7252229" y="2586633"/>
            <a:ext cx="3353435"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Look up:</a:t>
            </a:r>
            <a:r>
              <a:rPr lang="en-US" sz="1500" dirty="0">
                <a:solidFill>
                  <a:srgbClr val="4A5568"/>
                </a:solidFill>
                <a:latin typeface="Rubik" pitchFamily="34" charset="0"/>
                <a:ea typeface="Rubik" pitchFamily="34" charset="-122"/>
                <a:cs typeface="Rubik" pitchFamily="34" charset="-120"/>
              </a:rPr>
              <a:t> by key, not by position</a:t>
            </a:r>
            <a:endParaRPr lang="en-US" sz="1500" dirty="0"/>
          </a:p>
        </p:txBody>
      </p:sp>
      <p:sp>
        <p:nvSpPr>
          <p:cNvPr id="16" name="Shape 14"/>
          <p:cNvSpPr/>
          <p:nvPr/>
        </p:nvSpPr>
        <p:spPr>
          <a:xfrm>
            <a:off x="6636279" y="3100983"/>
            <a:ext cx="4736571" cy="482600"/>
          </a:xfrm>
          <a:prstGeom prst="roundRect">
            <a:avLst>
              <a:gd name="adj" fmla="val 17105"/>
            </a:avLst>
          </a:prstGeom>
          <a:solidFill>
            <a:srgbClr val="FFFDF8"/>
          </a:solidFill>
          <a:ln w="12700">
            <a:solidFill>
              <a:srgbClr val="E2DED3"/>
            </a:solidFill>
            <a:prstDash val="solid"/>
          </a:ln>
        </p:spPr>
      </p:sp>
      <p:sp>
        <p:nvSpPr>
          <p:cNvPr id="17" name="Text 15"/>
          <p:cNvSpPr/>
          <p:nvPr/>
        </p:nvSpPr>
        <p:spPr>
          <a:xfrm>
            <a:off x="6795029" y="3208933"/>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3</a:t>
            </a:r>
            <a:endParaRPr lang="en-US" sz="1500" dirty="0"/>
          </a:p>
        </p:txBody>
      </p:sp>
      <p:sp>
        <p:nvSpPr>
          <p:cNvPr id="18" name="Text 16"/>
          <p:cNvSpPr/>
          <p:nvPr/>
        </p:nvSpPr>
        <p:spPr>
          <a:xfrm>
            <a:off x="7252229" y="3208933"/>
            <a:ext cx="411427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Same key:</a:t>
            </a:r>
            <a:r>
              <a:rPr lang="en-US" sz="1500" dirty="0">
                <a:solidFill>
                  <a:srgbClr val="4A5568"/>
                </a:solidFill>
                <a:latin typeface="Rubik" pitchFamily="34" charset="0"/>
                <a:ea typeface="Rubik" pitchFamily="34" charset="-122"/>
                <a:cs typeface="Rubik" pitchFamily="34" charset="-120"/>
              </a:rPr>
              <a:t> updates. A new key adds a pair</a:t>
            </a:r>
            <a:endParaRPr lang="en-US" sz="1500" dirty="0"/>
          </a:p>
        </p:txBody>
      </p:sp>
      <p:sp>
        <p:nvSpPr>
          <p:cNvPr id="19"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4 · Class 11</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11 · DICTIONARY TOOLS</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Working with a dictionary</a:t>
            </a:r>
            <a:endParaRPr lang="en-US" sz="3200" dirty="0"/>
          </a:p>
        </p:txBody>
      </p:sp>
      <p:sp>
        <p:nvSpPr>
          <p:cNvPr id="4" name="Shape 2"/>
          <p:cNvSpPr/>
          <p:nvPr/>
        </p:nvSpPr>
        <p:spPr>
          <a:xfrm>
            <a:off x="812800" y="1854138"/>
            <a:ext cx="5569479" cy="391120"/>
          </a:xfrm>
          <a:prstGeom prst="roundRect">
            <a:avLst>
              <a:gd name="adj" fmla="val 22730"/>
            </a:avLst>
          </a:prstGeom>
          <a:solidFill>
            <a:srgbClr val="1B2A41"/>
          </a:solidFill>
          <a:ln/>
        </p:spPr>
      </p:sp>
      <p:sp>
        <p:nvSpPr>
          <p:cNvPr id="5" name="Text 3"/>
          <p:cNvSpPr/>
          <p:nvPr/>
        </p:nvSpPr>
        <p:spPr>
          <a:xfrm>
            <a:off x="990600" y="1943038"/>
            <a:ext cx="2158365"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7F5EF"/>
                </a:solidFill>
                <a:latin typeface="Rubik" pitchFamily="34" charset="0"/>
                <a:ea typeface="Rubik" pitchFamily="34" charset="-122"/>
                <a:cs typeface="Rubik" pitchFamily="34" charset="-120"/>
              </a:rPr>
              <a:t>YOU WRITE</a:t>
            </a:r>
            <a:endParaRPr lang="en-US" sz="1200" dirty="0"/>
          </a:p>
        </p:txBody>
      </p:sp>
      <p:sp>
        <p:nvSpPr>
          <p:cNvPr id="6" name="Text 4"/>
          <p:cNvSpPr/>
          <p:nvPr/>
        </p:nvSpPr>
        <p:spPr>
          <a:xfrm>
            <a:off x="3238500" y="1943038"/>
            <a:ext cx="305495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7F5EF"/>
                </a:solidFill>
                <a:latin typeface="Rubik" pitchFamily="34" charset="0"/>
                <a:ea typeface="Rubik" pitchFamily="34" charset="-122"/>
                <a:cs typeface="Rubik" pitchFamily="34" charset="-120"/>
              </a:rPr>
              <a:t>YOU GET</a:t>
            </a:r>
            <a:endParaRPr lang="en-US" sz="1200" dirty="0"/>
          </a:p>
        </p:txBody>
      </p:sp>
      <p:sp>
        <p:nvSpPr>
          <p:cNvPr id="7" name="Shape 5"/>
          <p:cNvSpPr/>
          <p:nvPr/>
        </p:nvSpPr>
        <p:spPr>
          <a:xfrm>
            <a:off x="812800" y="2696108"/>
            <a:ext cx="5569479" cy="0"/>
          </a:xfrm>
          <a:prstGeom prst="line">
            <a:avLst/>
          </a:prstGeom>
          <a:noFill/>
          <a:ln w="12700">
            <a:solidFill>
              <a:srgbClr val="D9DEE5"/>
            </a:solidFill>
            <a:prstDash val="solid"/>
          </a:ln>
        </p:spPr>
      </p:sp>
      <p:sp>
        <p:nvSpPr>
          <p:cNvPr id="8" name="Text 6"/>
          <p:cNvSpPr/>
          <p:nvPr/>
        </p:nvSpPr>
        <p:spPr>
          <a:xfrm>
            <a:off x="990600" y="2334158"/>
            <a:ext cx="215836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d["Puri"]</a:t>
            </a:r>
            <a:endParaRPr lang="en-US" sz="1500" dirty="0"/>
          </a:p>
        </p:txBody>
      </p:sp>
      <p:sp>
        <p:nvSpPr>
          <p:cNvPr id="9" name="Text 7"/>
          <p:cNvSpPr/>
          <p:nvPr/>
        </p:nvSpPr>
        <p:spPr>
          <a:xfrm>
            <a:off x="3238500" y="2334158"/>
            <a:ext cx="305495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3</a:t>
            </a:r>
            <a:endParaRPr lang="en-US" sz="1500" dirty="0"/>
          </a:p>
        </p:txBody>
      </p:sp>
      <p:sp>
        <p:nvSpPr>
          <p:cNvPr id="10" name="Shape 8"/>
          <p:cNvSpPr/>
          <p:nvPr/>
        </p:nvSpPr>
        <p:spPr>
          <a:xfrm>
            <a:off x="812800" y="3153308"/>
            <a:ext cx="5569479" cy="0"/>
          </a:xfrm>
          <a:prstGeom prst="line">
            <a:avLst/>
          </a:prstGeom>
          <a:noFill/>
          <a:ln w="12700">
            <a:solidFill>
              <a:srgbClr val="D9DEE5"/>
            </a:solidFill>
            <a:prstDash val="solid"/>
          </a:ln>
        </p:spPr>
      </p:sp>
      <p:sp>
        <p:nvSpPr>
          <p:cNvPr id="11" name="Text 9"/>
          <p:cNvSpPr/>
          <p:nvPr/>
        </p:nvSpPr>
        <p:spPr>
          <a:xfrm>
            <a:off x="990600" y="2791358"/>
            <a:ext cx="215836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d.get("Angul", 0)</a:t>
            </a:r>
            <a:endParaRPr lang="en-US" sz="1500" dirty="0"/>
          </a:p>
        </p:txBody>
      </p:sp>
      <p:sp>
        <p:nvSpPr>
          <p:cNvPr id="12" name="Text 10"/>
          <p:cNvSpPr/>
          <p:nvPr/>
        </p:nvSpPr>
        <p:spPr>
          <a:xfrm>
            <a:off x="3238500" y="2791358"/>
            <a:ext cx="305495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0</a:t>
            </a:r>
            <a:endParaRPr lang="en-US" sz="1500" dirty="0"/>
          </a:p>
        </p:txBody>
      </p:sp>
      <p:sp>
        <p:nvSpPr>
          <p:cNvPr id="13" name="Shape 11"/>
          <p:cNvSpPr/>
          <p:nvPr/>
        </p:nvSpPr>
        <p:spPr>
          <a:xfrm>
            <a:off x="812800" y="3610508"/>
            <a:ext cx="5569479" cy="0"/>
          </a:xfrm>
          <a:prstGeom prst="line">
            <a:avLst/>
          </a:prstGeom>
          <a:noFill/>
          <a:ln w="12700">
            <a:solidFill>
              <a:srgbClr val="D9DEE5"/>
            </a:solidFill>
            <a:prstDash val="solid"/>
          </a:ln>
        </p:spPr>
      </p:sp>
      <p:sp>
        <p:nvSpPr>
          <p:cNvPr id="14" name="Text 12"/>
          <p:cNvSpPr/>
          <p:nvPr/>
        </p:nvSpPr>
        <p:spPr>
          <a:xfrm>
            <a:off x="990600" y="3248558"/>
            <a:ext cx="215836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"Puri" in d</a:t>
            </a:r>
            <a:endParaRPr lang="en-US" sz="1500" dirty="0"/>
          </a:p>
        </p:txBody>
      </p:sp>
      <p:sp>
        <p:nvSpPr>
          <p:cNvPr id="15" name="Text 13"/>
          <p:cNvSpPr/>
          <p:nvPr/>
        </p:nvSpPr>
        <p:spPr>
          <a:xfrm>
            <a:off x="3238500" y="3248558"/>
            <a:ext cx="305495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True</a:t>
            </a:r>
            <a:endParaRPr lang="en-US" sz="1500" dirty="0"/>
          </a:p>
        </p:txBody>
      </p:sp>
      <p:sp>
        <p:nvSpPr>
          <p:cNvPr id="16" name="Shape 14"/>
          <p:cNvSpPr/>
          <p:nvPr/>
        </p:nvSpPr>
        <p:spPr>
          <a:xfrm>
            <a:off x="812800" y="4067708"/>
            <a:ext cx="5569479" cy="0"/>
          </a:xfrm>
          <a:prstGeom prst="line">
            <a:avLst/>
          </a:prstGeom>
          <a:noFill/>
          <a:ln w="12700">
            <a:solidFill>
              <a:srgbClr val="D9DEE5"/>
            </a:solidFill>
            <a:prstDash val="solid"/>
          </a:ln>
        </p:spPr>
      </p:sp>
      <p:sp>
        <p:nvSpPr>
          <p:cNvPr id="17" name="Text 15"/>
          <p:cNvSpPr/>
          <p:nvPr/>
        </p:nvSpPr>
        <p:spPr>
          <a:xfrm>
            <a:off x="990600" y="3705758"/>
            <a:ext cx="215836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list(d.keys())</a:t>
            </a:r>
            <a:endParaRPr lang="en-US" sz="1500" dirty="0"/>
          </a:p>
        </p:txBody>
      </p:sp>
      <p:sp>
        <p:nvSpPr>
          <p:cNvPr id="18" name="Text 16"/>
          <p:cNvSpPr/>
          <p:nvPr/>
        </p:nvSpPr>
        <p:spPr>
          <a:xfrm>
            <a:off x="3238500" y="3705758"/>
            <a:ext cx="305495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['Puri', 'Cuttack']</a:t>
            </a:r>
            <a:endParaRPr lang="en-US" sz="1500" dirty="0"/>
          </a:p>
        </p:txBody>
      </p:sp>
      <p:sp>
        <p:nvSpPr>
          <p:cNvPr id="19" name="Shape 17"/>
          <p:cNvSpPr/>
          <p:nvPr/>
        </p:nvSpPr>
        <p:spPr>
          <a:xfrm>
            <a:off x="812800" y="4524908"/>
            <a:ext cx="5569479" cy="0"/>
          </a:xfrm>
          <a:prstGeom prst="line">
            <a:avLst/>
          </a:prstGeom>
          <a:noFill/>
          <a:ln w="12700">
            <a:solidFill>
              <a:srgbClr val="D9DEE5"/>
            </a:solidFill>
            <a:prstDash val="solid"/>
          </a:ln>
        </p:spPr>
      </p:sp>
      <p:sp>
        <p:nvSpPr>
          <p:cNvPr id="20" name="Text 18"/>
          <p:cNvSpPr/>
          <p:nvPr/>
        </p:nvSpPr>
        <p:spPr>
          <a:xfrm>
            <a:off x="990600" y="4162958"/>
            <a:ext cx="215836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list(d.values())</a:t>
            </a:r>
            <a:endParaRPr lang="en-US" sz="1500" dirty="0"/>
          </a:p>
        </p:txBody>
      </p:sp>
      <p:sp>
        <p:nvSpPr>
          <p:cNvPr id="21" name="Text 19"/>
          <p:cNvSpPr/>
          <p:nvPr/>
        </p:nvSpPr>
        <p:spPr>
          <a:xfrm>
            <a:off x="3238500" y="4162958"/>
            <a:ext cx="305495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[3, 5]</a:t>
            </a:r>
            <a:endParaRPr lang="en-US" sz="1500" dirty="0"/>
          </a:p>
        </p:txBody>
      </p:sp>
      <p:sp>
        <p:nvSpPr>
          <p:cNvPr id="22" name="Shape 20"/>
          <p:cNvSpPr/>
          <p:nvPr/>
        </p:nvSpPr>
        <p:spPr>
          <a:xfrm>
            <a:off x="812800" y="4982108"/>
            <a:ext cx="5569479" cy="0"/>
          </a:xfrm>
          <a:prstGeom prst="line">
            <a:avLst/>
          </a:prstGeom>
          <a:noFill/>
          <a:ln w="12700">
            <a:solidFill>
              <a:srgbClr val="D9DEE5"/>
            </a:solidFill>
            <a:prstDash val="solid"/>
          </a:ln>
        </p:spPr>
      </p:sp>
      <p:sp>
        <p:nvSpPr>
          <p:cNvPr id="23" name="Text 21"/>
          <p:cNvSpPr/>
          <p:nvPr/>
        </p:nvSpPr>
        <p:spPr>
          <a:xfrm>
            <a:off x="990600" y="4620158"/>
            <a:ext cx="215836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len(d)</a:t>
            </a:r>
            <a:endParaRPr lang="en-US" sz="1500" dirty="0"/>
          </a:p>
        </p:txBody>
      </p:sp>
      <p:sp>
        <p:nvSpPr>
          <p:cNvPr id="24" name="Text 22"/>
          <p:cNvSpPr/>
          <p:nvPr/>
        </p:nvSpPr>
        <p:spPr>
          <a:xfrm>
            <a:off x="3238500" y="4620158"/>
            <a:ext cx="305495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2</a:t>
            </a:r>
            <a:endParaRPr lang="en-US" sz="1500" dirty="0"/>
          </a:p>
        </p:txBody>
      </p:sp>
      <p:sp>
        <p:nvSpPr>
          <p:cNvPr id="25" name="Shape 23"/>
          <p:cNvSpPr/>
          <p:nvPr/>
        </p:nvSpPr>
        <p:spPr>
          <a:xfrm>
            <a:off x="6737879" y="1854138"/>
            <a:ext cx="4641321" cy="930870"/>
          </a:xfrm>
          <a:prstGeom prst="roundRect">
            <a:avLst>
              <a:gd name="adj" fmla="val 13643"/>
            </a:avLst>
          </a:prstGeom>
          <a:solidFill>
            <a:srgbClr val="1B2A41"/>
          </a:solidFill>
          <a:ln/>
        </p:spPr>
      </p:sp>
      <p:sp>
        <p:nvSpPr>
          <p:cNvPr id="26" name="Text 24"/>
          <p:cNvSpPr/>
          <p:nvPr/>
        </p:nvSpPr>
        <p:spPr>
          <a:xfrm>
            <a:off x="6991879" y="2031938"/>
            <a:ext cx="42573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trips.py</a:t>
            </a:r>
            <a:endParaRPr lang="en-US" sz="1200" dirty="0"/>
          </a:p>
        </p:txBody>
      </p:sp>
      <p:sp>
        <p:nvSpPr>
          <p:cNvPr id="27" name="Text 25"/>
          <p:cNvSpPr/>
          <p:nvPr/>
        </p:nvSpPr>
        <p:spPr>
          <a:xfrm>
            <a:off x="6991879" y="2321458"/>
            <a:ext cx="4257321"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d = {</a:t>
            </a:r>
            <a:r>
              <a:rPr lang="en-US" sz="1500" dirty="0">
                <a:solidFill>
                  <a:srgbClr val="9FD8A8"/>
                </a:solidFill>
                <a:latin typeface="JetBrains Mono" pitchFamily="49" charset="0"/>
                <a:ea typeface="JetBrains Mono" pitchFamily="49" charset="-122"/>
                <a:cs typeface="JetBrains Mono" pitchFamily="49" charset="-120"/>
              </a:rPr>
              <a:t>"Puri"</a:t>
            </a:r>
            <a:r>
              <a:rPr lang="en-US" sz="1500" dirty="0">
                <a:solidFill>
                  <a:srgbClr val="E8EDF3"/>
                </a:solidFill>
                <a:latin typeface="JetBrains Mono" pitchFamily="49" charset="0"/>
                <a:ea typeface="JetBrains Mono" pitchFamily="49" charset="-122"/>
                <a:cs typeface="JetBrains Mono" pitchFamily="49" charset="-120"/>
              </a:rPr>
              <a:t>: 3, </a:t>
            </a:r>
            <a:r>
              <a:rPr lang="en-US" sz="1500" dirty="0">
                <a:solidFill>
                  <a:srgbClr val="9FD8A8"/>
                </a:solidFill>
                <a:latin typeface="JetBrains Mono" pitchFamily="49" charset="0"/>
                <a:ea typeface="JetBrains Mono" pitchFamily="49" charset="-122"/>
                <a:cs typeface="JetBrains Mono" pitchFamily="49" charset="-120"/>
              </a:rPr>
              <a:t>"Cuttack"</a:t>
            </a:r>
            <a:r>
              <a:rPr lang="en-US" sz="1500" dirty="0">
                <a:solidFill>
                  <a:srgbClr val="E8EDF3"/>
                </a:solidFill>
                <a:latin typeface="JetBrains Mono" pitchFamily="49" charset="0"/>
                <a:ea typeface="JetBrains Mono" pitchFamily="49" charset="-122"/>
                <a:cs typeface="JetBrains Mono" pitchFamily="49" charset="-120"/>
              </a:rPr>
              <a:t>: 5}</a:t>
            </a:r>
            <a:endParaRPr lang="en-US" sz="1500" dirty="0"/>
          </a:p>
        </p:txBody>
      </p:sp>
      <p:sp>
        <p:nvSpPr>
          <p:cNvPr id="28" name="Shape 26"/>
          <p:cNvSpPr/>
          <p:nvPr/>
        </p:nvSpPr>
        <p:spPr>
          <a:xfrm>
            <a:off x="6737879" y="2912008"/>
            <a:ext cx="4641321" cy="1216620"/>
          </a:xfrm>
          <a:prstGeom prst="roundRect">
            <a:avLst>
              <a:gd name="adj" fmla="val 10439"/>
            </a:avLst>
          </a:prstGeom>
          <a:solidFill>
            <a:srgbClr val="1B2A41"/>
          </a:solidFill>
          <a:ln/>
        </p:spPr>
      </p:sp>
      <p:sp>
        <p:nvSpPr>
          <p:cNvPr id="29" name="Text 27"/>
          <p:cNvSpPr/>
          <p:nvPr/>
        </p:nvSpPr>
        <p:spPr>
          <a:xfrm>
            <a:off x="6991879" y="3089808"/>
            <a:ext cx="42573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loop.py</a:t>
            </a:r>
            <a:endParaRPr lang="en-US" sz="1200" dirty="0"/>
          </a:p>
        </p:txBody>
      </p:sp>
      <p:sp>
        <p:nvSpPr>
          <p:cNvPr id="30" name="Text 28"/>
          <p:cNvSpPr/>
          <p:nvPr/>
        </p:nvSpPr>
        <p:spPr>
          <a:xfrm>
            <a:off x="6991879" y="3379329"/>
            <a:ext cx="4257321"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for</a:t>
            </a:r>
            <a:r>
              <a:rPr lang="en-US" sz="1500" dirty="0">
                <a:solidFill>
                  <a:srgbClr val="E8EDF3"/>
                </a:solidFill>
                <a:latin typeface="JetBrains Mono" pitchFamily="49" charset="0"/>
                <a:ea typeface="JetBrains Mono" pitchFamily="49" charset="-122"/>
                <a:cs typeface="JetBrains Mono" pitchFamily="49" charset="-120"/>
              </a:rPr>
              <a:t> k, v </a:t>
            </a:r>
            <a:r>
              <a:rPr lang="en-US" sz="1500" dirty="0">
                <a:solidFill>
                  <a:srgbClr val="F2B33D"/>
                </a:solidFill>
                <a:latin typeface="JetBrains Mono" pitchFamily="49" charset="0"/>
                <a:ea typeface="JetBrains Mono" pitchFamily="49" charset="-122"/>
                <a:cs typeface="JetBrains Mono" pitchFamily="49" charset="-120"/>
              </a:rPr>
              <a:t>in</a:t>
            </a:r>
            <a:r>
              <a:rPr lang="en-US" sz="1500" dirty="0">
                <a:solidFill>
                  <a:srgbClr val="E8EDF3"/>
                </a:solidFill>
                <a:latin typeface="JetBrains Mono" pitchFamily="49" charset="0"/>
                <a:ea typeface="JetBrains Mono" pitchFamily="49" charset="-122"/>
                <a:cs typeface="JetBrains Mono" pitchFamily="49" charset="-120"/>
              </a:rPr>
              <a:t> d.items():</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(k, v)</a:t>
            </a:r>
            <a:endParaRPr lang="en-US" sz="1500" dirty="0"/>
          </a:p>
        </p:txBody>
      </p:sp>
      <p:sp>
        <p:nvSpPr>
          <p:cNvPr id="31" name="Shape 29"/>
          <p:cNvSpPr/>
          <p:nvPr/>
        </p:nvSpPr>
        <p:spPr>
          <a:xfrm>
            <a:off x="6744229" y="4261979"/>
            <a:ext cx="4628621" cy="1229320"/>
          </a:xfrm>
          <a:prstGeom prst="roundRect">
            <a:avLst>
              <a:gd name="adj" fmla="val 9814"/>
            </a:avLst>
          </a:prstGeom>
          <a:solidFill>
            <a:srgbClr val="FFFDF8"/>
          </a:solidFill>
          <a:ln w="12700">
            <a:solidFill>
              <a:srgbClr val="D9DEE5"/>
            </a:solidFill>
            <a:prstDash val="solid"/>
          </a:ln>
        </p:spPr>
      </p:sp>
      <p:sp>
        <p:nvSpPr>
          <p:cNvPr id="32" name="Text 30"/>
          <p:cNvSpPr/>
          <p:nvPr/>
        </p:nvSpPr>
        <p:spPr>
          <a:xfrm>
            <a:off x="7004579" y="4446129"/>
            <a:ext cx="423115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a:t>
            </a:r>
            <a:endParaRPr lang="en-US" sz="1200" dirty="0"/>
          </a:p>
        </p:txBody>
      </p:sp>
      <p:sp>
        <p:nvSpPr>
          <p:cNvPr id="33" name="Text 31"/>
          <p:cNvSpPr/>
          <p:nvPr/>
        </p:nvSpPr>
        <p:spPr>
          <a:xfrm>
            <a:off x="7004579" y="4735649"/>
            <a:ext cx="4231159"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Puri 3</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Cuttack 5</a:t>
            </a:r>
            <a:endParaRPr lang="en-US" sz="1500" dirty="0"/>
          </a:p>
        </p:txBody>
      </p:sp>
      <p:sp>
        <p:nvSpPr>
          <p:cNvPr id="34" name="Text 3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4 · Class 11</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11 · COUNTING</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Counting letters with a dictionary</a:t>
            </a:r>
            <a:endParaRPr lang="en-US" sz="3200" dirty="0"/>
          </a:p>
        </p:txBody>
      </p:sp>
      <p:sp>
        <p:nvSpPr>
          <p:cNvPr id="4" name="Shape 2"/>
          <p:cNvSpPr/>
          <p:nvPr/>
        </p:nvSpPr>
        <p:spPr>
          <a:xfrm>
            <a:off x="812800" y="1854138"/>
            <a:ext cx="5461529" cy="2073870"/>
          </a:xfrm>
          <a:prstGeom prst="roundRect">
            <a:avLst>
              <a:gd name="adj" fmla="val 6124"/>
            </a:avLst>
          </a:prstGeom>
          <a:solidFill>
            <a:srgbClr val="1B2A41"/>
          </a:solidFill>
          <a:ln/>
        </p:spPr>
      </p:sp>
      <p:sp>
        <p:nvSpPr>
          <p:cNvPr id="5" name="Text 3"/>
          <p:cNvSpPr/>
          <p:nvPr/>
        </p:nvSpPr>
        <p:spPr>
          <a:xfrm>
            <a:off x="1066800" y="2031938"/>
            <a:ext cx="51021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frequency.py</a:t>
            </a:r>
            <a:endParaRPr lang="en-US" sz="1200" dirty="0"/>
          </a:p>
        </p:txBody>
      </p:sp>
      <p:sp>
        <p:nvSpPr>
          <p:cNvPr id="6" name="Text 4"/>
          <p:cNvSpPr/>
          <p:nvPr/>
        </p:nvSpPr>
        <p:spPr>
          <a:xfrm>
            <a:off x="1066800" y="2321458"/>
            <a:ext cx="5102135" cy="1454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word = </a:t>
            </a:r>
            <a:r>
              <a:rPr lang="en-US" sz="1500" dirty="0">
                <a:solidFill>
                  <a:srgbClr val="F2B33D"/>
                </a:solidFill>
                <a:latin typeface="JetBrains Mono" pitchFamily="49" charset="0"/>
                <a:ea typeface="JetBrains Mono" pitchFamily="49" charset="-122"/>
                <a:cs typeface="JetBrains Mono" pitchFamily="49" charset="-120"/>
              </a:rPr>
              <a:t>input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"Word: "</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freq = {}</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for</a:t>
            </a:r>
            <a:r>
              <a:rPr lang="en-US" sz="1500" dirty="0">
                <a:solidFill>
                  <a:srgbClr val="E8EDF3"/>
                </a:solidFill>
                <a:latin typeface="JetBrains Mono" pitchFamily="49" charset="0"/>
                <a:ea typeface="JetBrains Mono" pitchFamily="49" charset="-122"/>
                <a:cs typeface="JetBrains Mono" pitchFamily="49" charset="-120"/>
              </a:rPr>
              <a:t> ch </a:t>
            </a:r>
            <a:r>
              <a:rPr lang="en-US" sz="1500" dirty="0">
                <a:solidFill>
                  <a:srgbClr val="F2B33D"/>
                </a:solidFill>
                <a:latin typeface="JetBrains Mono" pitchFamily="49" charset="0"/>
                <a:ea typeface="JetBrains Mono" pitchFamily="49" charset="-122"/>
                <a:cs typeface="JetBrains Mono" pitchFamily="49" charset="-120"/>
              </a:rPr>
              <a:t>in</a:t>
            </a:r>
            <a:r>
              <a:rPr lang="en-US" sz="1500" dirty="0">
                <a:solidFill>
                  <a:srgbClr val="E8EDF3"/>
                </a:solidFill>
                <a:latin typeface="JetBrains Mono" pitchFamily="49" charset="0"/>
                <a:ea typeface="JetBrains Mono" pitchFamily="49" charset="-122"/>
                <a:cs typeface="JetBrains Mono" pitchFamily="49" charset="-120"/>
              </a:rPr>
              <a:t> word:</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freq[ch] = freq.get(ch, 0) + 1</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(freq)</a:t>
            </a:r>
            <a:endParaRPr lang="en-US" sz="1500" dirty="0"/>
          </a:p>
        </p:txBody>
      </p:sp>
      <p:sp>
        <p:nvSpPr>
          <p:cNvPr id="7" name="Shape 5"/>
          <p:cNvSpPr/>
          <p:nvPr/>
        </p:nvSpPr>
        <p:spPr>
          <a:xfrm>
            <a:off x="819150" y="4061358"/>
            <a:ext cx="5448829" cy="1229320"/>
          </a:xfrm>
          <a:prstGeom prst="roundRect">
            <a:avLst>
              <a:gd name="adj" fmla="val 9814"/>
            </a:avLst>
          </a:prstGeom>
          <a:solidFill>
            <a:srgbClr val="FFFDF8"/>
          </a:solidFill>
          <a:ln w="12700">
            <a:solidFill>
              <a:srgbClr val="D9DEE5"/>
            </a:solidFill>
            <a:prstDash val="solid"/>
          </a:ln>
        </p:spPr>
      </p:sp>
      <p:sp>
        <p:nvSpPr>
          <p:cNvPr id="8" name="Text 6"/>
          <p:cNvSpPr/>
          <p:nvPr/>
        </p:nvSpPr>
        <p:spPr>
          <a:xfrm>
            <a:off x="1079500" y="4245508"/>
            <a:ext cx="507597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 · ORANGE = WHAT THE USER TYPES</a:t>
            </a:r>
            <a:endParaRPr lang="en-US" sz="1200" dirty="0"/>
          </a:p>
        </p:txBody>
      </p:sp>
      <p:sp>
        <p:nvSpPr>
          <p:cNvPr id="9" name="Text 7"/>
          <p:cNvSpPr/>
          <p:nvPr/>
        </p:nvSpPr>
        <p:spPr>
          <a:xfrm>
            <a:off x="1079500" y="4535029"/>
            <a:ext cx="5075973"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Word: </a:t>
            </a:r>
            <a:r>
              <a:rPr lang="en-US" sz="1500" dirty="0">
                <a:solidFill>
                  <a:srgbClr val="B54708"/>
                </a:solidFill>
                <a:latin typeface="JetBrains Mono" pitchFamily="49" charset="0"/>
                <a:ea typeface="JetBrains Mono" pitchFamily="49" charset="-122"/>
                <a:cs typeface="JetBrains Mono" pitchFamily="49" charset="-120"/>
              </a:rPr>
              <a:t>banana</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{'b': 1, 'a': 3, 'n': 2}</a:t>
            </a:r>
            <a:endParaRPr lang="en-US" sz="1500" dirty="0"/>
          </a:p>
        </p:txBody>
      </p:sp>
      <p:sp>
        <p:nvSpPr>
          <p:cNvPr id="10" name="Shape 8"/>
          <p:cNvSpPr/>
          <p:nvPr/>
        </p:nvSpPr>
        <p:spPr>
          <a:xfrm>
            <a:off x="6636279" y="1860488"/>
            <a:ext cx="4736571" cy="749300"/>
          </a:xfrm>
          <a:prstGeom prst="roundRect">
            <a:avLst>
              <a:gd name="adj" fmla="val 11017"/>
            </a:avLst>
          </a:prstGeom>
          <a:solidFill>
            <a:srgbClr val="FFFDF8"/>
          </a:solidFill>
          <a:ln w="12700">
            <a:solidFill>
              <a:srgbClr val="E2DED3"/>
            </a:solidFill>
            <a:prstDash val="solid"/>
          </a:ln>
        </p:spPr>
      </p:sp>
      <p:sp>
        <p:nvSpPr>
          <p:cNvPr id="11" name="Text 9"/>
          <p:cNvSpPr/>
          <p:nvPr/>
        </p:nvSpPr>
        <p:spPr>
          <a:xfrm>
            <a:off x="6795029" y="2101788"/>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1</a:t>
            </a:r>
            <a:endParaRPr lang="en-US" sz="1500" dirty="0"/>
          </a:p>
        </p:txBody>
      </p:sp>
      <p:sp>
        <p:nvSpPr>
          <p:cNvPr id="12" name="Text 10"/>
          <p:cNvSpPr/>
          <p:nvPr/>
        </p:nvSpPr>
        <p:spPr>
          <a:xfrm>
            <a:off x="7252229" y="1968438"/>
            <a:ext cx="4080727"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New letter:</a:t>
            </a:r>
            <a:r>
              <a:rPr lang="en-US" sz="1500" dirty="0">
                <a:solidFill>
                  <a:srgbClr val="4A5568"/>
                </a:solidFill>
                <a:latin typeface="Rubik" pitchFamily="34" charset="0"/>
                <a:ea typeface="Rubik" pitchFamily="34" charset="-122"/>
                <a:cs typeface="Rubik" pitchFamily="34" charset="-120"/>
              </a:rPr>
              <a:t> </a:t>
            </a:r>
            <a:r>
              <a:rPr lang="en-US" sz="1500" dirty="0">
                <a:solidFill>
                  <a:srgbClr val="2A64A3"/>
                </a:solidFill>
                <a:latin typeface="Rubik" pitchFamily="34" charset="0"/>
                <a:ea typeface="Rubik" pitchFamily="34" charset="-122"/>
                <a:cs typeface="Rubik" pitchFamily="34" charset="-120"/>
              </a:rPr>
              <a:t>get</a:t>
            </a:r>
            <a:r>
              <a:rPr lang="en-US" sz="1500" dirty="0">
                <a:solidFill>
                  <a:srgbClr val="4A5568"/>
                </a:solidFill>
                <a:latin typeface="Rubik" pitchFamily="34" charset="0"/>
                <a:ea typeface="Rubik" pitchFamily="34" charset="-122"/>
                <a:cs typeface="Rubik" pitchFamily="34" charset="-120"/>
              </a:rPr>
              <a:t> gives 0, so its count becomes 1</a:t>
            </a:r>
            <a:endParaRPr lang="en-US" sz="1500" dirty="0"/>
          </a:p>
        </p:txBody>
      </p:sp>
      <p:sp>
        <p:nvSpPr>
          <p:cNvPr id="13" name="Shape 11"/>
          <p:cNvSpPr/>
          <p:nvPr/>
        </p:nvSpPr>
        <p:spPr>
          <a:xfrm>
            <a:off x="6636279" y="2749488"/>
            <a:ext cx="4736571" cy="482600"/>
          </a:xfrm>
          <a:prstGeom prst="roundRect">
            <a:avLst>
              <a:gd name="adj" fmla="val 17105"/>
            </a:avLst>
          </a:prstGeom>
          <a:solidFill>
            <a:srgbClr val="FFFDF8"/>
          </a:solidFill>
          <a:ln w="12700">
            <a:solidFill>
              <a:srgbClr val="E2DED3"/>
            </a:solidFill>
            <a:prstDash val="solid"/>
          </a:ln>
        </p:spPr>
      </p:sp>
      <p:sp>
        <p:nvSpPr>
          <p:cNvPr id="14" name="Text 12"/>
          <p:cNvSpPr/>
          <p:nvPr/>
        </p:nvSpPr>
        <p:spPr>
          <a:xfrm>
            <a:off x="6795029" y="2857438"/>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2</a:t>
            </a:r>
            <a:endParaRPr lang="en-US" sz="1500" dirty="0"/>
          </a:p>
        </p:txBody>
      </p:sp>
      <p:sp>
        <p:nvSpPr>
          <p:cNvPr id="15" name="Text 13"/>
          <p:cNvSpPr/>
          <p:nvPr/>
        </p:nvSpPr>
        <p:spPr>
          <a:xfrm>
            <a:off x="7252229" y="2857438"/>
            <a:ext cx="379571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Seen before:</a:t>
            </a:r>
            <a:r>
              <a:rPr lang="en-US" sz="1500" dirty="0">
                <a:solidFill>
                  <a:srgbClr val="4A5568"/>
                </a:solidFill>
                <a:latin typeface="Rubik" pitchFamily="34" charset="0"/>
                <a:ea typeface="Rubik" pitchFamily="34" charset="-122"/>
                <a:cs typeface="Rubik" pitchFamily="34" charset="-120"/>
              </a:rPr>
              <a:t> its count goes up by 1</a:t>
            </a:r>
            <a:endParaRPr lang="en-US" sz="1500" dirty="0"/>
          </a:p>
        </p:txBody>
      </p:sp>
      <p:sp>
        <p:nvSpPr>
          <p:cNvPr id="16" name="Shape 14"/>
          <p:cNvSpPr/>
          <p:nvPr/>
        </p:nvSpPr>
        <p:spPr>
          <a:xfrm>
            <a:off x="6629929" y="3365438"/>
            <a:ext cx="4749271" cy="787400"/>
          </a:xfrm>
          <a:prstGeom prst="roundRect">
            <a:avLst>
              <a:gd name="adj" fmla="val 11290"/>
            </a:avLst>
          </a:prstGeom>
          <a:solidFill>
            <a:srgbClr val="FBEFD5"/>
          </a:solidFill>
          <a:ln/>
        </p:spPr>
      </p:sp>
      <p:pic>
        <p:nvPicPr>
          <p:cNvPr id="17" name="Image 0" descr="Lightbulb">    </p:cNvPr>
          <p:cNvPicPr>
            <a:picLocks noChangeAspect="1"/>
          </p:cNvPicPr>
          <p:nvPr/>
        </p:nvPicPr>
        <p:blipFill>
          <a:blip r:embed="rId1"/>
          <a:srcRect l="-462" r="-462" t="0" b="0"/>
          <a:stretch/>
        </p:blipFill>
        <p:spPr>
          <a:xfrm>
            <a:off x="6807729" y="3606738"/>
            <a:ext cx="281980" cy="304800"/>
          </a:xfrm>
          <a:prstGeom prst="rect">
            <a:avLst/>
          </a:prstGeom>
        </p:spPr>
      </p:pic>
      <p:sp>
        <p:nvSpPr>
          <p:cNvPr id="18" name="Text 15"/>
          <p:cNvSpPr/>
          <p:nvPr/>
        </p:nvSpPr>
        <p:spPr>
          <a:xfrm>
            <a:off x="7216709" y="3492438"/>
            <a:ext cx="410423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Rubik" pitchFamily="34" charset="0"/>
                <a:ea typeface="Rubik" pitchFamily="34" charset="-122"/>
                <a:cs typeface="Rubik" pitchFamily="34" charset="-120"/>
              </a:rPr>
              <a:t>Swap </a:t>
            </a:r>
            <a:r>
              <a:rPr lang="en-US" sz="1500" dirty="0">
                <a:solidFill>
                  <a:srgbClr val="2A64A3"/>
                </a:solidFill>
                <a:latin typeface="Rubik" pitchFamily="34" charset="0"/>
                <a:ea typeface="Rubik" pitchFamily="34" charset="-122"/>
                <a:cs typeface="Rubik" pitchFamily="34" charset="-120"/>
              </a:rPr>
              <a:t>word</a:t>
            </a:r>
            <a:r>
              <a:rPr lang="en-US" sz="1500" dirty="0">
                <a:solidFill>
                  <a:srgbClr val="1B2A41"/>
                </a:solidFill>
                <a:latin typeface="Rubik" pitchFamily="34" charset="0"/>
                <a:ea typeface="Rubik" pitchFamily="34" charset="-122"/>
                <a:cs typeface="Rubik" pitchFamily="34" charset="-120"/>
              </a:rPr>
              <a:t> for </a:t>
            </a:r>
            <a:r>
              <a:rPr lang="en-US" sz="1500" dirty="0">
                <a:solidFill>
                  <a:srgbClr val="2A64A3"/>
                </a:solidFill>
                <a:latin typeface="Rubik" pitchFamily="34" charset="0"/>
                <a:ea typeface="Rubik" pitchFamily="34" charset="-122"/>
                <a:cs typeface="Rubik" pitchFamily="34" charset="-120"/>
              </a:rPr>
              <a:t>line.split()</a:t>
            </a:r>
            <a:r>
              <a:rPr lang="en-US" sz="1500" dirty="0">
                <a:solidFill>
                  <a:srgbClr val="1B2A41"/>
                </a:solidFill>
                <a:latin typeface="Rubik" pitchFamily="34" charset="0"/>
                <a:ea typeface="Rubik" pitchFamily="34" charset="-122"/>
                <a:cs typeface="Rubik" pitchFamily="34" charset="-120"/>
              </a:rPr>
              <a:t> to count words instead.</a:t>
            </a:r>
            <a:endParaRPr lang="en-US" sz="1500" dirty="0"/>
          </a:p>
        </p:txBody>
      </p:sp>
      <p:sp>
        <p:nvSpPr>
          <p:cNvPr id="19"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4 · Class 11</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11 · CHOOSING</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Which container should I use?</a:t>
            </a:r>
            <a:endParaRPr lang="en-US" sz="3200" dirty="0"/>
          </a:p>
        </p:txBody>
      </p:sp>
      <p:sp>
        <p:nvSpPr>
          <p:cNvPr id="4" name="Shape 2"/>
          <p:cNvSpPr/>
          <p:nvPr/>
        </p:nvSpPr>
        <p:spPr>
          <a:xfrm>
            <a:off x="819150" y="1860488"/>
            <a:ext cx="2476500" cy="1986227"/>
          </a:xfrm>
          <a:prstGeom prst="roundRect">
            <a:avLst>
              <a:gd name="adj" fmla="val 6074"/>
            </a:avLst>
          </a:prstGeom>
          <a:solidFill>
            <a:srgbClr val="FFFDF8"/>
          </a:solidFill>
          <a:ln w="12700">
            <a:solidFill>
              <a:srgbClr val="E2DED3"/>
            </a:solidFill>
            <a:prstDash val="solid"/>
          </a:ln>
        </p:spPr>
      </p:sp>
      <p:sp>
        <p:nvSpPr>
          <p:cNvPr id="5" name="Text 3"/>
          <p:cNvSpPr/>
          <p:nvPr/>
        </p:nvSpPr>
        <p:spPr>
          <a:xfrm>
            <a:off x="1028700" y="2070038"/>
            <a:ext cx="377825" cy="289520"/>
          </a:xfrm>
          <a:custGeom>
            <a:avLst/>
            <a:gdLst/>
            <a:ahLst/>
            <a:cxnLst/>
            <a:rect l="l" t="t" r="r" b="b"/>
            <a:pathLst>
              <a:path w="377825" h="289520">
                <a:moveTo>
                  <a:pt x="144760" y="0"/>
                </a:moveTo>
                <a:lnTo>
                  <a:pt x="233065" y="0"/>
                </a:lnTo>
                <a:arcTo hR="144760" wR="144760" stAng="16200000" swAng="5400000"/>
                <a:lnTo>
                  <a:pt x="377825"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 ]</a:t>
            </a:r>
            <a:endParaRPr lang="en-US" sz="1200" dirty="0"/>
          </a:p>
        </p:txBody>
      </p:sp>
      <p:sp>
        <p:nvSpPr>
          <p:cNvPr id="6" name="Text 4"/>
          <p:cNvSpPr/>
          <p:nvPr/>
        </p:nvSpPr>
        <p:spPr>
          <a:xfrm>
            <a:off x="1028700" y="24611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list</a:t>
            </a:r>
            <a:endParaRPr lang="en-US" sz="1800" dirty="0"/>
          </a:p>
        </p:txBody>
      </p:sp>
      <p:sp>
        <p:nvSpPr>
          <p:cNvPr id="7" name="Text 5"/>
          <p:cNvSpPr/>
          <p:nvPr/>
        </p:nvSpPr>
        <p:spPr>
          <a:xfrm>
            <a:off x="1028700" y="28370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Ordered, can change, repeats allowed. Marks of a class.</a:t>
            </a:r>
            <a:endParaRPr lang="en-US" sz="1500" dirty="0"/>
          </a:p>
        </p:txBody>
      </p:sp>
      <p:sp>
        <p:nvSpPr>
          <p:cNvPr id="8" name="Shape 6"/>
          <p:cNvSpPr/>
          <p:nvPr/>
        </p:nvSpPr>
        <p:spPr>
          <a:xfrm>
            <a:off x="3511550" y="1860488"/>
            <a:ext cx="2476500" cy="1986227"/>
          </a:xfrm>
          <a:prstGeom prst="roundRect">
            <a:avLst>
              <a:gd name="adj" fmla="val 6074"/>
            </a:avLst>
          </a:prstGeom>
          <a:solidFill>
            <a:srgbClr val="FFFDF8"/>
          </a:solidFill>
          <a:ln w="12700">
            <a:solidFill>
              <a:srgbClr val="E2DED3"/>
            </a:solidFill>
            <a:prstDash val="solid"/>
          </a:ln>
        </p:spPr>
      </p:sp>
      <p:sp>
        <p:nvSpPr>
          <p:cNvPr id="9" name="Text 7"/>
          <p:cNvSpPr/>
          <p:nvPr/>
        </p:nvSpPr>
        <p:spPr>
          <a:xfrm>
            <a:off x="3721100" y="2070038"/>
            <a:ext cx="378156" cy="289520"/>
          </a:xfrm>
          <a:custGeom>
            <a:avLst/>
            <a:gdLst/>
            <a:ahLst/>
            <a:cxnLst/>
            <a:rect l="l" t="t" r="r" b="b"/>
            <a:pathLst>
              <a:path w="378156" h="289520">
                <a:moveTo>
                  <a:pt x="144760" y="0"/>
                </a:moveTo>
                <a:lnTo>
                  <a:pt x="233396" y="0"/>
                </a:lnTo>
                <a:arcTo hR="144760" wR="144760" stAng="16200000" swAng="5400000"/>
                <a:lnTo>
                  <a:pt x="378156"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 )</a:t>
            </a:r>
            <a:endParaRPr lang="en-US" sz="1200" dirty="0"/>
          </a:p>
        </p:txBody>
      </p:sp>
      <p:sp>
        <p:nvSpPr>
          <p:cNvPr id="10" name="Text 8"/>
          <p:cNvSpPr/>
          <p:nvPr/>
        </p:nvSpPr>
        <p:spPr>
          <a:xfrm>
            <a:off x="3721100" y="24611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tuple</a:t>
            </a:r>
            <a:endParaRPr lang="en-US" sz="1800" dirty="0"/>
          </a:p>
        </p:txBody>
      </p:sp>
      <p:sp>
        <p:nvSpPr>
          <p:cNvPr id="11" name="Text 9"/>
          <p:cNvSpPr/>
          <p:nvPr/>
        </p:nvSpPr>
        <p:spPr>
          <a:xfrm>
            <a:off x="3721100" y="28370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Ordered, cannot change. A date or an (x, y) point.</a:t>
            </a:r>
            <a:endParaRPr lang="en-US" sz="1500" dirty="0"/>
          </a:p>
        </p:txBody>
      </p:sp>
      <p:sp>
        <p:nvSpPr>
          <p:cNvPr id="12" name="Shape 10"/>
          <p:cNvSpPr/>
          <p:nvPr/>
        </p:nvSpPr>
        <p:spPr>
          <a:xfrm>
            <a:off x="6203950" y="1860488"/>
            <a:ext cx="2476500" cy="1986227"/>
          </a:xfrm>
          <a:prstGeom prst="roundRect">
            <a:avLst>
              <a:gd name="adj" fmla="val 6074"/>
            </a:avLst>
          </a:prstGeom>
          <a:solidFill>
            <a:srgbClr val="FFFDF8"/>
          </a:solidFill>
          <a:ln w="12700">
            <a:solidFill>
              <a:srgbClr val="E2DED3"/>
            </a:solidFill>
            <a:prstDash val="solid"/>
          </a:ln>
        </p:spPr>
      </p:sp>
      <p:sp>
        <p:nvSpPr>
          <p:cNvPr id="13" name="Text 11"/>
          <p:cNvSpPr/>
          <p:nvPr/>
        </p:nvSpPr>
        <p:spPr>
          <a:xfrm>
            <a:off x="6413500" y="2070038"/>
            <a:ext cx="390657" cy="289520"/>
          </a:xfrm>
          <a:custGeom>
            <a:avLst/>
            <a:gdLst/>
            <a:ahLst/>
            <a:cxnLst/>
            <a:rect l="l" t="t" r="r" b="b"/>
            <a:pathLst>
              <a:path w="390657" h="289520">
                <a:moveTo>
                  <a:pt x="144760" y="0"/>
                </a:moveTo>
                <a:lnTo>
                  <a:pt x="245897" y="0"/>
                </a:lnTo>
                <a:arcTo hR="144760" wR="144760" stAng="16200000" swAng="5400000"/>
                <a:lnTo>
                  <a:pt x="390657"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 }</a:t>
            </a:r>
            <a:endParaRPr lang="en-US" sz="1200" dirty="0"/>
          </a:p>
        </p:txBody>
      </p:sp>
      <p:sp>
        <p:nvSpPr>
          <p:cNvPr id="14" name="Text 12"/>
          <p:cNvSpPr/>
          <p:nvPr/>
        </p:nvSpPr>
        <p:spPr>
          <a:xfrm>
            <a:off x="6413500" y="24611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set</a:t>
            </a:r>
            <a:endParaRPr lang="en-US" sz="1800" dirty="0"/>
          </a:p>
        </p:txBody>
      </p:sp>
      <p:sp>
        <p:nvSpPr>
          <p:cNvPr id="15" name="Text 13"/>
          <p:cNvSpPr/>
          <p:nvPr/>
        </p:nvSpPr>
        <p:spPr>
          <a:xfrm>
            <a:off x="6413500" y="28370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No order, no repeats. Unique visitors to a site.</a:t>
            </a:r>
            <a:endParaRPr lang="en-US" sz="1500" dirty="0"/>
          </a:p>
        </p:txBody>
      </p:sp>
      <p:sp>
        <p:nvSpPr>
          <p:cNvPr id="16" name="Shape 14"/>
          <p:cNvSpPr/>
          <p:nvPr/>
        </p:nvSpPr>
        <p:spPr>
          <a:xfrm>
            <a:off x="8896350" y="1860488"/>
            <a:ext cx="2476500" cy="1986227"/>
          </a:xfrm>
          <a:prstGeom prst="roundRect">
            <a:avLst>
              <a:gd name="adj" fmla="val 6074"/>
            </a:avLst>
          </a:prstGeom>
          <a:solidFill>
            <a:srgbClr val="FFFDF8"/>
          </a:solidFill>
          <a:ln w="12700">
            <a:solidFill>
              <a:srgbClr val="E2DED3"/>
            </a:solidFill>
            <a:prstDash val="solid"/>
          </a:ln>
        </p:spPr>
      </p:sp>
      <p:sp>
        <p:nvSpPr>
          <p:cNvPr id="17" name="Text 15"/>
          <p:cNvSpPr/>
          <p:nvPr/>
        </p:nvSpPr>
        <p:spPr>
          <a:xfrm>
            <a:off x="9105900" y="2070038"/>
            <a:ext cx="605168" cy="289520"/>
          </a:xfrm>
          <a:custGeom>
            <a:avLst/>
            <a:gdLst/>
            <a:ahLst/>
            <a:cxnLst/>
            <a:rect l="l" t="t" r="r" b="b"/>
            <a:pathLst>
              <a:path w="605168" h="289520">
                <a:moveTo>
                  <a:pt x="144760" y="0"/>
                </a:moveTo>
                <a:lnTo>
                  <a:pt x="460408" y="0"/>
                </a:lnTo>
                <a:arcTo hR="144760" wR="144760" stAng="16200000" swAng="5400000"/>
                <a:lnTo>
                  <a:pt x="605168"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{k: v}</a:t>
            </a:r>
            <a:endParaRPr lang="en-US" sz="1200" dirty="0"/>
          </a:p>
        </p:txBody>
      </p:sp>
      <p:sp>
        <p:nvSpPr>
          <p:cNvPr id="18" name="Text 16"/>
          <p:cNvSpPr/>
          <p:nvPr/>
        </p:nvSpPr>
        <p:spPr>
          <a:xfrm>
            <a:off x="9105900" y="24611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dict</a:t>
            </a:r>
            <a:endParaRPr lang="en-US" sz="1800" dirty="0"/>
          </a:p>
        </p:txBody>
      </p:sp>
      <p:sp>
        <p:nvSpPr>
          <p:cNvPr id="19" name="Text 17"/>
          <p:cNvSpPr/>
          <p:nvPr/>
        </p:nvSpPr>
        <p:spPr>
          <a:xfrm>
            <a:off x="9105900" y="2837061"/>
            <a:ext cx="211912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Look up a value by its key. A phone book.</a:t>
            </a:r>
            <a:endParaRPr lang="en-US" sz="1500" dirty="0"/>
          </a:p>
        </p:txBody>
      </p:sp>
      <p:sp>
        <p:nvSpPr>
          <p:cNvPr id="20" name="Text 18"/>
          <p:cNvSpPr/>
          <p:nvPr/>
        </p:nvSpPr>
        <p:spPr>
          <a:xfrm>
            <a:off x="812800" y="4157861"/>
            <a:ext cx="10566400" cy="622300"/>
          </a:xfrm>
          <a:prstGeom prst="roundRect">
            <a:avLst>
              <a:gd name="adj" fmla="val 20408"/>
            </a:avLst>
          </a:prstGeom>
          <a:solidFill>
            <a:srgbClr val="FBEFD5"/>
          </a:solidFill>
          <a:ln/>
        </p:spPr>
        <p:txBody>
          <a:bodyPr wrap="square" lIns="216803" tIns="140603" rIns="0" bIns="115203" rtlCol="0" anchor="t">
            <a:normAutofit/>
          </a:bodyPr>
          <a:lstStyle/>
          <a:p>
            <a:pPr algn="l" indent="0" marL="0">
              <a:lnSpc>
                <a:spcPts val="2100"/>
              </a:lnSpc>
              <a:buNone/>
            </a:pPr>
            <a:r>
              <a:rPr lang="en-US" sz="1500" dirty="0">
                <a:solidFill>
                  <a:srgbClr val="1B2A41"/>
                </a:solidFill>
                <a:latin typeface="Rubik" pitchFamily="34" charset="0"/>
                <a:ea typeface="Rubik" pitchFamily="34" charset="-122"/>
                <a:cs typeface="Rubik" pitchFamily="34" charset="-120"/>
              </a:rPr>
              <a:t>Viva tip: be ready to say, for each one, </a:t>
            </a:r>
            <a:r>
              <a:rPr lang="en-US" sz="1500" b="1" dirty="0">
                <a:solidFill>
                  <a:srgbClr val="1B2A41"/>
                </a:solidFill>
                <a:latin typeface="Rubik" pitchFamily="34" charset="0"/>
                <a:ea typeface="Rubik" pitchFamily="34" charset="-122"/>
                <a:cs typeface="Rubik" pitchFamily="34" charset="-120"/>
              </a:rPr>
              <a:t>ordered? changeable? repeats allowed?</a:t>
            </a:r>
            <a:endParaRPr lang="en-US" sz="1500" dirty="0"/>
          </a:p>
        </p:txBody>
      </p:sp>
      <p:sp>
        <p:nvSpPr>
          <p:cNvPr id="21" name="Text 1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4 · Class 11</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6EE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11 · PRACTICE</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Your turn: four programs</a:t>
            </a:r>
            <a:endParaRPr lang="en-US" sz="3200" dirty="0"/>
          </a:p>
        </p:txBody>
      </p:sp>
      <p:sp>
        <p:nvSpPr>
          <p:cNvPr id="4" name="Shape 2"/>
          <p:cNvSpPr/>
          <p:nvPr/>
        </p:nvSpPr>
        <p:spPr>
          <a:xfrm>
            <a:off x="819150" y="1809688"/>
            <a:ext cx="2476500" cy="2252927"/>
          </a:xfrm>
          <a:prstGeom prst="roundRect">
            <a:avLst>
              <a:gd name="adj" fmla="val 5355"/>
            </a:avLst>
          </a:prstGeom>
          <a:solidFill>
            <a:srgbClr val="FBFCFE"/>
          </a:solidFill>
          <a:ln w="12700">
            <a:solidFill>
              <a:srgbClr val="C9D7E8"/>
            </a:solidFill>
            <a:prstDash val="solid"/>
          </a:ln>
        </p:spPr>
      </p:sp>
      <p:sp>
        <p:nvSpPr>
          <p:cNvPr id="5" name="Text 3"/>
          <p:cNvSpPr/>
          <p:nvPr/>
        </p:nvSpPr>
        <p:spPr>
          <a:xfrm>
            <a:off x="1028700" y="2019238"/>
            <a:ext cx="681897" cy="289520"/>
          </a:xfrm>
          <a:custGeom>
            <a:avLst/>
            <a:gdLst/>
            <a:ahLst/>
            <a:cxnLst/>
            <a:rect l="l" t="t" r="r" b="b"/>
            <a:pathLst>
              <a:path w="681897" h="289520">
                <a:moveTo>
                  <a:pt x="144760" y="0"/>
                </a:moveTo>
                <a:lnTo>
                  <a:pt x="537137" y="0"/>
                </a:lnTo>
                <a:arcTo hR="144760" wR="144760" stAng="16200000" swAng="5400000"/>
                <a:lnTo>
                  <a:pt x="681897"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1</a:t>
            </a:r>
            <a:endParaRPr lang="en-US" sz="1200" dirty="0"/>
          </a:p>
        </p:txBody>
      </p:sp>
      <p:sp>
        <p:nvSpPr>
          <p:cNvPr id="6" name="Text 4"/>
          <p:cNvSpPr/>
          <p:nvPr/>
        </p:nvSpPr>
        <p:spPr>
          <a:xfrm>
            <a:off x="10287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Phone book</a:t>
            </a:r>
            <a:endParaRPr lang="en-US" sz="1800" dirty="0"/>
          </a:p>
        </p:txBody>
      </p:sp>
      <p:sp>
        <p:nvSpPr>
          <p:cNvPr id="7" name="Text 5"/>
          <p:cNvSpPr/>
          <p:nvPr/>
        </p:nvSpPr>
        <p:spPr>
          <a:xfrm>
            <a:off x="1028700" y="2786261"/>
            <a:ext cx="2119122"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Add 3 names and numbers to a dict, then search a name the user types.</a:t>
            </a:r>
            <a:endParaRPr lang="en-US" sz="1500" dirty="0"/>
          </a:p>
        </p:txBody>
      </p:sp>
      <p:sp>
        <p:nvSpPr>
          <p:cNvPr id="8" name="Shape 6"/>
          <p:cNvSpPr/>
          <p:nvPr/>
        </p:nvSpPr>
        <p:spPr>
          <a:xfrm>
            <a:off x="3511550" y="1809688"/>
            <a:ext cx="2476500" cy="2252927"/>
          </a:xfrm>
          <a:prstGeom prst="roundRect">
            <a:avLst>
              <a:gd name="adj" fmla="val 5355"/>
            </a:avLst>
          </a:prstGeom>
          <a:solidFill>
            <a:srgbClr val="FBFCFE"/>
          </a:solidFill>
          <a:ln w="12700">
            <a:solidFill>
              <a:srgbClr val="C9D7E8"/>
            </a:solidFill>
            <a:prstDash val="solid"/>
          </a:ln>
        </p:spPr>
      </p:sp>
      <p:sp>
        <p:nvSpPr>
          <p:cNvPr id="9" name="Text 7"/>
          <p:cNvSpPr/>
          <p:nvPr/>
        </p:nvSpPr>
        <p:spPr>
          <a:xfrm>
            <a:off x="3721100" y="2019238"/>
            <a:ext cx="705181" cy="289520"/>
          </a:xfrm>
          <a:custGeom>
            <a:avLst/>
            <a:gdLst/>
            <a:ahLst/>
            <a:cxnLst/>
            <a:rect l="l" t="t" r="r" b="b"/>
            <a:pathLst>
              <a:path w="705181" h="289520">
                <a:moveTo>
                  <a:pt x="144760" y="0"/>
                </a:moveTo>
                <a:lnTo>
                  <a:pt x="560421" y="0"/>
                </a:lnTo>
                <a:arcTo hR="144760" wR="144760" stAng="16200000" swAng="5400000"/>
                <a:lnTo>
                  <a:pt x="705181"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2</a:t>
            </a:r>
            <a:endParaRPr lang="en-US" sz="1200" dirty="0"/>
          </a:p>
        </p:txBody>
      </p:sp>
      <p:sp>
        <p:nvSpPr>
          <p:cNvPr id="10" name="Text 8"/>
          <p:cNvSpPr/>
          <p:nvPr/>
        </p:nvSpPr>
        <p:spPr>
          <a:xfrm>
            <a:off x="37211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Common friends</a:t>
            </a:r>
            <a:endParaRPr lang="en-US" sz="1800" dirty="0"/>
          </a:p>
        </p:txBody>
      </p:sp>
      <p:sp>
        <p:nvSpPr>
          <p:cNvPr id="11" name="Text 9"/>
          <p:cNvSpPr/>
          <p:nvPr/>
        </p:nvSpPr>
        <p:spPr>
          <a:xfrm>
            <a:off x="3721100" y="27862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Two friend lists: print who is in both, and who is in only one.</a:t>
            </a:r>
            <a:endParaRPr lang="en-US" sz="1500" dirty="0"/>
          </a:p>
        </p:txBody>
      </p:sp>
      <p:sp>
        <p:nvSpPr>
          <p:cNvPr id="12" name="Shape 10"/>
          <p:cNvSpPr/>
          <p:nvPr/>
        </p:nvSpPr>
        <p:spPr>
          <a:xfrm>
            <a:off x="6203950" y="1809688"/>
            <a:ext cx="2476500" cy="2252927"/>
          </a:xfrm>
          <a:prstGeom prst="roundRect">
            <a:avLst>
              <a:gd name="adj" fmla="val 5355"/>
            </a:avLst>
          </a:prstGeom>
          <a:solidFill>
            <a:srgbClr val="FBFCFE"/>
          </a:solidFill>
          <a:ln w="12700">
            <a:solidFill>
              <a:srgbClr val="C9D7E8"/>
            </a:solidFill>
            <a:prstDash val="solid"/>
          </a:ln>
        </p:spPr>
      </p:sp>
      <p:sp>
        <p:nvSpPr>
          <p:cNvPr id="13" name="Text 11"/>
          <p:cNvSpPr/>
          <p:nvPr/>
        </p:nvSpPr>
        <p:spPr>
          <a:xfrm>
            <a:off x="6413500" y="2019238"/>
            <a:ext cx="706570" cy="289520"/>
          </a:xfrm>
          <a:custGeom>
            <a:avLst/>
            <a:gdLst/>
            <a:ahLst/>
            <a:cxnLst/>
            <a:rect l="l" t="t" r="r" b="b"/>
            <a:pathLst>
              <a:path w="706570" h="289520">
                <a:moveTo>
                  <a:pt x="144760" y="0"/>
                </a:moveTo>
                <a:lnTo>
                  <a:pt x="561810" y="0"/>
                </a:lnTo>
                <a:arcTo hR="144760" wR="144760" stAng="16200000" swAng="5400000"/>
                <a:lnTo>
                  <a:pt x="706570"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3</a:t>
            </a:r>
            <a:endParaRPr lang="en-US" sz="1200" dirty="0"/>
          </a:p>
        </p:txBody>
      </p:sp>
      <p:sp>
        <p:nvSpPr>
          <p:cNvPr id="14" name="Text 12"/>
          <p:cNvSpPr/>
          <p:nvPr/>
        </p:nvSpPr>
        <p:spPr>
          <a:xfrm>
            <a:off x="64135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Word count</a:t>
            </a:r>
            <a:endParaRPr lang="en-US" sz="1800" dirty="0"/>
          </a:p>
        </p:txBody>
      </p:sp>
      <p:sp>
        <p:nvSpPr>
          <p:cNvPr id="15" name="Text 13"/>
          <p:cNvSpPr/>
          <p:nvPr/>
        </p:nvSpPr>
        <p:spPr>
          <a:xfrm>
            <a:off x="6413500" y="2786261"/>
            <a:ext cx="2119122"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Count each word in a sentence. "to be or not to be" gives to: 2, be: 2…</a:t>
            </a:r>
            <a:endParaRPr lang="en-US" sz="1500" dirty="0"/>
          </a:p>
        </p:txBody>
      </p:sp>
      <p:sp>
        <p:nvSpPr>
          <p:cNvPr id="16" name="Shape 14"/>
          <p:cNvSpPr/>
          <p:nvPr/>
        </p:nvSpPr>
        <p:spPr>
          <a:xfrm>
            <a:off x="8896350" y="1809688"/>
            <a:ext cx="2476500" cy="2252927"/>
          </a:xfrm>
          <a:prstGeom prst="roundRect">
            <a:avLst>
              <a:gd name="adj" fmla="val 5355"/>
            </a:avLst>
          </a:prstGeom>
          <a:solidFill>
            <a:srgbClr val="FBFCFE"/>
          </a:solidFill>
          <a:ln w="12700">
            <a:solidFill>
              <a:srgbClr val="C9D7E8"/>
            </a:solidFill>
            <a:prstDash val="solid"/>
          </a:ln>
        </p:spPr>
      </p:sp>
      <p:sp>
        <p:nvSpPr>
          <p:cNvPr id="17" name="Text 15"/>
          <p:cNvSpPr/>
          <p:nvPr/>
        </p:nvSpPr>
        <p:spPr>
          <a:xfrm>
            <a:off x="9105900" y="2019238"/>
            <a:ext cx="710076" cy="289520"/>
          </a:xfrm>
          <a:custGeom>
            <a:avLst/>
            <a:gdLst/>
            <a:ahLst/>
            <a:cxnLst/>
            <a:rect l="l" t="t" r="r" b="b"/>
            <a:pathLst>
              <a:path w="710076" h="289520">
                <a:moveTo>
                  <a:pt x="144760" y="0"/>
                </a:moveTo>
                <a:lnTo>
                  <a:pt x="565315" y="0"/>
                </a:lnTo>
                <a:arcTo hR="144760" wR="144760" stAng="16200000" swAng="5400000"/>
                <a:lnTo>
                  <a:pt x="710076"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4</a:t>
            </a:r>
            <a:endParaRPr lang="en-US" sz="1200" dirty="0"/>
          </a:p>
        </p:txBody>
      </p:sp>
      <p:sp>
        <p:nvSpPr>
          <p:cNvPr id="18" name="Text 16"/>
          <p:cNvSpPr/>
          <p:nvPr/>
        </p:nvSpPr>
        <p:spPr>
          <a:xfrm>
            <a:off x="91059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Topper</a:t>
            </a:r>
            <a:endParaRPr lang="en-US" sz="1800" dirty="0"/>
          </a:p>
        </p:txBody>
      </p:sp>
      <p:sp>
        <p:nvSpPr>
          <p:cNvPr id="19" name="Text 17"/>
          <p:cNvSpPr/>
          <p:nvPr/>
        </p:nvSpPr>
        <p:spPr>
          <a:xfrm>
            <a:off x="9105900" y="27862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From a dict of name: marks, print the topper and the class average.</a:t>
            </a:r>
            <a:endParaRPr lang="en-US" sz="1500" dirty="0"/>
          </a:p>
        </p:txBody>
      </p:sp>
      <p:sp>
        <p:nvSpPr>
          <p:cNvPr id="20" name="Shape 18"/>
          <p:cNvSpPr/>
          <p:nvPr/>
        </p:nvSpPr>
        <p:spPr>
          <a:xfrm>
            <a:off x="812800" y="4322961"/>
            <a:ext cx="10566400" cy="622300"/>
          </a:xfrm>
          <a:prstGeom prst="roundRect">
            <a:avLst>
              <a:gd name="adj" fmla="val 20408"/>
            </a:avLst>
          </a:prstGeom>
          <a:solidFill>
            <a:srgbClr val="1B2A41"/>
          </a:solidFill>
          <a:ln/>
        </p:spPr>
      </p:sp>
      <p:sp>
        <p:nvSpPr>
          <p:cNvPr id="21" name="Text 19"/>
          <p:cNvSpPr/>
          <p:nvPr/>
        </p:nvSpPr>
        <p:spPr>
          <a:xfrm>
            <a:off x="1066800" y="4527426"/>
            <a:ext cx="121569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B33D"/>
                </a:solidFill>
                <a:latin typeface="Rubik" pitchFamily="34" charset="0"/>
                <a:ea typeface="Rubik" pitchFamily="34" charset="-122"/>
                <a:cs typeface="Rubik" pitchFamily="34" charset="-120"/>
              </a:rPr>
              <a:t>HOMEWORK</a:t>
            </a:r>
            <a:endParaRPr lang="en-US" sz="1200" dirty="0"/>
          </a:p>
        </p:txBody>
      </p:sp>
      <p:sp>
        <p:nvSpPr>
          <p:cNvPr id="22" name="Text 20"/>
          <p:cNvSpPr/>
          <p:nvPr/>
        </p:nvSpPr>
        <p:spPr>
          <a:xfrm>
            <a:off x="2282494" y="4500761"/>
            <a:ext cx="499316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7F5EF"/>
                </a:solidFill>
                <a:latin typeface="Rubik" pitchFamily="34" charset="0"/>
                <a:ea typeface="Rubik" pitchFamily="34" charset="-122"/>
                <a:cs typeface="Rubik" pitchFamily="34" charset="-120"/>
              </a:rPr>
              <a:t>Read on W3Schools: </a:t>
            </a:r>
            <a:r>
              <a:rPr lang="en-US" sz="1500" u="sng" dirty="0">
                <a:solidFill>
                  <a:srgbClr val="F2B33D"/>
                </a:solidFill>
                <a:latin typeface="Rubik" pitchFamily="34" charset="0"/>
                <a:ea typeface="Rubik" pitchFamily="34" charset="-122"/>
                <a:cs typeface="Rubik" pitchFamily="34" charset="-120"/>
                <a:hlinkClick r:id="rId1" invalidUrl="" action="" tgtFrame="" tooltip="" history="1" highlightClick="0" endSnd="0">
                  <a:extLst>
                    <a:ext uri="{A12FA001-AC4F-418D-AE19-62706E023703}">
                      <ahyp:hlinkClr xmlns:ahyp="http://schemas.microsoft.com/office/drawing/2018/hyperlinkcolor" val="tx"/>
                    </a:ext>
                  </a:extLst>
                </a:hlinkClick>
              </a:rPr>
              <a:t>Tuples</a:t>
            </a:r>
            <a:r>
              <a:rPr lang="en-US" sz="1500" dirty="0">
                <a:solidFill>
                  <a:srgbClr val="F7F5EF"/>
                </a:solidFill>
                <a:latin typeface="Rubik" pitchFamily="34" charset="0"/>
                <a:ea typeface="Rubik" pitchFamily="34" charset="-122"/>
                <a:cs typeface="Rubik" pitchFamily="34" charset="-120"/>
              </a:rPr>
              <a:t> · </a:t>
            </a:r>
            <a:r>
              <a:rPr lang="en-US" sz="1500" u="sng" dirty="0">
                <a:solidFill>
                  <a:srgbClr val="F2B33D"/>
                </a:solidFill>
                <a:latin typeface="Rubik" pitchFamily="34" charset="0"/>
                <a:ea typeface="Rubik" pitchFamily="34" charset="-122"/>
                <a:cs typeface="Rubik" pitchFamily="34" charset="-120"/>
                <a:hlinkClick r:id="rId2" invalidUrl="" action="" tgtFrame="" tooltip="" history="1" highlightClick="0" endSnd="0">
                  <a:extLst>
                    <a:ext uri="{A12FA001-AC4F-418D-AE19-62706E023703}">
                      <ahyp:hlinkClr xmlns:ahyp="http://schemas.microsoft.com/office/drawing/2018/hyperlinkcolor" val="tx"/>
                    </a:ext>
                  </a:extLst>
                </a:hlinkClick>
              </a:rPr>
              <a:t>Sets</a:t>
            </a:r>
            <a:r>
              <a:rPr lang="en-US" sz="1500" dirty="0">
                <a:solidFill>
                  <a:srgbClr val="F7F5EF"/>
                </a:solidFill>
                <a:latin typeface="Rubik" pitchFamily="34" charset="0"/>
                <a:ea typeface="Rubik" pitchFamily="34" charset="-122"/>
                <a:cs typeface="Rubik" pitchFamily="34" charset="-120"/>
              </a:rPr>
              <a:t> · </a:t>
            </a:r>
            <a:r>
              <a:rPr lang="en-US" sz="1500" u="sng" dirty="0">
                <a:solidFill>
                  <a:srgbClr val="F2B33D"/>
                </a:solidFill>
                <a:latin typeface="Rubik" pitchFamily="34" charset="0"/>
                <a:ea typeface="Rubik" pitchFamily="34" charset="-122"/>
                <a:cs typeface="Rubik" pitchFamily="34" charset="-120"/>
                <a:hlinkClick r:id="rId3" invalidUrl="" action="" tgtFrame="" tooltip="" history="1" highlightClick="0" endSnd="0">
                  <a:extLst>
                    <a:ext uri="{A12FA001-AC4F-418D-AE19-62706E023703}">
                      <ahyp:hlinkClr xmlns:ahyp="http://schemas.microsoft.com/office/drawing/2018/hyperlinkcolor" val="tx"/>
                    </a:ext>
                  </a:extLst>
                </a:hlinkClick>
              </a:rPr>
              <a:t>Dictionaries</a:t>
            </a:r>
            <a:endParaRPr lang="en-US" sz="1500" dirty="0"/>
          </a:p>
        </p:txBody>
      </p:sp>
      <p:sp>
        <p:nvSpPr>
          <p:cNvPr id="23"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4 · Class 11</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2B33D"/>
        </a:solidFill>
      </p:bgPr>
    </p:bg>
    <p:spTree>
      <p:nvGrpSpPr>
        <p:cNvPr id="1" name=""/>
        <p:cNvGrpSpPr/>
        <p:nvPr/>
      </p:nvGrpSpPr>
      <p:grpSpPr>
        <a:xfrm>
          <a:off x="0" y="0"/>
          <a:ext cx="0" cy="0"/>
          <a:chOff x="0" y="0"/>
          <a:chExt cx="0" cy="0"/>
        </a:xfrm>
      </p:grpSpPr>
      <p:sp>
        <p:nvSpPr>
          <p:cNvPr id="2" name="Text 0"/>
          <p:cNvSpPr/>
          <p:nvPr/>
        </p:nvSpPr>
        <p:spPr>
          <a:xfrm>
            <a:off x="812800" y="2504480"/>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1B2A41"/>
                </a:solidFill>
                <a:latin typeface="Rubik" pitchFamily="34" charset="0"/>
                <a:ea typeface="Rubik" pitchFamily="34" charset="-122"/>
                <a:cs typeface="Rubik" pitchFamily="34" charset="-120"/>
              </a:rPr>
              <a:t>CLASS 12 OF 24</a:t>
            </a:r>
            <a:endParaRPr lang="en-US" sz="1200" dirty="0"/>
          </a:p>
        </p:txBody>
      </p:sp>
      <p:sp>
        <p:nvSpPr>
          <p:cNvPr id="3" name="Text 1"/>
          <p:cNvSpPr/>
          <p:nvPr>
            <p:ph type="title"/>
          </p:nvPr>
        </p:nvSpPr>
        <p:spPr>
          <a:xfrm>
            <a:off x="812800" y="2895600"/>
            <a:ext cx="5127752" cy="665427"/>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1B2A41"/>
                </a:solidFill>
                <a:latin typeface="Rubik" pitchFamily="34" charset="0"/>
                <a:ea typeface="Rubik" pitchFamily="34" charset="-122"/>
                <a:cs typeface="Rubik" pitchFamily="34" charset="-120"/>
              </a:rPr>
              <a:t>Mini-project 1</a:t>
            </a:r>
            <a:endParaRPr lang="en-US" sz="4800" dirty="0"/>
          </a:p>
        </p:txBody>
      </p:sp>
      <p:sp>
        <p:nvSpPr>
          <p:cNvPr id="4" name="Text 2"/>
          <p:cNvSpPr/>
          <p:nvPr/>
        </p:nvSpPr>
        <p:spPr>
          <a:xfrm>
            <a:off x="812800" y="3713435"/>
            <a:ext cx="5127752" cy="665427"/>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B2A41"/>
                </a:solidFill>
                <a:latin typeface="Rubik" pitchFamily="34" charset="0"/>
                <a:ea typeface="Rubik" pitchFamily="34" charset="-122"/>
                <a:cs typeface="Rubik" pitchFamily="34" charset="-120"/>
              </a:rPr>
              <a:t>A student record manager that uses everything so far</a:t>
            </a:r>
            <a:endParaRPr lang="en-US" sz="1800" dirty="0"/>
          </a:p>
        </p:txBody>
      </p:sp>
      <p:sp>
        <p:nvSpPr>
          <p:cNvPr id="5" name="Shape 3"/>
          <p:cNvSpPr/>
          <p:nvPr/>
        </p:nvSpPr>
        <p:spPr>
          <a:xfrm>
            <a:off x="6400800" y="2098018"/>
            <a:ext cx="4978400" cy="2661907"/>
          </a:xfrm>
          <a:prstGeom prst="roundRect">
            <a:avLst>
              <a:gd name="adj" fmla="val 5725"/>
            </a:avLst>
          </a:prstGeom>
          <a:solidFill>
            <a:srgbClr val="1B2A41"/>
          </a:solidFill>
          <a:ln/>
        </p:spPr>
      </p:sp>
      <p:sp>
        <p:nvSpPr>
          <p:cNvPr id="6" name="Text 4"/>
          <p:cNvSpPr/>
          <p:nvPr/>
        </p:nvSpPr>
        <p:spPr>
          <a:xfrm>
            <a:off x="6756400" y="2453618"/>
            <a:ext cx="439521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B33D"/>
                </a:solidFill>
                <a:latin typeface="Rubik" pitchFamily="34" charset="0"/>
                <a:ea typeface="Rubik" pitchFamily="34" charset="-122"/>
                <a:cs typeface="Rubik" pitchFamily="34" charset="-120"/>
              </a:rPr>
              <a:t>By the end of today you can</a:t>
            </a:r>
            <a:endParaRPr lang="en-US" sz="1800" dirty="0"/>
          </a:p>
        </p:txBody>
      </p:sp>
      <p:sp>
        <p:nvSpPr>
          <p:cNvPr id="7" name="Text 5"/>
          <p:cNvSpPr/>
          <p:nvPr/>
        </p:nvSpPr>
        <p:spPr>
          <a:xfrm>
            <a:off x="6840220" y="2880320"/>
            <a:ext cx="4303776" cy="1549400"/>
          </a:xfrm>
          <a:prstGeom prst="rect">
            <a:avLst/>
          </a:prstGeom>
          <a:noFill/>
          <a:ln/>
        </p:spPr>
        <p:txBody>
          <a:bodyPr wrap="square" lIns="0" tIns="0" rIns="0" bIns="0" rtlCol="0" anchor="t">
            <a:normAutofit/>
          </a:bodyPr>
          <a:lstStyle/>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Plan a program before coding</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Store records in a dictionary</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Drive it with a menu loop</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Add, show, search and rank students</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Test it and add your own feature</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12 · THE PLAN</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What our program will do</a:t>
            </a:r>
            <a:endParaRPr lang="en-US" sz="3200" dirty="0"/>
          </a:p>
        </p:txBody>
      </p:sp>
      <p:sp>
        <p:nvSpPr>
          <p:cNvPr id="4" name="Shape 2"/>
          <p:cNvSpPr/>
          <p:nvPr/>
        </p:nvSpPr>
        <p:spPr>
          <a:xfrm>
            <a:off x="819150" y="1860488"/>
            <a:ext cx="2476500" cy="1719527"/>
          </a:xfrm>
          <a:prstGeom prst="roundRect">
            <a:avLst>
              <a:gd name="adj" fmla="val 7016"/>
            </a:avLst>
          </a:prstGeom>
          <a:solidFill>
            <a:srgbClr val="FFFDF8"/>
          </a:solidFill>
          <a:ln w="12700">
            <a:solidFill>
              <a:srgbClr val="E2DED3"/>
            </a:solidFill>
            <a:prstDash val="solid"/>
          </a:ln>
        </p:spPr>
      </p:sp>
      <p:sp>
        <p:nvSpPr>
          <p:cNvPr id="5" name="Text 3"/>
          <p:cNvSpPr/>
          <p:nvPr/>
        </p:nvSpPr>
        <p:spPr>
          <a:xfrm>
            <a:off x="1028700" y="2070038"/>
            <a:ext cx="304403" cy="289520"/>
          </a:xfrm>
          <a:custGeom>
            <a:avLst/>
            <a:gdLst/>
            <a:ahLst/>
            <a:cxnLst/>
            <a:rect l="l" t="t" r="r" b="b"/>
            <a:pathLst>
              <a:path w="304403" h="289520">
                <a:moveTo>
                  <a:pt x="144760" y="0"/>
                </a:moveTo>
                <a:lnTo>
                  <a:pt x="159643" y="0"/>
                </a:lnTo>
                <a:arcTo hR="144760" wR="144760" stAng="16200000" swAng="5400000"/>
                <a:lnTo>
                  <a:pt x="304403"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1</a:t>
            </a:r>
            <a:endParaRPr lang="en-US" sz="1200" dirty="0"/>
          </a:p>
        </p:txBody>
      </p:sp>
      <p:sp>
        <p:nvSpPr>
          <p:cNvPr id="6" name="Text 4"/>
          <p:cNvSpPr/>
          <p:nvPr/>
        </p:nvSpPr>
        <p:spPr>
          <a:xfrm>
            <a:off x="1028700" y="24611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Add</a:t>
            </a:r>
            <a:endParaRPr lang="en-US" sz="1800" dirty="0"/>
          </a:p>
        </p:txBody>
      </p:sp>
      <p:sp>
        <p:nvSpPr>
          <p:cNvPr id="7" name="Text 5"/>
          <p:cNvSpPr/>
          <p:nvPr/>
        </p:nvSpPr>
        <p:spPr>
          <a:xfrm>
            <a:off x="1028700" y="2837061"/>
            <a:ext cx="211912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Read a name and marks in 3 subjects.</a:t>
            </a:r>
            <a:endParaRPr lang="en-US" sz="1500" dirty="0"/>
          </a:p>
        </p:txBody>
      </p:sp>
      <p:sp>
        <p:nvSpPr>
          <p:cNvPr id="8" name="Shape 6"/>
          <p:cNvSpPr/>
          <p:nvPr/>
        </p:nvSpPr>
        <p:spPr>
          <a:xfrm>
            <a:off x="3511550" y="1860488"/>
            <a:ext cx="2476500" cy="1719527"/>
          </a:xfrm>
          <a:prstGeom prst="roundRect">
            <a:avLst>
              <a:gd name="adj" fmla="val 7016"/>
            </a:avLst>
          </a:prstGeom>
          <a:solidFill>
            <a:srgbClr val="FFFDF8"/>
          </a:solidFill>
          <a:ln w="12700">
            <a:solidFill>
              <a:srgbClr val="E2DED3"/>
            </a:solidFill>
            <a:prstDash val="solid"/>
          </a:ln>
        </p:spPr>
      </p:sp>
      <p:sp>
        <p:nvSpPr>
          <p:cNvPr id="9" name="Text 7"/>
          <p:cNvSpPr/>
          <p:nvPr/>
        </p:nvSpPr>
        <p:spPr>
          <a:xfrm>
            <a:off x="3721100" y="2070038"/>
            <a:ext cx="327686" cy="289520"/>
          </a:xfrm>
          <a:custGeom>
            <a:avLst/>
            <a:gdLst/>
            <a:ahLst/>
            <a:cxnLst/>
            <a:rect l="l" t="t" r="r" b="b"/>
            <a:pathLst>
              <a:path w="327686" h="289520">
                <a:moveTo>
                  <a:pt x="144760" y="0"/>
                </a:moveTo>
                <a:lnTo>
                  <a:pt x="182926" y="0"/>
                </a:lnTo>
                <a:arcTo hR="144760" wR="144760" stAng="16200000" swAng="5400000"/>
                <a:lnTo>
                  <a:pt x="327686"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2</a:t>
            </a:r>
            <a:endParaRPr lang="en-US" sz="1200" dirty="0"/>
          </a:p>
        </p:txBody>
      </p:sp>
      <p:sp>
        <p:nvSpPr>
          <p:cNvPr id="10" name="Text 8"/>
          <p:cNvSpPr/>
          <p:nvPr/>
        </p:nvSpPr>
        <p:spPr>
          <a:xfrm>
            <a:off x="3721100" y="24611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Show</a:t>
            </a:r>
            <a:endParaRPr lang="en-US" sz="1800" dirty="0"/>
          </a:p>
        </p:txBody>
      </p:sp>
      <p:sp>
        <p:nvSpPr>
          <p:cNvPr id="11" name="Text 9"/>
          <p:cNvSpPr/>
          <p:nvPr/>
        </p:nvSpPr>
        <p:spPr>
          <a:xfrm>
            <a:off x="3721100" y="2837061"/>
            <a:ext cx="211912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List every student with their average.</a:t>
            </a:r>
            <a:endParaRPr lang="en-US" sz="1500" dirty="0"/>
          </a:p>
        </p:txBody>
      </p:sp>
      <p:sp>
        <p:nvSpPr>
          <p:cNvPr id="12" name="Shape 10"/>
          <p:cNvSpPr/>
          <p:nvPr/>
        </p:nvSpPr>
        <p:spPr>
          <a:xfrm>
            <a:off x="6203950" y="1860488"/>
            <a:ext cx="2476500" cy="1719527"/>
          </a:xfrm>
          <a:prstGeom prst="roundRect">
            <a:avLst>
              <a:gd name="adj" fmla="val 7016"/>
            </a:avLst>
          </a:prstGeom>
          <a:solidFill>
            <a:srgbClr val="FFFDF8"/>
          </a:solidFill>
          <a:ln w="12700">
            <a:solidFill>
              <a:srgbClr val="E2DED3"/>
            </a:solidFill>
            <a:prstDash val="solid"/>
          </a:ln>
        </p:spPr>
      </p:sp>
      <p:sp>
        <p:nvSpPr>
          <p:cNvPr id="13" name="Text 11"/>
          <p:cNvSpPr/>
          <p:nvPr/>
        </p:nvSpPr>
        <p:spPr>
          <a:xfrm>
            <a:off x="6413500" y="2070038"/>
            <a:ext cx="329076" cy="289520"/>
          </a:xfrm>
          <a:custGeom>
            <a:avLst/>
            <a:gdLst/>
            <a:ahLst/>
            <a:cxnLst/>
            <a:rect l="l" t="t" r="r" b="b"/>
            <a:pathLst>
              <a:path w="329076" h="289520">
                <a:moveTo>
                  <a:pt x="144760" y="0"/>
                </a:moveTo>
                <a:lnTo>
                  <a:pt x="184315" y="0"/>
                </a:lnTo>
                <a:arcTo hR="144760" wR="144760" stAng="16200000" swAng="5400000"/>
                <a:lnTo>
                  <a:pt x="329076"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3</a:t>
            </a:r>
            <a:endParaRPr lang="en-US" sz="1200" dirty="0"/>
          </a:p>
        </p:txBody>
      </p:sp>
      <p:sp>
        <p:nvSpPr>
          <p:cNvPr id="14" name="Text 12"/>
          <p:cNvSpPr/>
          <p:nvPr/>
        </p:nvSpPr>
        <p:spPr>
          <a:xfrm>
            <a:off x="6413500" y="24611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Find</a:t>
            </a:r>
            <a:endParaRPr lang="en-US" sz="1800" dirty="0"/>
          </a:p>
        </p:txBody>
      </p:sp>
      <p:sp>
        <p:nvSpPr>
          <p:cNvPr id="15" name="Text 13"/>
          <p:cNvSpPr/>
          <p:nvPr/>
        </p:nvSpPr>
        <p:spPr>
          <a:xfrm>
            <a:off x="6413500" y="2837061"/>
            <a:ext cx="211912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Search one student by name.</a:t>
            </a:r>
            <a:endParaRPr lang="en-US" sz="1500" dirty="0"/>
          </a:p>
        </p:txBody>
      </p:sp>
      <p:sp>
        <p:nvSpPr>
          <p:cNvPr id="16" name="Shape 14"/>
          <p:cNvSpPr/>
          <p:nvPr/>
        </p:nvSpPr>
        <p:spPr>
          <a:xfrm>
            <a:off x="8896350" y="1860488"/>
            <a:ext cx="2476500" cy="1719527"/>
          </a:xfrm>
          <a:prstGeom prst="roundRect">
            <a:avLst>
              <a:gd name="adj" fmla="val 7016"/>
            </a:avLst>
          </a:prstGeom>
          <a:solidFill>
            <a:srgbClr val="FFFDF8"/>
          </a:solidFill>
          <a:ln w="12700">
            <a:solidFill>
              <a:srgbClr val="E2DED3"/>
            </a:solidFill>
            <a:prstDash val="solid"/>
          </a:ln>
        </p:spPr>
      </p:sp>
      <p:sp>
        <p:nvSpPr>
          <p:cNvPr id="17" name="Text 15"/>
          <p:cNvSpPr/>
          <p:nvPr/>
        </p:nvSpPr>
        <p:spPr>
          <a:xfrm>
            <a:off x="9105900" y="2070038"/>
            <a:ext cx="332581" cy="289520"/>
          </a:xfrm>
          <a:custGeom>
            <a:avLst/>
            <a:gdLst/>
            <a:ahLst/>
            <a:cxnLst/>
            <a:rect l="l" t="t" r="r" b="b"/>
            <a:pathLst>
              <a:path w="332581" h="289520">
                <a:moveTo>
                  <a:pt x="144760" y="0"/>
                </a:moveTo>
                <a:lnTo>
                  <a:pt x="187821" y="0"/>
                </a:lnTo>
                <a:arcTo hR="144760" wR="144760" stAng="16200000" swAng="5400000"/>
                <a:lnTo>
                  <a:pt x="332581"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4</a:t>
            </a:r>
            <a:endParaRPr lang="en-US" sz="1200" dirty="0"/>
          </a:p>
        </p:txBody>
      </p:sp>
      <p:sp>
        <p:nvSpPr>
          <p:cNvPr id="18" name="Text 16"/>
          <p:cNvSpPr/>
          <p:nvPr/>
        </p:nvSpPr>
        <p:spPr>
          <a:xfrm>
            <a:off x="9105900" y="24611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Topper</a:t>
            </a:r>
            <a:endParaRPr lang="en-US" sz="1800" dirty="0"/>
          </a:p>
        </p:txBody>
      </p:sp>
      <p:sp>
        <p:nvSpPr>
          <p:cNvPr id="19" name="Text 17"/>
          <p:cNvSpPr/>
          <p:nvPr/>
        </p:nvSpPr>
        <p:spPr>
          <a:xfrm>
            <a:off x="9105900" y="2837061"/>
            <a:ext cx="211912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Show who has the highest total.</a:t>
            </a:r>
            <a:endParaRPr lang="en-US" sz="1500" dirty="0"/>
          </a:p>
        </p:txBody>
      </p:sp>
      <p:sp>
        <p:nvSpPr>
          <p:cNvPr id="20" name="Text 18"/>
          <p:cNvSpPr/>
          <p:nvPr/>
        </p:nvSpPr>
        <p:spPr>
          <a:xfrm>
            <a:off x="812800" y="3891161"/>
            <a:ext cx="10566400" cy="622300"/>
          </a:xfrm>
          <a:prstGeom prst="roundRect">
            <a:avLst>
              <a:gd name="adj" fmla="val 20408"/>
            </a:avLst>
          </a:prstGeom>
          <a:solidFill>
            <a:srgbClr val="FBEFD5"/>
          </a:solidFill>
          <a:ln/>
        </p:spPr>
        <p:txBody>
          <a:bodyPr wrap="square" lIns="216803" tIns="140603" rIns="0" bIns="115203" rtlCol="0" anchor="t">
            <a:normAutofit/>
          </a:bodyPr>
          <a:lstStyle/>
          <a:p>
            <a:pPr algn="l" indent="0" marL="0">
              <a:lnSpc>
                <a:spcPts val="2100"/>
              </a:lnSpc>
              <a:buNone/>
            </a:pPr>
            <a:r>
              <a:rPr lang="en-US" sz="1500" dirty="0">
                <a:solidFill>
                  <a:srgbClr val="1B2A41"/>
                </a:solidFill>
                <a:latin typeface="Rubik" pitchFamily="34" charset="0"/>
                <a:ea typeface="Rubik" pitchFamily="34" charset="-122"/>
                <a:cs typeface="Rubik" pitchFamily="34" charset="-120"/>
              </a:rPr>
              <a:t>Data: a dictionary of </a:t>
            </a:r>
            <a:r>
              <a:rPr lang="en-US" sz="1500" b="1" dirty="0">
                <a:solidFill>
                  <a:srgbClr val="1B2A41"/>
                </a:solidFill>
                <a:latin typeface="Rubik" pitchFamily="34" charset="0"/>
                <a:ea typeface="Rubik" pitchFamily="34" charset="-122"/>
                <a:cs typeface="Rubik" pitchFamily="34" charset="-120"/>
              </a:rPr>
              <a:t>name → list of 3 marks</a:t>
            </a:r>
            <a:r>
              <a:rPr lang="en-US" sz="1500" dirty="0">
                <a:solidFill>
                  <a:srgbClr val="1B2A41"/>
                </a:solidFill>
                <a:latin typeface="Rubik" pitchFamily="34" charset="0"/>
                <a:ea typeface="Rubik" pitchFamily="34" charset="-122"/>
                <a:cs typeface="Rubik" pitchFamily="34" charset="-120"/>
              </a:rPr>
              <a:t>, e.g. </a:t>
            </a:r>
            <a:r>
              <a:rPr lang="en-US" sz="1500" dirty="0">
                <a:solidFill>
                  <a:srgbClr val="2A64A3"/>
                </a:solidFill>
                <a:latin typeface="Rubik" pitchFamily="34" charset="0"/>
                <a:ea typeface="Rubik" pitchFamily="34" charset="-122"/>
                <a:cs typeface="Rubik" pitchFamily="34" charset="-120"/>
              </a:rPr>
              <a:t>{"Ananya": [78, 85, 92]}</a:t>
            </a:r>
            <a:endParaRPr lang="en-US" sz="1500" dirty="0"/>
          </a:p>
        </p:txBody>
      </p:sp>
      <p:sp>
        <p:nvSpPr>
          <p:cNvPr id="21" name="Text 1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4 · Class 12</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0320"/>
          </a:xfrm>
          <a:prstGeom prst="rect">
            <a:avLst/>
          </a:prstGeom>
          <a:noFill/>
          <a:ln/>
        </p:spPr>
        <p:txBody>
          <a:bodyPr wrap="square" lIns="0" tIns="0" rIns="0" bIns="0" rtlCol="0" anchor="t">
            <a:normAutofit/>
          </a:bodyPr>
          <a:lstStyle/>
          <a:p>
            <a:pPr algn="l" indent="0" marL="0">
              <a:lnSpc>
                <a:spcPts val="1622"/>
              </a:lnSpc>
              <a:buNone/>
            </a:pPr>
            <a:r>
              <a:rPr lang="en-US" sz="1159" b="1" spc="150" kern="0" dirty="0">
                <a:solidFill>
                  <a:srgbClr val="2A64A3"/>
                </a:solidFill>
                <a:latin typeface="Rubik" pitchFamily="34" charset="0"/>
                <a:ea typeface="Rubik" pitchFamily="34" charset="-122"/>
                <a:cs typeface="Rubik" pitchFamily="34" charset="-120"/>
              </a:rPr>
              <a:t>CLASS 12 · STEP 1</a:t>
            </a:r>
            <a:endParaRPr lang="en-US" sz="1159" dirty="0"/>
          </a:p>
        </p:txBody>
      </p:sp>
      <p:sp>
        <p:nvSpPr>
          <p:cNvPr id="3" name="Text 1"/>
          <p:cNvSpPr/>
          <p:nvPr>
            <p:ph type="title"/>
          </p:nvPr>
        </p:nvSpPr>
        <p:spPr>
          <a:xfrm>
            <a:off x="812800" y="1093924"/>
            <a:ext cx="10883392" cy="454819"/>
          </a:xfrm>
          <a:prstGeom prst="rect">
            <a:avLst/>
          </a:prstGeom>
          <a:noFill/>
          <a:ln/>
        </p:spPr>
        <p:txBody>
          <a:bodyPr wrap="square" lIns="0" tIns="0" rIns="0" bIns="0" rtlCol="0" anchor="t">
            <a:normAutofit/>
          </a:bodyPr>
          <a:lstStyle/>
          <a:p>
            <a:pPr algn="l" indent="0" marL="0">
              <a:lnSpc>
                <a:spcPts val="3421"/>
              </a:lnSpc>
              <a:buNone/>
            </a:pPr>
            <a:r>
              <a:rPr lang="en-US" sz="3110" b="1" i="0" dirty="0">
                <a:solidFill>
                  <a:srgbClr val="1B2A41"/>
                </a:solidFill>
                <a:latin typeface="Rubik" pitchFamily="34" charset="0"/>
                <a:ea typeface="Rubik" pitchFamily="34" charset="-122"/>
                <a:cs typeface="Rubik" pitchFamily="34" charset="-120"/>
              </a:rPr>
              <a:t>The menu loop</a:t>
            </a:r>
            <a:endParaRPr lang="en-US" sz="3110" dirty="0"/>
          </a:p>
        </p:txBody>
      </p:sp>
      <p:sp>
        <p:nvSpPr>
          <p:cNvPr id="4" name="Shape 2"/>
          <p:cNvSpPr/>
          <p:nvPr/>
        </p:nvSpPr>
        <p:spPr>
          <a:xfrm>
            <a:off x="812800" y="1828143"/>
            <a:ext cx="6043083" cy="4074120"/>
          </a:xfrm>
          <a:prstGeom prst="roundRect">
            <a:avLst>
              <a:gd name="adj" fmla="val 3117"/>
            </a:avLst>
          </a:prstGeom>
          <a:solidFill>
            <a:srgbClr val="1B2A41"/>
          </a:solidFill>
          <a:ln/>
        </p:spPr>
      </p:sp>
      <p:sp>
        <p:nvSpPr>
          <p:cNvPr id="5" name="Text 3"/>
          <p:cNvSpPr/>
          <p:nvPr/>
        </p:nvSpPr>
        <p:spPr>
          <a:xfrm>
            <a:off x="1066800" y="2005943"/>
            <a:ext cx="570113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records.py</a:t>
            </a:r>
            <a:endParaRPr lang="en-US" sz="1200" dirty="0"/>
          </a:p>
        </p:txBody>
      </p:sp>
      <p:sp>
        <p:nvSpPr>
          <p:cNvPr id="6" name="Text 4"/>
          <p:cNvSpPr/>
          <p:nvPr/>
        </p:nvSpPr>
        <p:spPr>
          <a:xfrm>
            <a:off x="1066800" y="2295463"/>
            <a:ext cx="5701136" cy="34544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students = {}</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MENU = </a:t>
            </a:r>
            <a:r>
              <a:rPr lang="en-US" sz="1500" dirty="0">
                <a:solidFill>
                  <a:srgbClr val="9FD8A8"/>
                </a:solidFill>
                <a:latin typeface="JetBrains Mono" pitchFamily="49" charset="0"/>
                <a:ea typeface="JetBrains Mono" pitchFamily="49" charset="-122"/>
                <a:cs typeface="JetBrains Mono" pitchFamily="49" charset="-120"/>
              </a:rPr>
              <a:t>"1 Add  2 Show  3 Find  4 Top  0 Exit"</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while</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True</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(MENU)</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choice = </a:t>
            </a:r>
            <a:r>
              <a:rPr lang="en-US" sz="1500" dirty="0">
                <a:solidFill>
                  <a:srgbClr val="F2B33D"/>
                </a:solidFill>
                <a:latin typeface="JetBrains Mono" pitchFamily="49" charset="0"/>
                <a:ea typeface="JetBrains Mono" pitchFamily="49" charset="-122"/>
                <a:cs typeface="JetBrains Mono" pitchFamily="49" charset="-120"/>
              </a:rPr>
              <a:t>input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"Choice: "</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if</a:t>
            </a:r>
            <a:r>
              <a:rPr lang="en-US" sz="1500" dirty="0">
                <a:solidFill>
                  <a:srgbClr val="E8EDF3"/>
                </a:solidFill>
                <a:latin typeface="JetBrains Mono" pitchFamily="49" charset="0"/>
                <a:ea typeface="JetBrains Mono" pitchFamily="49" charset="-122"/>
                <a:cs typeface="JetBrains Mono" pitchFamily="49" charset="-120"/>
              </a:rPr>
              <a:t> choice == </a:t>
            </a:r>
            <a:r>
              <a:rPr lang="en-US" sz="1500" dirty="0">
                <a:solidFill>
                  <a:srgbClr val="9FD8A8"/>
                </a:solidFill>
                <a:latin typeface="JetBrains Mono" pitchFamily="49" charset="0"/>
                <a:ea typeface="JetBrains Mono" pitchFamily="49" charset="-122"/>
                <a:cs typeface="JetBrains Mono" pitchFamily="49" charset="-120"/>
              </a:rPr>
              <a:t>"1"</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"add a student"</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elif</a:t>
            </a:r>
            <a:r>
              <a:rPr lang="en-US" sz="1500" dirty="0">
                <a:solidFill>
                  <a:srgbClr val="E8EDF3"/>
                </a:solidFill>
                <a:latin typeface="JetBrains Mono" pitchFamily="49" charset="0"/>
                <a:ea typeface="JetBrains Mono" pitchFamily="49" charset="-122"/>
                <a:cs typeface="JetBrains Mono" pitchFamily="49" charset="-120"/>
              </a:rPr>
              <a:t> choice == </a:t>
            </a:r>
            <a:r>
              <a:rPr lang="en-US" sz="1500" dirty="0">
                <a:solidFill>
                  <a:srgbClr val="9FD8A8"/>
                </a:solidFill>
                <a:latin typeface="JetBrains Mono" pitchFamily="49" charset="0"/>
                <a:ea typeface="JetBrains Mono" pitchFamily="49" charset="-122"/>
                <a:cs typeface="JetBrains Mono" pitchFamily="49" charset="-120"/>
              </a:rPr>
              <a:t>"0"</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"Bye!"</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break</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else</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"Invalid choice"</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p:txBody>
      </p:sp>
      <p:sp>
        <p:nvSpPr>
          <p:cNvPr id="7" name="Shape 5"/>
          <p:cNvSpPr/>
          <p:nvPr/>
        </p:nvSpPr>
        <p:spPr>
          <a:xfrm>
            <a:off x="7217834" y="1834493"/>
            <a:ext cx="4155017" cy="2014141"/>
          </a:xfrm>
          <a:prstGeom prst="roundRect">
            <a:avLst>
              <a:gd name="adj" fmla="val 5990"/>
            </a:avLst>
          </a:prstGeom>
          <a:solidFill>
            <a:srgbClr val="FFFDF8"/>
          </a:solidFill>
          <a:ln w="12700">
            <a:solidFill>
              <a:srgbClr val="D9DEE5"/>
            </a:solidFill>
            <a:prstDash val="solid"/>
          </a:ln>
        </p:spPr>
      </p:sp>
      <p:sp>
        <p:nvSpPr>
          <p:cNvPr id="8" name="Text 6"/>
          <p:cNvSpPr/>
          <p:nvPr/>
        </p:nvSpPr>
        <p:spPr>
          <a:xfrm>
            <a:off x="7478184" y="2018643"/>
            <a:ext cx="3743346" cy="452041"/>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 · ORANGE = WHAT THE USER TYPES</a:t>
            </a:r>
            <a:endParaRPr lang="en-US" sz="1200" dirty="0"/>
          </a:p>
        </p:txBody>
      </p:sp>
      <p:sp>
        <p:nvSpPr>
          <p:cNvPr id="9" name="Text 7"/>
          <p:cNvSpPr/>
          <p:nvPr/>
        </p:nvSpPr>
        <p:spPr>
          <a:xfrm>
            <a:off x="7478184" y="2521483"/>
            <a:ext cx="3743346" cy="11684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Choice: </a:t>
            </a:r>
            <a:r>
              <a:rPr lang="en-US" sz="1500" dirty="0">
                <a:solidFill>
                  <a:srgbClr val="B54708"/>
                </a:solidFill>
                <a:latin typeface="JetBrains Mono" pitchFamily="49" charset="0"/>
                <a:ea typeface="JetBrains Mono" pitchFamily="49" charset="-122"/>
                <a:cs typeface="JetBrains Mono" pitchFamily="49" charset="-120"/>
              </a:rPr>
              <a:t>7</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Invalid choice</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Choice: </a:t>
            </a:r>
            <a:r>
              <a:rPr lang="en-US" sz="1500" dirty="0">
                <a:solidFill>
                  <a:srgbClr val="B54708"/>
                </a:solidFill>
                <a:latin typeface="JetBrains Mono" pitchFamily="49" charset="0"/>
                <a:ea typeface="JetBrains Mono" pitchFamily="49" charset="-122"/>
                <a:cs typeface="JetBrains Mono" pitchFamily="49" charset="-120"/>
              </a:rPr>
              <a:t>0</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Bye!</a:t>
            </a:r>
            <a:endParaRPr lang="en-US" sz="1500" dirty="0"/>
          </a:p>
        </p:txBody>
      </p:sp>
      <p:sp>
        <p:nvSpPr>
          <p:cNvPr id="10" name="Shape 8"/>
          <p:cNvSpPr/>
          <p:nvPr/>
        </p:nvSpPr>
        <p:spPr>
          <a:xfrm>
            <a:off x="7217834" y="3988333"/>
            <a:ext cx="4155017" cy="749300"/>
          </a:xfrm>
          <a:prstGeom prst="roundRect">
            <a:avLst>
              <a:gd name="adj" fmla="val 11017"/>
            </a:avLst>
          </a:prstGeom>
          <a:solidFill>
            <a:srgbClr val="FFFDF8"/>
          </a:solidFill>
          <a:ln w="12700">
            <a:solidFill>
              <a:srgbClr val="E2DED3"/>
            </a:solidFill>
            <a:prstDash val="solid"/>
          </a:ln>
        </p:spPr>
      </p:sp>
      <p:sp>
        <p:nvSpPr>
          <p:cNvPr id="11" name="Text 9"/>
          <p:cNvSpPr/>
          <p:nvPr/>
        </p:nvSpPr>
        <p:spPr>
          <a:xfrm>
            <a:off x="7376584" y="4229633"/>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1</a:t>
            </a:r>
            <a:endParaRPr lang="en-US" sz="1500" dirty="0"/>
          </a:p>
        </p:txBody>
      </p:sp>
      <p:sp>
        <p:nvSpPr>
          <p:cNvPr id="12" name="Text 10"/>
          <p:cNvSpPr/>
          <p:nvPr/>
        </p:nvSpPr>
        <p:spPr>
          <a:xfrm>
            <a:off x="7833784" y="4096283"/>
            <a:ext cx="3481726"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Repeat:</a:t>
            </a:r>
            <a:r>
              <a:rPr lang="en-US" sz="1500" dirty="0">
                <a:solidFill>
                  <a:srgbClr val="4A5568"/>
                </a:solidFill>
                <a:latin typeface="Rubik" pitchFamily="34" charset="0"/>
                <a:ea typeface="Rubik" pitchFamily="34" charset="-122"/>
                <a:cs typeface="Rubik" pitchFamily="34" charset="-120"/>
              </a:rPr>
              <a:t> </a:t>
            </a:r>
            <a:r>
              <a:rPr lang="en-US" sz="1500" dirty="0">
                <a:solidFill>
                  <a:srgbClr val="2A64A3"/>
                </a:solidFill>
                <a:latin typeface="Rubik" pitchFamily="34" charset="0"/>
                <a:ea typeface="Rubik" pitchFamily="34" charset="-122"/>
                <a:cs typeface="Rubik" pitchFamily="34" charset="-120"/>
              </a:rPr>
              <a:t>while True</a:t>
            </a:r>
            <a:r>
              <a:rPr lang="en-US" sz="1500" dirty="0">
                <a:solidFill>
                  <a:srgbClr val="4A5568"/>
                </a:solidFill>
                <a:latin typeface="Rubik" pitchFamily="34" charset="0"/>
                <a:ea typeface="Rubik" pitchFamily="34" charset="-122"/>
                <a:cs typeface="Rubik" pitchFamily="34" charset="-120"/>
              </a:rPr>
              <a:t> shows the menu again and again</a:t>
            </a:r>
            <a:endParaRPr lang="en-US" sz="1500" dirty="0"/>
          </a:p>
        </p:txBody>
      </p:sp>
      <p:sp>
        <p:nvSpPr>
          <p:cNvPr id="13" name="Shape 11"/>
          <p:cNvSpPr/>
          <p:nvPr/>
        </p:nvSpPr>
        <p:spPr>
          <a:xfrm>
            <a:off x="7217834" y="4877333"/>
            <a:ext cx="4155017" cy="482600"/>
          </a:xfrm>
          <a:prstGeom prst="roundRect">
            <a:avLst>
              <a:gd name="adj" fmla="val 17105"/>
            </a:avLst>
          </a:prstGeom>
          <a:solidFill>
            <a:srgbClr val="FFFDF8"/>
          </a:solidFill>
          <a:ln w="12700">
            <a:solidFill>
              <a:srgbClr val="E2DED3"/>
            </a:solidFill>
            <a:prstDash val="solid"/>
          </a:ln>
        </p:spPr>
      </p:sp>
      <p:sp>
        <p:nvSpPr>
          <p:cNvPr id="14" name="Text 12"/>
          <p:cNvSpPr/>
          <p:nvPr/>
        </p:nvSpPr>
        <p:spPr>
          <a:xfrm>
            <a:off x="7376584" y="4985283"/>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2</a:t>
            </a:r>
            <a:endParaRPr lang="en-US" sz="1500" dirty="0"/>
          </a:p>
        </p:txBody>
      </p:sp>
      <p:sp>
        <p:nvSpPr>
          <p:cNvPr id="15" name="Text 13"/>
          <p:cNvSpPr/>
          <p:nvPr/>
        </p:nvSpPr>
        <p:spPr>
          <a:xfrm>
            <a:off x="7833784" y="4985283"/>
            <a:ext cx="289044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Branch:</a:t>
            </a:r>
            <a:r>
              <a:rPr lang="en-US" sz="1500" dirty="0">
                <a:solidFill>
                  <a:srgbClr val="4A5568"/>
                </a:solidFill>
                <a:latin typeface="Rubik" pitchFamily="34" charset="0"/>
                <a:ea typeface="Rubik" pitchFamily="34" charset="-122"/>
                <a:cs typeface="Rubik" pitchFamily="34" charset="-120"/>
              </a:rPr>
              <a:t> one elif per choice</a:t>
            </a:r>
            <a:endParaRPr lang="en-US" sz="1500" dirty="0"/>
          </a:p>
        </p:txBody>
      </p:sp>
      <p:sp>
        <p:nvSpPr>
          <p:cNvPr id="16" name="Shape 14"/>
          <p:cNvSpPr/>
          <p:nvPr/>
        </p:nvSpPr>
        <p:spPr>
          <a:xfrm>
            <a:off x="7217834" y="5499633"/>
            <a:ext cx="4155017" cy="482600"/>
          </a:xfrm>
          <a:prstGeom prst="roundRect">
            <a:avLst>
              <a:gd name="adj" fmla="val 17105"/>
            </a:avLst>
          </a:prstGeom>
          <a:solidFill>
            <a:srgbClr val="FFFDF8"/>
          </a:solidFill>
          <a:ln w="12700">
            <a:solidFill>
              <a:srgbClr val="E2DED3"/>
            </a:solidFill>
            <a:prstDash val="solid"/>
          </a:ln>
        </p:spPr>
      </p:sp>
      <p:sp>
        <p:nvSpPr>
          <p:cNvPr id="17" name="Text 15"/>
          <p:cNvSpPr/>
          <p:nvPr/>
        </p:nvSpPr>
        <p:spPr>
          <a:xfrm>
            <a:off x="7376584" y="5607583"/>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3</a:t>
            </a:r>
            <a:endParaRPr lang="en-US" sz="1500" dirty="0"/>
          </a:p>
        </p:txBody>
      </p:sp>
      <p:sp>
        <p:nvSpPr>
          <p:cNvPr id="18" name="Text 16"/>
          <p:cNvSpPr/>
          <p:nvPr/>
        </p:nvSpPr>
        <p:spPr>
          <a:xfrm>
            <a:off x="7833784" y="5607583"/>
            <a:ext cx="169283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Exit:</a:t>
            </a:r>
            <a:r>
              <a:rPr lang="en-US" sz="1500" dirty="0">
                <a:solidFill>
                  <a:srgbClr val="4A5568"/>
                </a:solidFill>
                <a:latin typeface="Rubik" pitchFamily="34" charset="0"/>
                <a:ea typeface="Rubik" pitchFamily="34" charset="-122"/>
                <a:cs typeface="Rubik" pitchFamily="34" charset="-120"/>
              </a:rPr>
              <a:t> </a:t>
            </a:r>
            <a:r>
              <a:rPr lang="en-US" sz="1500" dirty="0">
                <a:solidFill>
                  <a:srgbClr val="2A64A3"/>
                </a:solidFill>
                <a:latin typeface="Rubik" pitchFamily="34" charset="0"/>
                <a:ea typeface="Rubik" pitchFamily="34" charset="-122"/>
                <a:cs typeface="Rubik" pitchFamily="34" charset="-120"/>
              </a:rPr>
              <a:t>break</a:t>
            </a:r>
            <a:r>
              <a:rPr lang="en-US" sz="1500" dirty="0">
                <a:solidFill>
                  <a:srgbClr val="4A5568"/>
                </a:solidFill>
                <a:latin typeface="Rubik" pitchFamily="34" charset="0"/>
                <a:ea typeface="Rubik" pitchFamily="34" charset="-122"/>
                <a:cs typeface="Rubik" pitchFamily="34" charset="-120"/>
              </a:rPr>
              <a:t> on 0</a:t>
            </a:r>
            <a:endParaRPr lang="en-US" sz="1500" dirty="0"/>
          </a:p>
        </p:txBody>
      </p:sp>
      <p:sp>
        <p:nvSpPr>
          <p:cNvPr id="19"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4 · Class 12</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12 · STEP 2</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Adding and showing students</a:t>
            </a:r>
            <a:endParaRPr lang="en-US" sz="3200" dirty="0"/>
          </a:p>
        </p:txBody>
      </p:sp>
      <p:sp>
        <p:nvSpPr>
          <p:cNvPr id="4" name="Shape 2"/>
          <p:cNvSpPr/>
          <p:nvPr/>
        </p:nvSpPr>
        <p:spPr>
          <a:xfrm>
            <a:off x="812800" y="1854138"/>
            <a:ext cx="6206530" cy="3216870"/>
          </a:xfrm>
          <a:prstGeom prst="roundRect">
            <a:avLst>
              <a:gd name="adj" fmla="val 3948"/>
            </a:avLst>
          </a:prstGeom>
          <a:solidFill>
            <a:srgbClr val="1B2A41"/>
          </a:solidFill>
          <a:ln/>
        </p:spPr>
      </p:sp>
      <p:sp>
        <p:nvSpPr>
          <p:cNvPr id="5" name="Text 3"/>
          <p:cNvSpPr/>
          <p:nvPr/>
        </p:nvSpPr>
        <p:spPr>
          <a:xfrm>
            <a:off x="1066800" y="2031938"/>
            <a:ext cx="586948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records.py · choices 1 and 2</a:t>
            </a:r>
            <a:endParaRPr lang="en-US" sz="1200" dirty="0"/>
          </a:p>
        </p:txBody>
      </p:sp>
      <p:sp>
        <p:nvSpPr>
          <p:cNvPr id="6" name="Text 4"/>
          <p:cNvSpPr/>
          <p:nvPr/>
        </p:nvSpPr>
        <p:spPr>
          <a:xfrm>
            <a:off x="1066800" y="2321458"/>
            <a:ext cx="5869486" cy="2597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8FA3B8"/>
                </a:solidFill>
                <a:latin typeface="JetBrains Mono" pitchFamily="49" charset="0"/>
                <a:ea typeface="JetBrains Mono" pitchFamily="49" charset="-122"/>
                <a:cs typeface="JetBrains Mono" pitchFamily="49" charset="-120"/>
              </a:rPr>
              <a:t># choice 1: add</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name = </a:t>
            </a:r>
            <a:r>
              <a:rPr lang="en-US" sz="1500" dirty="0">
                <a:solidFill>
                  <a:srgbClr val="F2B33D"/>
                </a:solidFill>
                <a:latin typeface="JetBrains Mono" pitchFamily="49" charset="0"/>
                <a:ea typeface="JetBrains Mono" pitchFamily="49" charset="-122"/>
                <a:cs typeface="JetBrains Mono" pitchFamily="49" charset="-120"/>
              </a:rPr>
              <a:t>input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"Name: "</a:t>
            </a:r>
            <a:r>
              <a:rPr lang="en-US" sz="1500" dirty="0">
                <a:solidFill>
                  <a:srgbClr val="E8EDF3"/>
                </a:solidFill>
                <a:latin typeface="JetBrains Mono" pitchFamily="49" charset="0"/>
                <a:ea typeface="JetBrains Mono" pitchFamily="49" charset="-122"/>
                <a:cs typeface="JetBrains Mono" pitchFamily="49" charset="-120"/>
              </a:rPr>
              <a:t>).strip().title()</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marks = []</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for</a:t>
            </a:r>
            <a:r>
              <a:rPr lang="en-US" sz="1500" dirty="0">
                <a:solidFill>
                  <a:srgbClr val="E8EDF3"/>
                </a:solidFill>
                <a:latin typeface="JetBrains Mono" pitchFamily="49" charset="0"/>
                <a:ea typeface="JetBrains Mono" pitchFamily="49" charset="-122"/>
                <a:cs typeface="JetBrains Mono" pitchFamily="49" charset="-120"/>
              </a:rPr>
              <a:t> sub </a:t>
            </a:r>
            <a:r>
              <a:rPr lang="en-US" sz="1500" dirty="0">
                <a:solidFill>
                  <a:srgbClr val="F2B33D"/>
                </a:solidFill>
                <a:latin typeface="JetBrains Mono" pitchFamily="49" charset="0"/>
                <a:ea typeface="JetBrains Mono" pitchFamily="49" charset="-122"/>
                <a:cs typeface="JetBrains Mono" pitchFamily="49" charset="-120"/>
              </a:rPr>
              <a:t>in</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9FD8A8"/>
                </a:solidFill>
                <a:latin typeface="JetBrains Mono" pitchFamily="49" charset="0"/>
                <a:ea typeface="JetBrains Mono" pitchFamily="49" charset="-122"/>
                <a:cs typeface="JetBrains Mono" pitchFamily="49" charset="-120"/>
              </a:rPr>
              <a:t>"Maths"</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9FD8A8"/>
                </a:solidFill>
                <a:latin typeface="JetBrains Mono" pitchFamily="49" charset="0"/>
                <a:ea typeface="JetBrains Mono" pitchFamily="49" charset="-122"/>
                <a:cs typeface="JetBrains Mono" pitchFamily="49" charset="-120"/>
              </a:rPr>
              <a:t>"Physics"</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9FD8A8"/>
                </a:solidFill>
                <a:latin typeface="JetBrains Mono" pitchFamily="49" charset="0"/>
                <a:ea typeface="JetBrains Mono" pitchFamily="49" charset="-122"/>
                <a:cs typeface="JetBrains Mono" pitchFamily="49" charset="-120"/>
              </a:rPr>
              <a:t>"Python"</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marks.append(</a:t>
            </a:r>
            <a:r>
              <a:rPr lang="en-US" sz="1500" dirty="0">
                <a:solidFill>
                  <a:srgbClr val="F2B33D"/>
                </a:solidFill>
                <a:latin typeface="JetBrains Mono" pitchFamily="49" charset="0"/>
                <a:ea typeface="JetBrains Mono" pitchFamily="49" charset="-122"/>
                <a:cs typeface="JetBrains Mono" pitchFamily="49" charset="-120"/>
              </a:rPr>
              <a:t>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F2B33D"/>
                </a:solidFill>
                <a:latin typeface="JetBrains Mono" pitchFamily="49" charset="0"/>
                <a:ea typeface="JetBrains Mono" pitchFamily="49" charset="-122"/>
                <a:cs typeface="JetBrains Mono" pitchFamily="49" charset="-120"/>
              </a:rPr>
              <a:t>input</a:t>
            </a:r>
            <a:r>
              <a:rPr lang="en-US" sz="1500" dirty="0">
                <a:solidFill>
                  <a:srgbClr val="E8EDF3"/>
                </a:solidFill>
                <a:latin typeface="JetBrains Mono" pitchFamily="49" charset="0"/>
                <a:ea typeface="JetBrains Mono" pitchFamily="49" charset="-122"/>
                <a:cs typeface="JetBrains Mono" pitchFamily="49" charset="-120"/>
              </a:rPr>
              <a:t>(sub + </a:t>
            </a:r>
            <a:r>
              <a:rPr lang="en-US" sz="1500" dirty="0">
                <a:solidFill>
                  <a:srgbClr val="9FD8A8"/>
                </a:solidFill>
                <a:latin typeface="JetBrains Mono" pitchFamily="49" charset="0"/>
                <a:ea typeface="JetBrains Mono" pitchFamily="49" charset="-122"/>
                <a:cs typeface="JetBrains Mono" pitchFamily="49" charset="-120"/>
              </a:rPr>
              <a:t>": "</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students[name] = marks</a:t>
            </a:r>
            <a:endParaRPr lang="en-US" sz="1500" dirty="0"/>
          </a:p>
          <a:p>
            <a:pPr algn="l" indent="0" marL="0">
              <a:lnSpc>
                <a:spcPts val="2250"/>
              </a:lnSpc>
              <a:buNone/>
            </a:pPr>
            <a:r>
              <a:rPr lang="en-US" sz="1500" dirty="0">
                <a:solidFill>
                  <a:srgbClr val="8FA3B8"/>
                </a:solidFill>
                <a:latin typeface="JetBrains Mono" pitchFamily="49" charset="0"/>
                <a:ea typeface="JetBrains Mono" pitchFamily="49" charset="-122"/>
                <a:cs typeface="JetBrains Mono" pitchFamily="49" charset="-120"/>
              </a:rPr>
              <a:t># choice 2: show</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for</a:t>
            </a:r>
            <a:r>
              <a:rPr lang="en-US" sz="1500" dirty="0">
                <a:solidFill>
                  <a:srgbClr val="E8EDF3"/>
                </a:solidFill>
                <a:latin typeface="JetBrains Mono" pitchFamily="49" charset="0"/>
                <a:ea typeface="JetBrains Mono" pitchFamily="49" charset="-122"/>
                <a:cs typeface="JetBrains Mono" pitchFamily="49" charset="-120"/>
              </a:rPr>
              <a:t> name, m </a:t>
            </a:r>
            <a:r>
              <a:rPr lang="en-US" sz="1500" dirty="0">
                <a:solidFill>
                  <a:srgbClr val="F2B33D"/>
                </a:solidFill>
                <a:latin typeface="JetBrains Mono" pitchFamily="49" charset="0"/>
                <a:ea typeface="JetBrains Mono" pitchFamily="49" charset="-122"/>
                <a:cs typeface="JetBrains Mono" pitchFamily="49" charset="-120"/>
              </a:rPr>
              <a:t>in</a:t>
            </a:r>
            <a:r>
              <a:rPr lang="en-US" sz="1500" dirty="0">
                <a:solidFill>
                  <a:srgbClr val="E8EDF3"/>
                </a:solidFill>
                <a:latin typeface="JetBrains Mono" pitchFamily="49" charset="0"/>
                <a:ea typeface="JetBrains Mono" pitchFamily="49" charset="-122"/>
                <a:cs typeface="JetBrains Mono" pitchFamily="49" charset="-120"/>
              </a:rPr>
              <a:t> students.items():</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(name, m, </a:t>
            </a:r>
            <a:r>
              <a:rPr lang="en-US" sz="1500" dirty="0">
                <a:solidFill>
                  <a:srgbClr val="9FD8A8"/>
                </a:solidFill>
                <a:latin typeface="JetBrains Mono" pitchFamily="49" charset="0"/>
                <a:ea typeface="JetBrains Mono" pitchFamily="49" charset="-122"/>
                <a:cs typeface="JetBrains Mono" pitchFamily="49" charset="-120"/>
              </a:rPr>
              <a:t>f"{sum(m) / 3:.1f}"</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p:txBody>
      </p:sp>
      <p:sp>
        <p:nvSpPr>
          <p:cNvPr id="7" name="Shape 5"/>
          <p:cNvSpPr/>
          <p:nvPr/>
        </p:nvSpPr>
        <p:spPr>
          <a:xfrm>
            <a:off x="7381280" y="1860488"/>
            <a:ext cx="3991570" cy="2299891"/>
          </a:xfrm>
          <a:prstGeom prst="roundRect">
            <a:avLst>
              <a:gd name="adj" fmla="val 5246"/>
            </a:avLst>
          </a:prstGeom>
          <a:solidFill>
            <a:srgbClr val="FFFDF8"/>
          </a:solidFill>
          <a:ln w="12700">
            <a:solidFill>
              <a:srgbClr val="D9DEE5"/>
            </a:solidFill>
            <a:prstDash val="solid"/>
          </a:ln>
        </p:spPr>
      </p:sp>
      <p:sp>
        <p:nvSpPr>
          <p:cNvPr id="8" name="Text 6"/>
          <p:cNvSpPr/>
          <p:nvPr/>
        </p:nvSpPr>
        <p:spPr>
          <a:xfrm>
            <a:off x="7641630" y="2044638"/>
            <a:ext cx="3574996" cy="452041"/>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 · ORANGE = WHAT THE USER TYPES</a:t>
            </a:r>
            <a:endParaRPr lang="en-US" sz="1200" dirty="0"/>
          </a:p>
        </p:txBody>
      </p:sp>
      <p:sp>
        <p:nvSpPr>
          <p:cNvPr id="9" name="Text 7"/>
          <p:cNvSpPr/>
          <p:nvPr/>
        </p:nvSpPr>
        <p:spPr>
          <a:xfrm>
            <a:off x="7641630" y="2547479"/>
            <a:ext cx="3574996" cy="1454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Name: </a:t>
            </a:r>
            <a:r>
              <a:rPr lang="en-US" sz="1500" dirty="0">
                <a:solidFill>
                  <a:srgbClr val="B54708"/>
                </a:solidFill>
                <a:latin typeface="JetBrains Mono" pitchFamily="49" charset="0"/>
                <a:ea typeface="JetBrains Mono" pitchFamily="49" charset="-122"/>
                <a:cs typeface="JetBrains Mono" pitchFamily="49" charset="-120"/>
              </a:rPr>
              <a:t>ananya</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Maths: </a:t>
            </a:r>
            <a:r>
              <a:rPr lang="en-US" sz="1500" dirty="0">
                <a:solidFill>
                  <a:srgbClr val="B54708"/>
                </a:solidFill>
                <a:latin typeface="JetBrains Mono" pitchFamily="49" charset="0"/>
                <a:ea typeface="JetBrains Mono" pitchFamily="49" charset="-122"/>
                <a:cs typeface="JetBrains Mono" pitchFamily="49" charset="-120"/>
              </a:rPr>
              <a:t>78</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Physics: </a:t>
            </a:r>
            <a:r>
              <a:rPr lang="en-US" sz="1500" dirty="0">
                <a:solidFill>
                  <a:srgbClr val="B54708"/>
                </a:solidFill>
                <a:latin typeface="JetBrains Mono" pitchFamily="49" charset="0"/>
                <a:ea typeface="JetBrains Mono" pitchFamily="49" charset="-122"/>
                <a:cs typeface="JetBrains Mono" pitchFamily="49" charset="-120"/>
              </a:rPr>
              <a:t>85</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Python: </a:t>
            </a:r>
            <a:r>
              <a:rPr lang="en-US" sz="1500" dirty="0">
                <a:solidFill>
                  <a:srgbClr val="B54708"/>
                </a:solidFill>
                <a:latin typeface="JetBrains Mono" pitchFamily="49" charset="0"/>
                <a:ea typeface="JetBrains Mono" pitchFamily="49" charset="-122"/>
                <a:cs typeface="JetBrains Mono" pitchFamily="49" charset="-120"/>
              </a:rPr>
              <a:t>92</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Ananya [78, 85, 92] 85.0</a:t>
            </a:r>
            <a:endParaRPr lang="en-US" sz="1500" dirty="0"/>
          </a:p>
        </p:txBody>
      </p:sp>
      <p:sp>
        <p:nvSpPr>
          <p:cNvPr id="10" name="Shape 8"/>
          <p:cNvSpPr/>
          <p:nvPr/>
        </p:nvSpPr>
        <p:spPr>
          <a:xfrm>
            <a:off x="7374930" y="4293729"/>
            <a:ext cx="4004270" cy="787400"/>
          </a:xfrm>
          <a:prstGeom prst="roundRect">
            <a:avLst>
              <a:gd name="adj" fmla="val 11290"/>
            </a:avLst>
          </a:prstGeom>
          <a:solidFill>
            <a:srgbClr val="FBEFD5"/>
          </a:solidFill>
          <a:ln/>
        </p:spPr>
      </p:sp>
      <p:pic>
        <p:nvPicPr>
          <p:cNvPr id="11" name="Image 0" descr="Lightbulb">    </p:cNvPr>
          <p:cNvPicPr>
            <a:picLocks noChangeAspect="1"/>
          </p:cNvPicPr>
          <p:nvPr/>
        </p:nvPicPr>
        <p:blipFill>
          <a:blip r:embed="rId1"/>
          <a:srcRect l="0" r="0" t="-213" b="-213"/>
          <a:stretch/>
        </p:blipFill>
        <p:spPr>
          <a:xfrm>
            <a:off x="7552730" y="4535029"/>
            <a:ext cx="170722" cy="304800"/>
          </a:xfrm>
          <a:prstGeom prst="rect">
            <a:avLst/>
          </a:prstGeom>
        </p:spPr>
      </p:pic>
      <p:sp>
        <p:nvSpPr>
          <p:cNvPr id="12" name="Text 9"/>
          <p:cNvSpPr/>
          <p:nvPr/>
        </p:nvSpPr>
        <p:spPr>
          <a:xfrm>
            <a:off x="7850453" y="4420729"/>
            <a:ext cx="345147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Rubik" pitchFamily="34" charset="0"/>
                <a:ea typeface="Rubik" pitchFamily="34" charset="-122"/>
                <a:cs typeface="Rubik" pitchFamily="34" charset="-120"/>
              </a:rPr>
              <a:t>.strip().title()</a:t>
            </a:r>
            <a:r>
              <a:rPr lang="en-US" sz="1500" dirty="0">
                <a:solidFill>
                  <a:srgbClr val="1B2A41"/>
                </a:solidFill>
                <a:latin typeface="Rubik" pitchFamily="34" charset="0"/>
                <a:ea typeface="Rubik" pitchFamily="34" charset="-122"/>
                <a:cs typeface="Rubik" pitchFamily="34" charset="-120"/>
              </a:rPr>
              <a:t> turns " ananya" into "Ananya", so searching works later.</a:t>
            </a:r>
            <a:endParaRPr lang="en-US" sz="15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4 · Class 12</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4487"/>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2A64A3"/>
                </a:solidFill>
                <a:latin typeface="Rubik" pitchFamily="34" charset="0"/>
                <a:ea typeface="Rubik" pitchFamily="34" charset="-122"/>
                <a:cs typeface="Rubik" pitchFamily="34" charset="-120"/>
              </a:rPr>
              <a:t>CLASS 12 · STEP 3</a:t>
            </a:r>
            <a:endParaRPr lang="en-US" sz="1196" dirty="0"/>
          </a:p>
        </p:txBody>
      </p:sp>
      <p:sp>
        <p:nvSpPr>
          <p:cNvPr id="3" name="Text 1"/>
          <p:cNvSpPr/>
          <p:nvPr>
            <p:ph type="title"/>
          </p:nvPr>
        </p:nvSpPr>
        <p:spPr>
          <a:xfrm>
            <a:off x="812800" y="1098091"/>
            <a:ext cx="10883392" cy="463418"/>
          </a:xfrm>
          <a:prstGeom prst="rect">
            <a:avLst/>
          </a:prstGeom>
          <a:noFill/>
          <a:ln/>
        </p:spPr>
        <p:txBody>
          <a:bodyPr wrap="square" lIns="0" tIns="0" rIns="0" bIns="0" rtlCol="0" anchor="t">
            <a:normAutofit/>
          </a:bodyPr>
          <a:lstStyle/>
          <a:p>
            <a:pPr algn="l" indent="0" marL="0">
              <a:lnSpc>
                <a:spcPts val="3465"/>
              </a:lnSpc>
              <a:buNone/>
            </a:pPr>
            <a:r>
              <a:rPr lang="en-US" sz="3150" b="1" i="0" dirty="0">
                <a:solidFill>
                  <a:srgbClr val="1B2A41"/>
                </a:solidFill>
                <a:latin typeface="Rubik" pitchFamily="34" charset="0"/>
                <a:ea typeface="Rubik" pitchFamily="34" charset="-122"/>
                <a:cs typeface="Rubik" pitchFamily="34" charset="-120"/>
              </a:rPr>
              <a:t>Searching and finding the topper</a:t>
            </a:r>
            <a:endParaRPr lang="en-US" sz="3150" dirty="0"/>
          </a:p>
        </p:txBody>
      </p:sp>
      <p:sp>
        <p:nvSpPr>
          <p:cNvPr id="4" name="Shape 2"/>
          <p:cNvSpPr/>
          <p:nvPr/>
        </p:nvSpPr>
        <p:spPr>
          <a:xfrm>
            <a:off x="812800" y="1840905"/>
            <a:ext cx="6206530" cy="4074120"/>
          </a:xfrm>
          <a:prstGeom prst="roundRect">
            <a:avLst>
              <a:gd name="adj" fmla="val 3117"/>
            </a:avLst>
          </a:prstGeom>
          <a:solidFill>
            <a:srgbClr val="1B2A41"/>
          </a:solidFill>
          <a:ln/>
        </p:spPr>
      </p:sp>
      <p:sp>
        <p:nvSpPr>
          <p:cNvPr id="5" name="Text 3"/>
          <p:cNvSpPr/>
          <p:nvPr/>
        </p:nvSpPr>
        <p:spPr>
          <a:xfrm>
            <a:off x="1066800" y="2018705"/>
            <a:ext cx="586948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records.py · choices 3 and 4</a:t>
            </a:r>
            <a:endParaRPr lang="en-US" sz="1200" dirty="0"/>
          </a:p>
        </p:txBody>
      </p:sp>
      <p:sp>
        <p:nvSpPr>
          <p:cNvPr id="6" name="Text 4"/>
          <p:cNvSpPr/>
          <p:nvPr/>
        </p:nvSpPr>
        <p:spPr>
          <a:xfrm>
            <a:off x="1066800" y="2308225"/>
            <a:ext cx="5869486" cy="34544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8FA3B8"/>
                </a:solidFill>
                <a:latin typeface="JetBrains Mono" pitchFamily="49" charset="0"/>
                <a:ea typeface="JetBrains Mono" pitchFamily="49" charset="-122"/>
                <a:cs typeface="JetBrains Mono" pitchFamily="49" charset="-120"/>
              </a:rPr>
              <a:t># choice 3: find</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name = </a:t>
            </a:r>
            <a:r>
              <a:rPr lang="en-US" sz="1500" dirty="0">
                <a:solidFill>
                  <a:srgbClr val="F2B33D"/>
                </a:solidFill>
                <a:latin typeface="JetBrains Mono" pitchFamily="49" charset="0"/>
                <a:ea typeface="JetBrains Mono" pitchFamily="49" charset="-122"/>
                <a:cs typeface="JetBrains Mono" pitchFamily="49" charset="-120"/>
              </a:rPr>
              <a:t>input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"Find: "</a:t>
            </a:r>
            <a:r>
              <a:rPr lang="en-US" sz="1500" dirty="0">
                <a:solidFill>
                  <a:srgbClr val="E8EDF3"/>
                </a:solidFill>
                <a:latin typeface="JetBrains Mono" pitchFamily="49" charset="0"/>
                <a:ea typeface="JetBrains Mono" pitchFamily="49" charset="-122"/>
                <a:cs typeface="JetBrains Mono" pitchFamily="49" charset="-120"/>
              </a:rPr>
              <a:t>).strip().title()</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if</a:t>
            </a:r>
            <a:r>
              <a:rPr lang="en-US" sz="1500" dirty="0">
                <a:solidFill>
                  <a:srgbClr val="E8EDF3"/>
                </a:solidFill>
                <a:latin typeface="JetBrains Mono" pitchFamily="49" charset="0"/>
                <a:ea typeface="JetBrains Mono" pitchFamily="49" charset="-122"/>
                <a:cs typeface="JetBrains Mono" pitchFamily="49" charset="-120"/>
              </a:rPr>
              <a:t> name </a:t>
            </a:r>
            <a:r>
              <a:rPr lang="en-US" sz="1500" dirty="0">
                <a:solidFill>
                  <a:srgbClr val="F2B33D"/>
                </a:solidFill>
                <a:latin typeface="JetBrains Mono" pitchFamily="49" charset="0"/>
                <a:ea typeface="JetBrains Mono" pitchFamily="49" charset="-122"/>
                <a:cs typeface="JetBrains Mono" pitchFamily="49" charset="-120"/>
              </a:rPr>
              <a:t>in</a:t>
            </a:r>
            <a:r>
              <a:rPr lang="en-US" sz="1500" dirty="0">
                <a:solidFill>
                  <a:srgbClr val="E8EDF3"/>
                </a:solidFill>
                <a:latin typeface="JetBrains Mono" pitchFamily="49" charset="0"/>
                <a:ea typeface="JetBrains Mono" pitchFamily="49" charset="-122"/>
                <a:cs typeface="JetBrains Mono" pitchFamily="49" charset="-120"/>
              </a:rPr>
              <a:t> students:</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(name, students[name])</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else</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"Not found"</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8FA3B8"/>
                </a:solidFill>
                <a:latin typeface="JetBrains Mono" pitchFamily="49" charset="0"/>
                <a:ea typeface="JetBrains Mono" pitchFamily="49" charset="-122"/>
                <a:cs typeface="JetBrains Mono" pitchFamily="49" charset="-120"/>
              </a:rPr>
              <a:t># choice 4: topper</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best, best_total = </a:t>
            </a:r>
            <a:r>
              <a:rPr lang="en-US" sz="1500" dirty="0">
                <a:solidFill>
                  <a:srgbClr val="9FD8A8"/>
                </a:solidFill>
                <a:latin typeface="JetBrains Mono" pitchFamily="49" charset="0"/>
                <a:ea typeface="JetBrains Mono" pitchFamily="49" charset="-122"/>
                <a:cs typeface="JetBrains Mono" pitchFamily="49" charset="-120"/>
              </a:rPr>
              <a:t>""</a:t>
            </a:r>
            <a:r>
              <a:rPr lang="en-US" sz="1500" dirty="0">
                <a:solidFill>
                  <a:srgbClr val="E8EDF3"/>
                </a:solidFill>
                <a:latin typeface="JetBrains Mono" pitchFamily="49" charset="0"/>
                <a:ea typeface="JetBrains Mono" pitchFamily="49" charset="-122"/>
                <a:cs typeface="JetBrains Mono" pitchFamily="49" charset="-120"/>
              </a:rPr>
              <a:t>, -1</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for</a:t>
            </a:r>
            <a:r>
              <a:rPr lang="en-US" sz="1500" dirty="0">
                <a:solidFill>
                  <a:srgbClr val="E8EDF3"/>
                </a:solidFill>
                <a:latin typeface="JetBrains Mono" pitchFamily="49" charset="0"/>
                <a:ea typeface="JetBrains Mono" pitchFamily="49" charset="-122"/>
                <a:cs typeface="JetBrains Mono" pitchFamily="49" charset="-120"/>
              </a:rPr>
              <a:t> name, m </a:t>
            </a:r>
            <a:r>
              <a:rPr lang="en-US" sz="1500" dirty="0">
                <a:solidFill>
                  <a:srgbClr val="F2B33D"/>
                </a:solidFill>
                <a:latin typeface="JetBrains Mono" pitchFamily="49" charset="0"/>
                <a:ea typeface="JetBrains Mono" pitchFamily="49" charset="-122"/>
                <a:cs typeface="JetBrains Mono" pitchFamily="49" charset="-120"/>
              </a:rPr>
              <a:t>in</a:t>
            </a:r>
            <a:r>
              <a:rPr lang="en-US" sz="1500" dirty="0">
                <a:solidFill>
                  <a:srgbClr val="E8EDF3"/>
                </a:solidFill>
                <a:latin typeface="JetBrains Mono" pitchFamily="49" charset="0"/>
                <a:ea typeface="JetBrains Mono" pitchFamily="49" charset="-122"/>
                <a:cs typeface="JetBrains Mono" pitchFamily="49" charset="-120"/>
              </a:rPr>
              <a:t> students.items():</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if</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sum</a:t>
            </a:r>
            <a:r>
              <a:rPr lang="en-US" sz="1500" dirty="0">
                <a:solidFill>
                  <a:srgbClr val="E8EDF3"/>
                </a:solidFill>
                <a:latin typeface="JetBrains Mono" pitchFamily="49" charset="0"/>
                <a:ea typeface="JetBrains Mono" pitchFamily="49" charset="-122"/>
                <a:cs typeface="JetBrains Mono" pitchFamily="49" charset="-120"/>
              </a:rPr>
              <a:t>(m) &gt; best_total:</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best, best_total = name, </a:t>
            </a:r>
            <a:r>
              <a:rPr lang="en-US" sz="1500" dirty="0">
                <a:solidFill>
                  <a:srgbClr val="F2B33D"/>
                </a:solidFill>
                <a:latin typeface="JetBrains Mono" pitchFamily="49" charset="0"/>
                <a:ea typeface="JetBrains Mono" pitchFamily="49" charset="-122"/>
                <a:cs typeface="JetBrains Mono" pitchFamily="49" charset="-120"/>
              </a:rPr>
              <a:t>sum</a:t>
            </a:r>
            <a:r>
              <a:rPr lang="en-US" sz="1500" dirty="0">
                <a:solidFill>
                  <a:srgbClr val="E8EDF3"/>
                </a:solidFill>
                <a:latin typeface="JetBrains Mono" pitchFamily="49" charset="0"/>
                <a:ea typeface="JetBrains Mono" pitchFamily="49" charset="-122"/>
                <a:cs typeface="JetBrains Mono" pitchFamily="49" charset="-120"/>
              </a:rPr>
              <a:t>(m)</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"Topper:"</a:t>
            </a:r>
            <a:r>
              <a:rPr lang="en-US" sz="1500" dirty="0">
                <a:solidFill>
                  <a:srgbClr val="E8EDF3"/>
                </a:solidFill>
                <a:latin typeface="JetBrains Mono" pitchFamily="49" charset="0"/>
                <a:ea typeface="JetBrains Mono" pitchFamily="49" charset="-122"/>
                <a:cs typeface="JetBrains Mono" pitchFamily="49" charset="-120"/>
              </a:rPr>
              <a:t>, best, best_total)</a:t>
            </a:r>
            <a:endParaRPr lang="en-US" sz="1500" dirty="0"/>
          </a:p>
        </p:txBody>
      </p:sp>
      <p:sp>
        <p:nvSpPr>
          <p:cNvPr id="7" name="Shape 5"/>
          <p:cNvSpPr/>
          <p:nvPr/>
        </p:nvSpPr>
        <p:spPr>
          <a:xfrm>
            <a:off x="7381280" y="1847255"/>
            <a:ext cx="3991570" cy="1728391"/>
          </a:xfrm>
          <a:prstGeom prst="roundRect">
            <a:avLst>
              <a:gd name="adj" fmla="val 6980"/>
            </a:avLst>
          </a:prstGeom>
          <a:solidFill>
            <a:srgbClr val="FFFDF8"/>
          </a:solidFill>
          <a:ln w="12700">
            <a:solidFill>
              <a:srgbClr val="D9DEE5"/>
            </a:solidFill>
            <a:prstDash val="solid"/>
          </a:ln>
        </p:spPr>
      </p:sp>
      <p:sp>
        <p:nvSpPr>
          <p:cNvPr id="8" name="Text 6"/>
          <p:cNvSpPr/>
          <p:nvPr/>
        </p:nvSpPr>
        <p:spPr>
          <a:xfrm>
            <a:off x="7641630" y="2031405"/>
            <a:ext cx="3574996" cy="452041"/>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 · ORANGE = WHAT THE USER TYPES</a:t>
            </a:r>
            <a:endParaRPr lang="en-US" sz="1200" dirty="0"/>
          </a:p>
        </p:txBody>
      </p:sp>
      <p:sp>
        <p:nvSpPr>
          <p:cNvPr id="9" name="Text 7"/>
          <p:cNvSpPr/>
          <p:nvPr/>
        </p:nvSpPr>
        <p:spPr>
          <a:xfrm>
            <a:off x="7641630" y="2534245"/>
            <a:ext cx="3574996" cy="882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Find: </a:t>
            </a:r>
            <a:r>
              <a:rPr lang="en-US" sz="1500" dirty="0">
                <a:solidFill>
                  <a:srgbClr val="B54708"/>
                </a:solidFill>
                <a:latin typeface="JetBrains Mono" pitchFamily="49" charset="0"/>
                <a:ea typeface="JetBrains Mono" pitchFamily="49" charset="-122"/>
                <a:cs typeface="JetBrains Mono" pitchFamily="49" charset="-120"/>
              </a:rPr>
              <a:t>subham</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Subham [65, 70, 88]</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Topper: Ananya 255</a:t>
            </a:r>
            <a:endParaRPr lang="en-US" sz="1500" dirty="0"/>
          </a:p>
        </p:txBody>
      </p:sp>
      <p:sp>
        <p:nvSpPr>
          <p:cNvPr id="10" name="Text 8"/>
          <p:cNvSpPr/>
          <p:nvPr/>
        </p:nvSpPr>
        <p:spPr>
          <a:xfrm>
            <a:off x="7374930" y="3708995"/>
            <a:ext cx="4124398"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4A5568"/>
                </a:solidFill>
                <a:latin typeface="Rubik" pitchFamily="34" charset="0"/>
                <a:ea typeface="Rubik" pitchFamily="34" charset="-122"/>
                <a:cs typeface="Rubik" pitchFamily="34" charset="-120"/>
              </a:rPr>
              <a:t>The topper loop is the largest-number pattern from Week 3, using totals.</a:t>
            </a:r>
            <a:endParaRPr lang="en-US" sz="15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4 · Class 12</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6EE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12 · PRACTICE</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Your turn: grow the project</a:t>
            </a:r>
            <a:endParaRPr lang="en-US" sz="3200" dirty="0"/>
          </a:p>
        </p:txBody>
      </p:sp>
      <p:sp>
        <p:nvSpPr>
          <p:cNvPr id="4" name="Shape 2"/>
          <p:cNvSpPr/>
          <p:nvPr/>
        </p:nvSpPr>
        <p:spPr>
          <a:xfrm>
            <a:off x="819150" y="1809688"/>
            <a:ext cx="2476500" cy="2252927"/>
          </a:xfrm>
          <a:prstGeom prst="roundRect">
            <a:avLst>
              <a:gd name="adj" fmla="val 5355"/>
            </a:avLst>
          </a:prstGeom>
          <a:solidFill>
            <a:srgbClr val="FBFCFE"/>
          </a:solidFill>
          <a:ln w="12700">
            <a:solidFill>
              <a:srgbClr val="C9D7E8"/>
            </a:solidFill>
            <a:prstDash val="solid"/>
          </a:ln>
        </p:spPr>
      </p:sp>
      <p:sp>
        <p:nvSpPr>
          <p:cNvPr id="5" name="Text 3"/>
          <p:cNvSpPr/>
          <p:nvPr/>
        </p:nvSpPr>
        <p:spPr>
          <a:xfrm>
            <a:off x="1028700" y="2019238"/>
            <a:ext cx="681897" cy="289520"/>
          </a:xfrm>
          <a:custGeom>
            <a:avLst/>
            <a:gdLst/>
            <a:ahLst/>
            <a:cxnLst/>
            <a:rect l="l" t="t" r="r" b="b"/>
            <a:pathLst>
              <a:path w="681897" h="289520">
                <a:moveTo>
                  <a:pt x="144760" y="0"/>
                </a:moveTo>
                <a:lnTo>
                  <a:pt x="537137" y="0"/>
                </a:lnTo>
                <a:arcTo hR="144760" wR="144760" stAng="16200000" swAng="5400000"/>
                <a:lnTo>
                  <a:pt x="681897"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1</a:t>
            </a:r>
            <a:endParaRPr lang="en-US" sz="1200" dirty="0"/>
          </a:p>
        </p:txBody>
      </p:sp>
      <p:sp>
        <p:nvSpPr>
          <p:cNvPr id="6" name="Text 4"/>
          <p:cNvSpPr/>
          <p:nvPr/>
        </p:nvSpPr>
        <p:spPr>
          <a:xfrm>
            <a:off x="10287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Grades</a:t>
            </a:r>
            <a:endParaRPr lang="en-US" sz="1800" dirty="0"/>
          </a:p>
        </p:txBody>
      </p:sp>
      <p:sp>
        <p:nvSpPr>
          <p:cNvPr id="7" name="Text 5"/>
          <p:cNvSpPr/>
          <p:nvPr/>
        </p:nvSpPr>
        <p:spPr>
          <a:xfrm>
            <a:off x="1028700" y="2786261"/>
            <a:ext cx="2119122"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Show a grade next to each average, using the elif ladder from Week 2.</a:t>
            </a:r>
            <a:endParaRPr lang="en-US" sz="1500" dirty="0"/>
          </a:p>
        </p:txBody>
      </p:sp>
      <p:sp>
        <p:nvSpPr>
          <p:cNvPr id="8" name="Shape 6"/>
          <p:cNvSpPr/>
          <p:nvPr/>
        </p:nvSpPr>
        <p:spPr>
          <a:xfrm>
            <a:off x="3511550" y="1809688"/>
            <a:ext cx="2476500" cy="2252927"/>
          </a:xfrm>
          <a:prstGeom prst="roundRect">
            <a:avLst>
              <a:gd name="adj" fmla="val 5355"/>
            </a:avLst>
          </a:prstGeom>
          <a:solidFill>
            <a:srgbClr val="FBFCFE"/>
          </a:solidFill>
          <a:ln w="12700">
            <a:solidFill>
              <a:srgbClr val="C9D7E8"/>
            </a:solidFill>
            <a:prstDash val="solid"/>
          </a:ln>
        </p:spPr>
      </p:sp>
      <p:sp>
        <p:nvSpPr>
          <p:cNvPr id="9" name="Text 7"/>
          <p:cNvSpPr/>
          <p:nvPr/>
        </p:nvSpPr>
        <p:spPr>
          <a:xfrm>
            <a:off x="3721100" y="2019238"/>
            <a:ext cx="705181" cy="289520"/>
          </a:xfrm>
          <a:custGeom>
            <a:avLst/>
            <a:gdLst/>
            <a:ahLst/>
            <a:cxnLst/>
            <a:rect l="l" t="t" r="r" b="b"/>
            <a:pathLst>
              <a:path w="705181" h="289520">
                <a:moveTo>
                  <a:pt x="144760" y="0"/>
                </a:moveTo>
                <a:lnTo>
                  <a:pt x="560421" y="0"/>
                </a:lnTo>
                <a:arcTo hR="144760" wR="144760" stAng="16200000" swAng="5400000"/>
                <a:lnTo>
                  <a:pt x="705181"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2</a:t>
            </a:r>
            <a:endParaRPr lang="en-US" sz="1200" dirty="0"/>
          </a:p>
        </p:txBody>
      </p:sp>
      <p:sp>
        <p:nvSpPr>
          <p:cNvPr id="10" name="Text 8"/>
          <p:cNvSpPr/>
          <p:nvPr/>
        </p:nvSpPr>
        <p:spPr>
          <a:xfrm>
            <a:off x="37211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Delete</a:t>
            </a:r>
            <a:endParaRPr lang="en-US" sz="1800" dirty="0"/>
          </a:p>
        </p:txBody>
      </p:sp>
      <p:sp>
        <p:nvSpPr>
          <p:cNvPr id="11" name="Text 9"/>
          <p:cNvSpPr/>
          <p:nvPr/>
        </p:nvSpPr>
        <p:spPr>
          <a:xfrm>
            <a:off x="3721100" y="27862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Add choice 5 that removes a student by name.</a:t>
            </a:r>
            <a:endParaRPr lang="en-US" sz="1500" dirty="0"/>
          </a:p>
        </p:txBody>
      </p:sp>
      <p:sp>
        <p:nvSpPr>
          <p:cNvPr id="12" name="Shape 10"/>
          <p:cNvSpPr/>
          <p:nvPr/>
        </p:nvSpPr>
        <p:spPr>
          <a:xfrm>
            <a:off x="6203950" y="1809688"/>
            <a:ext cx="2476500" cy="2252927"/>
          </a:xfrm>
          <a:prstGeom prst="roundRect">
            <a:avLst>
              <a:gd name="adj" fmla="val 5355"/>
            </a:avLst>
          </a:prstGeom>
          <a:solidFill>
            <a:srgbClr val="FBFCFE"/>
          </a:solidFill>
          <a:ln w="12700">
            <a:solidFill>
              <a:srgbClr val="C9D7E8"/>
            </a:solidFill>
            <a:prstDash val="solid"/>
          </a:ln>
        </p:spPr>
      </p:sp>
      <p:sp>
        <p:nvSpPr>
          <p:cNvPr id="13" name="Text 11"/>
          <p:cNvSpPr/>
          <p:nvPr/>
        </p:nvSpPr>
        <p:spPr>
          <a:xfrm>
            <a:off x="6413500" y="2019238"/>
            <a:ext cx="706570" cy="289520"/>
          </a:xfrm>
          <a:custGeom>
            <a:avLst/>
            <a:gdLst/>
            <a:ahLst/>
            <a:cxnLst/>
            <a:rect l="l" t="t" r="r" b="b"/>
            <a:pathLst>
              <a:path w="706570" h="289520">
                <a:moveTo>
                  <a:pt x="144760" y="0"/>
                </a:moveTo>
                <a:lnTo>
                  <a:pt x="561810" y="0"/>
                </a:lnTo>
                <a:arcTo hR="144760" wR="144760" stAng="16200000" swAng="5400000"/>
                <a:lnTo>
                  <a:pt x="706570"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3</a:t>
            </a:r>
            <a:endParaRPr lang="en-US" sz="1200" dirty="0"/>
          </a:p>
        </p:txBody>
      </p:sp>
      <p:sp>
        <p:nvSpPr>
          <p:cNvPr id="14" name="Text 12"/>
          <p:cNvSpPr/>
          <p:nvPr/>
        </p:nvSpPr>
        <p:spPr>
          <a:xfrm>
            <a:off x="64135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Subject average</a:t>
            </a:r>
            <a:endParaRPr lang="en-US" sz="1800" dirty="0"/>
          </a:p>
        </p:txBody>
      </p:sp>
      <p:sp>
        <p:nvSpPr>
          <p:cNvPr id="15" name="Text 13"/>
          <p:cNvSpPr/>
          <p:nvPr/>
        </p:nvSpPr>
        <p:spPr>
          <a:xfrm>
            <a:off x="6413500" y="27862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Print the class average in each of the three subjects.</a:t>
            </a:r>
            <a:endParaRPr lang="en-US" sz="1500" dirty="0"/>
          </a:p>
        </p:txBody>
      </p:sp>
      <p:sp>
        <p:nvSpPr>
          <p:cNvPr id="16" name="Shape 14"/>
          <p:cNvSpPr/>
          <p:nvPr/>
        </p:nvSpPr>
        <p:spPr>
          <a:xfrm>
            <a:off x="8896350" y="1809688"/>
            <a:ext cx="2476500" cy="2252927"/>
          </a:xfrm>
          <a:prstGeom prst="roundRect">
            <a:avLst>
              <a:gd name="adj" fmla="val 5355"/>
            </a:avLst>
          </a:prstGeom>
          <a:solidFill>
            <a:srgbClr val="FBFCFE"/>
          </a:solidFill>
          <a:ln w="12700">
            <a:solidFill>
              <a:srgbClr val="C9D7E8"/>
            </a:solidFill>
            <a:prstDash val="solid"/>
          </a:ln>
        </p:spPr>
      </p:sp>
      <p:sp>
        <p:nvSpPr>
          <p:cNvPr id="17" name="Text 15"/>
          <p:cNvSpPr/>
          <p:nvPr/>
        </p:nvSpPr>
        <p:spPr>
          <a:xfrm>
            <a:off x="9105900" y="2019238"/>
            <a:ext cx="710076" cy="289520"/>
          </a:xfrm>
          <a:custGeom>
            <a:avLst/>
            <a:gdLst/>
            <a:ahLst/>
            <a:cxnLst/>
            <a:rect l="l" t="t" r="r" b="b"/>
            <a:pathLst>
              <a:path w="710076" h="289520">
                <a:moveTo>
                  <a:pt x="144760" y="0"/>
                </a:moveTo>
                <a:lnTo>
                  <a:pt x="565315" y="0"/>
                </a:lnTo>
                <a:arcTo hR="144760" wR="144760" stAng="16200000" swAng="5400000"/>
                <a:lnTo>
                  <a:pt x="710076"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4</a:t>
            </a:r>
            <a:endParaRPr lang="en-US" sz="1200" dirty="0"/>
          </a:p>
        </p:txBody>
      </p:sp>
      <p:sp>
        <p:nvSpPr>
          <p:cNvPr id="18" name="Text 16"/>
          <p:cNvSpPr/>
          <p:nvPr/>
        </p:nvSpPr>
        <p:spPr>
          <a:xfrm>
            <a:off x="91059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Fail list</a:t>
            </a:r>
            <a:endParaRPr lang="en-US" sz="1800" dirty="0"/>
          </a:p>
        </p:txBody>
      </p:sp>
      <p:sp>
        <p:nvSpPr>
          <p:cNvPr id="19" name="Text 17"/>
          <p:cNvSpPr/>
          <p:nvPr/>
        </p:nvSpPr>
        <p:spPr>
          <a:xfrm>
            <a:off x="9105900" y="27862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Show students who scored below 40 in any subject.</a:t>
            </a:r>
            <a:endParaRPr lang="en-US" sz="1500" dirty="0"/>
          </a:p>
        </p:txBody>
      </p:sp>
      <p:sp>
        <p:nvSpPr>
          <p:cNvPr id="20" name="Shape 18"/>
          <p:cNvSpPr/>
          <p:nvPr/>
        </p:nvSpPr>
        <p:spPr>
          <a:xfrm>
            <a:off x="812800" y="4322961"/>
            <a:ext cx="10566400" cy="622300"/>
          </a:xfrm>
          <a:prstGeom prst="roundRect">
            <a:avLst>
              <a:gd name="adj" fmla="val 20408"/>
            </a:avLst>
          </a:prstGeom>
          <a:solidFill>
            <a:srgbClr val="1B2A41"/>
          </a:solidFill>
          <a:ln/>
        </p:spPr>
      </p:sp>
      <p:sp>
        <p:nvSpPr>
          <p:cNvPr id="21" name="Text 19"/>
          <p:cNvSpPr/>
          <p:nvPr/>
        </p:nvSpPr>
        <p:spPr>
          <a:xfrm>
            <a:off x="1066800" y="4527426"/>
            <a:ext cx="121569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B33D"/>
                </a:solidFill>
                <a:latin typeface="Rubik" pitchFamily="34" charset="0"/>
                <a:ea typeface="Rubik" pitchFamily="34" charset="-122"/>
                <a:cs typeface="Rubik" pitchFamily="34" charset="-120"/>
              </a:rPr>
              <a:t>HOMEWORK</a:t>
            </a:r>
            <a:endParaRPr lang="en-US" sz="1200" dirty="0"/>
          </a:p>
        </p:txBody>
      </p:sp>
      <p:sp>
        <p:nvSpPr>
          <p:cNvPr id="22" name="Text 20"/>
          <p:cNvSpPr/>
          <p:nvPr/>
        </p:nvSpPr>
        <p:spPr>
          <a:xfrm>
            <a:off x="2282494" y="4500761"/>
            <a:ext cx="682109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7F5EF"/>
                </a:solidFill>
                <a:latin typeface="Rubik" pitchFamily="34" charset="0"/>
                <a:ea typeface="Rubik" pitchFamily="34" charset="-122"/>
                <a:cs typeface="Rubik" pitchFamily="34" charset="-120"/>
              </a:rPr>
              <a:t>Read on W3Schools: </a:t>
            </a:r>
            <a:r>
              <a:rPr lang="en-US" sz="1500" u="sng" dirty="0">
                <a:solidFill>
                  <a:srgbClr val="F2B33D"/>
                </a:solidFill>
                <a:latin typeface="Rubik" pitchFamily="34" charset="0"/>
                <a:ea typeface="Rubik" pitchFamily="34" charset="-122"/>
                <a:cs typeface="Rubik" pitchFamily="34" charset="-120"/>
                <a:hlinkClick r:id="rId1" invalidUrl="" action="" tgtFrame="" tooltip="" history="1" highlightClick="0" endSnd="0">
                  <a:extLst>
                    <a:ext uri="{A12FA001-AC4F-418D-AE19-62706E023703}">
                      <ahyp:hlinkClr xmlns:ahyp="http://schemas.microsoft.com/office/drawing/2018/hyperlinkcolor" val="tx"/>
                    </a:ext>
                  </a:extLst>
                </a:hlinkClick>
              </a:rPr>
              <a:t>Dictionaries</a:t>
            </a:r>
            <a:r>
              <a:rPr lang="en-US" sz="1500" dirty="0">
                <a:solidFill>
                  <a:srgbClr val="F7F5EF"/>
                </a:solidFill>
                <a:latin typeface="Rubik" pitchFamily="34" charset="0"/>
                <a:ea typeface="Rubik" pitchFamily="34" charset="-122"/>
                <a:cs typeface="Rubik" pitchFamily="34" charset="-120"/>
              </a:rPr>
              <a:t> · and finish the project at home</a:t>
            </a:r>
            <a:endParaRPr lang="en-US" sz="1500" dirty="0"/>
          </a:p>
        </p:txBody>
      </p:sp>
      <p:sp>
        <p:nvSpPr>
          <p:cNvPr id="23"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4 · Class 12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B2A4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B33D"/>
                </a:solidFill>
                <a:latin typeface="Rubik" pitchFamily="34" charset="0"/>
                <a:ea typeface="Rubik" pitchFamily="34" charset="-122"/>
                <a:cs typeface="Rubik" pitchFamily="34" charset="-120"/>
              </a:rPr>
              <a:t>WEEK 4 RECAP</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7F5EF"/>
                </a:solidFill>
                <a:latin typeface="Rubik" pitchFamily="34" charset="0"/>
                <a:ea typeface="Rubik" pitchFamily="34" charset="-122"/>
                <a:cs typeface="Rubik" pitchFamily="34" charset="-120"/>
              </a:rPr>
              <a:t>What you can do now</a:t>
            </a:r>
            <a:endParaRPr lang="en-US" sz="3200" dirty="0"/>
          </a:p>
        </p:txBody>
      </p:sp>
      <p:sp>
        <p:nvSpPr>
          <p:cNvPr id="4" name="Shape 2"/>
          <p:cNvSpPr/>
          <p:nvPr/>
        </p:nvSpPr>
        <p:spPr>
          <a:xfrm>
            <a:off x="812800" y="1854138"/>
            <a:ext cx="2527300" cy="1282700"/>
          </a:xfrm>
          <a:prstGeom prst="roundRect">
            <a:avLst>
              <a:gd name="adj" fmla="val 9901"/>
            </a:avLst>
          </a:prstGeom>
          <a:solidFill>
            <a:srgbClr val="24364F"/>
          </a:solidFill>
          <a:ln/>
        </p:spPr>
      </p:sp>
      <p:sp>
        <p:nvSpPr>
          <p:cNvPr id="5" name="Text 3"/>
          <p:cNvSpPr/>
          <p:nvPr/>
        </p:nvSpPr>
        <p:spPr>
          <a:xfrm>
            <a:off x="1016000" y="2057338"/>
            <a:ext cx="218452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B33D"/>
                </a:solidFill>
                <a:latin typeface="JetBrains Mono" pitchFamily="49" charset="0"/>
                <a:ea typeface="JetBrains Mono" pitchFamily="49" charset="-122"/>
                <a:cs typeface="JetBrains Mono" pitchFamily="49" charset="-120"/>
              </a:rPr>
              <a:t>m[i][j]</a:t>
            </a:r>
            <a:endParaRPr lang="en-US" sz="1500" dirty="0"/>
          </a:p>
        </p:txBody>
      </p:sp>
      <p:sp>
        <p:nvSpPr>
          <p:cNvPr id="6" name="Text 4"/>
          <p:cNvSpPr/>
          <p:nvPr/>
        </p:nvSpPr>
        <p:spPr>
          <a:xfrm>
            <a:off x="1016000" y="2400238"/>
            <a:ext cx="218452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EDF3"/>
                </a:solidFill>
                <a:latin typeface="Rubik" pitchFamily="34" charset="0"/>
                <a:ea typeface="Rubik" pitchFamily="34" charset="-122"/>
                <a:cs typeface="Rubik" pitchFamily="34" charset="-120"/>
              </a:rPr>
              <a:t>Store and walk through tables</a:t>
            </a:r>
            <a:endParaRPr lang="en-US" sz="1500" dirty="0"/>
          </a:p>
        </p:txBody>
      </p:sp>
      <p:sp>
        <p:nvSpPr>
          <p:cNvPr id="7" name="Shape 5"/>
          <p:cNvSpPr/>
          <p:nvPr/>
        </p:nvSpPr>
        <p:spPr>
          <a:xfrm>
            <a:off x="3492500" y="1854138"/>
            <a:ext cx="2527300" cy="1282700"/>
          </a:xfrm>
          <a:prstGeom prst="roundRect">
            <a:avLst>
              <a:gd name="adj" fmla="val 9901"/>
            </a:avLst>
          </a:prstGeom>
          <a:solidFill>
            <a:srgbClr val="24364F"/>
          </a:solidFill>
          <a:ln/>
        </p:spPr>
      </p:sp>
      <p:sp>
        <p:nvSpPr>
          <p:cNvPr id="8" name="Text 6"/>
          <p:cNvSpPr/>
          <p:nvPr/>
        </p:nvSpPr>
        <p:spPr>
          <a:xfrm>
            <a:off x="3695700" y="2057338"/>
            <a:ext cx="218452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B33D"/>
                </a:solidFill>
                <a:latin typeface="JetBrains Mono" pitchFamily="49" charset="0"/>
                <a:ea typeface="JetBrains Mono" pitchFamily="49" charset="-122"/>
                <a:cs typeface="JetBrains Mono" pitchFamily="49" charset="-120"/>
              </a:rPr>
              <a:t>[x for x in L]</a:t>
            </a:r>
            <a:endParaRPr lang="en-US" sz="1500" dirty="0"/>
          </a:p>
        </p:txBody>
      </p:sp>
      <p:sp>
        <p:nvSpPr>
          <p:cNvPr id="9" name="Text 7"/>
          <p:cNvSpPr/>
          <p:nvPr/>
        </p:nvSpPr>
        <p:spPr>
          <a:xfrm>
            <a:off x="3695700" y="2400238"/>
            <a:ext cx="218452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EDF3"/>
                </a:solidFill>
                <a:latin typeface="Rubik" pitchFamily="34" charset="0"/>
                <a:ea typeface="Rubik" pitchFamily="34" charset="-122"/>
                <a:cs typeface="Rubik" pitchFamily="34" charset="-120"/>
              </a:rPr>
              <a:t>Build lists in one line</a:t>
            </a:r>
            <a:endParaRPr lang="en-US" sz="1500" dirty="0"/>
          </a:p>
        </p:txBody>
      </p:sp>
      <p:sp>
        <p:nvSpPr>
          <p:cNvPr id="10" name="Shape 8"/>
          <p:cNvSpPr/>
          <p:nvPr/>
        </p:nvSpPr>
        <p:spPr>
          <a:xfrm>
            <a:off x="6172200" y="1854138"/>
            <a:ext cx="2527300" cy="1282700"/>
          </a:xfrm>
          <a:prstGeom prst="roundRect">
            <a:avLst>
              <a:gd name="adj" fmla="val 9901"/>
            </a:avLst>
          </a:prstGeom>
          <a:solidFill>
            <a:srgbClr val="24364F"/>
          </a:solidFill>
          <a:ln/>
        </p:spPr>
      </p:sp>
      <p:sp>
        <p:nvSpPr>
          <p:cNvPr id="11" name="Text 9"/>
          <p:cNvSpPr/>
          <p:nvPr/>
        </p:nvSpPr>
        <p:spPr>
          <a:xfrm>
            <a:off x="6375400" y="2057338"/>
            <a:ext cx="218452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B33D"/>
                </a:solidFill>
                <a:latin typeface="JetBrains Mono" pitchFamily="49" charset="0"/>
                <a:ea typeface="JetBrains Mono" pitchFamily="49" charset="-122"/>
                <a:cs typeface="JetBrains Mono" pitchFamily="49" charset="-120"/>
              </a:rPr>
              <a:t>( ) { }</a:t>
            </a:r>
            <a:endParaRPr lang="en-US" sz="1500" dirty="0"/>
          </a:p>
        </p:txBody>
      </p:sp>
      <p:sp>
        <p:nvSpPr>
          <p:cNvPr id="12" name="Text 10"/>
          <p:cNvSpPr/>
          <p:nvPr/>
        </p:nvSpPr>
        <p:spPr>
          <a:xfrm>
            <a:off x="6375400" y="2400238"/>
            <a:ext cx="218452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EDF3"/>
                </a:solidFill>
                <a:latin typeface="Rubik" pitchFamily="34" charset="0"/>
                <a:ea typeface="Rubik" pitchFamily="34" charset="-122"/>
                <a:cs typeface="Rubik" pitchFamily="34" charset="-120"/>
              </a:rPr>
              <a:t>Fixed tuples and unique sets</a:t>
            </a:r>
            <a:endParaRPr lang="en-US" sz="1500" dirty="0"/>
          </a:p>
        </p:txBody>
      </p:sp>
      <p:sp>
        <p:nvSpPr>
          <p:cNvPr id="13" name="Shape 11"/>
          <p:cNvSpPr/>
          <p:nvPr/>
        </p:nvSpPr>
        <p:spPr>
          <a:xfrm>
            <a:off x="8851900" y="1854138"/>
            <a:ext cx="2527300" cy="1282700"/>
          </a:xfrm>
          <a:prstGeom prst="roundRect">
            <a:avLst>
              <a:gd name="adj" fmla="val 9901"/>
            </a:avLst>
          </a:prstGeom>
          <a:solidFill>
            <a:srgbClr val="24364F"/>
          </a:solidFill>
          <a:ln/>
        </p:spPr>
      </p:sp>
      <p:sp>
        <p:nvSpPr>
          <p:cNvPr id="14" name="Text 12"/>
          <p:cNvSpPr/>
          <p:nvPr/>
        </p:nvSpPr>
        <p:spPr>
          <a:xfrm>
            <a:off x="9055100" y="2057338"/>
            <a:ext cx="218452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B33D"/>
                </a:solidFill>
                <a:latin typeface="JetBrains Mono" pitchFamily="49" charset="0"/>
                <a:ea typeface="JetBrains Mono" pitchFamily="49" charset="-122"/>
                <a:cs typeface="JetBrains Mono" pitchFamily="49" charset="-120"/>
              </a:rPr>
              <a:t>d[key]</a:t>
            </a:r>
            <a:endParaRPr lang="en-US" sz="1500" dirty="0"/>
          </a:p>
        </p:txBody>
      </p:sp>
      <p:sp>
        <p:nvSpPr>
          <p:cNvPr id="15" name="Text 13"/>
          <p:cNvSpPr/>
          <p:nvPr/>
        </p:nvSpPr>
        <p:spPr>
          <a:xfrm>
            <a:off x="9055100" y="2400238"/>
            <a:ext cx="23241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EDF3"/>
                </a:solidFill>
                <a:latin typeface="Rubik" pitchFamily="34" charset="0"/>
                <a:ea typeface="Rubik" pitchFamily="34" charset="-122"/>
                <a:cs typeface="Rubik" pitchFamily="34" charset="-120"/>
              </a:rPr>
              <a:t>Look up values by name</a:t>
            </a:r>
            <a:endParaRPr lang="en-US" sz="1500" dirty="0"/>
          </a:p>
        </p:txBody>
      </p:sp>
      <p:sp>
        <p:nvSpPr>
          <p:cNvPr id="16" name="Shape 14"/>
          <p:cNvSpPr/>
          <p:nvPr/>
        </p:nvSpPr>
        <p:spPr>
          <a:xfrm>
            <a:off x="812800" y="3441638"/>
            <a:ext cx="10566400" cy="967647"/>
          </a:xfrm>
          <a:prstGeom prst="roundRect">
            <a:avLst>
              <a:gd name="adj" fmla="val 13125"/>
            </a:avLst>
          </a:prstGeom>
          <a:solidFill>
            <a:srgbClr val="F2B33D"/>
          </a:solidFill>
          <a:ln/>
        </p:spPr>
      </p:sp>
      <p:sp>
        <p:nvSpPr>
          <p:cNvPr id="17" name="Text 15"/>
          <p:cNvSpPr/>
          <p:nvPr/>
        </p:nvSpPr>
        <p:spPr>
          <a:xfrm>
            <a:off x="1066800" y="3644838"/>
            <a:ext cx="1036015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B2A41"/>
                </a:solidFill>
                <a:latin typeface="Rubik" pitchFamily="34" charset="0"/>
                <a:ea typeface="Rubik" pitchFamily="34" charset="-122"/>
                <a:cs typeface="Rubik" pitchFamily="34" charset="-120"/>
              </a:rPr>
              <a:t>NEXT WEEK</a:t>
            </a:r>
            <a:endParaRPr lang="en-US" sz="1200" dirty="0"/>
          </a:p>
        </p:txBody>
      </p:sp>
      <p:sp>
        <p:nvSpPr>
          <p:cNvPr id="18" name="Text 16"/>
          <p:cNvSpPr/>
          <p:nvPr/>
        </p:nvSpPr>
        <p:spPr>
          <a:xfrm>
            <a:off x="1066800" y="3908958"/>
            <a:ext cx="10360152" cy="322527"/>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B2A41"/>
                </a:solidFill>
                <a:latin typeface="Rubik" pitchFamily="34" charset="0"/>
                <a:ea typeface="Rubik" pitchFamily="34" charset="-122"/>
                <a:cs typeface="Rubik" pitchFamily="34" charset="-120"/>
              </a:rPr>
              <a:t>Functions: write your own reusable commands, then recursion</a:t>
            </a:r>
            <a:endParaRPr lang="en-US" sz="1800" dirty="0"/>
          </a:p>
        </p:txBody>
      </p:sp>
      <p:sp>
        <p:nvSpPr>
          <p:cNvPr id="19" name="Text 17"/>
          <p:cNvSpPr/>
          <p:nvPr/>
        </p:nvSpPr>
        <p:spPr>
          <a:xfrm>
            <a:off x="812800" y="471408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C9D4E2"/>
                </a:solidFill>
                <a:latin typeface="Rubik" pitchFamily="34" charset="0"/>
                <a:ea typeface="Rubik" pitchFamily="34" charset="-122"/>
                <a:cs typeface="Rubik" pitchFamily="34" charset="-120"/>
              </a:rPr>
              <a:t>Lab habit:</a:t>
            </a:r>
            <a:r>
              <a:rPr lang="en-US" sz="1500" dirty="0">
                <a:solidFill>
                  <a:srgbClr val="C9D4E2"/>
                </a:solidFill>
                <a:latin typeface="Rubik" pitchFamily="34" charset="0"/>
                <a:ea typeface="Rubik" pitchFamily="34" charset="-122"/>
                <a:cs typeface="Rubik" pitchFamily="34" charset="-120"/>
              </a:rPr>
              <a:t> plan the data first: which container holds what, before writing any code.</a:t>
            </a:r>
            <a:endParaRPr lang="en-US" sz="15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C6"/>
                </a:solidFill>
                <a:latin typeface="Rubik" pitchFamily="34" charset="0"/>
                <a:ea typeface="Rubik" pitchFamily="34" charset="-122"/>
                <a:cs typeface="Rubik" pitchFamily="34" charset="-120"/>
              </a:rPr>
              <a:t>Python Programming · Week 4</a:t>
            </a:r>
            <a:endParaRPr lang="en-US" sz="1200" dirty="0"/>
          </a:p>
        </p:txBody>
      </p:sp>
    </p:spTree>
  </p:cSld>
  <p:clrMapOvr>
    <a:masterClrMapping/>
  </p:clrMapOvr>
</p:sld>
</file>

<file path=ppt/theme/theme1.xml><?xml version="1.0" encoding="utf-8"?>
<a:theme xmlns:a="http://schemas.openxmlformats.org/drawingml/2006/main" name="Python Week 4 – Collections &amp; Mini-project 1">
  <a:themeElements>
    <a:clrScheme name="Python Week 4 – Collections &amp; Mini-project 1">
      <a:dk1>
        <a:srgbClr val="1B2A41"/>
      </a:dk1>
      <a:lt1>
        <a:srgbClr val="F7F5EF"/>
      </a:lt1>
      <a:dk2>
        <a:srgbClr val="525D6D"/>
      </a:dk2>
      <a:lt2>
        <a:srgbClr val="E1E1DE"/>
      </a:lt2>
      <a:accent1>
        <a:srgbClr val="F2B33D"/>
      </a:accent1>
      <a:accent2>
        <a:srgbClr val="2A64A3"/>
      </a:accent2>
      <a:accent3>
        <a:srgbClr val="8FA3B8"/>
      </a:accent3>
      <a:accent4>
        <a:srgbClr val="9FB0C6"/>
      </a:accent4>
      <a:accent5>
        <a:srgbClr val="2A3D5A"/>
      </a:accent5>
      <a:accent6>
        <a:srgbClr val="4A5568"/>
      </a:accent6>
      <a:hlink>
        <a:srgbClr val="0563C1"/>
      </a:hlink>
      <a:folHlink>
        <a:srgbClr val="954F72"/>
      </a:folHlink>
    </a:clrScheme>
    <a:fontScheme name="Python Week 4 – Collections &amp; Mini-project 1">
      <a:majorFont>
        <a:latin typeface="Rubi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ubi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Week 4 – Collections &amp; Mini-project 1</dc:title>
  <dc:subject/>
  <dc:creator/>
  <cp:lastModifiedBy/>
  <cp:revision>1</cp:revision>
  <dcterms:created xsi:type="dcterms:W3CDTF">2026-10-06T16:45:21Z</dcterms:created>
  <dcterms:modified xsi:type="dcterms:W3CDTF">2026-10-06T16:45:21Z</dcterms:modified>
</cp:coreProperties>
</file>