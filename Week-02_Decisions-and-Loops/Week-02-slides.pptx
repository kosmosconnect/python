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2 is the most important week for lab exams: almost every first-year lab question uses if/else and loops. Classes: (4) decisions with if, elif and else; (5) while and for loops; (6) nested loops, patterns, primes and Fibonacci. Before starting, check the Week 1 homework folder and ask two quick questions: what does 17 % 5 give, and what does input() return?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Warm-up (3 minutes): what do these print? 10 &gt; 3 and 2 &gt; 5 (False), not (4 == 4) (False), 15 % 2 == 1 (True). Comparisons give True or False, and today we use those True/False answers to make the program choose what to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this flowchart on paper too: flowcharts are part of many first-year exams. The diamond is a decision box: it asks a yes/no question. Each arrow is a possible path, and only ONE path is taken each time. Ask the student to give two decisions from their own day and say them as "If ..., then ..., else ...". Then point out the condition is always a True/False expression, the same comparisons from Class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indentation finally matters. In C you use { } to group lines; in Python you use indentation (4 spaces, IDLE and VS Code add them automatically after the colon). Run the program twice, with 72 and with 25, so the student sees the indented line being skipped. Common errors to show: forgetting the colon (SyntaxError: expected ':'), and forgetting to indent (IndentationError: expected an indented block). Viva question: "How does Python know which lines belong to an if?" By the indentation.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Even/odd is the most common first lab program with if/else, so make sure the student can write it from memory. Point out that else has no condition of its own: it simply catches every case the if did not. else must line up exactly with its if (same indentation) and also ends with a colon. Ask: what does the voting program print for age 18? ("You can vote", because 18 &gt;= 18 is True.) Edge case discussion: what about age -5? Programs should ideally check for invalid input; we will handle that properly with try/except in Week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elif means "else if". Trace the ladder for 82 together, then ask the student to trace 95, 60, 39 and 40. Ask why we do not need marks &gt;= 75 and marks &lt; 90 in the second line. (If we reach that line, marks is already less than 90.) Common bug: writing the ladder in the wrong order, starting with marks &gt;= 40, so 95 would get a C. Order matters: biggest condition first. The grades here are just an example; adjust the cut-offs to whatever your university's grading 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favourite lab-exam program. Test with three cases: largest first (50, 10, 20), largest in the middle (12, 45, 27) and largest last (5, 8, 99). Also test equal values (7, 7, 3): &gt;= makes it work. Ask the student to write a second version with nested ifs (if a &gt;= b: then if a &gt;= c: ...) because examiners sometimes ask for "nested if" specifically. max(a, b, c) is the real-world one-liner, but in the lab write the logic unless allowed.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real-world reason first: a year is about 365.24 days, so we add a day every 4 years, but that over-corrects slightly, so century years skip it, except every 400 years. The elif ladder checks the rarest case (400) first, which is why the order works. Show the one-line version too, because textbooks use it: if (year % 4 == 0 and year % 100 != 0) or year % 400 == 0. Test all four sample years with the student. Viva question: "Why is 1900 not a leap year but 2000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are in solutions/class04_practice.py. Hints to give if the student is stuck. Task 1: if n &gt; 0, elif n &lt; 0, else. Task 2: check equilateral first (a == b == c), then isosceles (a == b or b == c or a == c), else scalene. Task 3: if units &lt;= 100: bill = units * 5, else: bill = 100 * 5 + (units - 100) * 7. Task 4: op = input("Operator: "), then an elif ladder on op == "+" and so on; inside the "/" branch, check b == 0 before dividing.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Warm-up: ask the student to print the numbers 1 to 5 using print(). Then ask: "Now print 1 to 1000." The groan is the motivation for loops. Today's programs (sum, factorial, reverse number, palindrome, Armstrong) are all standard lab and exam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Analogy: a gym trainer says "do 20 push-ups", not "push-up, push-up, push-up..." twenty times. A loop is that single instruction. Each repetition is called an iteration. Examples to sort into while vs for: "keep asking for the password until it is correct" (while: unknown rounds); "print the 7 times table" (for: exactly 10 rounds); "keep reading digits until the number becomes 0" (while).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the loop on paper with a table: count = 1, is 1 &lt;= 5? yes, print 1, count becomes 2... until count = 6, when 6 &lt;= 5 is False and the loop stops. That is 5 rounds. Then delete the count += 1 line and run it: the student sees the infinite loop and learns Ctrl + C. Ask: what is the value of count after the loop ends? (6, a classic exam question.) Variation: change it to count down from 5 to 1 (start at 5, condition count &gt;= 1, update count -=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for i in range(1, 11) aloud as "for each i from 1 up to, but not including, 11". The variable i takes each value in turn, and the indented block runs once per value. range has three forms: range(stop), range(start, stop), range(start, stop, step). Common mistake: range(1, 10) for 1 to 10 (it stops at 9). Exam question: how many times does for i in range(2, 20, 3) run? (2, 5, 8, 11, 14, 17: 6 times.) Let the student change n to their roll number's last digit and run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accumulator is a variable that collects a result round by round, like a piggy bank. Trace n = 5 on paper: i = 1: total 1, fact 1; i = 2: total 3, fact 2; i = 3: total 6, fact 6; i = 4: total 10, fact 24; i = 5: total 15, fact 120. Ask why range(1, n + 1) and not range(1, n). (The stop is never included.) Ask why fact starts at 1. (1 is the "do nothing" value for multiplying, like 0 is for adding.) Common bug: putting print inside the loop, which prints a running total every round. Check the sum with the formula n * (n + 1) // 2. Viva: what is 0 factorial? (1.) Variation: sum of only even numbers up to n, using range(2, n + 1,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one pattern solves many lab questions: reverse a number, sum of digits, count digits, palindrome number and Armstrong number. Trace 1234 in a table with columns n, d, rev, total: (1234, 4, 4, 4), (123, 3, 43, 7), (12, 2, 432, 9), (1, 1, 4321, 10), then n becomes 0 and the loop stops. We use while, not for, because we do not know how many digits there are. Common bug: forgetting n //= 10, which gives an infinite loop. Another: after the loop n is 0, so you must keep a copy if you need the original. Variation for homework: count the digits (add 1 each round instead of adding d). Armstrong: 153 = 1^3 + 5^3 + 3^3.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Analogy: you are eating rasagolas from a box. break = you are full, so you stop and close the box. continue = this one is squashed, so you skip it and take the next. Run both programs and ask the student to predict the output first. Show the PIN example live: while True: pin = input("PIN: "); if pin == "1234": print("Welcome"); break; else: print("Try again"). Common confusion: break leaves only the innermost loop it is in (important next class with nested loops). Viva: difference between break and continue? Also mention pass: a do-nothing placeholder, used when a block is required but you have nothing to write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are in solutions/class05_practice.py. Hints if stuck. Task 1: for i in range(1, 11): print(n, "x", i, "=", n * i). Task 2: the digits loop, but count += 1 instead of total += d; treat 0 as a special case (it has 1 digit). Task 3: copy n, add d ** 3 for each digit, compare with the copy at the end. Task 4: either range(2, n + 1, 2) or test i % 2 == 0 inside the loop: show both, the first is faster.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Warm-up (5 minutes): ask the student to write the digit-sum program from memory. Then ask how they would print a 3 by 4 rectangle of stars. Today is very exam focused: pattern printing, prime numbers and Fibonacci appear in almost every first-year lab exam. Encourage the student to draw each pattern on squared paper before coding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idea: for each round of the outer loop, the inner loop runs completely. So the print("*") line runs 3 x 4 = 12 times. Trace it aloud: row 1, col 1 2 3 4, new line; row 2, col 1 2 3 4, new line... Show what happens if print() is indented inside the inner loop (every star on its own line) or removed (all 12 stars on one line). end=" " keeps the cursor on the same line. Viva: how many times does the inner body run for outer range(5) and inner range(3)? (15.) Variation: make the rows and columns come from input().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string repetition trick in the shell first: "ab" * 3 gives "ababab". Then show the nested-loop version of the right triangle too, because some teachers want it in exams: for i in range(1, n + 1): for j in range(i): print("*", end=" "); then print(). Ask the student which line to change to make it 6 rows (only n). Common bug: range(n, 0, -1) written as range(n, 0) which prints nothing, because without a negative step range counts upwards. Let the student invent a pattern with # or their initials.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pyramid is the most asked pattern. The method matters more than the code: write a small table with columns row, spaces, stars. Row 1: 3, 1. Row 2: 2, 2. Row 3: 1, 3. Row 4: 0, 4. Spaces go down as rows go up, so spaces = n - i. Once the table is right, the code is easy. Challenge: the diamond, which is this pyramid followed by an upside-down one (the second loop runs i from n - 1 down to 1). Common bug: using "*" without the space, which gives a lopsided triangle.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first pattern, j restarts at 1 on every row, because the inner loop starts fresh each time. In Floyd's triangle, num lives outside both loops, so it keeps counting across rows. That difference is the whole lesson: where you create a variable decides when it resets. Ask: what changes if print(j) becomes print(i)? (1 / 2 2 / 3 3 3 / 4 4 4 4.) Another exam favourite: print(i * j) for a small multiplication grid.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prime has exactly two factors: 1 and itself. is_prime = n &gt; 1 gives False for 0 and 1 and True for everything else, so the loop only has to prove it wrong. This True/False variable is called a flag. Test 29 (prime), 21 (3 x 7), 2 (the only even prime: the loop does not run at all), and 1. Speed-up for strong students: check i only up to int(n ** 0.5) + 1, because factors come in pairs. Python also has for ... else, which runs the else when no break happened: show it only if the student is curious. Homework link: print all primes from 1 to 50 with a nested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0 1 1 2 3 5 8 13 on the board and ask the student to find the rule before showing code. a is the number we print, b is the next one. In a, b = b, a + b, the right side is worked out first using the OLD values, then both are stored. If the student writes a = b then b = a + b on two lines, the result is wrong: let them try it and find out why. The classic C-style version uses a third variable: c = a + b; a = b; b = c. Fibonacci appears in nature (sunflower seeds, pine cones), which makes a nice story. Next week, recursion gives another way to write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are in solutions/class06_practice.py. Hints. Task 1: for i in range(n): print("* " * n). Task 2: print(i, end=" ") inside the inner loop, i not j. Task 3: put the prime check inside for n in range(2, 51). Task 4: add up every i from 1 to n - 1 where n % i == 0, then compare the total with n. If the student finishes early, ask for the hollow square (stars only on the edges), a good test of if inside nested loops.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Five-minute oral quiz (viva practice): 1. What does elif mean? 2. When would you choose while instead of for? 3. What does range(2, 10, 3) give? (2 5 8.) 4. Difference between break and continue? 5. What is an infinite loop and how do you stop it? (Ctrl + C.) 6. How many times does the inner loop body run for range(4) inside range(3)? (12.) 7. Why must a factorial start at 1? Collect the homework programs at the start of next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5E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20"/>
            <a:ext cx="10566400" cy="447014"/>
          </a:xfrm>
          <a:prstGeom prst="rect">
            <a:avLst/>
          </a:prstGeom>
          <a:noFill/>
          <a:ln/>
        </p:spPr>
        <p:txBody>
          <a:bodyPr wrap="square" lIns="0" tIns="0" rIns="0" bIns="0" rtlCol="0" anchor="t"/>
          <a:lstStyle>
            <a:lvl1pPr algn="l" indent="0" marL="0">
              <a:lnSpc>
                <a:spcPct val="115000"/>
              </a:lnSpc>
              <a:buNone/>
              <a:defRPr lang="en-US" sz="3200" dirty="0">
                <a:solidFill>
                  <a:srgbClr val="1B2A41"/>
                </a:solidFill>
                <a:latin typeface="Rubik" pitchFamily="34" charset="0"/>
                <a:ea typeface="Rubik" pitchFamily="34" charset="-122"/>
                <a:cs typeface="Rubik"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54134"/>
            <a:ext cx="10566400" cy="4191066"/>
          </a:xfrm>
          <a:prstGeom prst="rect">
            <a:avLst/>
          </a:prstGeom>
          <a:noFill/>
          <a:ln/>
        </p:spPr>
        <p:txBody>
          <a:bodyPr wrap="square" lIns="0" tIns="0" rIns="0" bIns="0" rtlCol="0" anchor="t"/>
          <a:lstStyle>
            <a:lvl1pPr algn="l" indent="0" marL="0">
              <a:lnSpc>
                <a:spcPct val="140000"/>
              </a:lnSpc>
              <a:buNone/>
              <a:defRPr lang="en-US" sz="1600" dirty="0">
                <a:solidFill>
                  <a:srgbClr val="1B2A41"/>
                </a:solidFill>
                <a:latin typeface="Rubik" pitchFamily="34" charset="0"/>
                <a:ea typeface="Rubik" pitchFamily="34" charset="-122"/>
                <a:cs typeface="Rubik"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5E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20"/>
            <a:ext cx="10566400" cy="447014"/>
          </a:xfrm>
          <a:prstGeom prst="rect">
            <a:avLst/>
          </a:prstGeom>
          <a:noFill/>
          <a:ln/>
        </p:spPr>
        <p:txBody>
          <a:bodyPr wrap="square" lIns="0" tIns="0" rIns="0" bIns="0" rtlCol="0" anchor="t"/>
          <a:lstStyle>
            <a:lvl1pPr algn="l" indent="0" marL="0">
              <a:lnSpc>
                <a:spcPct val="115000"/>
              </a:lnSpc>
              <a:buNone/>
              <a:defRPr lang="en-US" sz="3200" dirty="0">
                <a:solidFill>
                  <a:srgbClr val="1B2A41"/>
                </a:solidFill>
                <a:latin typeface="Rubik" pitchFamily="34" charset="0"/>
                <a:ea typeface="Rubik" pitchFamily="34" charset="-122"/>
                <a:cs typeface="Rubik"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54134"/>
            <a:ext cx="10566400" cy="4191066"/>
          </a:xfrm>
          <a:prstGeom prst="rect">
            <a:avLst/>
          </a:prstGeom>
          <a:noFill/>
          <a:ln/>
        </p:spPr>
        <p:txBody>
          <a:bodyPr wrap="square" lIns="0" tIns="0" rIns="0" bIns="0" rtlCol="0" anchor="t"/>
          <a:lstStyle>
            <a:lvl1pPr algn="l" indent="0" marL="0">
              <a:lnSpc>
                <a:spcPct val="140000"/>
              </a:lnSpc>
              <a:buNone/>
              <a:defRPr lang="en-US" sz="1600" dirty="0">
                <a:solidFill>
                  <a:srgbClr val="1B2A41"/>
                </a:solidFill>
                <a:latin typeface="Rubik" pitchFamily="34" charset="0"/>
                <a:ea typeface="Rubik" pitchFamily="34" charset="-122"/>
                <a:cs typeface="Rubik"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www.w3schools.com/python/python_conditions.asp" TargetMode="External"/><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hyperlink" Target="https://www.w3schools.com/python/python_while_loops.asp" TargetMode="External"/><Relationship Id="rId2" Type="http://schemas.openxmlformats.org/officeDocument/2006/relationships/hyperlink" Target="https://www.w3schools.com/python/python_for_loops.asp" TargetMode="External"/><Relationship Id="rId3" Type="http://schemas.openxmlformats.org/officeDocument/2006/relationships/slideLayout" Target="../slideLayouts/slideLayout2.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hyperlink" Target="https://www.w3schools.com/python/python_for_loops.asp" TargetMode="External"/><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1"/>
        </a:solidFill>
      </p:bgPr>
    </p:bg>
    <p:spTree>
      <p:nvGrpSpPr>
        <p:cNvPr id="1" name=""/>
        <p:cNvGrpSpPr/>
        <p:nvPr/>
      </p:nvGrpSpPr>
      <p:grpSpPr>
        <a:xfrm>
          <a:off x="0" y="0"/>
          <a:ext cx="0" cy="0"/>
          <a:chOff x="0" y="0"/>
          <a:chExt cx="0" cy="0"/>
        </a:xfrm>
      </p:grpSpPr>
      <p:sp>
        <p:nvSpPr>
          <p:cNvPr id="2" name="Text 0"/>
          <p:cNvSpPr/>
          <p:nvPr/>
        </p:nvSpPr>
        <p:spPr>
          <a:xfrm>
            <a:off x="7978140" y="812800"/>
            <a:ext cx="3401060" cy="1295400"/>
          </a:xfrm>
          <a:prstGeom prst="rect">
            <a:avLst/>
          </a:prstGeom>
          <a:noFill/>
          <a:ln/>
        </p:spPr>
        <p:txBody>
          <a:bodyPr wrap="square" lIns="0" tIns="0" rIns="0" bIns="0" rtlCol="0" anchor="t">
            <a:normAutofit/>
          </a:bodyPr>
          <a:lstStyle/>
          <a:p>
            <a:pPr algn="r" indent="0" marL="0">
              <a:lnSpc>
                <a:spcPts val="10000"/>
              </a:lnSpc>
              <a:buNone/>
            </a:pPr>
            <a:r>
              <a:rPr lang="en-US" sz="10000" b="1" dirty="0">
                <a:solidFill>
                  <a:srgbClr val="2A3D5A"/>
                </a:solidFill>
                <a:latin typeface="JetBrains Mono" pitchFamily="49" charset="0"/>
                <a:ea typeface="JetBrains Mono" pitchFamily="49" charset="-122"/>
                <a:cs typeface="JetBrains Mono" pitchFamily="49" charset="-120"/>
              </a:rPr>
              <a:t>if:</a:t>
            </a:r>
            <a:endParaRPr lang="en-US" sz="10000" dirty="0"/>
          </a:p>
        </p:txBody>
      </p:sp>
      <p:sp>
        <p:nvSpPr>
          <p:cNvPr id="3" name="Text 1"/>
          <p:cNvSpPr/>
          <p:nvPr/>
        </p:nvSpPr>
        <p:spPr>
          <a:xfrm>
            <a:off x="812800" y="1871993"/>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2B33D"/>
                </a:solidFill>
                <a:latin typeface="Rubik" pitchFamily="34" charset="0"/>
                <a:ea typeface="Rubik" pitchFamily="34" charset="-122"/>
                <a:cs typeface="Rubik" pitchFamily="34" charset="-120"/>
              </a:rPr>
              <a:t>WEEK 2 · CLASSES 4–6</a:t>
            </a:r>
            <a:endParaRPr lang="en-US" sz="1200" dirty="0"/>
          </a:p>
        </p:txBody>
      </p:sp>
      <p:sp>
        <p:nvSpPr>
          <p:cNvPr id="4" name="Text 2"/>
          <p:cNvSpPr/>
          <p:nvPr>
            <p:ph type="title"/>
          </p:nvPr>
        </p:nvSpPr>
        <p:spPr>
          <a:xfrm>
            <a:off x="812800" y="2313914"/>
            <a:ext cx="10883392" cy="16256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7F5EF"/>
                </a:solidFill>
                <a:latin typeface="Rubik" pitchFamily="34" charset="0"/>
                <a:ea typeface="Rubik" pitchFamily="34" charset="-122"/>
                <a:cs typeface="Rubik" pitchFamily="34" charset="-120"/>
              </a:rPr>
              <a:t>Decisions</a:t>
            </a:r>
            <a:endParaRPr lang="en-US" sz="6000" dirty="0"/>
          </a:p>
          <a:p>
            <a:pPr algn="l" indent="0" marL="0">
              <a:lnSpc>
                <a:spcPts val="6300"/>
              </a:lnSpc>
              <a:buNone/>
            </a:pPr>
            <a:r>
              <a:rPr lang="en-US" sz="6000" b="1" i="0" dirty="0">
                <a:solidFill>
                  <a:srgbClr val="F7F5EF"/>
                </a:solidFill>
                <a:latin typeface="Rubik" pitchFamily="34" charset="0"/>
                <a:ea typeface="Rubik" pitchFamily="34" charset="-122"/>
                <a:cs typeface="Rubik" pitchFamily="34" charset="-120"/>
              </a:rPr>
              <a:t>and loops</a:t>
            </a:r>
            <a:endParaRPr lang="en-US" sz="6000" dirty="0"/>
          </a:p>
        </p:txBody>
      </p:sp>
      <p:sp>
        <p:nvSpPr>
          <p:cNvPr id="5" name="Text 3"/>
          <p:cNvSpPr/>
          <p:nvPr/>
        </p:nvSpPr>
        <p:spPr>
          <a:xfrm>
            <a:off x="812800" y="4142714"/>
            <a:ext cx="7848600" cy="665427"/>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C9D4E2"/>
                </a:solidFill>
                <a:latin typeface="Rubik" pitchFamily="34" charset="0"/>
                <a:ea typeface="Rubik" pitchFamily="34" charset="-122"/>
                <a:cs typeface="Rubik" pitchFamily="34" charset="-120"/>
              </a:rPr>
              <a:t>if / else, while and for loops, patterns, primes and Fibonacci: the heart of every lab exam</a:t>
            </a:r>
            <a:endParaRPr lang="en-US" sz="1800" dirty="0"/>
          </a:p>
        </p:txBody>
      </p:sp>
      <p:sp>
        <p:nvSpPr>
          <p:cNvPr id="6" name="Text 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0C6"/>
                </a:solidFill>
                <a:latin typeface="Rubik" pitchFamily="34" charset="0"/>
                <a:ea typeface="Rubik" pitchFamily="34" charset="-122"/>
                <a:cs typeface="Rubik" pitchFamily="34" charset="-120"/>
              </a:rPr>
              <a:t>Python Programming · B.Tech 1st Year · 8-week course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B33D"/>
        </a:solidFill>
      </p:bgPr>
    </p:bg>
    <p:spTree>
      <p:nvGrpSpPr>
        <p:cNvPr id="1" name=""/>
        <p:cNvGrpSpPr/>
        <p:nvPr/>
      </p:nvGrpSpPr>
      <p:grpSpPr>
        <a:xfrm>
          <a:off x="0" y="0"/>
          <a:ext cx="0" cy="0"/>
          <a:chOff x="0" y="0"/>
          <a:chExt cx="0" cy="0"/>
        </a:xfrm>
      </p:grpSpPr>
      <p:sp>
        <p:nvSpPr>
          <p:cNvPr id="2" name="Text 0"/>
          <p:cNvSpPr/>
          <p:nvPr/>
        </p:nvSpPr>
        <p:spPr>
          <a:xfrm>
            <a:off x="812800" y="2184467"/>
            <a:ext cx="512775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1B2A41"/>
                </a:solidFill>
                <a:latin typeface="Rubik" pitchFamily="34" charset="0"/>
                <a:ea typeface="Rubik" pitchFamily="34" charset="-122"/>
                <a:cs typeface="Rubik" pitchFamily="34" charset="-120"/>
              </a:rPr>
              <a:t>CLASS 4 OF 24</a:t>
            </a:r>
            <a:endParaRPr lang="en-US" sz="1200" dirty="0"/>
          </a:p>
        </p:txBody>
      </p:sp>
      <p:sp>
        <p:nvSpPr>
          <p:cNvPr id="3" name="Text 1"/>
          <p:cNvSpPr/>
          <p:nvPr>
            <p:ph type="title"/>
          </p:nvPr>
        </p:nvSpPr>
        <p:spPr>
          <a:xfrm>
            <a:off x="812800" y="2575587"/>
            <a:ext cx="5127752" cy="1305454"/>
          </a:xfrm>
          <a:prstGeom prst="rect">
            <a:avLst/>
          </a:prstGeom>
          <a:noFill/>
          <a:ln/>
        </p:spPr>
        <p:txBody>
          <a:bodyPr wrap="square" lIns="0" tIns="0" rIns="0" bIns="0" rtlCol="0" anchor="t">
            <a:normAutofit/>
          </a:bodyPr>
          <a:lstStyle/>
          <a:p>
            <a:pPr algn="l" indent="0" marL="0">
              <a:lnSpc>
                <a:spcPts val="5040"/>
              </a:lnSpc>
              <a:buNone/>
            </a:pPr>
            <a:r>
              <a:rPr lang="en-US" sz="4800" b="1" i="0" dirty="0">
                <a:solidFill>
                  <a:srgbClr val="1B2A41"/>
                </a:solidFill>
                <a:latin typeface="Rubik" pitchFamily="34" charset="0"/>
                <a:ea typeface="Rubik" pitchFamily="34" charset="-122"/>
                <a:cs typeface="Rubik" pitchFamily="34" charset="-120"/>
              </a:rPr>
              <a:t>Making decisions</a:t>
            </a:r>
            <a:endParaRPr lang="en-US" sz="4800" dirty="0"/>
          </a:p>
        </p:txBody>
      </p:sp>
      <p:sp>
        <p:nvSpPr>
          <p:cNvPr id="4" name="Text 2"/>
          <p:cNvSpPr/>
          <p:nvPr/>
        </p:nvSpPr>
        <p:spPr>
          <a:xfrm>
            <a:off x="812800" y="4033441"/>
            <a:ext cx="5127752" cy="665427"/>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1B2A41"/>
                </a:solidFill>
                <a:latin typeface="Rubik" pitchFamily="34" charset="0"/>
                <a:ea typeface="Rubik" pitchFamily="34" charset="-122"/>
                <a:cs typeface="Rubik" pitchFamily="34" charset="-120"/>
              </a:rPr>
              <a:t>Teaching your program to choose with if, elif and else</a:t>
            </a:r>
            <a:endParaRPr lang="en-US" sz="1800" dirty="0"/>
          </a:p>
        </p:txBody>
      </p:sp>
      <p:sp>
        <p:nvSpPr>
          <p:cNvPr id="5" name="Shape 3"/>
          <p:cNvSpPr/>
          <p:nvPr/>
        </p:nvSpPr>
        <p:spPr>
          <a:xfrm>
            <a:off x="6400800" y="2250414"/>
            <a:ext cx="4978400" cy="2357107"/>
          </a:xfrm>
          <a:prstGeom prst="roundRect">
            <a:avLst>
              <a:gd name="adj" fmla="val 6466"/>
            </a:avLst>
          </a:prstGeom>
          <a:solidFill>
            <a:srgbClr val="1B2A41"/>
          </a:solidFill>
          <a:ln/>
        </p:spPr>
      </p:sp>
      <p:sp>
        <p:nvSpPr>
          <p:cNvPr id="6" name="Text 4"/>
          <p:cNvSpPr/>
          <p:nvPr/>
        </p:nvSpPr>
        <p:spPr>
          <a:xfrm>
            <a:off x="6756400" y="2606014"/>
            <a:ext cx="4395216"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2B33D"/>
                </a:solidFill>
                <a:latin typeface="Rubik" pitchFamily="34" charset="0"/>
                <a:ea typeface="Rubik" pitchFamily="34" charset="-122"/>
                <a:cs typeface="Rubik" pitchFamily="34" charset="-120"/>
              </a:rPr>
              <a:t>By the end of today you can</a:t>
            </a:r>
            <a:endParaRPr lang="en-US" sz="1800" dirty="0"/>
          </a:p>
        </p:txBody>
      </p:sp>
      <p:sp>
        <p:nvSpPr>
          <p:cNvPr id="7" name="Text 5"/>
          <p:cNvSpPr/>
          <p:nvPr/>
        </p:nvSpPr>
        <p:spPr>
          <a:xfrm>
            <a:off x="6840220" y="3032720"/>
            <a:ext cx="4303776" cy="1244600"/>
          </a:xfrm>
          <a:prstGeom prst="rect">
            <a:avLst/>
          </a:prstGeom>
          <a:noFill/>
          <a:ln/>
        </p:spPr>
        <p:txBody>
          <a:bodyPr wrap="square" lIns="0" tIns="0" rIns="0" bIns="0" rtlCol="0" anchor="t">
            <a:normAutofit/>
          </a:bodyPr>
          <a:lstStyle/>
          <a:p>
            <a:pPr algn="l" marL="170180" indent="-170180">
              <a:lnSpc>
                <a:spcPts val="2400"/>
              </a:lnSpc>
              <a:buSzPct val="100000"/>
              <a:buChar char="•"/>
            </a:pPr>
            <a:r>
              <a:rPr lang="en-US" sz="1500" dirty="0">
                <a:solidFill>
                  <a:srgbClr val="F7F5EF"/>
                </a:solidFill>
                <a:latin typeface="Rubik" pitchFamily="34" charset="0"/>
                <a:ea typeface="Rubik" pitchFamily="34" charset="-122"/>
                <a:cs typeface="Rubik" pitchFamily="34" charset="-120"/>
              </a:rPr>
              <a:t>Write if, if-else and elif ladders</a:t>
            </a:r>
            <a:endParaRPr lang="en-US" sz="1500" dirty="0"/>
          </a:p>
          <a:p>
            <a:pPr algn="l" marL="170180" indent="-170180">
              <a:lnSpc>
                <a:spcPts val="2400"/>
              </a:lnSpc>
              <a:buSzPct val="100000"/>
              <a:buChar char="•"/>
            </a:pPr>
            <a:r>
              <a:rPr lang="en-US" sz="1500" dirty="0">
                <a:solidFill>
                  <a:srgbClr val="F7F5EF"/>
                </a:solidFill>
                <a:latin typeface="Rubik" pitchFamily="34" charset="0"/>
                <a:ea typeface="Rubik" pitchFamily="34" charset="-122"/>
                <a:cs typeface="Rubik" pitchFamily="34" charset="-120"/>
              </a:rPr>
              <a:t>Indent code blocks correctly</a:t>
            </a:r>
            <a:endParaRPr lang="en-US" sz="1500" dirty="0"/>
          </a:p>
          <a:p>
            <a:pPr algn="l" marL="170180" indent="-170180">
              <a:lnSpc>
                <a:spcPts val="2400"/>
              </a:lnSpc>
              <a:buSzPct val="100000"/>
              <a:buChar char="•"/>
            </a:pPr>
            <a:r>
              <a:rPr lang="en-US" sz="1500" dirty="0">
                <a:solidFill>
                  <a:srgbClr val="F7F5EF"/>
                </a:solidFill>
                <a:latin typeface="Rubik" pitchFamily="34" charset="0"/>
                <a:ea typeface="Rubik" pitchFamily="34" charset="-122"/>
                <a:cs typeface="Rubik" pitchFamily="34" charset="-120"/>
              </a:rPr>
              <a:t>Find the largest of three numbers</a:t>
            </a:r>
            <a:endParaRPr lang="en-US" sz="1500" dirty="0"/>
          </a:p>
          <a:p>
            <a:pPr algn="l" marL="170180" indent="-170180">
              <a:lnSpc>
                <a:spcPts val="2400"/>
              </a:lnSpc>
              <a:buSzPct val="100000"/>
              <a:buChar char="•"/>
            </a:pPr>
            <a:r>
              <a:rPr lang="en-US" sz="1500" dirty="0">
                <a:solidFill>
                  <a:srgbClr val="F7F5EF"/>
                </a:solidFill>
                <a:latin typeface="Rubik" pitchFamily="34" charset="0"/>
                <a:ea typeface="Rubik" pitchFamily="34" charset="-122"/>
                <a:cs typeface="Rubik" pitchFamily="34" charset="-120"/>
              </a:rPr>
              <a:t>Check for a leap year</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CLASS 4 · THE BIG IDEA</a:t>
            </a:r>
            <a:endParaRPr lang="en-US" sz="1200" dirty="0"/>
          </a:p>
        </p:txBody>
      </p:sp>
      <p:sp>
        <p:nvSpPr>
          <p:cNvPr id="3" name="Text 1"/>
          <p:cNvSpPr/>
          <p:nvPr>
            <p:ph type="title"/>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41"/>
                </a:solidFill>
                <a:latin typeface="Rubik" pitchFamily="34" charset="0"/>
                <a:ea typeface="Rubik" pitchFamily="34" charset="-122"/>
                <a:cs typeface="Rubik" pitchFamily="34" charset="-120"/>
              </a:rPr>
              <a:t>Programs that make decisions</a:t>
            </a:r>
            <a:endParaRPr lang="en-US" sz="3200" dirty="0"/>
          </a:p>
        </p:txBody>
      </p:sp>
      <p:pic>
        <p:nvPicPr>
          <p:cNvPr id="4" name="Image 0" descr="diamond">    </p:cNvPr>
          <p:cNvPicPr>
            <a:picLocks noChangeAspect="1"/>
          </p:cNvPicPr>
          <p:nvPr/>
        </p:nvPicPr>
        <p:blipFill>
          <a:blip r:embed="rId1"/>
          <a:srcRect l="0" r="0" t="0" b="0"/>
          <a:stretch/>
        </p:blipFill>
        <p:spPr>
          <a:xfrm>
            <a:off x="812800" y="2743135"/>
            <a:ext cx="2286000" cy="1524000"/>
          </a:xfrm>
          <a:prstGeom prst="rect">
            <a:avLst/>
          </a:prstGeom>
        </p:spPr>
      </p:pic>
      <p:sp>
        <p:nvSpPr>
          <p:cNvPr id="5" name="Text 2"/>
          <p:cNvSpPr/>
          <p:nvPr/>
        </p:nvSpPr>
        <p:spPr>
          <a:xfrm>
            <a:off x="1104900" y="3225735"/>
            <a:ext cx="1701800" cy="299707"/>
          </a:xfrm>
          <a:prstGeom prst="rect">
            <a:avLst/>
          </a:prstGeom>
          <a:noFill/>
          <a:ln/>
        </p:spPr>
        <p:txBody>
          <a:bodyPr wrap="square" lIns="0" tIns="0" rIns="0" bIns="0" rtlCol="0" anchor="t">
            <a:normAutofit/>
          </a:bodyPr>
          <a:lstStyle/>
          <a:p>
            <a:pPr algn="ctr" indent="0" marL="0">
              <a:lnSpc>
                <a:spcPts val="2160"/>
              </a:lnSpc>
              <a:buNone/>
            </a:pPr>
            <a:r>
              <a:rPr lang="en-US" sz="1800" b="1" dirty="0">
                <a:solidFill>
                  <a:srgbClr val="1B2A41"/>
                </a:solidFill>
                <a:latin typeface="Rubik" pitchFamily="34" charset="0"/>
                <a:ea typeface="Rubik" pitchFamily="34" charset="-122"/>
                <a:cs typeface="Rubik" pitchFamily="34" charset="-120"/>
              </a:rPr>
              <a:t>Is it raining?</a:t>
            </a:r>
            <a:endParaRPr lang="en-US" sz="1800" dirty="0"/>
          </a:p>
        </p:txBody>
      </p:sp>
      <p:sp>
        <p:nvSpPr>
          <p:cNvPr id="6" name="Shape 3"/>
          <p:cNvSpPr/>
          <p:nvPr/>
        </p:nvSpPr>
        <p:spPr>
          <a:xfrm>
            <a:off x="3797300" y="2108135"/>
            <a:ext cx="2095500" cy="886420"/>
          </a:xfrm>
          <a:prstGeom prst="roundRect">
            <a:avLst>
              <a:gd name="adj" fmla="val 14327"/>
            </a:avLst>
          </a:prstGeom>
          <a:solidFill>
            <a:srgbClr val="E6EEF7"/>
          </a:solidFill>
          <a:ln/>
        </p:spPr>
      </p:sp>
      <p:sp>
        <p:nvSpPr>
          <p:cNvPr id="7" name="Text 4"/>
          <p:cNvSpPr/>
          <p:nvPr/>
        </p:nvSpPr>
        <p:spPr>
          <a:xfrm>
            <a:off x="3975100" y="2285935"/>
            <a:ext cx="1792097"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IF TRUE</a:t>
            </a:r>
            <a:endParaRPr lang="en-US" sz="1200" dirty="0"/>
          </a:p>
        </p:txBody>
      </p:sp>
      <p:sp>
        <p:nvSpPr>
          <p:cNvPr id="8" name="Text 5"/>
          <p:cNvSpPr/>
          <p:nvPr/>
        </p:nvSpPr>
        <p:spPr>
          <a:xfrm>
            <a:off x="3975100" y="2550055"/>
            <a:ext cx="1792097"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1"/>
                </a:solidFill>
                <a:latin typeface="Rubik" pitchFamily="34" charset="0"/>
                <a:ea typeface="Rubik" pitchFamily="34" charset="-122"/>
                <a:cs typeface="Rubik" pitchFamily="34" charset="-120"/>
              </a:rPr>
              <a:t>Take an umbrella</a:t>
            </a:r>
            <a:endParaRPr lang="en-US" sz="1500" dirty="0"/>
          </a:p>
        </p:txBody>
      </p:sp>
      <p:sp>
        <p:nvSpPr>
          <p:cNvPr id="9" name="Shape 6"/>
          <p:cNvSpPr/>
          <p:nvPr/>
        </p:nvSpPr>
        <p:spPr>
          <a:xfrm>
            <a:off x="3797300" y="4044885"/>
            <a:ext cx="2095500" cy="886420"/>
          </a:xfrm>
          <a:prstGeom prst="roundRect">
            <a:avLst>
              <a:gd name="adj" fmla="val 14327"/>
            </a:avLst>
          </a:prstGeom>
          <a:solidFill>
            <a:srgbClr val="FBEFD5"/>
          </a:solidFill>
          <a:ln/>
        </p:spPr>
      </p:sp>
      <p:sp>
        <p:nvSpPr>
          <p:cNvPr id="10" name="Text 7"/>
          <p:cNvSpPr/>
          <p:nvPr/>
        </p:nvSpPr>
        <p:spPr>
          <a:xfrm>
            <a:off x="3975100" y="4222685"/>
            <a:ext cx="1792097"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A5A00"/>
                </a:solidFill>
                <a:latin typeface="Rubik" pitchFamily="34" charset="0"/>
                <a:ea typeface="Rubik" pitchFamily="34" charset="-122"/>
                <a:cs typeface="Rubik" pitchFamily="34" charset="-120"/>
              </a:rPr>
              <a:t>ELSE</a:t>
            </a:r>
            <a:endParaRPr lang="en-US" sz="1200" dirty="0"/>
          </a:p>
        </p:txBody>
      </p:sp>
      <p:sp>
        <p:nvSpPr>
          <p:cNvPr id="11" name="Text 8"/>
          <p:cNvSpPr/>
          <p:nvPr/>
        </p:nvSpPr>
        <p:spPr>
          <a:xfrm>
            <a:off x="3975100" y="4486805"/>
            <a:ext cx="1792097"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1"/>
                </a:solidFill>
                <a:latin typeface="Rubik" pitchFamily="34" charset="0"/>
                <a:ea typeface="Rubik" pitchFamily="34" charset="-122"/>
                <a:cs typeface="Rubik" pitchFamily="34" charset="-120"/>
              </a:rPr>
              <a:t>Wear sunglasses</a:t>
            </a:r>
            <a:endParaRPr lang="en-US" sz="1500" dirty="0"/>
          </a:p>
        </p:txBody>
      </p:sp>
      <p:pic>
        <p:nvPicPr>
          <p:cNvPr id="12" name="Image 1" descr="connector">    </p:cNvPr>
          <p:cNvPicPr>
            <a:picLocks noChangeAspect="1"/>
          </p:cNvPicPr>
          <p:nvPr/>
        </p:nvPicPr>
        <p:blipFill>
          <a:blip r:embed="rId2"/>
          <a:srcRect l="0" r="0" t="0" b="0"/>
          <a:stretch/>
        </p:blipFill>
        <p:spPr>
          <a:xfrm>
            <a:off x="3035300" y="2476435"/>
            <a:ext cx="825500" cy="1092200"/>
          </a:xfrm>
          <a:prstGeom prst="rect">
            <a:avLst/>
          </a:prstGeom>
        </p:spPr>
      </p:pic>
      <p:pic>
        <p:nvPicPr>
          <p:cNvPr id="13" name="Image 2" descr="connector">    </p:cNvPr>
          <p:cNvPicPr>
            <a:picLocks noChangeAspect="1"/>
          </p:cNvPicPr>
          <p:nvPr/>
        </p:nvPicPr>
        <p:blipFill>
          <a:blip r:embed="rId3"/>
          <a:srcRect l="0" r="0" t="0" b="0"/>
          <a:stretch/>
        </p:blipFill>
        <p:spPr>
          <a:xfrm>
            <a:off x="3035300" y="3441635"/>
            <a:ext cx="825500" cy="1092200"/>
          </a:xfrm>
          <a:prstGeom prst="rect">
            <a:avLst/>
          </a:prstGeom>
        </p:spPr>
      </p:pic>
      <p:sp>
        <p:nvSpPr>
          <p:cNvPr id="14" name="Text 9"/>
          <p:cNvSpPr/>
          <p:nvPr/>
        </p:nvSpPr>
        <p:spPr>
          <a:xfrm>
            <a:off x="3200400" y="2806635"/>
            <a:ext cx="6223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A64A3"/>
                </a:solidFill>
                <a:latin typeface="Rubik" pitchFamily="34" charset="0"/>
                <a:ea typeface="Rubik" pitchFamily="34" charset="-122"/>
                <a:cs typeface="Rubik" pitchFamily="34" charset="-120"/>
              </a:rPr>
              <a:t>Yes</a:t>
            </a:r>
            <a:endParaRPr lang="en-US" sz="1200" dirty="0"/>
          </a:p>
        </p:txBody>
      </p:sp>
      <p:sp>
        <p:nvSpPr>
          <p:cNvPr id="15" name="Text 10"/>
          <p:cNvSpPr/>
          <p:nvPr/>
        </p:nvSpPr>
        <p:spPr>
          <a:xfrm>
            <a:off x="3200400" y="3949635"/>
            <a:ext cx="6223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A5A00"/>
                </a:solidFill>
                <a:latin typeface="Rubik" pitchFamily="34" charset="0"/>
                <a:ea typeface="Rubik" pitchFamily="34" charset="-122"/>
                <a:cs typeface="Rubik" pitchFamily="34" charset="-120"/>
              </a:rPr>
              <a:t>No</a:t>
            </a:r>
            <a:endParaRPr lang="en-US" sz="1200" dirty="0"/>
          </a:p>
        </p:txBody>
      </p:sp>
      <p:sp>
        <p:nvSpPr>
          <p:cNvPr id="16" name="Text 11"/>
          <p:cNvSpPr/>
          <p:nvPr/>
        </p:nvSpPr>
        <p:spPr>
          <a:xfrm>
            <a:off x="6299200" y="1854135"/>
            <a:ext cx="5232400" cy="642541"/>
          </a:xfrm>
          <a:prstGeom prst="rect">
            <a:avLst/>
          </a:prstGeom>
          <a:noFill/>
          <a:ln/>
        </p:spPr>
        <p:txBody>
          <a:bodyPr wrap="square" lIns="0" tIns="0" rIns="0" bIns="0" rtlCol="0" anchor="t">
            <a:normAutofit/>
          </a:bodyPr>
          <a:lstStyle/>
          <a:p>
            <a:pPr algn="l" indent="0" marL="0">
              <a:lnSpc>
                <a:spcPts val="2430"/>
              </a:lnSpc>
              <a:buNone/>
            </a:pPr>
            <a:r>
              <a:rPr lang="en-US" sz="1800" b="1" dirty="0">
                <a:solidFill>
                  <a:srgbClr val="1B2A41"/>
                </a:solidFill>
                <a:latin typeface="Rubik" pitchFamily="34" charset="0"/>
                <a:ea typeface="Rubik" pitchFamily="34" charset="-122"/>
                <a:cs typeface="Rubik" pitchFamily="34" charset="-120"/>
              </a:rPr>
              <a:t>You make decisions all day, based on a condition.</a:t>
            </a:r>
            <a:endParaRPr lang="en-US" sz="1800" dirty="0"/>
          </a:p>
        </p:txBody>
      </p:sp>
      <p:sp>
        <p:nvSpPr>
          <p:cNvPr id="17" name="Text 12"/>
          <p:cNvSpPr/>
          <p:nvPr/>
        </p:nvSpPr>
        <p:spPr>
          <a:xfrm>
            <a:off x="6305550" y="2655426"/>
            <a:ext cx="5067300" cy="482600"/>
          </a:xfrm>
          <a:prstGeom prst="roundRect">
            <a:avLst>
              <a:gd name="adj" fmla="val 17105"/>
            </a:avLst>
          </a:prstGeom>
          <a:solidFill>
            <a:srgbClr val="FFFDF8"/>
          </a:solidFill>
          <a:ln w="12700">
            <a:solidFill>
              <a:srgbClr val="E2DED3"/>
            </a:solidFill>
            <a:prstDash val="solid"/>
          </a:ln>
        </p:spPr>
        <p:txBody>
          <a:bodyPr wrap="square" lIns="134572" tIns="83772" rIns="0" bIns="58372"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If marks are 40 or more, pass. Else, fail.</a:t>
            </a:r>
            <a:endParaRPr lang="en-US" sz="1500" dirty="0"/>
          </a:p>
        </p:txBody>
      </p:sp>
      <p:sp>
        <p:nvSpPr>
          <p:cNvPr id="18" name="Text 13"/>
          <p:cNvSpPr/>
          <p:nvPr/>
        </p:nvSpPr>
        <p:spPr>
          <a:xfrm>
            <a:off x="6305550" y="3252326"/>
            <a:ext cx="5067300" cy="482600"/>
          </a:xfrm>
          <a:prstGeom prst="roundRect">
            <a:avLst>
              <a:gd name="adj" fmla="val 17105"/>
            </a:avLst>
          </a:prstGeom>
          <a:solidFill>
            <a:srgbClr val="FFFDF8"/>
          </a:solidFill>
          <a:ln w="12700">
            <a:solidFill>
              <a:srgbClr val="E2DED3"/>
            </a:solidFill>
            <a:prstDash val="solid"/>
          </a:ln>
        </p:spPr>
        <p:txBody>
          <a:bodyPr wrap="square" lIns="134572" tIns="83772" rIns="0" bIns="58372"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If the signal is green, go. Else, stop.</a:t>
            </a:r>
            <a:endParaRPr lang="en-US" sz="1500" dirty="0"/>
          </a:p>
        </p:txBody>
      </p:sp>
      <p:sp>
        <p:nvSpPr>
          <p:cNvPr id="19" name="Text 14"/>
          <p:cNvSpPr/>
          <p:nvPr/>
        </p:nvSpPr>
        <p:spPr>
          <a:xfrm>
            <a:off x="6305550" y="3849226"/>
            <a:ext cx="5067300" cy="482600"/>
          </a:xfrm>
          <a:prstGeom prst="roundRect">
            <a:avLst>
              <a:gd name="adj" fmla="val 17105"/>
            </a:avLst>
          </a:prstGeom>
          <a:solidFill>
            <a:srgbClr val="FFFDF8"/>
          </a:solidFill>
          <a:ln w="12700">
            <a:solidFill>
              <a:srgbClr val="E2DED3"/>
            </a:solidFill>
            <a:prstDash val="solid"/>
          </a:ln>
        </p:spPr>
        <p:txBody>
          <a:bodyPr wrap="square" lIns="134572" tIns="83772" rIns="0" bIns="58372"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If wallet has Rs. 50, buy the rasagolas.</a:t>
            </a:r>
            <a:endParaRPr lang="en-US" sz="1500" dirty="0"/>
          </a:p>
        </p:txBody>
      </p:sp>
      <p:sp>
        <p:nvSpPr>
          <p:cNvPr id="20" name="Text 15"/>
          <p:cNvSpPr/>
          <p:nvPr/>
        </p:nvSpPr>
        <p:spPr>
          <a:xfrm>
            <a:off x="6299200" y="4515976"/>
            <a:ext cx="5232400" cy="5969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4A5568"/>
                </a:solidFill>
                <a:latin typeface="Rubik" pitchFamily="34" charset="0"/>
                <a:ea typeface="Rubik" pitchFamily="34" charset="-122"/>
                <a:cs typeface="Rubik" pitchFamily="34" charset="-120"/>
              </a:rPr>
              <a:t>In Python, the condition is any True/False expression, just like last week's comparisons.</a:t>
            </a:r>
            <a:endParaRPr lang="en-US" sz="1500" dirty="0"/>
          </a:p>
        </p:txBody>
      </p:sp>
      <p:sp>
        <p:nvSpPr>
          <p:cNvPr id="21" name="Text 1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Rubik" pitchFamily="34" charset="0"/>
                <a:ea typeface="Rubik" pitchFamily="34" charset="-122"/>
                <a:cs typeface="Rubik" pitchFamily="34" charset="-120"/>
              </a:rPr>
              <a:t>Python Programming · Week 2 · Class 4</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CLASS 4 · THE IF STATEMENT</a:t>
            </a:r>
            <a:endParaRPr lang="en-US" sz="1200" dirty="0"/>
          </a:p>
        </p:txBody>
      </p:sp>
      <p:sp>
        <p:nvSpPr>
          <p:cNvPr id="3" name="Text 1"/>
          <p:cNvSpPr/>
          <p:nvPr>
            <p:ph type="title"/>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41"/>
                </a:solidFill>
                <a:latin typeface="Rubik" pitchFamily="34" charset="0"/>
                <a:ea typeface="Rubik" pitchFamily="34" charset="-122"/>
                <a:cs typeface="Rubik" pitchFamily="34" charset="-120"/>
              </a:rPr>
              <a:t>Your first if</a:t>
            </a:r>
            <a:endParaRPr lang="en-US" sz="3200" dirty="0"/>
          </a:p>
        </p:txBody>
      </p:sp>
      <p:sp>
        <p:nvSpPr>
          <p:cNvPr id="4" name="Shape 2"/>
          <p:cNvSpPr/>
          <p:nvPr/>
        </p:nvSpPr>
        <p:spPr>
          <a:xfrm>
            <a:off x="812800" y="1854135"/>
            <a:ext cx="5597194" cy="1838920"/>
          </a:xfrm>
          <a:prstGeom prst="roundRect">
            <a:avLst>
              <a:gd name="adj" fmla="val 6906"/>
            </a:avLst>
          </a:prstGeom>
          <a:solidFill>
            <a:srgbClr val="1B2A41"/>
          </a:solidFill>
          <a:ln/>
        </p:spPr>
      </p:sp>
      <p:sp>
        <p:nvSpPr>
          <p:cNvPr id="5" name="Text 3"/>
          <p:cNvSpPr/>
          <p:nvPr/>
        </p:nvSpPr>
        <p:spPr>
          <a:xfrm>
            <a:off x="1092200" y="2057335"/>
            <a:ext cx="518954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3B8"/>
                </a:solidFill>
                <a:latin typeface="JetBrains Mono" pitchFamily="49" charset="0"/>
                <a:ea typeface="JetBrains Mono" pitchFamily="49" charset="-122"/>
                <a:cs typeface="JetBrains Mono" pitchFamily="49" charset="-120"/>
              </a:rPr>
              <a:t>pass.py</a:t>
            </a:r>
            <a:endParaRPr lang="en-US" sz="1200" dirty="0"/>
          </a:p>
        </p:txBody>
      </p:sp>
      <p:sp>
        <p:nvSpPr>
          <p:cNvPr id="6" name="Text 4"/>
          <p:cNvSpPr/>
          <p:nvPr/>
        </p:nvSpPr>
        <p:spPr>
          <a:xfrm>
            <a:off x="1092200" y="2346855"/>
            <a:ext cx="5189546" cy="11684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marks = </a:t>
            </a:r>
            <a:r>
              <a:rPr lang="en-US" sz="1500" dirty="0">
                <a:solidFill>
                  <a:srgbClr val="F2B33D"/>
                </a:solidFill>
                <a:latin typeface="JetBrains Mono" pitchFamily="49" charset="0"/>
                <a:ea typeface="JetBrains Mono" pitchFamily="49" charset="-122"/>
                <a:cs typeface="JetBrains Mono" pitchFamily="49" charset="-120"/>
              </a:rPr>
              <a:t>int</a:t>
            </a:r>
            <a:r>
              <a:rPr lang="en-US" sz="1500" dirty="0">
                <a:solidFill>
                  <a:srgbClr val="E8EDF3"/>
                </a:solidFill>
                <a:latin typeface="JetBrains Mono" pitchFamily="49" charset="0"/>
                <a:ea typeface="JetBrains Mono" pitchFamily="49" charset="-122"/>
                <a:cs typeface="JetBrains Mono" pitchFamily="49" charset="-120"/>
              </a:rPr>
              <a:t>(</a:t>
            </a:r>
            <a:r>
              <a:rPr lang="en-US" sz="1500" dirty="0">
                <a:solidFill>
                  <a:srgbClr val="F2B33D"/>
                </a:solidFill>
                <a:latin typeface="JetBrains Mono" pitchFamily="49" charset="0"/>
                <a:ea typeface="JetBrains Mono" pitchFamily="49" charset="-122"/>
                <a:cs typeface="JetBrains Mono" pitchFamily="49" charset="-120"/>
              </a:rPr>
              <a:t>input</a:t>
            </a:r>
            <a:r>
              <a:rPr lang="en-US" sz="1500" dirty="0">
                <a:solidFill>
                  <a:srgbClr val="E8EDF3"/>
                </a:solidFill>
                <a:latin typeface="JetBrains Mono" pitchFamily="49" charset="0"/>
                <a:ea typeface="JetBrains Mono" pitchFamily="49" charset="-122"/>
                <a:cs typeface="JetBrains Mono" pitchFamily="49" charset="-120"/>
              </a:rPr>
              <a:t>(</a:t>
            </a:r>
            <a:r>
              <a:rPr lang="en-US" sz="1500" dirty="0">
                <a:solidFill>
                  <a:srgbClr val="9FD8A8"/>
                </a:solidFill>
                <a:latin typeface="JetBrains Mono" pitchFamily="49" charset="0"/>
                <a:ea typeface="JetBrains Mono" pitchFamily="49" charset="-122"/>
                <a:cs typeface="JetBrains Mono" pitchFamily="49" charset="-120"/>
              </a:rPr>
              <a:t>"Marks: "</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if</a:t>
            </a:r>
            <a:r>
              <a:rPr lang="en-US" sz="1500" dirty="0">
                <a:solidFill>
                  <a:srgbClr val="E8EDF3"/>
                </a:solidFill>
                <a:latin typeface="JetBrains Mono" pitchFamily="49" charset="0"/>
                <a:ea typeface="JetBrains Mono" pitchFamily="49" charset="-122"/>
                <a:cs typeface="JetBrains Mono" pitchFamily="49" charset="-120"/>
              </a:rPr>
              <a:t> marks &gt;= 40:</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a:t>
            </a:r>
            <a:r>
              <a:rPr lang="en-US" sz="1500" dirty="0">
                <a:solidFill>
                  <a:srgbClr val="9FD8A8"/>
                </a:solidFill>
                <a:latin typeface="JetBrains Mono" pitchFamily="49" charset="0"/>
                <a:ea typeface="JetBrains Mono" pitchFamily="49" charset="-122"/>
                <a:cs typeface="JetBrains Mono" pitchFamily="49" charset="-120"/>
              </a:rPr>
              <a:t>"Pass! Well done"</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a:t>
            </a:r>
            <a:r>
              <a:rPr lang="en-US" sz="1500" dirty="0">
                <a:solidFill>
                  <a:srgbClr val="9FD8A8"/>
                </a:solidFill>
                <a:latin typeface="JetBrains Mono" pitchFamily="49" charset="0"/>
                <a:ea typeface="JetBrains Mono" pitchFamily="49" charset="-122"/>
                <a:cs typeface="JetBrains Mono" pitchFamily="49" charset="-120"/>
              </a:rPr>
              <a:t>"Result checked"</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p:txBody>
      </p:sp>
      <p:sp>
        <p:nvSpPr>
          <p:cNvPr id="7" name="Shape 5"/>
          <p:cNvSpPr/>
          <p:nvPr/>
        </p:nvSpPr>
        <p:spPr>
          <a:xfrm>
            <a:off x="819150" y="3826405"/>
            <a:ext cx="2722364" cy="1515070"/>
          </a:xfrm>
          <a:prstGeom prst="roundRect">
            <a:avLst>
              <a:gd name="adj" fmla="val 7963"/>
            </a:avLst>
          </a:prstGeom>
          <a:solidFill>
            <a:srgbClr val="FFFDF8"/>
          </a:solidFill>
          <a:ln w="12700">
            <a:solidFill>
              <a:srgbClr val="D9DEE5"/>
            </a:solidFill>
            <a:prstDash val="solid"/>
          </a:ln>
        </p:spPr>
      </p:sp>
      <p:sp>
        <p:nvSpPr>
          <p:cNvPr id="8" name="Text 6"/>
          <p:cNvSpPr/>
          <p:nvPr/>
        </p:nvSpPr>
        <p:spPr>
          <a:xfrm>
            <a:off x="1028700" y="4010555"/>
            <a:ext cx="237236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RUN 1</a:t>
            </a:r>
            <a:endParaRPr lang="en-US" sz="1200" dirty="0"/>
          </a:p>
        </p:txBody>
      </p:sp>
      <p:sp>
        <p:nvSpPr>
          <p:cNvPr id="9" name="Text 7"/>
          <p:cNvSpPr/>
          <p:nvPr/>
        </p:nvSpPr>
        <p:spPr>
          <a:xfrm>
            <a:off x="1028700" y="4300076"/>
            <a:ext cx="2372362" cy="8826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Marks: </a:t>
            </a:r>
            <a:r>
              <a:rPr lang="en-US" sz="1500" dirty="0">
                <a:solidFill>
                  <a:srgbClr val="B54708"/>
                </a:solidFill>
                <a:latin typeface="JetBrains Mono" pitchFamily="49" charset="0"/>
                <a:ea typeface="JetBrains Mono" pitchFamily="49" charset="-122"/>
                <a:cs typeface="JetBrains Mono" pitchFamily="49" charset="-120"/>
              </a:rPr>
              <a:t>72</a:t>
            </a:r>
            <a:endParaRPr lang="en-US" sz="1500" dirty="0"/>
          </a:p>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Pass! Well done</a:t>
            </a:r>
            <a:endParaRPr lang="en-US" sz="1500" dirty="0"/>
          </a:p>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Result checked</a:t>
            </a:r>
            <a:endParaRPr lang="en-US" sz="1500" dirty="0"/>
          </a:p>
        </p:txBody>
      </p:sp>
      <p:sp>
        <p:nvSpPr>
          <p:cNvPr id="10" name="Shape 8"/>
          <p:cNvSpPr/>
          <p:nvPr/>
        </p:nvSpPr>
        <p:spPr>
          <a:xfrm>
            <a:off x="3681214" y="3826405"/>
            <a:ext cx="2722430" cy="1515070"/>
          </a:xfrm>
          <a:prstGeom prst="roundRect">
            <a:avLst>
              <a:gd name="adj" fmla="val 7963"/>
            </a:avLst>
          </a:prstGeom>
          <a:solidFill>
            <a:srgbClr val="FFFDF8"/>
          </a:solidFill>
          <a:ln w="12700">
            <a:solidFill>
              <a:srgbClr val="D9DEE5"/>
            </a:solidFill>
            <a:prstDash val="solid"/>
          </a:ln>
        </p:spPr>
      </p:sp>
      <p:sp>
        <p:nvSpPr>
          <p:cNvPr id="11" name="Text 9"/>
          <p:cNvSpPr/>
          <p:nvPr/>
        </p:nvSpPr>
        <p:spPr>
          <a:xfrm>
            <a:off x="3890764" y="4010555"/>
            <a:ext cx="237243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RUN 2</a:t>
            </a:r>
            <a:endParaRPr lang="en-US" sz="1200" dirty="0"/>
          </a:p>
        </p:txBody>
      </p:sp>
      <p:sp>
        <p:nvSpPr>
          <p:cNvPr id="12" name="Text 10"/>
          <p:cNvSpPr/>
          <p:nvPr/>
        </p:nvSpPr>
        <p:spPr>
          <a:xfrm>
            <a:off x="3890764" y="4300076"/>
            <a:ext cx="2372430" cy="5969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Marks: </a:t>
            </a:r>
            <a:r>
              <a:rPr lang="en-US" sz="1500" dirty="0">
                <a:solidFill>
                  <a:srgbClr val="B54708"/>
                </a:solidFill>
                <a:latin typeface="JetBrains Mono" pitchFamily="49" charset="0"/>
                <a:ea typeface="JetBrains Mono" pitchFamily="49" charset="-122"/>
                <a:cs typeface="JetBrains Mono" pitchFamily="49" charset="-120"/>
              </a:rPr>
              <a:t>25</a:t>
            </a:r>
            <a:endParaRPr lang="en-US" sz="1500" dirty="0"/>
          </a:p>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Result checked</a:t>
            </a:r>
            <a:endParaRPr lang="en-US" sz="1500" dirty="0"/>
          </a:p>
        </p:txBody>
      </p:sp>
      <p:sp>
        <p:nvSpPr>
          <p:cNvPr id="13" name="Text 11"/>
          <p:cNvSpPr/>
          <p:nvPr/>
        </p:nvSpPr>
        <p:spPr>
          <a:xfrm>
            <a:off x="6714795" y="1854135"/>
            <a:ext cx="13208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2A64A3"/>
                </a:solidFill>
                <a:latin typeface="JetBrains Mono" pitchFamily="49" charset="0"/>
                <a:ea typeface="JetBrains Mono" pitchFamily="49" charset="-122"/>
                <a:cs typeface="JetBrains Mono" pitchFamily="49" charset="-120"/>
              </a:rPr>
              <a:t>if</a:t>
            </a:r>
            <a:endParaRPr lang="en-US" sz="1500" dirty="0"/>
          </a:p>
        </p:txBody>
      </p:sp>
      <p:sp>
        <p:nvSpPr>
          <p:cNvPr id="14" name="Text 12"/>
          <p:cNvSpPr/>
          <p:nvPr/>
        </p:nvSpPr>
        <p:spPr>
          <a:xfrm>
            <a:off x="8111795" y="1854135"/>
            <a:ext cx="3645218"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The keyword that starts a decision</a:t>
            </a:r>
            <a:endParaRPr lang="en-US" sz="1500" dirty="0"/>
          </a:p>
        </p:txBody>
      </p:sp>
      <p:sp>
        <p:nvSpPr>
          <p:cNvPr id="15" name="Text 13"/>
          <p:cNvSpPr/>
          <p:nvPr/>
        </p:nvSpPr>
        <p:spPr>
          <a:xfrm>
            <a:off x="6714795" y="2247835"/>
            <a:ext cx="13208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2A64A3"/>
                </a:solidFill>
                <a:latin typeface="JetBrains Mono" pitchFamily="49" charset="0"/>
                <a:ea typeface="JetBrains Mono" pitchFamily="49" charset="-122"/>
                <a:cs typeface="JetBrains Mono" pitchFamily="49" charset="-120"/>
              </a:rPr>
              <a:t>marks&gt;=40</a:t>
            </a:r>
            <a:endParaRPr lang="en-US" sz="1500" dirty="0"/>
          </a:p>
        </p:txBody>
      </p:sp>
      <p:sp>
        <p:nvSpPr>
          <p:cNvPr id="16" name="Text 14"/>
          <p:cNvSpPr/>
          <p:nvPr/>
        </p:nvSpPr>
        <p:spPr>
          <a:xfrm>
            <a:off x="8111795" y="2247835"/>
            <a:ext cx="2905998"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The condition: True or False</a:t>
            </a:r>
            <a:endParaRPr lang="en-US" sz="1500" dirty="0"/>
          </a:p>
        </p:txBody>
      </p:sp>
      <p:sp>
        <p:nvSpPr>
          <p:cNvPr id="17" name="Text 15"/>
          <p:cNvSpPr/>
          <p:nvPr/>
        </p:nvSpPr>
        <p:spPr>
          <a:xfrm>
            <a:off x="6714795" y="2641535"/>
            <a:ext cx="13208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2A64A3"/>
                </a:solidFill>
                <a:latin typeface="JetBrains Mono" pitchFamily="49" charset="0"/>
                <a:ea typeface="JetBrains Mono" pitchFamily="49" charset="-122"/>
                <a:cs typeface="JetBrains Mono" pitchFamily="49" charset="-120"/>
              </a:rPr>
              <a:t>:</a:t>
            </a:r>
            <a:endParaRPr lang="en-US" sz="1500" dirty="0"/>
          </a:p>
        </p:txBody>
      </p:sp>
      <p:sp>
        <p:nvSpPr>
          <p:cNvPr id="18" name="Text 16"/>
          <p:cNvSpPr/>
          <p:nvPr/>
        </p:nvSpPr>
        <p:spPr>
          <a:xfrm>
            <a:off x="8111795" y="2641535"/>
            <a:ext cx="3893423"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A colon ends the line. Never forget it!</a:t>
            </a:r>
            <a:endParaRPr lang="en-US" sz="1500" dirty="0"/>
          </a:p>
        </p:txBody>
      </p:sp>
      <p:sp>
        <p:nvSpPr>
          <p:cNvPr id="19" name="Shape 17"/>
          <p:cNvSpPr/>
          <p:nvPr/>
        </p:nvSpPr>
        <p:spPr>
          <a:xfrm>
            <a:off x="6714795" y="3035235"/>
            <a:ext cx="4664340" cy="736600"/>
          </a:xfrm>
          <a:prstGeom prst="roundRect">
            <a:avLst>
              <a:gd name="adj" fmla="val 12069"/>
            </a:avLst>
          </a:prstGeom>
          <a:solidFill>
            <a:srgbClr val="FBEFD5"/>
          </a:solidFill>
          <a:ln/>
        </p:spPr>
      </p:sp>
      <p:sp>
        <p:nvSpPr>
          <p:cNvPr id="20" name="Text 18"/>
          <p:cNvSpPr/>
          <p:nvPr/>
        </p:nvSpPr>
        <p:spPr>
          <a:xfrm>
            <a:off x="6841795" y="3136835"/>
            <a:ext cx="11938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8A5A00"/>
                </a:solidFill>
                <a:latin typeface="JetBrains Mono" pitchFamily="49" charset="0"/>
                <a:ea typeface="JetBrains Mono" pitchFamily="49" charset="-122"/>
                <a:cs typeface="JetBrains Mono" pitchFamily="49" charset="-120"/>
              </a:rPr>
              <a:t>4 spaces</a:t>
            </a:r>
            <a:endParaRPr lang="en-US" sz="1500" dirty="0"/>
          </a:p>
        </p:txBody>
      </p:sp>
      <p:sp>
        <p:nvSpPr>
          <p:cNvPr id="21" name="Text 19"/>
          <p:cNvSpPr/>
          <p:nvPr/>
        </p:nvSpPr>
        <p:spPr>
          <a:xfrm>
            <a:off x="8111795" y="3136835"/>
            <a:ext cx="323455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1"/>
                </a:solidFill>
                <a:latin typeface="Rubik" pitchFamily="34" charset="0"/>
                <a:ea typeface="Rubik" pitchFamily="34" charset="-122"/>
                <a:cs typeface="Rubik" pitchFamily="34" charset="-120"/>
              </a:rPr>
              <a:t>Indented lines run only when the condition is True</a:t>
            </a:r>
            <a:endParaRPr lang="en-US" sz="1500" dirty="0"/>
          </a:p>
        </p:txBody>
      </p:sp>
      <p:sp>
        <p:nvSpPr>
          <p:cNvPr id="22" name="Text 20"/>
          <p:cNvSpPr/>
          <p:nvPr/>
        </p:nvSpPr>
        <p:spPr>
          <a:xfrm>
            <a:off x="6714795" y="3898835"/>
            <a:ext cx="13208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2A64A3"/>
                </a:solidFill>
                <a:latin typeface="JetBrains Mono" pitchFamily="49" charset="0"/>
                <a:ea typeface="JetBrains Mono" pitchFamily="49" charset="-122"/>
                <a:cs typeface="JetBrains Mono" pitchFamily="49" charset="-120"/>
              </a:rPr>
              <a:t>no indent</a:t>
            </a:r>
            <a:endParaRPr lang="en-US" sz="1500" dirty="0"/>
          </a:p>
        </p:txBody>
      </p:sp>
      <p:sp>
        <p:nvSpPr>
          <p:cNvPr id="23" name="Text 21"/>
          <p:cNvSpPr/>
          <p:nvPr/>
        </p:nvSpPr>
        <p:spPr>
          <a:xfrm>
            <a:off x="8111795" y="3898835"/>
            <a:ext cx="3736499"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Back outside the if: runs every time</a:t>
            </a:r>
            <a:endParaRPr lang="en-US" sz="1500" dirty="0"/>
          </a:p>
        </p:txBody>
      </p:sp>
      <p:sp>
        <p:nvSpPr>
          <p:cNvPr id="24" name="Text 2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Rubik" pitchFamily="34" charset="0"/>
                <a:ea typeface="Rubik" pitchFamily="34" charset="-122"/>
                <a:cs typeface="Rubik" pitchFamily="34" charset="-120"/>
              </a:rPr>
              <a:t>Python Programming · Week 2 · Class 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CLASS 4 · IF AND ELSE</a:t>
            </a:r>
            <a:endParaRPr lang="en-US" sz="1200" dirty="0"/>
          </a:p>
        </p:txBody>
      </p:sp>
      <p:sp>
        <p:nvSpPr>
          <p:cNvPr id="3" name="Text 1"/>
          <p:cNvSpPr/>
          <p:nvPr>
            <p:ph type="title"/>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41"/>
                </a:solidFill>
                <a:latin typeface="Rubik" pitchFamily="34" charset="0"/>
                <a:ea typeface="Rubik" pitchFamily="34" charset="-122"/>
                <a:cs typeface="Rubik" pitchFamily="34" charset="-120"/>
              </a:rPr>
              <a:t>Two roads: if … else</a:t>
            </a:r>
            <a:endParaRPr lang="en-US" sz="3200" dirty="0"/>
          </a:p>
        </p:txBody>
      </p:sp>
      <p:sp>
        <p:nvSpPr>
          <p:cNvPr id="4" name="Text 2"/>
          <p:cNvSpPr/>
          <p:nvPr/>
        </p:nvSpPr>
        <p:spPr>
          <a:xfrm>
            <a:off x="812800" y="1828735"/>
            <a:ext cx="5284724"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EVEN OR ODD?</a:t>
            </a:r>
            <a:endParaRPr lang="en-US" sz="1200" dirty="0"/>
          </a:p>
        </p:txBody>
      </p:sp>
      <p:sp>
        <p:nvSpPr>
          <p:cNvPr id="5" name="Text 3"/>
          <p:cNvSpPr/>
          <p:nvPr/>
        </p:nvSpPr>
        <p:spPr>
          <a:xfrm>
            <a:off x="812800" y="2143655"/>
            <a:ext cx="5130800" cy="1784350"/>
          </a:xfrm>
          <a:prstGeom prst="roundRect">
            <a:avLst>
              <a:gd name="adj" fmla="val 7117"/>
            </a:avLst>
          </a:prstGeom>
          <a:solidFill>
            <a:srgbClr val="1B2A41"/>
          </a:solidFill>
          <a:ln/>
        </p:spPr>
        <p:txBody>
          <a:bodyPr wrap="square" lIns="166003" tIns="140603" rIns="24271" bIns="115203" rtlCol="0" anchor="t">
            <a:normAutofit/>
          </a:bodyPr>
          <a:lstStyle/>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n = </a:t>
            </a:r>
            <a:r>
              <a:rPr lang="en-US" sz="1500" dirty="0">
                <a:solidFill>
                  <a:srgbClr val="F2B33D"/>
                </a:solidFill>
                <a:latin typeface="JetBrains Mono" pitchFamily="49" charset="0"/>
                <a:ea typeface="JetBrains Mono" pitchFamily="49" charset="-122"/>
                <a:cs typeface="JetBrains Mono" pitchFamily="49" charset="-120"/>
              </a:rPr>
              <a:t>int</a:t>
            </a:r>
            <a:r>
              <a:rPr lang="en-US" sz="1500" dirty="0">
                <a:solidFill>
                  <a:srgbClr val="E8EDF3"/>
                </a:solidFill>
                <a:latin typeface="JetBrains Mono" pitchFamily="49" charset="0"/>
                <a:ea typeface="JetBrains Mono" pitchFamily="49" charset="-122"/>
                <a:cs typeface="JetBrains Mono" pitchFamily="49" charset="-120"/>
              </a:rPr>
              <a:t>(</a:t>
            </a:r>
            <a:r>
              <a:rPr lang="en-US" sz="1500" dirty="0">
                <a:solidFill>
                  <a:srgbClr val="F2B33D"/>
                </a:solidFill>
                <a:latin typeface="JetBrains Mono" pitchFamily="49" charset="0"/>
                <a:ea typeface="JetBrains Mono" pitchFamily="49" charset="-122"/>
                <a:cs typeface="JetBrains Mono" pitchFamily="49" charset="-120"/>
              </a:rPr>
              <a:t>input</a:t>
            </a:r>
            <a:r>
              <a:rPr lang="en-US" sz="1500" dirty="0">
                <a:solidFill>
                  <a:srgbClr val="E8EDF3"/>
                </a:solidFill>
                <a:latin typeface="JetBrains Mono" pitchFamily="49" charset="0"/>
                <a:ea typeface="JetBrains Mono" pitchFamily="49" charset="-122"/>
                <a:cs typeface="JetBrains Mono" pitchFamily="49" charset="-120"/>
              </a:rPr>
              <a:t>(</a:t>
            </a:r>
            <a:r>
              <a:rPr lang="en-US" sz="1500" dirty="0">
                <a:solidFill>
                  <a:srgbClr val="9FD8A8"/>
                </a:solidFill>
                <a:latin typeface="JetBrains Mono" pitchFamily="49" charset="0"/>
                <a:ea typeface="JetBrains Mono" pitchFamily="49" charset="-122"/>
                <a:cs typeface="JetBrains Mono" pitchFamily="49" charset="-120"/>
              </a:rPr>
              <a:t>"Number: "</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if</a:t>
            </a:r>
            <a:r>
              <a:rPr lang="en-US" sz="1500" dirty="0">
                <a:solidFill>
                  <a:srgbClr val="E8EDF3"/>
                </a:solidFill>
                <a:latin typeface="JetBrains Mono" pitchFamily="49" charset="0"/>
                <a:ea typeface="JetBrains Mono" pitchFamily="49" charset="-122"/>
                <a:cs typeface="JetBrains Mono" pitchFamily="49" charset="-120"/>
              </a:rPr>
              <a:t> n % 2 == 0:</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(n, </a:t>
            </a:r>
            <a:r>
              <a:rPr lang="en-US" sz="1500" dirty="0">
                <a:solidFill>
                  <a:srgbClr val="9FD8A8"/>
                </a:solidFill>
                <a:latin typeface="JetBrains Mono" pitchFamily="49" charset="0"/>
                <a:ea typeface="JetBrains Mono" pitchFamily="49" charset="-122"/>
                <a:cs typeface="JetBrains Mono" pitchFamily="49" charset="-120"/>
              </a:rPr>
              <a:t>"is even"</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else</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(n, </a:t>
            </a:r>
            <a:r>
              <a:rPr lang="en-US" sz="1500" dirty="0">
                <a:solidFill>
                  <a:srgbClr val="9FD8A8"/>
                </a:solidFill>
                <a:latin typeface="JetBrains Mono" pitchFamily="49" charset="0"/>
                <a:ea typeface="JetBrains Mono" pitchFamily="49" charset="-122"/>
                <a:cs typeface="JetBrains Mono" pitchFamily="49" charset="-120"/>
              </a:rPr>
              <a:t>"is odd"</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p:txBody>
      </p:sp>
      <p:sp>
        <p:nvSpPr>
          <p:cNvPr id="6" name="Text 4"/>
          <p:cNvSpPr/>
          <p:nvPr/>
        </p:nvSpPr>
        <p:spPr>
          <a:xfrm>
            <a:off x="819150" y="4035955"/>
            <a:ext cx="5118100" cy="889000"/>
          </a:xfrm>
          <a:prstGeom prst="roundRect">
            <a:avLst>
              <a:gd name="adj" fmla="val 13571"/>
            </a:avLst>
          </a:prstGeom>
          <a:solidFill>
            <a:srgbClr val="FFFDF8"/>
          </a:solidFill>
          <a:ln w="12700">
            <a:solidFill>
              <a:srgbClr val="D9DEE5"/>
            </a:solidFill>
            <a:prstDash val="solid"/>
          </a:ln>
        </p:spPr>
        <p:txBody>
          <a:bodyPr wrap="square" lIns="174213" tIns="123413" rIns="33243" bIns="98013" rtlCol="0" anchor="t">
            <a:normAutofit/>
          </a:bodyPr>
          <a:lstStyle/>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Number: </a:t>
            </a:r>
            <a:r>
              <a:rPr lang="en-US" sz="1500" dirty="0">
                <a:solidFill>
                  <a:srgbClr val="B54708"/>
                </a:solidFill>
                <a:latin typeface="JetBrains Mono" pitchFamily="49" charset="0"/>
                <a:ea typeface="JetBrains Mono" pitchFamily="49" charset="-122"/>
                <a:cs typeface="JetBrains Mono" pitchFamily="49" charset="-120"/>
              </a:rPr>
              <a:t>7</a:t>
            </a:r>
            <a:endParaRPr lang="en-US" sz="1500" dirty="0"/>
          </a:p>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7 is odd</a:t>
            </a:r>
            <a:endParaRPr lang="en-US" sz="1500" dirty="0"/>
          </a:p>
        </p:txBody>
      </p:sp>
      <p:sp>
        <p:nvSpPr>
          <p:cNvPr id="7" name="Text 5"/>
          <p:cNvSpPr/>
          <p:nvPr/>
        </p:nvSpPr>
        <p:spPr>
          <a:xfrm>
            <a:off x="6248400" y="1828735"/>
            <a:ext cx="5284724"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CAN I VOTE?</a:t>
            </a:r>
            <a:endParaRPr lang="en-US" sz="1200" dirty="0"/>
          </a:p>
        </p:txBody>
      </p:sp>
      <p:sp>
        <p:nvSpPr>
          <p:cNvPr id="8" name="Text 6"/>
          <p:cNvSpPr/>
          <p:nvPr/>
        </p:nvSpPr>
        <p:spPr>
          <a:xfrm>
            <a:off x="6248400" y="2143655"/>
            <a:ext cx="5130800" cy="1784350"/>
          </a:xfrm>
          <a:prstGeom prst="roundRect">
            <a:avLst>
              <a:gd name="adj" fmla="val 7117"/>
            </a:avLst>
          </a:prstGeom>
          <a:solidFill>
            <a:srgbClr val="1B2A41"/>
          </a:solidFill>
          <a:ln/>
        </p:spPr>
        <p:txBody>
          <a:bodyPr wrap="square" lIns="166003" tIns="140603" rIns="24271" bIns="115203" rtlCol="0" anchor="t">
            <a:normAutofit/>
          </a:bodyPr>
          <a:lstStyle/>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age = </a:t>
            </a:r>
            <a:r>
              <a:rPr lang="en-US" sz="1500" dirty="0">
                <a:solidFill>
                  <a:srgbClr val="F2B33D"/>
                </a:solidFill>
                <a:latin typeface="JetBrains Mono" pitchFamily="49" charset="0"/>
                <a:ea typeface="JetBrains Mono" pitchFamily="49" charset="-122"/>
                <a:cs typeface="JetBrains Mono" pitchFamily="49" charset="-120"/>
              </a:rPr>
              <a:t>int</a:t>
            </a:r>
            <a:r>
              <a:rPr lang="en-US" sz="1500" dirty="0">
                <a:solidFill>
                  <a:srgbClr val="E8EDF3"/>
                </a:solidFill>
                <a:latin typeface="JetBrains Mono" pitchFamily="49" charset="0"/>
                <a:ea typeface="JetBrains Mono" pitchFamily="49" charset="-122"/>
                <a:cs typeface="JetBrains Mono" pitchFamily="49" charset="-120"/>
              </a:rPr>
              <a:t>(</a:t>
            </a:r>
            <a:r>
              <a:rPr lang="en-US" sz="1500" dirty="0">
                <a:solidFill>
                  <a:srgbClr val="F2B33D"/>
                </a:solidFill>
                <a:latin typeface="JetBrains Mono" pitchFamily="49" charset="0"/>
                <a:ea typeface="JetBrains Mono" pitchFamily="49" charset="-122"/>
                <a:cs typeface="JetBrains Mono" pitchFamily="49" charset="-120"/>
              </a:rPr>
              <a:t>input</a:t>
            </a:r>
            <a:r>
              <a:rPr lang="en-US" sz="1500" dirty="0">
                <a:solidFill>
                  <a:srgbClr val="E8EDF3"/>
                </a:solidFill>
                <a:latin typeface="JetBrains Mono" pitchFamily="49" charset="0"/>
                <a:ea typeface="JetBrains Mono" pitchFamily="49" charset="-122"/>
                <a:cs typeface="JetBrains Mono" pitchFamily="49" charset="-120"/>
              </a:rPr>
              <a:t>(</a:t>
            </a:r>
            <a:r>
              <a:rPr lang="en-US" sz="1500" dirty="0">
                <a:solidFill>
                  <a:srgbClr val="9FD8A8"/>
                </a:solidFill>
                <a:latin typeface="JetBrains Mono" pitchFamily="49" charset="0"/>
                <a:ea typeface="JetBrains Mono" pitchFamily="49" charset="-122"/>
                <a:cs typeface="JetBrains Mono" pitchFamily="49" charset="-120"/>
              </a:rPr>
              <a:t>"Age: "</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if</a:t>
            </a:r>
            <a:r>
              <a:rPr lang="en-US" sz="1500" dirty="0">
                <a:solidFill>
                  <a:srgbClr val="E8EDF3"/>
                </a:solidFill>
                <a:latin typeface="JetBrains Mono" pitchFamily="49" charset="0"/>
                <a:ea typeface="JetBrains Mono" pitchFamily="49" charset="-122"/>
                <a:cs typeface="JetBrains Mono" pitchFamily="49" charset="-120"/>
              </a:rPr>
              <a:t> age &gt;= 18:</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a:t>
            </a:r>
            <a:r>
              <a:rPr lang="en-US" sz="1500" dirty="0">
                <a:solidFill>
                  <a:srgbClr val="9FD8A8"/>
                </a:solidFill>
                <a:latin typeface="JetBrains Mono" pitchFamily="49" charset="0"/>
                <a:ea typeface="JetBrains Mono" pitchFamily="49" charset="-122"/>
                <a:cs typeface="JetBrains Mono" pitchFamily="49" charset="-120"/>
              </a:rPr>
              <a:t>"You can vote"</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else</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a:t>
            </a:r>
            <a:r>
              <a:rPr lang="en-US" sz="1500" dirty="0">
                <a:solidFill>
                  <a:srgbClr val="9FD8A8"/>
                </a:solidFill>
                <a:latin typeface="JetBrains Mono" pitchFamily="49" charset="0"/>
                <a:ea typeface="JetBrains Mono" pitchFamily="49" charset="-122"/>
                <a:cs typeface="JetBrains Mono" pitchFamily="49" charset="-120"/>
              </a:rPr>
              <a:t>"Wait"</a:t>
            </a:r>
            <a:r>
              <a:rPr lang="en-US" sz="1500" dirty="0">
                <a:solidFill>
                  <a:srgbClr val="E8EDF3"/>
                </a:solidFill>
                <a:latin typeface="JetBrains Mono" pitchFamily="49" charset="0"/>
                <a:ea typeface="JetBrains Mono" pitchFamily="49" charset="-122"/>
                <a:cs typeface="JetBrains Mono" pitchFamily="49" charset="-120"/>
              </a:rPr>
              <a:t>, 18 - age, </a:t>
            </a:r>
            <a:r>
              <a:rPr lang="en-US" sz="1500" dirty="0">
                <a:solidFill>
                  <a:srgbClr val="9FD8A8"/>
                </a:solidFill>
                <a:latin typeface="JetBrains Mono" pitchFamily="49" charset="0"/>
                <a:ea typeface="JetBrains Mono" pitchFamily="49" charset="-122"/>
                <a:cs typeface="JetBrains Mono" pitchFamily="49" charset="-120"/>
              </a:rPr>
              <a:t>"years"</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p:txBody>
      </p:sp>
      <p:sp>
        <p:nvSpPr>
          <p:cNvPr id="9" name="Text 7"/>
          <p:cNvSpPr/>
          <p:nvPr/>
        </p:nvSpPr>
        <p:spPr>
          <a:xfrm>
            <a:off x="6254750" y="4035955"/>
            <a:ext cx="5118100" cy="889000"/>
          </a:xfrm>
          <a:prstGeom prst="roundRect">
            <a:avLst>
              <a:gd name="adj" fmla="val 13571"/>
            </a:avLst>
          </a:prstGeom>
          <a:solidFill>
            <a:srgbClr val="FFFDF8"/>
          </a:solidFill>
          <a:ln w="12700">
            <a:solidFill>
              <a:srgbClr val="D9DEE5"/>
            </a:solidFill>
            <a:prstDash val="solid"/>
          </a:ln>
        </p:spPr>
        <p:txBody>
          <a:bodyPr wrap="square" lIns="174213" tIns="123413" rIns="33243" bIns="98013" rtlCol="0" anchor="t">
            <a:normAutofit/>
          </a:bodyPr>
          <a:lstStyle/>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Age: </a:t>
            </a:r>
            <a:r>
              <a:rPr lang="en-US" sz="1500" dirty="0">
                <a:solidFill>
                  <a:srgbClr val="B54708"/>
                </a:solidFill>
                <a:latin typeface="JetBrains Mono" pitchFamily="49" charset="0"/>
                <a:ea typeface="JetBrains Mono" pitchFamily="49" charset="-122"/>
                <a:cs typeface="JetBrains Mono" pitchFamily="49" charset="-120"/>
              </a:rPr>
              <a:t>15</a:t>
            </a:r>
            <a:endParaRPr lang="en-US" sz="1500" dirty="0"/>
          </a:p>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Wait 3 years</a:t>
            </a:r>
            <a:endParaRPr lang="en-US" sz="1500" dirty="0"/>
          </a:p>
        </p:txBody>
      </p:sp>
      <p:sp>
        <p:nvSpPr>
          <p:cNvPr id="10" name="Shape 8"/>
          <p:cNvSpPr/>
          <p:nvPr/>
        </p:nvSpPr>
        <p:spPr>
          <a:xfrm>
            <a:off x="812800" y="5210705"/>
            <a:ext cx="10566400" cy="609600"/>
          </a:xfrm>
          <a:prstGeom prst="roundRect">
            <a:avLst>
              <a:gd name="adj" fmla="val 20833"/>
            </a:avLst>
          </a:prstGeom>
          <a:solidFill>
            <a:srgbClr val="FBEFD5"/>
          </a:solidFill>
          <a:ln/>
        </p:spPr>
      </p:sp>
      <p:pic>
        <p:nvPicPr>
          <p:cNvPr id="11" name="Image 0" descr="Lightbulb">    </p:cNvPr>
          <p:cNvPicPr>
            <a:picLocks noChangeAspect="1"/>
          </p:cNvPicPr>
          <p:nvPr/>
        </p:nvPicPr>
        <p:blipFill>
          <a:blip r:embed="rId1"/>
          <a:srcRect l="0" r="0" t="0" b="0"/>
          <a:stretch/>
        </p:blipFill>
        <p:spPr>
          <a:xfrm>
            <a:off x="1066800" y="5363105"/>
            <a:ext cx="304800" cy="304800"/>
          </a:xfrm>
          <a:prstGeom prst="rect">
            <a:avLst/>
          </a:prstGeom>
        </p:spPr>
      </p:pic>
      <p:sp>
        <p:nvSpPr>
          <p:cNvPr id="12" name="Text 9"/>
          <p:cNvSpPr/>
          <p:nvPr/>
        </p:nvSpPr>
        <p:spPr>
          <a:xfrm>
            <a:off x="1549400" y="5382155"/>
            <a:ext cx="906375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B2A41"/>
                </a:solidFill>
                <a:latin typeface="Rubik" pitchFamily="34" charset="0"/>
                <a:ea typeface="Rubik" pitchFamily="34" charset="-122"/>
                <a:cs typeface="Rubik" pitchFamily="34" charset="-120"/>
              </a:rPr>
              <a:t>else</a:t>
            </a:r>
            <a:r>
              <a:rPr lang="en-US" sz="1500" dirty="0">
                <a:solidFill>
                  <a:srgbClr val="1B2A41"/>
                </a:solidFill>
                <a:latin typeface="Rubik" pitchFamily="34" charset="0"/>
                <a:ea typeface="Rubik" pitchFamily="34" charset="-122"/>
                <a:cs typeface="Rubik" pitchFamily="34" charset="-120"/>
              </a:rPr>
              <a:t> means “otherwise”. Exactly one of the two blocks runs: never both, never neither.</a:t>
            </a:r>
            <a:endParaRPr lang="en-US" sz="1500" dirty="0"/>
          </a:p>
        </p:txBody>
      </p:sp>
      <p:sp>
        <p:nvSpPr>
          <p:cNvPr id="13" name="Text 1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Rubik" pitchFamily="34" charset="0"/>
                <a:ea typeface="Rubik" pitchFamily="34" charset="-122"/>
                <a:cs typeface="Rubik" pitchFamily="34" charset="-120"/>
              </a:rPr>
              <a:t>Python Programming · Week 2 · Class 4</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CLASS 4 · ELIF LADDER</a:t>
            </a:r>
            <a:endParaRPr lang="en-US" sz="1200" dirty="0"/>
          </a:p>
        </p:txBody>
      </p:sp>
      <p:sp>
        <p:nvSpPr>
          <p:cNvPr id="3" name="Text 1"/>
          <p:cNvSpPr/>
          <p:nvPr>
            <p:ph type="title"/>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41"/>
                </a:solidFill>
                <a:latin typeface="Rubik" pitchFamily="34" charset="0"/>
                <a:ea typeface="Rubik" pitchFamily="34" charset="-122"/>
                <a:cs typeface="Rubik" pitchFamily="34" charset="-120"/>
              </a:rPr>
              <a:t>Many roads: the grade calculator</a:t>
            </a:r>
            <a:endParaRPr lang="en-US" sz="3200" dirty="0"/>
          </a:p>
        </p:txBody>
      </p:sp>
      <p:sp>
        <p:nvSpPr>
          <p:cNvPr id="4" name="Shape 2"/>
          <p:cNvSpPr/>
          <p:nvPr/>
        </p:nvSpPr>
        <p:spPr>
          <a:xfrm>
            <a:off x="812800" y="1803335"/>
            <a:ext cx="5375077" cy="3845520"/>
          </a:xfrm>
          <a:prstGeom prst="roundRect">
            <a:avLst>
              <a:gd name="adj" fmla="val 3303"/>
            </a:avLst>
          </a:prstGeom>
          <a:solidFill>
            <a:srgbClr val="1B2A41"/>
          </a:solidFill>
          <a:ln/>
        </p:spPr>
      </p:sp>
      <p:sp>
        <p:nvSpPr>
          <p:cNvPr id="5" name="Text 3"/>
          <p:cNvSpPr/>
          <p:nvPr/>
        </p:nvSpPr>
        <p:spPr>
          <a:xfrm>
            <a:off x="1092200" y="1981135"/>
            <a:ext cx="496076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3B8"/>
                </a:solidFill>
                <a:latin typeface="JetBrains Mono" pitchFamily="49" charset="0"/>
                <a:ea typeface="JetBrains Mono" pitchFamily="49" charset="-122"/>
                <a:cs typeface="JetBrains Mono" pitchFamily="49" charset="-120"/>
              </a:rPr>
              <a:t>grade.py</a:t>
            </a:r>
            <a:endParaRPr lang="en-US" sz="1200" dirty="0"/>
          </a:p>
        </p:txBody>
      </p:sp>
      <p:sp>
        <p:nvSpPr>
          <p:cNvPr id="6" name="Text 4"/>
          <p:cNvSpPr/>
          <p:nvPr/>
        </p:nvSpPr>
        <p:spPr>
          <a:xfrm>
            <a:off x="1092200" y="2270655"/>
            <a:ext cx="4960765" cy="3225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8EDF3"/>
                </a:solidFill>
                <a:latin typeface="JetBrains Mono" pitchFamily="49" charset="0"/>
                <a:ea typeface="JetBrains Mono" pitchFamily="49" charset="-122"/>
                <a:cs typeface="JetBrains Mono" pitchFamily="49" charset="-120"/>
              </a:rPr>
              <a:t>marks = </a:t>
            </a:r>
            <a:r>
              <a:rPr lang="en-US" sz="1500" dirty="0">
                <a:solidFill>
                  <a:srgbClr val="F2B33D"/>
                </a:solidFill>
                <a:latin typeface="JetBrains Mono" pitchFamily="49" charset="0"/>
                <a:ea typeface="JetBrains Mono" pitchFamily="49" charset="-122"/>
                <a:cs typeface="JetBrains Mono" pitchFamily="49" charset="-120"/>
              </a:rPr>
              <a:t>int</a:t>
            </a:r>
            <a:r>
              <a:rPr lang="en-US" sz="1500" dirty="0">
                <a:solidFill>
                  <a:srgbClr val="E8EDF3"/>
                </a:solidFill>
                <a:latin typeface="JetBrains Mono" pitchFamily="49" charset="0"/>
                <a:ea typeface="JetBrains Mono" pitchFamily="49" charset="-122"/>
                <a:cs typeface="JetBrains Mono" pitchFamily="49" charset="-120"/>
              </a:rPr>
              <a:t>(</a:t>
            </a:r>
            <a:r>
              <a:rPr lang="en-US" sz="1500" dirty="0">
                <a:solidFill>
                  <a:srgbClr val="F2B33D"/>
                </a:solidFill>
                <a:latin typeface="JetBrains Mono" pitchFamily="49" charset="0"/>
                <a:ea typeface="JetBrains Mono" pitchFamily="49" charset="-122"/>
                <a:cs typeface="JetBrains Mono" pitchFamily="49" charset="-120"/>
              </a:rPr>
              <a:t>input</a:t>
            </a:r>
            <a:r>
              <a:rPr lang="en-US" sz="1500" dirty="0">
                <a:solidFill>
                  <a:srgbClr val="E8EDF3"/>
                </a:solidFill>
                <a:latin typeface="JetBrains Mono" pitchFamily="49" charset="0"/>
                <a:ea typeface="JetBrains Mono" pitchFamily="49" charset="-122"/>
                <a:cs typeface="JetBrains Mono" pitchFamily="49" charset="-120"/>
              </a:rPr>
              <a:t>(</a:t>
            </a:r>
            <a:r>
              <a:rPr lang="en-US" sz="1500" dirty="0">
                <a:solidFill>
                  <a:srgbClr val="9FD8A8"/>
                </a:solidFill>
                <a:latin typeface="JetBrains Mono" pitchFamily="49" charset="0"/>
                <a:ea typeface="JetBrains Mono" pitchFamily="49" charset="-122"/>
                <a:cs typeface="JetBrains Mono" pitchFamily="49" charset="-120"/>
              </a:rPr>
              <a:t>"Marks: "</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a:p>
            <a:pPr algn="l" indent="0" marL="0">
              <a:lnSpc>
                <a:spcPts val="2100"/>
              </a:lnSpc>
              <a:buNone/>
            </a:pPr>
            <a:r>
              <a:rPr lang="en-US" sz="1500" dirty="0">
                <a:solidFill>
                  <a:srgbClr val="F2B33D"/>
                </a:solidFill>
                <a:latin typeface="JetBrains Mono" pitchFamily="49" charset="0"/>
                <a:ea typeface="JetBrains Mono" pitchFamily="49" charset="-122"/>
                <a:cs typeface="JetBrains Mono" pitchFamily="49" charset="-120"/>
              </a:rPr>
              <a:t>if</a:t>
            </a:r>
            <a:r>
              <a:rPr lang="en-US" sz="1500" dirty="0">
                <a:solidFill>
                  <a:srgbClr val="E8EDF3"/>
                </a:solidFill>
                <a:latin typeface="JetBrains Mono" pitchFamily="49" charset="0"/>
                <a:ea typeface="JetBrains Mono" pitchFamily="49" charset="-122"/>
                <a:cs typeface="JetBrains Mono" pitchFamily="49" charset="-120"/>
              </a:rPr>
              <a:t> marks &gt;= 90:</a:t>
            </a:r>
            <a:endParaRPr lang="en-US" sz="1500" dirty="0"/>
          </a:p>
          <a:p>
            <a:pPr algn="l" indent="0" marL="0">
              <a:lnSpc>
                <a:spcPts val="2100"/>
              </a:lnSpc>
              <a:buNone/>
            </a:pPr>
            <a:r>
              <a:rPr lang="en-US" sz="1500" dirty="0">
                <a:solidFill>
                  <a:srgbClr val="E8EDF3"/>
                </a:solidFill>
                <a:latin typeface="JetBrains Mono" pitchFamily="49" charset="0"/>
                <a:ea typeface="JetBrains Mono" pitchFamily="49" charset="-122"/>
                <a:cs typeface="JetBrains Mono" pitchFamily="49" charset="-120"/>
              </a:rPr>
              <a:t>    grade = </a:t>
            </a:r>
            <a:r>
              <a:rPr lang="en-US" sz="1500" dirty="0">
                <a:solidFill>
                  <a:srgbClr val="9FD8A8"/>
                </a:solidFill>
                <a:latin typeface="JetBrains Mono" pitchFamily="49" charset="0"/>
                <a:ea typeface="JetBrains Mono" pitchFamily="49" charset="-122"/>
                <a:cs typeface="JetBrains Mono" pitchFamily="49" charset="-120"/>
              </a:rPr>
              <a:t>"A+"</a:t>
            </a:r>
            <a:endParaRPr lang="en-US" sz="1500" dirty="0"/>
          </a:p>
          <a:p>
            <a:pPr algn="l" indent="0" marL="0">
              <a:lnSpc>
                <a:spcPts val="2100"/>
              </a:lnSpc>
              <a:buNone/>
            </a:pPr>
            <a:r>
              <a:rPr lang="en-US" sz="1500" dirty="0">
                <a:solidFill>
                  <a:srgbClr val="F2B33D"/>
                </a:solidFill>
                <a:latin typeface="JetBrains Mono" pitchFamily="49" charset="0"/>
                <a:ea typeface="JetBrains Mono" pitchFamily="49" charset="-122"/>
                <a:cs typeface="JetBrains Mono" pitchFamily="49" charset="-120"/>
              </a:rPr>
              <a:t>elif</a:t>
            </a:r>
            <a:r>
              <a:rPr lang="en-US" sz="1500" dirty="0">
                <a:solidFill>
                  <a:srgbClr val="E8EDF3"/>
                </a:solidFill>
                <a:latin typeface="JetBrains Mono" pitchFamily="49" charset="0"/>
                <a:ea typeface="JetBrains Mono" pitchFamily="49" charset="-122"/>
                <a:cs typeface="JetBrains Mono" pitchFamily="49" charset="-120"/>
              </a:rPr>
              <a:t> marks &gt;= 75:</a:t>
            </a:r>
            <a:endParaRPr lang="en-US" sz="1500" dirty="0"/>
          </a:p>
          <a:p>
            <a:pPr algn="l" indent="0" marL="0">
              <a:lnSpc>
                <a:spcPts val="2100"/>
              </a:lnSpc>
              <a:buNone/>
            </a:pPr>
            <a:r>
              <a:rPr lang="en-US" sz="1500" dirty="0">
                <a:solidFill>
                  <a:srgbClr val="E8EDF3"/>
                </a:solidFill>
                <a:latin typeface="JetBrains Mono" pitchFamily="49" charset="0"/>
                <a:ea typeface="JetBrains Mono" pitchFamily="49" charset="-122"/>
                <a:cs typeface="JetBrains Mono" pitchFamily="49" charset="-120"/>
              </a:rPr>
              <a:t>    grade = </a:t>
            </a:r>
            <a:r>
              <a:rPr lang="en-US" sz="1500" dirty="0">
                <a:solidFill>
                  <a:srgbClr val="9FD8A8"/>
                </a:solidFill>
                <a:latin typeface="JetBrains Mono" pitchFamily="49" charset="0"/>
                <a:ea typeface="JetBrains Mono" pitchFamily="49" charset="-122"/>
                <a:cs typeface="JetBrains Mono" pitchFamily="49" charset="-120"/>
              </a:rPr>
              <a:t>"A"</a:t>
            </a:r>
            <a:endParaRPr lang="en-US" sz="1500" dirty="0"/>
          </a:p>
          <a:p>
            <a:pPr algn="l" indent="0" marL="0">
              <a:lnSpc>
                <a:spcPts val="2100"/>
              </a:lnSpc>
              <a:buNone/>
            </a:pPr>
            <a:r>
              <a:rPr lang="en-US" sz="1500" dirty="0">
                <a:solidFill>
                  <a:srgbClr val="F2B33D"/>
                </a:solidFill>
                <a:latin typeface="JetBrains Mono" pitchFamily="49" charset="0"/>
                <a:ea typeface="JetBrains Mono" pitchFamily="49" charset="-122"/>
                <a:cs typeface="JetBrains Mono" pitchFamily="49" charset="-120"/>
              </a:rPr>
              <a:t>elif</a:t>
            </a:r>
            <a:r>
              <a:rPr lang="en-US" sz="1500" dirty="0">
                <a:solidFill>
                  <a:srgbClr val="E8EDF3"/>
                </a:solidFill>
                <a:latin typeface="JetBrains Mono" pitchFamily="49" charset="0"/>
                <a:ea typeface="JetBrains Mono" pitchFamily="49" charset="-122"/>
                <a:cs typeface="JetBrains Mono" pitchFamily="49" charset="-120"/>
              </a:rPr>
              <a:t> marks &gt;= 60:</a:t>
            </a:r>
            <a:endParaRPr lang="en-US" sz="1500" dirty="0"/>
          </a:p>
          <a:p>
            <a:pPr algn="l" indent="0" marL="0">
              <a:lnSpc>
                <a:spcPts val="2100"/>
              </a:lnSpc>
              <a:buNone/>
            </a:pPr>
            <a:r>
              <a:rPr lang="en-US" sz="1500" dirty="0">
                <a:solidFill>
                  <a:srgbClr val="E8EDF3"/>
                </a:solidFill>
                <a:latin typeface="JetBrains Mono" pitchFamily="49" charset="0"/>
                <a:ea typeface="JetBrains Mono" pitchFamily="49" charset="-122"/>
                <a:cs typeface="JetBrains Mono" pitchFamily="49" charset="-120"/>
              </a:rPr>
              <a:t>    grade = </a:t>
            </a:r>
            <a:r>
              <a:rPr lang="en-US" sz="1500" dirty="0">
                <a:solidFill>
                  <a:srgbClr val="9FD8A8"/>
                </a:solidFill>
                <a:latin typeface="JetBrains Mono" pitchFamily="49" charset="0"/>
                <a:ea typeface="JetBrains Mono" pitchFamily="49" charset="-122"/>
                <a:cs typeface="JetBrains Mono" pitchFamily="49" charset="-120"/>
              </a:rPr>
              <a:t>"B"</a:t>
            </a:r>
            <a:endParaRPr lang="en-US" sz="1500" dirty="0"/>
          </a:p>
          <a:p>
            <a:pPr algn="l" indent="0" marL="0">
              <a:lnSpc>
                <a:spcPts val="2100"/>
              </a:lnSpc>
              <a:buNone/>
            </a:pPr>
            <a:r>
              <a:rPr lang="en-US" sz="1500" dirty="0">
                <a:solidFill>
                  <a:srgbClr val="F2B33D"/>
                </a:solidFill>
                <a:latin typeface="JetBrains Mono" pitchFamily="49" charset="0"/>
                <a:ea typeface="JetBrains Mono" pitchFamily="49" charset="-122"/>
                <a:cs typeface="JetBrains Mono" pitchFamily="49" charset="-120"/>
              </a:rPr>
              <a:t>elif</a:t>
            </a:r>
            <a:r>
              <a:rPr lang="en-US" sz="1500" dirty="0">
                <a:solidFill>
                  <a:srgbClr val="E8EDF3"/>
                </a:solidFill>
                <a:latin typeface="JetBrains Mono" pitchFamily="49" charset="0"/>
                <a:ea typeface="JetBrains Mono" pitchFamily="49" charset="-122"/>
                <a:cs typeface="JetBrains Mono" pitchFamily="49" charset="-120"/>
              </a:rPr>
              <a:t> marks &gt;= 40:</a:t>
            </a:r>
            <a:endParaRPr lang="en-US" sz="1500" dirty="0"/>
          </a:p>
          <a:p>
            <a:pPr algn="l" indent="0" marL="0">
              <a:lnSpc>
                <a:spcPts val="2100"/>
              </a:lnSpc>
              <a:buNone/>
            </a:pPr>
            <a:r>
              <a:rPr lang="en-US" sz="1500" dirty="0">
                <a:solidFill>
                  <a:srgbClr val="E8EDF3"/>
                </a:solidFill>
                <a:latin typeface="JetBrains Mono" pitchFamily="49" charset="0"/>
                <a:ea typeface="JetBrains Mono" pitchFamily="49" charset="-122"/>
                <a:cs typeface="JetBrains Mono" pitchFamily="49" charset="-120"/>
              </a:rPr>
              <a:t>    grade = </a:t>
            </a:r>
            <a:r>
              <a:rPr lang="en-US" sz="1500" dirty="0">
                <a:solidFill>
                  <a:srgbClr val="9FD8A8"/>
                </a:solidFill>
                <a:latin typeface="JetBrains Mono" pitchFamily="49" charset="0"/>
                <a:ea typeface="JetBrains Mono" pitchFamily="49" charset="-122"/>
                <a:cs typeface="JetBrains Mono" pitchFamily="49" charset="-120"/>
              </a:rPr>
              <a:t>"C"</a:t>
            </a:r>
            <a:endParaRPr lang="en-US" sz="1500" dirty="0"/>
          </a:p>
          <a:p>
            <a:pPr algn="l" indent="0" marL="0">
              <a:lnSpc>
                <a:spcPts val="2100"/>
              </a:lnSpc>
              <a:buNone/>
            </a:pPr>
            <a:r>
              <a:rPr lang="en-US" sz="1500" dirty="0">
                <a:solidFill>
                  <a:srgbClr val="F2B33D"/>
                </a:solidFill>
                <a:latin typeface="JetBrains Mono" pitchFamily="49" charset="0"/>
                <a:ea typeface="JetBrains Mono" pitchFamily="49" charset="-122"/>
                <a:cs typeface="JetBrains Mono" pitchFamily="49" charset="-120"/>
              </a:rPr>
              <a:t>else</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a:p>
            <a:pPr algn="l" indent="0" marL="0">
              <a:lnSpc>
                <a:spcPts val="2100"/>
              </a:lnSpc>
              <a:buNone/>
            </a:pPr>
            <a:r>
              <a:rPr lang="en-US" sz="1500" dirty="0">
                <a:solidFill>
                  <a:srgbClr val="E8EDF3"/>
                </a:solidFill>
                <a:latin typeface="JetBrains Mono" pitchFamily="49" charset="0"/>
                <a:ea typeface="JetBrains Mono" pitchFamily="49" charset="-122"/>
                <a:cs typeface="JetBrains Mono" pitchFamily="49" charset="-120"/>
              </a:rPr>
              <a:t>    grade = </a:t>
            </a:r>
            <a:r>
              <a:rPr lang="en-US" sz="1500" dirty="0">
                <a:solidFill>
                  <a:srgbClr val="9FD8A8"/>
                </a:solidFill>
                <a:latin typeface="JetBrains Mono" pitchFamily="49" charset="0"/>
                <a:ea typeface="JetBrains Mono" pitchFamily="49" charset="-122"/>
                <a:cs typeface="JetBrains Mono" pitchFamily="49" charset="-120"/>
              </a:rPr>
              <a:t>"F"</a:t>
            </a:r>
            <a:endParaRPr lang="en-US" sz="1500" dirty="0"/>
          </a:p>
          <a:p>
            <a:pPr algn="l" indent="0" marL="0">
              <a:lnSpc>
                <a:spcPts val="2100"/>
              </a:lnSpc>
              <a:buNone/>
            </a:pP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a:t>
            </a:r>
            <a:r>
              <a:rPr lang="en-US" sz="1500" dirty="0">
                <a:solidFill>
                  <a:srgbClr val="9FD8A8"/>
                </a:solidFill>
                <a:latin typeface="JetBrains Mono" pitchFamily="49" charset="0"/>
                <a:ea typeface="JetBrains Mono" pitchFamily="49" charset="-122"/>
                <a:cs typeface="JetBrains Mono" pitchFamily="49" charset="-120"/>
              </a:rPr>
              <a:t>"Grade:"</a:t>
            </a:r>
            <a:r>
              <a:rPr lang="en-US" sz="1500" dirty="0">
                <a:solidFill>
                  <a:srgbClr val="E8EDF3"/>
                </a:solidFill>
                <a:latin typeface="JetBrains Mono" pitchFamily="49" charset="0"/>
                <a:ea typeface="JetBrains Mono" pitchFamily="49" charset="-122"/>
                <a:cs typeface="JetBrains Mono" pitchFamily="49" charset="-120"/>
              </a:rPr>
              <a:t>, grade)</a:t>
            </a:r>
            <a:endParaRPr lang="en-US" sz="1500" dirty="0"/>
          </a:p>
        </p:txBody>
      </p:sp>
      <p:sp>
        <p:nvSpPr>
          <p:cNvPr id="7" name="Text 5"/>
          <p:cNvSpPr/>
          <p:nvPr/>
        </p:nvSpPr>
        <p:spPr>
          <a:xfrm>
            <a:off x="6492677" y="1803335"/>
            <a:ext cx="5033119"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HOW PYTHON READS IT WHEN MARKS = 82</a:t>
            </a:r>
            <a:endParaRPr lang="en-US" sz="1200" dirty="0"/>
          </a:p>
        </p:txBody>
      </p:sp>
      <p:sp>
        <p:nvSpPr>
          <p:cNvPr id="8" name="Shape 6"/>
          <p:cNvSpPr/>
          <p:nvPr/>
        </p:nvSpPr>
        <p:spPr>
          <a:xfrm>
            <a:off x="6499027" y="2150005"/>
            <a:ext cx="4873823" cy="431800"/>
          </a:xfrm>
          <a:prstGeom prst="roundRect">
            <a:avLst>
              <a:gd name="adj" fmla="val 19118"/>
            </a:avLst>
          </a:prstGeom>
          <a:solidFill>
            <a:srgbClr val="FFFDF8"/>
          </a:solidFill>
          <a:ln w="12700">
            <a:solidFill>
              <a:srgbClr val="E2DED3"/>
            </a:solidFill>
            <a:prstDash val="solid"/>
          </a:ln>
        </p:spPr>
      </p:sp>
      <p:sp>
        <p:nvSpPr>
          <p:cNvPr id="9" name="Text 7"/>
          <p:cNvSpPr/>
          <p:nvPr/>
        </p:nvSpPr>
        <p:spPr>
          <a:xfrm>
            <a:off x="6657777" y="2232555"/>
            <a:ext cx="196215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1"/>
                </a:solidFill>
                <a:latin typeface="JetBrains Mono" pitchFamily="49" charset="0"/>
                <a:ea typeface="JetBrains Mono" pitchFamily="49" charset="-122"/>
                <a:cs typeface="JetBrains Mono" pitchFamily="49" charset="-120"/>
              </a:rPr>
              <a:t>82 &gt;= 90 ?</a:t>
            </a:r>
            <a:endParaRPr lang="en-US" sz="1500" dirty="0"/>
          </a:p>
        </p:txBody>
      </p:sp>
      <p:sp>
        <p:nvSpPr>
          <p:cNvPr id="10" name="Text 8"/>
          <p:cNvSpPr/>
          <p:nvPr/>
        </p:nvSpPr>
        <p:spPr>
          <a:xfrm>
            <a:off x="8689777" y="2232555"/>
            <a:ext cx="1623219"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No, move down</a:t>
            </a:r>
            <a:endParaRPr lang="en-US" sz="1500" dirty="0"/>
          </a:p>
        </p:txBody>
      </p:sp>
      <p:sp>
        <p:nvSpPr>
          <p:cNvPr id="11" name="Shape 9"/>
          <p:cNvSpPr/>
          <p:nvPr/>
        </p:nvSpPr>
        <p:spPr>
          <a:xfrm>
            <a:off x="6492677" y="2664355"/>
            <a:ext cx="4886523" cy="419100"/>
          </a:xfrm>
          <a:prstGeom prst="roundRect">
            <a:avLst>
              <a:gd name="adj" fmla="val 21212"/>
            </a:avLst>
          </a:prstGeom>
          <a:solidFill>
            <a:srgbClr val="F2B33D"/>
          </a:solidFill>
          <a:ln/>
        </p:spPr>
      </p:sp>
      <p:sp>
        <p:nvSpPr>
          <p:cNvPr id="12" name="Text 10"/>
          <p:cNvSpPr/>
          <p:nvPr/>
        </p:nvSpPr>
        <p:spPr>
          <a:xfrm>
            <a:off x="6645077" y="2740555"/>
            <a:ext cx="196215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B2A41"/>
                </a:solidFill>
                <a:latin typeface="JetBrains Mono" pitchFamily="49" charset="0"/>
                <a:ea typeface="JetBrains Mono" pitchFamily="49" charset="-122"/>
                <a:cs typeface="JetBrains Mono" pitchFamily="49" charset="-120"/>
              </a:rPr>
              <a:t>82 &gt;= 75 ?</a:t>
            </a:r>
            <a:endParaRPr lang="en-US" sz="1500" dirty="0"/>
          </a:p>
        </p:txBody>
      </p:sp>
      <p:sp>
        <p:nvSpPr>
          <p:cNvPr id="13" name="Text 11"/>
          <p:cNvSpPr/>
          <p:nvPr/>
        </p:nvSpPr>
        <p:spPr>
          <a:xfrm>
            <a:off x="8677077" y="2740555"/>
            <a:ext cx="1743154"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B2A41"/>
                </a:solidFill>
                <a:latin typeface="Rubik" pitchFamily="34" charset="0"/>
                <a:ea typeface="Rubik" pitchFamily="34" charset="-122"/>
                <a:cs typeface="Rubik" pitchFamily="34" charset="-120"/>
              </a:rPr>
              <a:t>Yes: grade = "A"</a:t>
            </a:r>
            <a:endParaRPr lang="en-US" sz="1500" dirty="0"/>
          </a:p>
        </p:txBody>
      </p:sp>
      <p:sp>
        <p:nvSpPr>
          <p:cNvPr id="14" name="Shape 12"/>
          <p:cNvSpPr/>
          <p:nvPr/>
        </p:nvSpPr>
        <p:spPr>
          <a:xfrm>
            <a:off x="6499027" y="3166005"/>
            <a:ext cx="4873823" cy="431800"/>
          </a:xfrm>
          <a:prstGeom prst="roundRect">
            <a:avLst>
              <a:gd name="adj" fmla="val 19118"/>
            </a:avLst>
          </a:prstGeom>
          <a:solidFill>
            <a:srgbClr val="FFFDF8"/>
          </a:solidFill>
          <a:ln w="12700">
            <a:solidFill>
              <a:srgbClr val="E2DED3"/>
            </a:solidFill>
            <a:prstDash val="solid"/>
          </a:ln>
        </p:spPr>
      </p:sp>
      <p:sp>
        <p:nvSpPr>
          <p:cNvPr id="15" name="Text 13"/>
          <p:cNvSpPr/>
          <p:nvPr/>
        </p:nvSpPr>
        <p:spPr>
          <a:xfrm>
            <a:off x="6657777" y="3248555"/>
            <a:ext cx="196215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F6B7A"/>
                </a:solidFill>
                <a:latin typeface="JetBrains Mono" pitchFamily="49" charset="0"/>
                <a:ea typeface="JetBrains Mono" pitchFamily="49" charset="-122"/>
                <a:cs typeface="JetBrains Mono" pitchFamily="49" charset="-120"/>
              </a:rPr>
              <a:t>the rest</a:t>
            </a:r>
            <a:endParaRPr lang="en-US" sz="1500" dirty="0"/>
          </a:p>
        </p:txBody>
      </p:sp>
      <p:sp>
        <p:nvSpPr>
          <p:cNvPr id="16" name="Text 14"/>
          <p:cNvSpPr/>
          <p:nvPr/>
        </p:nvSpPr>
        <p:spPr>
          <a:xfrm>
            <a:off x="8689777" y="3248555"/>
            <a:ext cx="1711801"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F6B7A"/>
                </a:solidFill>
                <a:latin typeface="Rubik" pitchFamily="34" charset="0"/>
                <a:ea typeface="Rubik" pitchFamily="34" charset="-122"/>
                <a:cs typeface="Rubik" pitchFamily="34" charset="-120"/>
              </a:rPr>
              <a:t>Skipped entirely</a:t>
            </a:r>
            <a:endParaRPr lang="en-US" sz="1500" dirty="0"/>
          </a:p>
        </p:txBody>
      </p:sp>
      <p:sp>
        <p:nvSpPr>
          <p:cNvPr id="17" name="Shape 15"/>
          <p:cNvSpPr/>
          <p:nvPr/>
        </p:nvSpPr>
        <p:spPr>
          <a:xfrm>
            <a:off x="6499027" y="3737505"/>
            <a:ext cx="4873823" cy="1178520"/>
          </a:xfrm>
          <a:prstGeom prst="roundRect">
            <a:avLst>
              <a:gd name="adj" fmla="val 10237"/>
            </a:avLst>
          </a:prstGeom>
          <a:solidFill>
            <a:srgbClr val="FFFDF8"/>
          </a:solidFill>
          <a:ln w="12700">
            <a:solidFill>
              <a:srgbClr val="D9DEE5"/>
            </a:solidFill>
            <a:prstDash val="solid"/>
          </a:ln>
        </p:spPr>
      </p:sp>
      <p:sp>
        <p:nvSpPr>
          <p:cNvPr id="18" name="Text 16"/>
          <p:cNvSpPr/>
          <p:nvPr/>
        </p:nvSpPr>
        <p:spPr>
          <a:xfrm>
            <a:off x="6708577" y="3896255"/>
            <a:ext cx="4588365"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OUTPUT</a:t>
            </a:r>
            <a:endParaRPr lang="en-US" sz="1200" dirty="0"/>
          </a:p>
        </p:txBody>
      </p:sp>
      <p:sp>
        <p:nvSpPr>
          <p:cNvPr id="19" name="Text 17"/>
          <p:cNvSpPr/>
          <p:nvPr/>
        </p:nvSpPr>
        <p:spPr>
          <a:xfrm>
            <a:off x="6708577" y="4185776"/>
            <a:ext cx="4588365" cy="5969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Marks: </a:t>
            </a:r>
            <a:r>
              <a:rPr lang="en-US" sz="1500" dirty="0">
                <a:solidFill>
                  <a:srgbClr val="B54708"/>
                </a:solidFill>
                <a:latin typeface="JetBrains Mono" pitchFamily="49" charset="0"/>
                <a:ea typeface="JetBrains Mono" pitchFamily="49" charset="-122"/>
                <a:cs typeface="JetBrains Mono" pitchFamily="49" charset="-120"/>
              </a:rPr>
              <a:t>82</a:t>
            </a:r>
            <a:endParaRPr lang="en-US" sz="1500" dirty="0"/>
          </a:p>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Grade: A</a:t>
            </a:r>
            <a:endParaRPr lang="en-US" sz="1500" dirty="0"/>
          </a:p>
        </p:txBody>
      </p:sp>
      <p:sp>
        <p:nvSpPr>
          <p:cNvPr id="20" name="Text 18"/>
          <p:cNvSpPr/>
          <p:nvPr/>
        </p:nvSpPr>
        <p:spPr>
          <a:xfrm>
            <a:off x="6492677" y="5049376"/>
            <a:ext cx="5033119"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4A5568"/>
                </a:solidFill>
                <a:latin typeface="Rubik" pitchFamily="34" charset="0"/>
                <a:ea typeface="Rubik" pitchFamily="34" charset="-122"/>
                <a:cs typeface="Rubik" pitchFamily="34" charset="-120"/>
              </a:rPr>
              <a:t>Rule:</a:t>
            </a:r>
            <a:r>
              <a:rPr lang="en-US" sz="1500" dirty="0">
                <a:solidFill>
                  <a:srgbClr val="4A5568"/>
                </a:solidFill>
                <a:latin typeface="Rubik" pitchFamily="34" charset="0"/>
                <a:ea typeface="Rubik" pitchFamily="34" charset="-122"/>
                <a:cs typeface="Rubik" pitchFamily="34" charset="-120"/>
              </a:rPr>
              <a:t> checks top to bottom and stops at the first True. else catches whatever is left.</a:t>
            </a:r>
            <a:endParaRPr lang="en-US" sz="1500" dirty="0"/>
          </a:p>
        </p:txBody>
      </p:sp>
      <p:sp>
        <p:nvSpPr>
          <p:cNvPr id="21" name="Text 1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Rubik" pitchFamily="34" charset="0"/>
                <a:ea typeface="Rubik" pitchFamily="34" charset="-122"/>
                <a:cs typeface="Rubik" pitchFamily="34" charset="-120"/>
              </a:rPr>
              <a:t>Python Programming · Week 2 · Class 4</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CLASS 4 · LAB CLASSIC</a:t>
            </a:r>
            <a:endParaRPr lang="en-US" sz="1200" dirty="0"/>
          </a:p>
        </p:txBody>
      </p:sp>
      <p:sp>
        <p:nvSpPr>
          <p:cNvPr id="3" name="Text 1"/>
          <p:cNvSpPr/>
          <p:nvPr>
            <p:ph type="title"/>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41"/>
                </a:solidFill>
                <a:latin typeface="Rubik" pitchFamily="34" charset="0"/>
                <a:ea typeface="Rubik" pitchFamily="34" charset="-122"/>
                <a:cs typeface="Rubik" pitchFamily="34" charset="-120"/>
              </a:rPr>
              <a:t>Largest of three numbers</a:t>
            </a:r>
            <a:endParaRPr lang="en-US" sz="3200" dirty="0"/>
          </a:p>
        </p:txBody>
      </p:sp>
      <p:sp>
        <p:nvSpPr>
          <p:cNvPr id="4" name="Shape 2"/>
          <p:cNvSpPr/>
          <p:nvPr/>
        </p:nvSpPr>
        <p:spPr>
          <a:xfrm>
            <a:off x="812800" y="1854135"/>
            <a:ext cx="5375077" cy="3216870"/>
          </a:xfrm>
          <a:prstGeom prst="roundRect">
            <a:avLst>
              <a:gd name="adj" fmla="val 3948"/>
            </a:avLst>
          </a:prstGeom>
          <a:solidFill>
            <a:srgbClr val="1B2A41"/>
          </a:solidFill>
          <a:ln/>
        </p:spPr>
      </p:sp>
      <p:sp>
        <p:nvSpPr>
          <p:cNvPr id="5" name="Text 3"/>
          <p:cNvSpPr/>
          <p:nvPr/>
        </p:nvSpPr>
        <p:spPr>
          <a:xfrm>
            <a:off x="1092200" y="2031935"/>
            <a:ext cx="496076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3B8"/>
                </a:solidFill>
                <a:latin typeface="JetBrains Mono" pitchFamily="49" charset="0"/>
                <a:ea typeface="JetBrains Mono" pitchFamily="49" charset="-122"/>
                <a:cs typeface="JetBrains Mono" pitchFamily="49" charset="-120"/>
              </a:rPr>
              <a:t>largest.py</a:t>
            </a:r>
            <a:endParaRPr lang="en-US" sz="1200" dirty="0"/>
          </a:p>
        </p:txBody>
      </p:sp>
      <p:sp>
        <p:nvSpPr>
          <p:cNvPr id="6" name="Text 4"/>
          <p:cNvSpPr/>
          <p:nvPr/>
        </p:nvSpPr>
        <p:spPr>
          <a:xfrm>
            <a:off x="1092200" y="2321455"/>
            <a:ext cx="4960765" cy="25971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a = </a:t>
            </a:r>
            <a:r>
              <a:rPr lang="en-US" sz="1500" dirty="0">
                <a:solidFill>
                  <a:srgbClr val="F2B33D"/>
                </a:solidFill>
                <a:latin typeface="JetBrains Mono" pitchFamily="49" charset="0"/>
                <a:ea typeface="JetBrains Mono" pitchFamily="49" charset="-122"/>
                <a:cs typeface="JetBrains Mono" pitchFamily="49" charset="-120"/>
              </a:rPr>
              <a:t>int</a:t>
            </a:r>
            <a:r>
              <a:rPr lang="en-US" sz="1500" dirty="0">
                <a:solidFill>
                  <a:srgbClr val="E8EDF3"/>
                </a:solidFill>
                <a:latin typeface="JetBrains Mono" pitchFamily="49" charset="0"/>
                <a:ea typeface="JetBrains Mono" pitchFamily="49" charset="-122"/>
                <a:cs typeface="JetBrains Mono" pitchFamily="49" charset="-120"/>
              </a:rPr>
              <a:t>(</a:t>
            </a:r>
            <a:r>
              <a:rPr lang="en-US" sz="1500" dirty="0">
                <a:solidFill>
                  <a:srgbClr val="F2B33D"/>
                </a:solidFill>
                <a:latin typeface="JetBrains Mono" pitchFamily="49" charset="0"/>
                <a:ea typeface="JetBrains Mono" pitchFamily="49" charset="-122"/>
                <a:cs typeface="JetBrains Mono" pitchFamily="49" charset="-120"/>
              </a:rPr>
              <a:t>input</a:t>
            </a:r>
            <a:r>
              <a:rPr lang="en-US" sz="1500" dirty="0">
                <a:solidFill>
                  <a:srgbClr val="E8EDF3"/>
                </a:solidFill>
                <a:latin typeface="JetBrains Mono" pitchFamily="49" charset="0"/>
                <a:ea typeface="JetBrains Mono" pitchFamily="49" charset="-122"/>
                <a:cs typeface="JetBrains Mono" pitchFamily="49" charset="-120"/>
              </a:rPr>
              <a:t>(</a:t>
            </a:r>
            <a:r>
              <a:rPr lang="en-US" sz="1500" dirty="0">
                <a:solidFill>
                  <a:srgbClr val="9FD8A8"/>
                </a:solidFill>
                <a:latin typeface="JetBrains Mono" pitchFamily="49" charset="0"/>
                <a:ea typeface="JetBrains Mono" pitchFamily="49" charset="-122"/>
                <a:cs typeface="JetBrains Mono" pitchFamily="49" charset="-120"/>
              </a:rPr>
              <a:t>"a: "</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b = </a:t>
            </a:r>
            <a:r>
              <a:rPr lang="en-US" sz="1500" dirty="0">
                <a:solidFill>
                  <a:srgbClr val="F2B33D"/>
                </a:solidFill>
                <a:latin typeface="JetBrains Mono" pitchFamily="49" charset="0"/>
                <a:ea typeface="JetBrains Mono" pitchFamily="49" charset="-122"/>
                <a:cs typeface="JetBrains Mono" pitchFamily="49" charset="-120"/>
              </a:rPr>
              <a:t>int</a:t>
            </a:r>
            <a:r>
              <a:rPr lang="en-US" sz="1500" dirty="0">
                <a:solidFill>
                  <a:srgbClr val="E8EDF3"/>
                </a:solidFill>
                <a:latin typeface="JetBrains Mono" pitchFamily="49" charset="0"/>
                <a:ea typeface="JetBrains Mono" pitchFamily="49" charset="-122"/>
                <a:cs typeface="JetBrains Mono" pitchFamily="49" charset="-120"/>
              </a:rPr>
              <a:t>(</a:t>
            </a:r>
            <a:r>
              <a:rPr lang="en-US" sz="1500" dirty="0">
                <a:solidFill>
                  <a:srgbClr val="F2B33D"/>
                </a:solidFill>
                <a:latin typeface="JetBrains Mono" pitchFamily="49" charset="0"/>
                <a:ea typeface="JetBrains Mono" pitchFamily="49" charset="-122"/>
                <a:cs typeface="JetBrains Mono" pitchFamily="49" charset="-120"/>
              </a:rPr>
              <a:t>input</a:t>
            </a:r>
            <a:r>
              <a:rPr lang="en-US" sz="1500" dirty="0">
                <a:solidFill>
                  <a:srgbClr val="E8EDF3"/>
                </a:solidFill>
                <a:latin typeface="JetBrains Mono" pitchFamily="49" charset="0"/>
                <a:ea typeface="JetBrains Mono" pitchFamily="49" charset="-122"/>
                <a:cs typeface="JetBrains Mono" pitchFamily="49" charset="-120"/>
              </a:rPr>
              <a:t>(</a:t>
            </a:r>
            <a:r>
              <a:rPr lang="en-US" sz="1500" dirty="0">
                <a:solidFill>
                  <a:srgbClr val="9FD8A8"/>
                </a:solidFill>
                <a:latin typeface="JetBrains Mono" pitchFamily="49" charset="0"/>
                <a:ea typeface="JetBrains Mono" pitchFamily="49" charset="-122"/>
                <a:cs typeface="JetBrains Mono" pitchFamily="49" charset="-120"/>
              </a:rPr>
              <a:t>"b: "</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c = </a:t>
            </a:r>
            <a:r>
              <a:rPr lang="en-US" sz="1500" dirty="0">
                <a:solidFill>
                  <a:srgbClr val="F2B33D"/>
                </a:solidFill>
                <a:latin typeface="JetBrains Mono" pitchFamily="49" charset="0"/>
                <a:ea typeface="JetBrains Mono" pitchFamily="49" charset="-122"/>
                <a:cs typeface="JetBrains Mono" pitchFamily="49" charset="-120"/>
              </a:rPr>
              <a:t>int</a:t>
            </a:r>
            <a:r>
              <a:rPr lang="en-US" sz="1500" dirty="0">
                <a:solidFill>
                  <a:srgbClr val="E8EDF3"/>
                </a:solidFill>
                <a:latin typeface="JetBrains Mono" pitchFamily="49" charset="0"/>
                <a:ea typeface="JetBrains Mono" pitchFamily="49" charset="-122"/>
                <a:cs typeface="JetBrains Mono" pitchFamily="49" charset="-120"/>
              </a:rPr>
              <a:t>(</a:t>
            </a:r>
            <a:r>
              <a:rPr lang="en-US" sz="1500" dirty="0">
                <a:solidFill>
                  <a:srgbClr val="F2B33D"/>
                </a:solidFill>
                <a:latin typeface="JetBrains Mono" pitchFamily="49" charset="0"/>
                <a:ea typeface="JetBrains Mono" pitchFamily="49" charset="-122"/>
                <a:cs typeface="JetBrains Mono" pitchFamily="49" charset="-120"/>
              </a:rPr>
              <a:t>input</a:t>
            </a:r>
            <a:r>
              <a:rPr lang="en-US" sz="1500" dirty="0">
                <a:solidFill>
                  <a:srgbClr val="E8EDF3"/>
                </a:solidFill>
                <a:latin typeface="JetBrains Mono" pitchFamily="49" charset="0"/>
                <a:ea typeface="JetBrains Mono" pitchFamily="49" charset="-122"/>
                <a:cs typeface="JetBrains Mono" pitchFamily="49" charset="-120"/>
              </a:rPr>
              <a:t>(</a:t>
            </a:r>
            <a:r>
              <a:rPr lang="en-US" sz="1500" dirty="0">
                <a:solidFill>
                  <a:srgbClr val="9FD8A8"/>
                </a:solidFill>
                <a:latin typeface="JetBrains Mono" pitchFamily="49" charset="0"/>
                <a:ea typeface="JetBrains Mono" pitchFamily="49" charset="-122"/>
                <a:cs typeface="JetBrains Mono" pitchFamily="49" charset="-120"/>
              </a:rPr>
              <a:t>"c: "</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if</a:t>
            </a:r>
            <a:r>
              <a:rPr lang="en-US" sz="1500" dirty="0">
                <a:solidFill>
                  <a:srgbClr val="E8EDF3"/>
                </a:solidFill>
                <a:latin typeface="JetBrains Mono" pitchFamily="49" charset="0"/>
                <a:ea typeface="JetBrains Mono" pitchFamily="49" charset="-122"/>
                <a:cs typeface="JetBrains Mono" pitchFamily="49" charset="-120"/>
              </a:rPr>
              <a:t> a &gt;= b </a:t>
            </a:r>
            <a:r>
              <a:rPr lang="en-US" sz="1500" dirty="0">
                <a:solidFill>
                  <a:srgbClr val="F2B33D"/>
                </a:solidFill>
                <a:latin typeface="JetBrains Mono" pitchFamily="49" charset="0"/>
                <a:ea typeface="JetBrains Mono" pitchFamily="49" charset="-122"/>
                <a:cs typeface="JetBrains Mono" pitchFamily="49" charset="-120"/>
              </a:rPr>
              <a:t>and</a:t>
            </a:r>
            <a:r>
              <a:rPr lang="en-US" sz="1500" dirty="0">
                <a:solidFill>
                  <a:srgbClr val="E8EDF3"/>
                </a:solidFill>
                <a:latin typeface="JetBrains Mono" pitchFamily="49" charset="0"/>
                <a:ea typeface="JetBrains Mono" pitchFamily="49" charset="-122"/>
                <a:cs typeface="JetBrains Mono" pitchFamily="49" charset="-120"/>
              </a:rPr>
              <a:t> a &gt;= c:</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a:t>
            </a:r>
            <a:r>
              <a:rPr lang="en-US" sz="1500" dirty="0">
                <a:solidFill>
                  <a:srgbClr val="9FD8A8"/>
                </a:solidFill>
                <a:latin typeface="JetBrains Mono" pitchFamily="49" charset="0"/>
                <a:ea typeface="JetBrains Mono" pitchFamily="49" charset="-122"/>
                <a:cs typeface="JetBrains Mono" pitchFamily="49" charset="-120"/>
              </a:rPr>
              <a:t>"Largest:"</a:t>
            </a:r>
            <a:r>
              <a:rPr lang="en-US" sz="1500" dirty="0">
                <a:solidFill>
                  <a:srgbClr val="E8EDF3"/>
                </a:solidFill>
                <a:latin typeface="JetBrains Mono" pitchFamily="49" charset="0"/>
                <a:ea typeface="JetBrains Mono" pitchFamily="49" charset="-122"/>
                <a:cs typeface="JetBrains Mono" pitchFamily="49" charset="-120"/>
              </a:rPr>
              <a:t>, a)</a:t>
            </a: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elif</a:t>
            </a:r>
            <a:r>
              <a:rPr lang="en-US" sz="1500" dirty="0">
                <a:solidFill>
                  <a:srgbClr val="E8EDF3"/>
                </a:solidFill>
                <a:latin typeface="JetBrains Mono" pitchFamily="49" charset="0"/>
                <a:ea typeface="JetBrains Mono" pitchFamily="49" charset="-122"/>
                <a:cs typeface="JetBrains Mono" pitchFamily="49" charset="-120"/>
              </a:rPr>
              <a:t> b &gt;= c:</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a:t>
            </a:r>
            <a:r>
              <a:rPr lang="en-US" sz="1500" dirty="0">
                <a:solidFill>
                  <a:srgbClr val="9FD8A8"/>
                </a:solidFill>
                <a:latin typeface="JetBrains Mono" pitchFamily="49" charset="0"/>
                <a:ea typeface="JetBrains Mono" pitchFamily="49" charset="-122"/>
                <a:cs typeface="JetBrains Mono" pitchFamily="49" charset="-120"/>
              </a:rPr>
              <a:t>"Largest:"</a:t>
            </a:r>
            <a:r>
              <a:rPr lang="en-US" sz="1500" dirty="0">
                <a:solidFill>
                  <a:srgbClr val="E8EDF3"/>
                </a:solidFill>
                <a:latin typeface="JetBrains Mono" pitchFamily="49" charset="0"/>
                <a:ea typeface="JetBrains Mono" pitchFamily="49" charset="-122"/>
                <a:cs typeface="JetBrains Mono" pitchFamily="49" charset="-120"/>
              </a:rPr>
              <a:t>, b)</a:t>
            </a: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else</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a:t>
            </a:r>
            <a:r>
              <a:rPr lang="en-US" sz="1500" dirty="0">
                <a:solidFill>
                  <a:srgbClr val="9FD8A8"/>
                </a:solidFill>
                <a:latin typeface="JetBrains Mono" pitchFamily="49" charset="0"/>
                <a:ea typeface="JetBrains Mono" pitchFamily="49" charset="-122"/>
                <a:cs typeface="JetBrains Mono" pitchFamily="49" charset="-120"/>
              </a:rPr>
              <a:t>"Largest:"</a:t>
            </a:r>
            <a:r>
              <a:rPr lang="en-US" sz="1500" dirty="0">
                <a:solidFill>
                  <a:srgbClr val="E8EDF3"/>
                </a:solidFill>
                <a:latin typeface="JetBrains Mono" pitchFamily="49" charset="0"/>
                <a:ea typeface="JetBrains Mono" pitchFamily="49" charset="-122"/>
                <a:cs typeface="JetBrains Mono" pitchFamily="49" charset="-120"/>
              </a:rPr>
              <a:t>, c)</a:t>
            </a:r>
            <a:endParaRPr lang="en-US" sz="1500" dirty="0"/>
          </a:p>
        </p:txBody>
      </p:sp>
      <p:sp>
        <p:nvSpPr>
          <p:cNvPr id="7" name="Shape 5"/>
          <p:cNvSpPr/>
          <p:nvPr/>
        </p:nvSpPr>
        <p:spPr>
          <a:xfrm>
            <a:off x="6499027" y="1860485"/>
            <a:ext cx="4873823" cy="1800820"/>
          </a:xfrm>
          <a:prstGeom prst="roundRect">
            <a:avLst>
              <a:gd name="adj" fmla="val 6700"/>
            </a:avLst>
          </a:prstGeom>
          <a:solidFill>
            <a:srgbClr val="FFFDF8"/>
          </a:solidFill>
          <a:ln w="12700">
            <a:solidFill>
              <a:srgbClr val="D9DEE5"/>
            </a:solidFill>
            <a:prstDash val="solid"/>
          </a:ln>
        </p:spPr>
      </p:sp>
      <p:sp>
        <p:nvSpPr>
          <p:cNvPr id="8" name="Text 6"/>
          <p:cNvSpPr/>
          <p:nvPr/>
        </p:nvSpPr>
        <p:spPr>
          <a:xfrm>
            <a:off x="6759377" y="2044635"/>
            <a:ext cx="4483717"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OUTPUT</a:t>
            </a:r>
            <a:endParaRPr lang="en-US" sz="1200" dirty="0"/>
          </a:p>
        </p:txBody>
      </p:sp>
      <p:sp>
        <p:nvSpPr>
          <p:cNvPr id="9" name="Text 7"/>
          <p:cNvSpPr/>
          <p:nvPr/>
        </p:nvSpPr>
        <p:spPr>
          <a:xfrm>
            <a:off x="6759377" y="2334155"/>
            <a:ext cx="4483717" cy="11684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a: </a:t>
            </a:r>
            <a:r>
              <a:rPr lang="en-US" sz="1500" dirty="0">
                <a:solidFill>
                  <a:srgbClr val="B54708"/>
                </a:solidFill>
                <a:latin typeface="JetBrains Mono" pitchFamily="49" charset="0"/>
                <a:ea typeface="JetBrains Mono" pitchFamily="49" charset="-122"/>
                <a:cs typeface="JetBrains Mono" pitchFamily="49" charset="-120"/>
              </a:rPr>
              <a:t>12</a:t>
            </a:r>
            <a:endParaRPr lang="en-US" sz="1500" dirty="0"/>
          </a:p>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b: </a:t>
            </a:r>
            <a:r>
              <a:rPr lang="en-US" sz="1500" dirty="0">
                <a:solidFill>
                  <a:srgbClr val="B54708"/>
                </a:solidFill>
                <a:latin typeface="JetBrains Mono" pitchFamily="49" charset="0"/>
                <a:ea typeface="JetBrains Mono" pitchFamily="49" charset="-122"/>
                <a:cs typeface="JetBrains Mono" pitchFamily="49" charset="-120"/>
              </a:rPr>
              <a:t>45</a:t>
            </a:r>
            <a:endParaRPr lang="en-US" sz="1500" dirty="0"/>
          </a:p>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c: </a:t>
            </a:r>
            <a:r>
              <a:rPr lang="en-US" sz="1500" dirty="0">
                <a:solidFill>
                  <a:srgbClr val="B54708"/>
                </a:solidFill>
                <a:latin typeface="JetBrains Mono" pitchFamily="49" charset="0"/>
                <a:ea typeface="JetBrains Mono" pitchFamily="49" charset="-122"/>
                <a:cs typeface="JetBrains Mono" pitchFamily="49" charset="-120"/>
              </a:rPr>
              <a:t>27</a:t>
            </a:r>
            <a:endParaRPr lang="en-US" sz="1500" dirty="0"/>
          </a:p>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Largest: 45</a:t>
            </a:r>
            <a:endParaRPr lang="en-US" sz="1500" dirty="0"/>
          </a:p>
        </p:txBody>
      </p:sp>
      <p:sp>
        <p:nvSpPr>
          <p:cNvPr id="10" name="Shape 8"/>
          <p:cNvSpPr/>
          <p:nvPr/>
        </p:nvSpPr>
        <p:spPr>
          <a:xfrm>
            <a:off x="6492677" y="3794655"/>
            <a:ext cx="4886523" cy="1785607"/>
          </a:xfrm>
          <a:prstGeom prst="roundRect">
            <a:avLst>
              <a:gd name="adj" fmla="val 7112"/>
            </a:avLst>
          </a:prstGeom>
          <a:solidFill>
            <a:srgbClr val="FBEFD5"/>
          </a:solidFill>
          <a:ln/>
        </p:spPr>
      </p:sp>
      <p:sp>
        <p:nvSpPr>
          <p:cNvPr id="11" name="Text 9"/>
          <p:cNvSpPr/>
          <p:nvPr/>
        </p:nvSpPr>
        <p:spPr>
          <a:xfrm>
            <a:off x="6695877" y="3997855"/>
            <a:ext cx="4614527"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Why is elif b &gt;= c enough?</a:t>
            </a:r>
            <a:endParaRPr lang="en-US" sz="1800" dirty="0"/>
          </a:p>
        </p:txBody>
      </p:sp>
      <p:sp>
        <p:nvSpPr>
          <p:cNvPr id="12" name="Text 10"/>
          <p:cNvSpPr/>
          <p:nvPr/>
        </p:nvSpPr>
        <p:spPr>
          <a:xfrm>
            <a:off x="6695877" y="4348361"/>
            <a:ext cx="4614527"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1"/>
                </a:solidFill>
                <a:latin typeface="Rubik" pitchFamily="34" charset="0"/>
                <a:ea typeface="Rubik" pitchFamily="34" charset="-122"/>
                <a:cs typeface="Rubik" pitchFamily="34" charset="-120"/>
              </a:rPr>
              <a:t>If we reach it, a is not the largest, so only b and c are left.</a:t>
            </a:r>
            <a:endParaRPr lang="en-US" sz="1500" dirty="0"/>
          </a:p>
        </p:txBody>
      </p:sp>
      <p:sp>
        <p:nvSpPr>
          <p:cNvPr id="13" name="Text 11"/>
          <p:cNvSpPr/>
          <p:nvPr/>
        </p:nvSpPr>
        <p:spPr>
          <a:xfrm>
            <a:off x="6695877" y="4957961"/>
            <a:ext cx="4480123" cy="419100"/>
          </a:xfrm>
          <a:prstGeom prst="roundRect">
            <a:avLst>
              <a:gd name="adj" fmla="val 18182"/>
            </a:avLst>
          </a:prstGeom>
          <a:solidFill>
            <a:srgbClr val="1B2A41"/>
          </a:solidFill>
          <a:ln/>
        </p:spPr>
        <p:txBody>
          <a:bodyPr wrap="square" lIns="104682" tIns="53882" rIns="0" bIns="28482" rtlCol="0" anchor="t">
            <a:normAutofit/>
          </a:bodyPr>
          <a:lstStyle/>
          <a:p>
            <a:pPr algn="l" indent="0" marL="0">
              <a:lnSpc>
                <a:spcPts val="2100"/>
              </a:lnSpc>
              <a:buNone/>
            </a:pPr>
            <a:r>
              <a:rPr lang="en-US" sz="1500" dirty="0">
                <a:solidFill>
                  <a:srgbClr val="E8EDF3"/>
                </a:solidFill>
                <a:latin typeface="JetBrains Mono" pitchFamily="49" charset="0"/>
                <a:ea typeface="JetBrains Mono" pitchFamily="49" charset="-122"/>
                <a:cs typeface="JetBrains Mono" pitchFamily="49" charset="-120"/>
              </a:rPr>
              <a:t>Shortcut: max(a, b, c)</a:t>
            </a:r>
            <a:endParaRPr lang="en-US" sz="1500" dirty="0"/>
          </a:p>
        </p:txBody>
      </p:sp>
      <p:sp>
        <p:nvSpPr>
          <p:cNvPr id="14" name="Text 1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Rubik" pitchFamily="34" charset="0"/>
                <a:ea typeface="Rubik" pitchFamily="34" charset="-122"/>
                <a:cs typeface="Rubik" pitchFamily="34" charset="-120"/>
              </a:rPr>
              <a:t>Python Programming · Week 2 · Class 4</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CLASS 4 · LAB CLASSIC</a:t>
            </a:r>
            <a:endParaRPr lang="en-US" sz="1200" dirty="0"/>
          </a:p>
        </p:txBody>
      </p:sp>
      <p:sp>
        <p:nvSpPr>
          <p:cNvPr id="3" name="Text 1"/>
          <p:cNvSpPr/>
          <p:nvPr>
            <p:ph type="title"/>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41"/>
                </a:solidFill>
                <a:latin typeface="Rubik" pitchFamily="34" charset="0"/>
                <a:ea typeface="Rubik" pitchFamily="34" charset="-122"/>
                <a:cs typeface="Rubik" pitchFamily="34" charset="-120"/>
              </a:rPr>
              <a:t>Is it a leap year?</a:t>
            </a:r>
            <a:endParaRPr lang="en-US" sz="3200" dirty="0"/>
          </a:p>
        </p:txBody>
      </p:sp>
      <p:sp>
        <p:nvSpPr>
          <p:cNvPr id="4" name="Shape 2"/>
          <p:cNvSpPr/>
          <p:nvPr/>
        </p:nvSpPr>
        <p:spPr>
          <a:xfrm>
            <a:off x="819150" y="1860485"/>
            <a:ext cx="5092700" cy="482600"/>
          </a:xfrm>
          <a:prstGeom prst="roundRect">
            <a:avLst>
              <a:gd name="adj" fmla="val 17105"/>
            </a:avLst>
          </a:prstGeom>
          <a:solidFill>
            <a:srgbClr val="FFFDF8"/>
          </a:solidFill>
          <a:ln w="12700">
            <a:solidFill>
              <a:srgbClr val="E2DED3"/>
            </a:solidFill>
            <a:prstDash val="solid"/>
          </a:ln>
        </p:spPr>
      </p:sp>
      <p:sp>
        <p:nvSpPr>
          <p:cNvPr id="5" name="Text 3"/>
          <p:cNvSpPr/>
          <p:nvPr/>
        </p:nvSpPr>
        <p:spPr>
          <a:xfrm>
            <a:off x="977900" y="1968435"/>
            <a:ext cx="330200" cy="266700"/>
          </a:xfrm>
          <a:custGeom>
            <a:avLst/>
            <a:gdLst/>
            <a:ahLst/>
            <a:cxnLst/>
            <a:rect l="l" t="t" r="r" b="b"/>
            <a:pathLst>
              <a:path w="330200" h="266700">
                <a:moveTo>
                  <a:pt x="133350" y="0"/>
                </a:moveTo>
                <a:lnTo>
                  <a:pt x="196850" y="0"/>
                </a:lnTo>
                <a:arcTo hR="133350" wR="133350" stAng="16200000" swAng="5400000"/>
                <a:lnTo>
                  <a:pt x="330200" y="133350"/>
                </a:lnTo>
                <a:arcTo hR="133350" wR="133350" stAng="0" swAng="5400000"/>
                <a:lnTo>
                  <a:pt x="133350" y="266700"/>
                </a:lnTo>
                <a:arcTo hR="133350" wR="133350" stAng="5400000" swAng="5400000"/>
                <a:lnTo>
                  <a:pt x="0" y="133350"/>
                </a:lnTo>
                <a:arcTo hR="133350" wR="133350" stAng="10800000" swAng="5400000"/>
                <a:close/>
              </a:path>
            </a:pathLst>
          </a:custGeom>
          <a:solidFill>
            <a:srgbClr val="F2B33D"/>
          </a:solidFill>
          <a:ln/>
        </p:spPr>
        <p:txBody>
          <a:bodyPr wrap="square" lIns="0" tIns="0" rIns="0" bIns="0" rtlCol="0" anchor="t">
            <a:normAutofit/>
          </a:bodyPr>
          <a:lstStyle/>
          <a:p>
            <a:pPr algn="ctr" indent="0" marL="0">
              <a:lnSpc>
                <a:spcPts val="2100"/>
              </a:lnSpc>
              <a:buNone/>
            </a:pPr>
            <a:r>
              <a:rPr lang="en-US" sz="1500" b="1" dirty="0">
                <a:solidFill>
                  <a:srgbClr val="1B2A41"/>
                </a:solidFill>
                <a:latin typeface="Rubik" pitchFamily="34" charset="0"/>
                <a:ea typeface="Rubik" pitchFamily="34" charset="-122"/>
                <a:cs typeface="Rubik" pitchFamily="34" charset="-120"/>
              </a:rPr>
              <a:t>1</a:t>
            </a:r>
            <a:endParaRPr lang="en-US" sz="1500" dirty="0"/>
          </a:p>
        </p:txBody>
      </p:sp>
      <p:sp>
        <p:nvSpPr>
          <p:cNvPr id="6" name="Text 4"/>
          <p:cNvSpPr/>
          <p:nvPr/>
        </p:nvSpPr>
        <p:spPr>
          <a:xfrm>
            <a:off x="1435100" y="1968435"/>
            <a:ext cx="2535635"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1"/>
                </a:solidFill>
                <a:latin typeface="Rubik" pitchFamily="34" charset="0"/>
                <a:ea typeface="Rubik" pitchFamily="34" charset="-122"/>
                <a:cs typeface="Rubik" pitchFamily="34" charset="-120"/>
              </a:rPr>
              <a:t>Divisible by 4: </a:t>
            </a:r>
            <a:r>
              <a:rPr lang="en-US" sz="1500" b="1" dirty="0">
                <a:solidFill>
                  <a:srgbClr val="1B2A41"/>
                </a:solidFill>
                <a:latin typeface="Rubik" pitchFamily="34" charset="0"/>
                <a:ea typeface="Rubik" pitchFamily="34" charset="-122"/>
                <a:cs typeface="Rubik" pitchFamily="34" charset="-120"/>
              </a:rPr>
              <a:t>leap year</a:t>
            </a:r>
            <a:endParaRPr lang="en-US" sz="1500" dirty="0"/>
          </a:p>
        </p:txBody>
      </p:sp>
      <p:sp>
        <p:nvSpPr>
          <p:cNvPr id="7" name="Shape 5"/>
          <p:cNvSpPr/>
          <p:nvPr/>
        </p:nvSpPr>
        <p:spPr>
          <a:xfrm>
            <a:off x="819150" y="2457385"/>
            <a:ext cx="5092700" cy="482600"/>
          </a:xfrm>
          <a:prstGeom prst="roundRect">
            <a:avLst>
              <a:gd name="adj" fmla="val 17105"/>
            </a:avLst>
          </a:prstGeom>
          <a:solidFill>
            <a:srgbClr val="FFFDF8"/>
          </a:solidFill>
          <a:ln w="12700">
            <a:solidFill>
              <a:srgbClr val="E2DED3"/>
            </a:solidFill>
            <a:prstDash val="solid"/>
          </a:ln>
        </p:spPr>
      </p:sp>
      <p:sp>
        <p:nvSpPr>
          <p:cNvPr id="8" name="Text 6"/>
          <p:cNvSpPr/>
          <p:nvPr/>
        </p:nvSpPr>
        <p:spPr>
          <a:xfrm>
            <a:off x="977900" y="2565335"/>
            <a:ext cx="330200" cy="266700"/>
          </a:xfrm>
          <a:custGeom>
            <a:avLst/>
            <a:gdLst/>
            <a:ahLst/>
            <a:cxnLst/>
            <a:rect l="l" t="t" r="r" b="b"/>
            <a:pathLst>
              <a:path w="330200" h="266700">
                <a:moveTo>
                  <a:pt x="133350" y="0"/>
                </a:moveTo>
                <a:lnTo>
                  <a:pt x="196850" y="0"/>
                </a:lnTo>
                <a:arcTo hR="133350" wR="133350" stAng="16200000" swAng="5400000"/>
                <a:lnTo>
                  <a:pt x="330200" y="133350"/>
                </a:lnTo>
                <a:arcTo hR="133350" wR="133350" stAng="0" swAng="5400000"/>
                <a:lnTo>
                  <a:pt x="133350" y="266700"/>
                </a:lnTo>
                <a:arcTo hR="133350" wR="133350" stAng="5400000" swAng="5400000"/>
                <a:lnTo>
                  <a:pt x="0" y="133350"/>
                </a:lnTo>
                <a:arcTo hR="133350" wR="133350" stAng="10800000" swAng="5400000"/>
                <a:close/>
              </a:path>
            </a:pathLst>
          </a:custGeom>
          <a:solidFill>
            <a:srgbClr val="F2B33D"/>
          </a:solidFill>
          <a:ln/>
        </p:spPr>
        <p:txBody>
          <a:bodyPr wrap="square" lIns="0" tIns="0" rIns="0" bIns="0" rtlCol="0" anchor="t">
            <a:normAutofit/>
          </a:bodyPr>
          <a:lstStyle/>
          <a:p>
            <a:pPr algn="ctr" indent="0" marL="0">
              <a:lnSpc>
                <a:spcPts val="2100"/>
              </a:lnSpc>
              <a:buNone/>
            </a:pPr>
            <a:r>
              <a:rPr lang="en-US" sz="1500" b="1" dirty="0">
                <a:solidFill>
                  <a:srgbClr val="1B2A41"/>
                </a:solidFill>
                <a:latin typeface="Rubik" pitchFamily="34" charset="0"/>
                <a:ea typeface="Rubik" pitchFamily="34" charset="-122"/>
                <a:cs typeface="Rubik" pitchFamily="34" charset="-120"/>
              </a:rPr>
              <a:t>2</a:t>
            </a:r>
            <a:endParaRPr lang="en-US" sz="1500" dirty="0"/>
          </a:p>
        </p:txBody>
      </p:sp>
      <p:sp>
        <p:nvSpPr>
          <p:cNvPr id="9" name="Text 7"/>
          <p:cNvSpPr/>
          <p:nvPr/>
        </p:nvSpPr>
        <p:spPr>
          <a:xfrm>
            <a:off x="1435100" y="2565335"/>
            <a:ext cx="447040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1"/>
                </a:solidFill>
                <a:latin typeface="Rubik" pitchFamily="34" charset="0"/>
                <a:ea typeface="Rubik" pitchFamily="34" charset="-122"/>
                <a:cs typeface="Rubik" pitchFamily="34" charset="-120"/>
              </a:rPr>
              <a:t>…except centuries (divisible by 100): </a:t>
            </a:r>
            <a:r>
              <a:rPr lang="en-US" sz="1500" b="1" dirty="0">
                <a:solidFill>
                  <a:srgbClr val="1B2A41"/>
                </a:solidFill>
                <a:latin typeface="Rubik" pitchFamily="34" charset="0"/>
                <a:ea typeface="Rubik" pitchFamily="34" charset="-122"/>
                <a:cs typeface="Rubik" pitchFamily="34" charset="-120"/>
              </a:rPr>
              <a:t>not leap</a:t>
            </a:r>
            <a:endParaRPr lang="en-US" sz="1500" dirty="0"/>
          </a:p>
        </p:txBody>
      </p:sp>
      <p:sp>
        <p:nvSpPr>
          <p:cNvPr id="10" name="Shape 8"/>
          <p:cNvSpPr/>
          <p:nvPr/>
        </p:nvSpPr>
        <p:spPr>
          <a:xfrm>
            <a:off x="819150" y="3054285"/>
            <a:ext cx="5092700" cy="482600"/>
          </a:xfrm>
          <a:prstGeom prst="roundRect">
            <a:avLst>
              <a:gd name="adj" fmla="val 17105"/>
            </a:avLst>
          </a:prstGeom>
          <a:solidFill>
            <a:srgbClr val="FFFDF8"/>
          </a:solidFill>
          <a:ln w="12700">
            <a:solidFill>
              <a:srgbClr val="E2DED3"/>
            </a:solidFill>
            <a:prstDash val="solid"/>
          </a:ln>
        </p:spPr>
      </p:sp>
      <p:sp>
        <p:nvSpPr>
          <p:cNvPr id="11" name="Text 9"/>
          <p:cNvSpPr/>
          <p:nvPr/>
        </p:nvSpPr>
        <p:spPr>
          <a:xfrm>
            <a:off x="977900" y="3162235"/>
            <a:ext cx="330200" cy="266700"/>
          </a:xfrm>
          <a:custGeom>
            <a:avLst/>
            <a:gdLst/>
            <a:ahLst/>
            <a:cxnLst/>
            <a:rect l="l" t="t" r="r" b="b"/>
            <a:pathLst>
              <a:path w="330200" h="266700">
                <a:moveTo>
                  <a:pt x="133350" y="0"/>
                </a:moveTo>
                <a:lnTo>
                  <a:pt x="196850" y="0"/>
                </a:lnTo>
                <a:arcTo hR="133350" wR="133350" stAng="16200000" swAng="5400000"/>
                <a:lnTo>
                  <a:pt x="330200" y="133350"/>
                </a:lnTo>
                <a:arcTo hR="133350" wR="133350" stAng="0" swAng="5400000"/>
                <a:lnTo>
                  <a:pt x="133350" y="266700"/>
                </a:lnTo>
                <a:arcTo hR="133350" wR="133350" stAng="5400000" swAng="5400000"/>
                <a:lnTo>
                  <a:pt x="0" y="133350"/>
                </a:lnTo>
                <a:arcTo hR="133350" wR="133350" stAng="10800000" swAng="5400000"/>
                <a:close/>
              </a:path>
            </a:pathLst>
          </a:custGeom>
          <a:solidFill>
            <a:srgbClr val="F2B33D"/>
          </a:solidFill>
          <a:ln/>
        </p:spPr>
        <p:txBody>
          <a:bodyPr wrap="square" lIns="0" tIns="0" rIns="0" bIns="0" rtlCol="0" anchor="t">
            <a:normAutofit/>
          </a:bodyPr>
          <a:lstStyle/>
          <a:p>
            <a:pPr algn="ctr" indent="0" marL="0">
              <a:lnSpc>
                <a:spcPts val="2100"/>
              </a:lnSpc>
              <a:buNone/>
            </a:pPr>
            <a:r>
              <a:rPr lang="en-US" sz="1500" b="1" dirty="0">
                <a:solidFill>
                  <a:srgbClr val="1B2A41"/>
                </a:solidFill>
                <a:latin typeface="Rubik" pitchFamily="34" charset="0"/>
                <a:ea typeface="Rubik" pitchFamily="34" charset="-122"/>
                <a:cs typeface="Rubik" pitchFamily="34" charset="-120"/>
              </a:rPr>
              <a:t>3</a:t>
            </a:r>
            <a:endParaRPr lang="en-US" sz="1500" dirty="0"/>
          </a:p>
        </p:txBody>
      </p:sp>
      <p:sp>
        <p:nvSpPr>
          <p:cNvPr id="12" name="Text 10"/>
          <p:cNvSpPr/>
          <p:nvPr/>
        </p:nvSpPr>
        <p:spPr>
          <a:xfrm>
            <a:off x="1435100" y="3162235"/>
            <a:ext cx="3818255"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1"/>
                </a:solidFill>
                <a:latin typeface="Rubik" pitchFamily="34" charset="0"/>
                <a:ea typeface="Rubik" pitchFamily="34" charset="-122"/>
                <a:cs typeface="Rubik" pitchFamily="34" charset="-120"/>
              </a:rPr>
              <a:t>…unless divisible by 400: </a:t>
            </a:r>
            <a:r>
              <a:rPr lang="en-US" sz="1500" b="1" dirty="0">
                <a:solidFill>
                  <a:srgbClr val="1B2A41"/>
                </a:solidFill>
                <a:latin typeface="Rubik" pitchFamily="34" charset="0"/>
                <a:ea typeface="Rubik" pitchFamily="34" charset="-122"/>
                <a:cs typeface="Rubik" pitchFamily="34" charset="-120"/>
              </a:rPr>
              <a:t>leap again</a:t>
            </a:r>
            <a:endParaRPr lang="en-US" sz="1500" dirty="0"/>
          </a:p>
        </p:txBody>
      </p:sp>
      <p:sp>
        <p:nvSpPr>
          <p:cNvPr id="13" name="Shape 11"/>
          <p:cNvSpPr/>
          <p:nvPr/>
        </p:nvSpPr>
        <p:spPr>
          <a:xfrm>
            <a:off x="812800" y="3746435"/>
            <a:ext cx="1200150" cy="759420"/>
          </a:xfrm>
          <a:prstGeom prst="roundRect">
            <a:avLst>
              <a:gd name="adj" fmla="val 11706"/>
            </a:avLst>
          </a:prstGeom>
          <a:solidFill>
            <a:srgbClr val="E6EEF7"/>
          </a:solidFill>
          <a:ln/>
        </p:spPr>
      </p:sp>
      <p:sp>
        <p:nvSpPr>
          <p:cNvPr id="14" name="Text 12"/>
          <p:cNvSpPr/>
          <p:nvPr/>
        </p:nvSpPr>
        <p:spPr>
          <a:xfrm>
            <a:off x="939800" y="3873435"/>
            <a:ext cx="99695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B2A41"/>
                </a:solidFill>
                <a:latin typeface="JetBrains Mono" pitchFamily="49" charset="0"/>
                <a:ea typeface="JetBrains Mono" pitchFamily="49" charset="-122"/>
                <a:cs typeface="JetBrains Mono" pitchFamily="49" charset="-120"/>
              </a:rPr>
              <a:t>2024</a:t>
            </a:r>
            <a:endParaRPr lang="en-US" sz="1500" dirty="0"/>
          </a:p>
        </p:txBody>
      </p:sp>
      <p:sp>
        <p:nvSpPr>
          <p:cNvPr id="15" name="Text 13"/>
          <p:cNvSpPr/>
          <p:nvPr/>
        </p:nvSpPr>
        <p:spPr>
          <a:xfrm>
            <a:off x="939800" y="4165538"/>
            <a:ext cx="99695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A64A3"/>
                </a:solidFill>
                <a:latin typeface="Rubik" pitchFamily="34" charset="0"/>
                <a:ea typeface="Rubik" pitchFamily="34" charset="-122"/>
                <a:cs typeface="Rubik" pitchFamily="34" charset="-120"/>
              </a:rPr>
              <a:t>Leap</a:t>
            </a:r>
            <a:endParaRPr lang="en-US" sz="1200" dirty="0"/>
          </a:p>
        </p:txBody>
      </p:sp>
      <p:sp>
        <p:nvSpPr>
          <p:cNvPr id="16" name="Shape 14"/>
          <p:cNvSpPr/>
          <p:nvPr/>
        </p:nvSpPr>
        <p:spPr>
          <a:xfrm>
            <a:off x="2114550" y="3746435"/>
            <a:ext cx="1200150" cy="759420"/>
          </a:xfrm>
          <a:prstGeom prst="roundRect">
            <a:avLst>
              <a:gd name="adj" fmla="val 11706"/>
            </a:avLst>
          </a:prstGeom>
          <a:solidFill>
            <a:srgbClr val="E6EEF7"/>
          </a:solidFill>
          <a:ln/>
        </p:spPr>
      </p:sp>
      <p:sp>
        <p:nvSpPr>
          <p:cNvPr id="17" name="Text 15"/>
          <p:cNvSpPr/>
          <p:nvPr/>
        </p:nvSpPr>
        <p:spPr>
          <a:xfrm>
            <a:off x="2241550" y="3873435"/>
            <a:ext cx="99695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B2A41"/>
                </a:solidFill>
                <a:latin typeface="JetBrains Mono" pitchFamily="49" charset="0"/>
                <a:ea typeface="JetBrains Mono" pitchFamily="49" charset="-122"/>
                <a:cs typeface="JetBrains Mono" pitchFamily="49" charset="-120"/>
              </a:rPr>
              <a:t>1900</a:t>
            </a:r>
            <a:endParaRPr lang="en-US" sz="1500" dirty="0"/>
          </a:p>
        </p:txBody>
      </p:sp>
      <p:sp>
        <p:nvSpPr>
          <p:cNvPr id="18" name="Text 16"/>
          <p:cNvSpPr/>
          <p:nvPr/>
        </p:nvSpPr>
        <p:spPr>
          <a:xfrm>
            <a:off x="2241550" y="4165538"/>
            <a:ext cx="99695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54708"/>
                </a:solidFill>
                <a:latin typeface="Rubik" pitchFamily="34" charset="0"/>
                <a:ea typeface="Rubik" pitchFamily="34" charset="-122"/>
                <a:cs typeface="Rubik" pitchFamily="34" charset="-120"/>
              </a:rPr>
              <a:t>Not leap</a:t>
            </a:r>
            <a:endParaRPr lang="en-US" sz="1200" dirty="0"/>
          </a:p>
        </p:txBody>
      </p:sp>
      <p:sp>
        <p:nvSpPr>
          <p:cNvPr id="19" name="Shape 17"/>
          <p:cNvSpPr/>
          <p:nvPr/>
        </p:nvSpPr>
        <p:spPr>
          <a:xfrm>
            <a:off x="3416300" y="3746435"/>
            <a:ext cx="1200150" cy="759420"/>
          </a:xfrm>
          <a:prstGeom prst="roundRect">
            <a:avLst>
              <a:gd name="adj" fmla="val 11706"/>
            </a:avLst>
          </a:prstGeom>
          <a:solidFill>
            <a:srgbClr val="E6EEF7"/>
          </a:solidFill>
          <a:ln/>
        </p:spPr>
      </p:sp>
      <p:sp>
        <p:nvSpPr>
          <p:cNvPr id="20" name="Text 18"/>
          <p:cNvSpPr/>
          <p:nvPr/>
        </p:nvSpPr>
        <p:spPr>
          <a:xfrm>
            <a:off x="3543300" y="3873435"/>
            <a:ext cx="99695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B2A41"/>
                </a:solidFill>
                <a:latin typeface="JetBrains Mono" pitchFamily="49" charset="0"/>
                <a:ea typeface="JetBrains Mono" pitchFamily="49" charset="-122"/>
                <a:cs typeface="JetBrains Mono" pitchFamily="49" charset="-120"/>
              </a:rPr>
              <a:t>2000</a:t>
            </a:r>
            <a:endParaRPr lang="en-US" sz="1500" dirty="0"/>
          </a:p>
        </p:txBody>
      </p:sp>
      <p:sp>
        <p:nvSpPr>
          <p:cNvPr id="21" name="Text 19"/>
          <p:cNvSpPr/>
          <p:nvPr/>
        </p:nvSpPr>
        <p:spPr>
          <a:xfrm>
            <a:off x="3543300" y="4165538"/>
            <a:ext cx="99695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A64A3"/>
                </a:solidFill>
                <a:latin typeface="Rubik" pitchFamily="34" charset="0"/>
                <a:ea typeface="Rubik" pitchFamily="34" charset="-122"/>
                <a:cs typeface="Rubik" pitchFamily="34" charset="-120"/>
              </a:rPr>
              <a:t>Leap</a:t>
            </a:r>
            <a:endParaRPr lang="en-US" sz="1200" dirty="0"/>
          </a:p>
        </p:txBody>
      </p:sp>
      <p:sp>
        <p:nvSpPr>
          <p:cNvPr id="22" name="Shape 20"/>
          <p:cNvSpPr/>
          <p:nvPr/>
        </p:nvSpPr>
        <p:spPr>
          <a:xfrm>
            <a:off x="4718050" y="3746435"/>
            <a:ext cx="1200150" cy="759420"/>
          </a:xfrm>
          <a:prstGeom prst="roundRect">
            <a:avLst>
              <a:gd name="adj" fmla="val 11706"/>
            </a:avLst>
          </a:prstGeom>
          <a:solidFill>
            <a:srgbClr val="E6EEF7"/>
          </a:solidFill>
          <a:ln/>
        </p:spPr>
      </p:sp>
      <p:sp>
        <p:nvSpPr>
          <p:cNvPr id="23" name="Text 21"/>
          <p:cNvSpPr/>
          <p:nvPr/>
        </p:nvSpPr>
        <p:spPr>
          <a:xfrm>
            <a:off x="4845050" y="3873435"/>
            <a:ext cx="99695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B2A41"/>
                </a:solidFill>
                <a:latin typeface="JetBrains Mono" pitchFamily="49" charset="0"/>
                <a:ea typeface="JetBrains Mono" pitchFamily="49" charset="-122"/>
                <a:cs typeface="JetBrains Mono" pitchFamily="49" charset="-120"/>
              </a:rPr>
              <a:t>2026</a:t>
            </a:r>
            <a:endParaRPr lang="en-US" sz="1500" dirty="0"/>
          </a:p>
        </p:txBody>
      </p:sp>
      <p:sp>
        <p:nvSpPr>
          <p:cNvPr id="24" name="Text 22"/>
          <p:cNvSpPr/>
          <p:nvPr/>
        </p:nvSpPr>
        <p:spPr>
          <a:xfrm>
            <a:off x="4845050" y="4165538"/>
            <a:ext cx="99695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54708"/>
                </a:solidFill>
                <a:latin typeface="Rubik" pitchFamily="34" charset="0"/>
                <a:ea typeface="Rubik" pitchFamily="34" charset="-122"/>
                <a:cs typeface="Rubik" pitchFamily="34" charset="-120"/>
              </a:rPr>
              <a:t>Not leap</a:t>
            </a:r>
            <a:endParaRPr lang="en-US" sz="1200" dirty="0"/>
          </a:p>
        </p:txBody>
      </p:sp>
      <p:sp>
        <p:nvSpPr>
          <p:cNvPr id="25" name="Shape 23"/>
          <p:cNvSpPr/>
          <p:nvPr/>
        </p:nvSpPr>
        <p:spPr>
          <a:xfrm>
            <a:off x="6273800" y="1854135"/>
            <a:ext cx="5105400" cy="3216870"/>
          </a:xfrm>
          <a:prstGeom prst="roundRect">
            <a:avLst>
              <a:gd name="adj" fmla="val 3948"/>
            </a:avLst>
          </a:prstGeom>
          <a:solidFill>
            <a:srgbClr val="1B2A41"/>
          </a:solidFill>
          <a:ln/>
        </p:spPr>
      </p:sp>
      <p:sp>
        <p:nvSpPr>
          <p:cNvPr id="26" name="Text 24"/>
          <p:cNvSpPr/>
          <p:nvPr/>
        </p:nvSpPr>
        <p:spPr>
          <a:xfrm>
            <a:off x="6553200" y="2031935"/>
            <a:ext cx="468299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3B8"/>
                </a:solidFill>
                <a:latin typeface="JetBrains Mono" pitchFamily="49" charset="0"/>
                <a:ea typeface="JetBrains Mono" pitchFamily="49" charset="-122"/>
                <a:cs typeface="JetBrains Mono" pitchFamily="49" charset="-120"/>
              </a:rPr>
              <a:t>leap.py · check the rarest case first</a:t>
            </a:r>
            <a:endParaRPr lang="en-US" sz="1200" dirty="0"/>
          </a:p>
        </p:txBody>
      </p:sp>
      <p:sp>
        <p:nvSpPr>
          <p:cNvPr id="27" name="Text 25"/>
          <p:cNvSpPr/>
          <p:nvPr/>
        </p:nvSpPr>
        <p:spPr>
          <a:xfrm>
            <a:off x="6553200" y="2321455"/>
            <a:ext cx="4682998" cy="25971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year = </a:t>
            </a:r>
            <a:r>
              <a:rPr lang="en-US" sz="1500" dirty="0">
                <a:solidFill>
                  <a:srgbClr val="F2B33D"/>
                </a:solidFill>
                <a:latin typeface="JetBrains Mono" pitchFamily="49" charset="0"/>
                <a:ea typeface="JetBrains Mono" pitchFamily="49" charset="-122"/>
                <a:cs typeface="JetBrains Mono" pitchFamily="49" charset="-120"/>
              </a:rPr>
              <a:t>int</a:t>
            </a:r>
            <a:r>
              <a:rPr lang="en-US" sz="1500" dirty="0">
                <a:solidFill>
                  <a:srgbClr val="E8EDF3"/>
                </a:solidFill>
                <a:latin typeface="JetBrains Mono" pitchFamily="49" charset="0"/>
                <a:ea typeface="JetBrains Mono" pitchFamily="49" charset="-122"/>
                <a:cs typeface="JetBrains Mono" pitchFamily="49" charset="-120"/>
              </a:rPr>
              <a:t>(</a:t>
            </a:r>
            <a:r>
              <a:rPr lang="en-US" sz="1500" dirty="0">
                <a:solidFill>
                  <a:srgbClr val="F2B33D"/>
                </a:solidFill>
                <a:latin typeface="JetBrains Mono" pitchFamily="49" charset="0"/>
                <a:ea typeface="JetBrains Mono" pitchFamily="49" charset="-122"/>
                <a:cs typeface="JetBrains Mono" pitchFamily="49" charset="-120"/>
              </a:rPr>
              <a:t>input</a:t>
            </a:r>
            <a:r>
              <a:rPr lang="en-US" sz="1500" dirty="0">
                <a:solidFill>
                  <a:srgbClr val="E8EDF3"/>
                </a:solidFill>
                <a:latin typeface="JetBrains Mono" pitchFamily="49" charset="0"/>
                <a:ea typeface="JetBrains Mono" pitchFamily="49" charset="-122"/>
                <a:cs typeface="JetBrains Mono" pitchFamily="49" charset="-120"/>
              </a:rPr>
              <a:t>(</a:t>
            </a:r>
            <a:r>
              <a:rPr lang="en-US" sz="1500" dirty="0">
                <a:solidFill>
                  <a:srgbClr val="9FD8A8"/>
                </a:solidFill>
                <a:latin typeface="JetBrains Mono" pitchFamily="49" charset="0"/>
                <a:ea typeface="JetBrains Mono" pitchFamily="49" charset="-122"/>
                <a:cs typeface="JetBrains Mono" pitchFamily="49" charset="-120"/>
              </a:rPr>
              <a:t>"Year: "</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if</a:t>
            </a:r>
            <a:r>
              <a:rPr lang="en-US" sz="1500" dirty="0">
                <a:solidFill>
                  <a:srgbClr val="E8EDF3"/>
                </a:solidFill>
                <a:latin typeface="JetBrains Mono" pitchFamily="49" charset="0"/>
                <a:ea typeface="JetBrains Mono" pitchFamily="49" charset="-122"/>
                <a:cs typeface="JetBrains Mono" pitchFamily="49" charset="-120"/>
              </a:rPr>
              <a:t> year % 400 == 0:</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a:t>
            </a:r>
            <a:r>
              <a:rPr lang="en-US" sz="1500" dirty="0">
                <a:solidFill>
                  <a:srgbClr val="9FD8A8"/>
                </a:solidFill>
                <a:latin typeface="JetBrains Mono" pitchFamily="49" charset="0"/>
                <a:ea typeface="JetBrains Mono" pitchFamily="49" charset="-122"/>
                <a:cs typeface="JetBrains Mono" pitchFamily="49" charset="-120"/>
              </a:rPr>
              <a:t>"Leap year"</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elif</a:t>
            </a:r>
            <a:r>
              <a:rPr lang="en-US" sz="1500" dirty="0">
                <a:solidFill>
                  <a:srgbClr val="E8EDF3"/>
                </a:solidFill>
                <a:latin typeface="JetBrains Mono" pitchFamily="49" charset="0"/>
                <a:ea typeface="JetBrains Mono" pitchFamily="49" charset="-122"/>
                <a:cs typeface="JetBrains Mono" pitchFamily="49" charset="-120"/>
              </a:rPr>
              <a:t> year % 100 == 0:</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a:t>
            </a:r>
            <a:r>
              <a:rPr lang="en-US" sz="1500" dirty="0">
                <a:solidFill>
                  <a:srgbClr val="9FD8A8"/>
                </a:solidFill>
                <a:latin typeface="JetBrains Mono" pitchFamily="49" charset="0"/>
                <a:ea typeface="JetBrains Mono" pitchFamily="49" charset="-122"/>
                <a:cs typeface="JetBrains Mono" pitchFamily="49" charset="-120"/>
              </a:rPr>
              <a:t>"Not a leap year"</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elif</a:t>
            </a:r>
            <a:r>
              <a:rPr lang="en-US" sz="1500" dirty="0">
                <a:solidFill>
                  <a:srgbClr val="E8EDF3"/>
                </a:solidFill>
                <a:latin typeface="JetBrains Mono" pitchFamily="49" charset="0"/>
                <a:ea typeface="JetBrains Mono" pitchFamily="49" charset="-122"/>
                <a:cs typeface="JetBrains Mono" pitchFamily="49" charset="-120"/>
              </a:rPr>
              <a:t> year % 4 == 0:</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a:t>
            </a:r>
            <a:r>
              <a:rPr lang="en-US" sz="1500" dirty="0">
                <a:solidFill>
                  <a:srgbClr val="9FD8A8"/>
                </a:solidFill>
                <a:latin typeface="JetBrains Mono" pitchFamily="49" charset="0"/>
                <a:ea typeface="JetBrains Mono" pitchFamily="49" charset="-122"/>
                <a:cs typeface="JetBrains Mono" pitchFamily="49" charset="-120"/>
              </a:rPr>
              <a:t>"Leap year"</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else</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a:t>
            </a:r>
            <a:r>
              <a:rPr lang="en-US" sz="1500" dirty="0">
                <a:solidFill>
                  <a:srgbClr val="9FD8A8"/>
                </a:solidFill>
                <a:latin typeface="JetBrains Mono" pitchFamily="49" charset="0"/>
                <a:ea typeface="JetBrains Mono" pitchFamily="49" charset="-122"/>
                <a:cs typeface="JetBrains Mono" pitchFamily="49" charset="-120"/>
              </a:rPr>
              <a:t>"Not a leap year"</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p:txBody>
      </p:sp>
      <p:sp>
        <p:nvSpPr>
          <p:cNvPr id="28" name="Text 2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Rubik" pitchFamily="34" charset="0"/>
                <a:ea typeface="Rubik" pitchFamily="34" charset="-122"/>
                <a:cs typeface="Rubik" pitchFamily="34" charset="-120"/>
              </a:rPr>
              <a:t>Python Programming · Week 2 · Class 4</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6EE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CLASS 4 · PRACTICE</a:t>
            </a:r>
            <a:endParaRPr lang="en-US" sz="1200" dirty="0"/>
          </a:p>
        </p:txBody>
      </p:sp>
      <p:sp>
        <p:nvSpPr>
          <p:cNvPr id="3" name="Text 1"/>
          <p:cNvSpPr/>
          <p:nvPr>
            <p:ph type="title"/>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41"/>
                </a:solidFill>
                <a:latin typeface="Rubik" pitchFamily="34" charset="0"/>
                <a:ea typeface="Rubik" pitchFamily="34" charset="-122"/>
                <a:cs typeface="Rubik" pitchFamily="34" charset="-120"/>
              </a:rPr>
              <a:t>Your turn: four decision programs</a:t>
            </a:r>
            <a:endParaRPr lang="en-US" sz="3200" dirty="0"/>
          </a:p>
        </p:txBody>
      </p:sp>
      <p:sp>
        <p:nvSpPr>
          <p:cNvPr id="4" name="Shape 2"/>
          <p:cNvSpPr/>
          <p:nvPr/>
        </p:nvSpPr>
        <p:spPr>
          <a:xfrm>
            <a:off x="819150" y="1809688"/>
            <a:ext cx="2476500" cy="2252927"/>
          </a:xfrm>
          <a:prstGeom prst="roundRect">
            <a:avLst>
              <a:gd name="adj" fmla="val 5355"/>
            </a:avLst>
          </a:prstGeom>
          <a:solidFill>
            <a:srgbClr val="FBFCFE"/>
          </a:solidFill>
          <a:ln w="12700">
            <a:solidFill>
              <a:srgbClr val="C9D7E8"/>
            </a:solidFill>
            <a:prstDash val="solid"/>
          </a:ln>
        </p:spPr>
      </p:sp>
      <p:sp>
        <p:nvSpPr>
          <p:cNvPr id="5" name="Text 3"/>
          <p:cNvSpPr/>
          <p:nvPr/>
        </p:nvSpPr>
        <p:spPr>
          <a:xfrm>
            <a:off x="1028700" y="2019238"/>
            <a:ext cx="681897" cy="289520"/>
          </a:xfrm>
          <a:custGeom>
            <a:avLst/>
            <a:gdLst/>
            <a:ahLst/>
            <a:cxnLst/>
            <a:rect l="l" t="t" r="r" b="b"/>
            <a:pathLst>
              <a:path w="681897" h="289520">
                <a:moveTo>
                  <a:pt x="144760" y="0"/>
                </a:moveTo>
                <a:lnTo>
                  <a:pt x="537137" y="0"/>
                </a:lnTo>
                <a:arcTo hR="144760" wR="144760" stAng="16200000" swAng="5400000"/>
                <a:lnTo>
                  <a:pt x="681897" y="144760"/>
                </a:lnTo>
                <a:arcTo hR="144760" wR="144760" stAng="0" swAng="5400000"/>
                <a:lnTo>
                  <a:pt x="144760" y="289520"/>
                </a:lnTo>
                <a:arcTo hR="144760" wR="144760" stAng="5400000" swAng="5400000"/>
                <a:lnTo>
                  <a:pt x="0" y="144760"/>
                </a:lnTo>
                <a:arcTo hR="144760" wR="144760" stAng="10800000" swAng="5400000"/>
                <a:close/>
              </a:path>
            </a:pathLst>
          </a:custGeom>
          <a:solidFill>
            <a:srgbClr val="F2B33D"/>
          </a:solidFill>
          <a:ln/>
        </p:spPr>
        <p:txBody>
          <a:bodyPr wrap="none" lIns="0" tIns="0" rIns="0" bIns="0" rtlCol="0" anchor="ctr">
            <a:normAutofit/>
          </a:bodyPr>
          <a:lstStyle/>
          <a:p>
            <a:pPr algn="ctr" indent="0" marL="0">
              <a:lnSpc>
                <a:spcPts val="1680"/>
              </a:lnSpc>
              <a:buNone/>
            </a:pPr>
            <a:r>
              <a:rPr lang="en-US" sz="1200" b="1" dirty="0">
                <a:solidFill>
                  <a:srgbClr val="1B2A41"/>
                </a:solidFill>
                <a:latin typeface="Rubik" pitchFamily="34" charset="0"/>
                <a:ea typeface="Rubik" pitchFamily="34" charset="-122"/>
                <a:cs typeface="Rubik" pitchFamily="34" charset="-120"/>
              </a:rPr>
              <a:t>Task 1</a:t>
            </a:r>
            <a:endParaRPr lang="en-US" sz="1200" dirty="0"/>
          </a:p>
        </p:txBody>
      </p:sp>
      <p:sp>
        <p:nvSpPr>
          <p:cNvPr id="6" name="Text 4"/>
          <p:cNvSpPr/>
          <p:nvPr/>
        </p:nvSpPr>
        <p:spPr>
          <a:xfrm>
            <a:off x="1028700" y="2410358"/>
            <a:ext cx="2119122"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Sign check</a:t>
            </a:r>
            <a:endParaRPr lang="en-US" sz="1800" dirty="0"/>
          </a:p>
        </p:txBody>
      </p:sp>
      <p:sp>
        <p:nvSpPr>
          <p:cNvPr id="7" name="Text 5"/>
          <p:cNvSpPr/>
          <p:nvPr/>
        </p:nvSpPr>
        <p:spPr>
          <a:xfrm>
            <a:off x="1028700" y="2786261"/>
            <a:ext cx="2119122"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Read a number. Say if it is positive, negative or zero.</a:t>
            </a:r>
            <a:endParaRPr lang="en-US" sz="1500" dirty="0"/>
          </a:p>
        </p:txBody>
      </p:sp>
      <p:sp>
        <p:nvSpPr>
          <p:cNvPr id="8" name="Shape 6"/>
          <p:cNvSpPr/>
          <p:nvPr/>
        </p:nvSpPr>
        <p:spPr>
          <a:xfrm>
            <a:off x="3511550" y="1809688"/>
            <a:ext cx="2476500" cy="2252927"/>
          </a:xfrm>
          <a:prstGeom prst="roundRect">
            <a:avLst>
              <a:gd name="adj" fmla="val 5355"/>
            </a:avLst>
          </a:prstGeom>
          <a:solidFill>
            <a:srgbClr val="FBFCFE"/>
          </a:solidFill>
          <a:ln w="12700">
            <a:solidFill>
              <a:srgbClr val="C9D7E8"/>
            </a:solidFill>
            <a:prstDash val="solid"/>
          </a:ln>
        </p:spPr>
      </p:sp>
      <p:sp>
        <p:nvSpPr>
          <p:cNvPr id="9" name="Text 7"/>
          <p:cNvSpPr/>
          <p:nvPr/>
        </p:nvSpPr>
        <p:spPr>
          <a:xfrm>
            <a:off x="3721100" y="2019238"/>
            <a:ext cx="705181" cy="289520"/>
          </a:xfrm>
          <a:custGeom>
            <a:avLst/>
            <a:gdLst/>
            <a:ahLst/>
            <a:cxnLst/>
            <a:rect l="l" t="t" r="r" b="b"/>
            <a:pathLst>
              <a:path w="705181" h="289520">
                <a:moveTo>
                  <a:pt x="144760" y="0"/>
                </a:moveTo>
                <a:lnTo>
                  <a:pt x="560421" y="0"/>
                </a:lnTo>
                <a:arcTo hR="144760" wR="144760" stAng="16200000" swAng="5400000"/>
                <a:lnTo>
                  <a:pt x="705181" y="144760"/>
                </a:lnTo>
                <a:arcTo hR="144760" wR="144760" stAng="0" swAng="5400000"/>
                <a:lnTo>
                  <a:pt x="144760" y="289520"/>
                </a:lnTo>
                <a:arcTo hR="144760" wR="144760" stAng="5400000" swAng="5400000"/>
                <a:lnTo>
                  <a:pt x="0" y="144760"/>
                </a:lnTo>
                <a:arcTo hR="144760" wR="144760" stAng="10800000" swAng="5400000"/>
                <a:close/>
              </a:path>
            </a:pathLst>
          </a:custGeom>
          <a:solidFill>
            <a:srgbClr val="F2B33D"/>
          </a:solidFill>
          <a:ln/>
        </p:spPr>
        <p:txBody>
          <a:bodyPr wrap="none" lIns="0" tIns="0" rIns="0" bIns="0" rtlCol="0" anchor="ctr">
            <a:normAutofit/>
          </a:bodyPr>
          <a:lstStyle/>
          <a:p>
            <a:pPr algn="ctr" indent="0" marL="0">
              <a:lnSpc>
                <a:spcPts val="1680"/>
              </a:lnSpc>
              <a:buNone/>
            </a:pPr>
            <a:r>
              <a:rPr lang="en-US" sz="1200" b="1" dirty="0">
                <a:solidFill>
                  <a:srgbClr val="1B2A41"/>
                </a:solidFill>
                <a:latin typeface="Rubik" pitchFamily="34" charset="0"/>
                <a:ea typeface="Rubik" pitchFamily="34" charset="-122"/>
                <a:cs typeface="Rubik" pitchFamily="34" charset="-120"/>
              </a:rPr>
              <a:t>Task 2</a:t>
            </a:r>
            <a:endParaRPr lang="en-US" sz="1200" dirty="0"/>
          </a:p>
        </p:txBody>
      </p:sp>
      <p:sp>
        <p:nvSpPr>
          <p:cNvPr id="10" name="Text 8"/>
          <p:cNvSpPr/>
          <p:nvPr/>
        </p:nvSpPr>
        <p:spPr>
          <a:xfrm>
            <a:off x="3721100" y="2410358"/>
            <a:ext cx="2119122"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Triangle type</a:t>
            </a:r>
            <a:endParaRPr lang="en-US" sz="1800" dirty="0"/>
          </a:p>
        </p:txBody>
      </p:sp>
      <p:sp>
        <p:nvSpPr>
          <p:cNvPr id="11" name="Text 9"/>
          <p:cNvSpPr/>
          <p:nvPr/>
        </p:nvSpPr>
        <p:spPr>
          <a:xfrm>
            <a:off x="3721100" y="2786261"/>
            <a:ext cx="2119122"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Read three sides. Print equilateral, isosceles or scalene.</a:t>
            </a:r>
            <a:endParaRPr lang="en-US" sz="1500" dirty="0"/>
          </a:p>
        </p:txBody>
      </p:sp>
      <p:sp>
        <p:nvSpPr>
          <p:cNvPr id="12" name="Shape 10"/>
          <p:cNvSpPr/>
          <p:nvPr/>
        </p:nvSpPr>
        <p:spPr>
          <a:xfrm>
            <a:off x="6203950" y="1809688"/>
            <a:ext cx="2476500" cy="2252927"/>
          </a:xfrm>
          <a:prstGeom prst="roundRect">
            <a:avLst>
              <a:gd name="adj" fmla="val 5355"/>
            </a:avLst>
          </a:prstGeom>
          <a:solidFill>
            <a:srgbClr val="FBFCFE"/>
          </a:solidFill>
          <a:ln w="12700">
            <a:solidFill>
              <a:srgbClr val="C9D7E8"/>
            </a:solidFill>
            <a:prstDash val="solid"/>
          </a:ln>
        </p:spPr>
      </p:sp>
      <p:sp>
        <p:nvSpPr>
          <p:cNvPr id="13" name="Text 11"/>
          <p:cNvSpPr/>
          <p:nvPr/>
        </p:nvSpPr>
        <p:spPr>
          <a:xfrm>
            <a:off x="6413500" y="2019238"/>
            <a:ext cx="706570" cy="289520"/>
          </a:xfrm>
          <a:custGeom>
            <a:avLst/>
            <a:gdLst/>
            <a:ahLst/>
            <a:cxnLst/>
            <a:rect l="l" t="t" r="r" b="b"/>
            <a:pathLst>
              <a:path w="706570" h="289520">
                <a:moveTo>
                  <a:pt x="144760" y="0"/>
                </a:moveTo>
                <a:lnTo>
                  <a:pt x="561810" y="0"/>
                </a:lnTo>
                <a:arcTo hR="144760" wR="144760" stAng="16200000" swAng="5400000"/>
                <a:lnTo>
                  <a:pt x="706570" y="144760"/>
                </a:lnTo>
                <a:arcTo hR="144760" wR="144760" stAng="0" swAng="5400000"/>
                <a:lnTo>
                  <a:pt x="144760" y="289520"/>
                </a:lnTo>
                <a:arcTo hR="144760" wR="144760" stAng="5400000" swAng="5400000"/>
                <a:lnTo>
                  <a:pt x="0" y="144760"/>
                </a:lnTo>
                <a:arcTo hR="144760" wR="144760" stAng="10800000" swAng="5400000"/>
                <a:close/>
              </a:path>
            </a:pathLst>
          </a:custGeom>
          <a:solidFill>
            <a:srgbClr val="F2B33D"/>
          </a:solidFill>
          <a:ln/>
        </p:spPr>
        <p:txBody>
          <a:bodyPr wrap="none" lIns="0" tIns="0" rIns="0" bIns="0" rtlCol="0" anchor="ctr">
            <a:normAutofit/>
          </a:bodyPr>
          <a:lstStyle/>
          <a:p>
            <a:pPr algn="ctr" indent="0" marL="0">
              <a:lnSpc>
                <a:spcPts val="1680"/>
              </a:lnSpc>
              <a:buNone/>
            </a:pPr>
            <a:r>
              <a:rPr lang="en-US" sz="1200" b="1" dirty="0">
                <a:solidFill>
                  <a:srgbClr val="1B2A41"/>
                </a:solidFill>
                <a:latin typeface="Rubik" pitchFamily="34" charset="0"/>
                <a:ea typeface="Rubik" pitchFamily="34" charset="-122"/>
                <a:cs typeface="Rubik" pitchFamily="34" charset="-120"/>
              </a:rPr>
              <a:t>Task 3</a:t>
            </a:r>
            <a:endParaRPr lang="en-US" sz="1200" dirty="0"/>
          </a:p>
        </p:txBody>
      </p:sp>
      <p:sp>
        <p:nvSpPr>
          <p:cNvPr id="14" name="Text 12"/>
          <p:cNvSpPr/>
          <p:nvPr/>
        </p:nvSpPr>
        <p:spPr>
          <a:xfrm>
            <a:off x="6413500" y="2410358"/>
            <a:ext cx="2119122"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Electricity bill</a:t>
            </a:r>
            <a:endParaRPr lang="en-US" sz="1800" dirty="0"/>
          </a:p>
        </p:txBody>
      </p:sp>
      <p:sp>
        <p:nvSpPr>
          <p:cNvPr id="15" name="Text 13"/>
          <p:cNvSpPr/>
          <p:nvPr/>
        </p:nvSpPr>
        <p:spPr>
          <a:xfrm>
            <a:off x="6413500" y="2786261"/>
            <a:ext cx="2119122" cy="10922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First 100 units cost Rs. 5 each, the rest Rs. 7 each. Test: 150 units gives Rs. 850</a:t>
            </a:r>
            <a:endParaRPr lang="en-US" sz="1500" dirty="0"/>
          </a:p>
        </p:txBody>
      </p:sp>
      <p:sp>
        <p:nvSpPr>
          <p:cNvPr id="16" name="Shape 14"/>
          <p:cNvSpPr/>
          <p:nvPr/>
        </p:nvSpPr>
        <p:spPr>
          <a:xfrm>
            <a:off x="8896350" y="1809688"/>
            <a:ext cx="2476500" cy="2252927"/>
          </a:xfrm>
          <a:prstGeom prst="roundRect">
            <a:avLst>
              <a:gd name="adj" fmla="val 5355"/>
            </a:avLst>
          </a:prstGeom>
          <a:solidFill>
            <a:srgbClr val="FBFCFE"/>
          </a:solidFill>
          <a:ln w="12700">
            <a:solidFill>
              <a:srgbClr val="C9D7E8"/>
            </a:solidFill>
            <a:prstDash val="solid"/>
          </a:ln>
        </p:spPr>
      </p:sp>
      <p:sp>
        <p:nvSpPr>
          <p:cNvPr id="17" name="Text 15"/>
          <p:cNvSpPr/>
          <p:nvPr/>
        </p:nvSpPr>
        <p:spPr>
          <a:xfrm>
            <a:off x="9105900" y="2019238"/>
            <a:ext cx="710076" cy="289520"/>
          </a:xfrm>
          <a:custGeom>
            <a:avLst/>
            <a:gdLst/>
            <a:ahLst/>
            <a:cxnLst/>
            <a:rect l="l" t="t" r="r" b="b"/>
            <a:pathLst>
              <a:path w="710076" h="289520">
                <a:moveTo>
                  <a:pt x="144760" y="0"/>
                </a:moveTo>
                <a:lnTo>
                  <a:pt x="565315" y="0"/>
                </a:lnTo>
                <a:arcTo hR="144760" wR="144760" stAng="16200000" swAng="5400000"/>
                <a:lnTo>
                  <a:pt x="710076" y="144760"/>
                </a:lnTo>
                <a:arcTo hR="144760" wR="144760" stAng="0" swAng="5400000"/>
                <a:lnTo>
                  <a:pt x="144760" y="289520"/>
                </a:lnTo>
                <a:arcTo hR="144760" wR="144760" stAng="5400000" swAng="5400000"/>
                <a:lnTo>
                  <a:pt x="0" y="144760"/>
                </a:lnTo>
                <a:arcTo hR="144760" wR="144760" stAng="10800000" swAng="5400000"/>
                <a:close/>
              </a:path>
            </a:pathLst>
          </a:custGeom>
          <a:solidFill>
            <a:srgbClr val="F2B33D"/>
          </a:solidFill>
          <a:ln/>
        </p:spPr>
        <p:txBody>
          <a:bodyPr wrap="none" lIns="0" tIns="0" rIns="0" bIns="0" rtlCol="0" anchor="ctr">
            <a:normAutofit/>
          </a:bodyPr>
          <a:lstStyle/>
          <a:p>
            <a:pPr algn="ctr" indent="0" marL="0">
              <a:lnSpc>
                <a:spcPts val="1680"/>
              </a:lnSpc>
              <a:buNone/>
            </a:pPr>
            <a:r>
              <a:rPr lang="en-US" sz="1200" b="1" dirty="0">
                <a:solidFill>
                  <a:srgbClr val="1B2A41"/>
                </a:solidFill>
                <a:latin typeface="Rubik" pitchFamily="34" charset="0"/>
                <a:ea typeface="Rubik" pitchFamily="34" charset="-122"/>
                <a:cs typeface="Rubik" pitchFamily="34" charset="-120"/>
              </a:rPr>
              <a:t>Task 4</a:t>
            </a:r>
            <a:endParaRPr lang="en-US" sz="1200" dirty="0"/>
          </a:p>
        </p:txBody>
      </p:sp>
      <p:sp>
        <p:nvSpPr>
          <p:cNvPr id="18" name="Text 16"/>
          <p:cNvSpPr/>
          <p:nvPr/>
        </p:nvSpPr>
        <p:spPr>
          <a:xfrm>
            <a:off x="9105900" y="2410358"/>
            <a:ext cx="2119122"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Mini calculator</a:t>
            </a:r>
            <a:endParaRPr lang="en-US" sz="1800" dirty="0"/>
          </a:p>
        </p:txBody>
      </p:sp>
      <p:sp>
        <p:nvSpPr>
          <p:cNvPr id="19" name="Text 17"/>
          <p:cNvSpPr/>
          <p:nvPr/>
        </p:nvSpPr>
        <p:spPr>
          <a:xfrm>
            <a:off x="9105900" y="2786261"/>
            <a:ext cx="2119122" cy="10922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Read two numbers and an operator (+ - * /). Print the answer. Block division by 0!</a:t>
            </a:r>
            <a:endParaRPr lang="en-US" sz="1500" dirty="0"/>
          </a:p>
        </p:txBody>
      </p:sp>
      <p:sp>
        <p:nvSpPr>
          <p:cNvPr id="20" name="Shape 18"/>
          <p:cNvSpPr/>
          <p:nvPr/>
        </p:nvSpPr>
        <p:spPr>
          <a:xfrm>
            <a:off x="812800" y="4322961"/>
            <a:ext cx="10566400" cy="622300"/>
          </a:xfrm>
          <a:prstGeom prst="roundRect">
            <a:avLst>
              <a:gd name="adj" fmla="val 20408"/>
            </a:avLst>
          </a:prstGeom>
          <a:solidFill>
            <a:srgbClr val="1B2A41"/>
          </a:solidFill>
          <a:ln/>
        </p:spPr>
      </p:sp>
      <p:sp>
        <p:nvSpPr>
          <p:cNvPr id="21" name="Text 19"/>
          <p:cNvSpPr/>
          <p:nvPr/>
        </p:nvSpPr>
        <p:spPr>
          <a:xfrm>
            <a:off x="1066800" y="4527420"/>
            <a:ext cx="1215694"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B33D"/>
                </a:solidFill>
                <a:latin typeface="Rubik" pitchFamily="34" charset="0"/>
                <a:ea typeface="Rubik" pitchFamily="34" charset="-122"/>
                <a:cs typeface="Rubik" pitchFamily="34" charset="-120"/>
              </a:rPr>
              <a:t>HOMEWORK</a:t>
            </a:r>
            <a:endParaRPr lang="en-US" sz="1200" dirty="0"/>
          </a:p>
        </p:txBody>
      </p:sp>
      <p:sp>
        <p:nvSpPr>
          <p:cNvPr id="22" name="Text 20"/>
          <p:cNvSpPr/>
          <p:nvPr/>
        </p:nvSpPr>
        <p:spPr>
          <a:xfrm>
            <a:off x="2282494" y="4500761"/>
            <a:ext cx="9096706"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7F5EF"/>
                </a:solidFill>
                <a:latin typeface="Rubik" pitchFamily="34" charset="0"/>
                <a:ea typeface="Rubik" pitchFamily="34" charset="-122"/>
                <a:cs typeface="Rubik" pitchFamily="34" charset="-120"/>
              </a:rPr>
              <a:t>Read on W3Schools: </a:t>
            </a:r>
            <a:r>
              <a:rPr lang="en-US" sz="1500" u="sng" dirty="0">
                <a:solidFill>
                  <a:srgbClr val="F2B33D"/>
                </a:solidFill>
                <a:latin typeface="Rubik" pitchFamily="34" charset="0"/>
                <a:ea typeface="Rubik" pitchFamily="34" charset="-122"/>
                <a:cs typeface="Rubik" pitchFamily="34" charset="-120"/>
                <a:hlinkClick r:id="rId1" invalidUrl="" action="" tgtFrame="" tooltip="" history="1" highlightClick="0" endSnd="0">
                  <a:extLst>
                    <a:ext uri="{A12FA001-AC4F-418D-AE19-62706E023703}">
                      <ahyp:hlinkClr xmlns:ahyp="http://schemas.microsoft.com/office/drawing/2018/hyperlinkcolor" val="tx"/>
                    </a:ext>
                  </a:extLst>
                </a:hlinkClick>
              </a:rPr>
              <a:t>If...Else</a:t>
            </a:r>
            <a:r>
              <a:rPr lang="en-US" sz="1500" dirty="0">
                <a:solidFill>
                  <a:srgbClr val="F7F5EF"/>
                </a:solidFill>
                <a:latin typeface="Rubik" pitchFamily="34" charset="0"/>
                <a:ea typeface="Rubik" pitchFamily="34" charset="-122"/>
                <a:cs typeface="Rubik" pitchFamily="34" charset="-120"/>
              </a:rPr>
              <a:t> · and finish the leap year program for any year the user types</a:t>
            </a:r>
            <a:endParaRPr lang="en-US" sz="1500" dirty="0"/>
          </a:p>
        </p:txBody>
      </p:sp>
      <p:sp>
        <p:nvSpPr>
          <p:cNvPr id="23" name="Text 2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Rubik" pitchFamily="34" charset="0"/>
                <a:ea typeface="Rubik" pitchFamily="34" charset="-122"/>
                <a:cs typeface="Rubik" pitchFamily="34" charset="-120"/>
              </a:rPr>
              <a:t>Python Programming · Week 2 · Class 4</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2B33D"/>
        </a:solidFill>
      </p:bgPr>
    </p:bg>
    <p:spTree>
      <p:nvGrpSpPr>
        <p:cNvPr id="1" name=""/>
        <p:cNvGrpSpPr/>
        <p:nvPr/>
      </p:nvGrpSpPr>
      <p:grpSpPr>
        <a:xfrm>
          <a:off x="0" y="0"/>
          <a:ext cx="0" cy="0"/>
          <a:chOff x="0" y="0"/>
          <a:chExt cx="0" cy="0"/>
        </a:xfrm>
      </p:grpSpPr>
      <p:sp>
        <p:nvSpPr>
          <p:cNvPr id="2" name="Text 0"/>
          <p:cNvSpPr/>
          <p:nvPr/>
        </p:nvSpPr>
        <p:spPr>
          <a:xfrm>
            <a:off x="812800" y="2504480"/>
            <a:ext cx="512775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1B2A41"/>
                </a:solidFill>
                <a:latin typeface="Rubik" pitchFamily="34" charset="0"/>
                <a:ea typeface="Rubik" pitchFamily="34" charset="-122"/>
                <a:cs typeface="Rubik" pitchFamily="34" charset="-120"/>
              </a:rPr>
              <a:t>CLASS 5 OF 24</a:t>
            </a:r>
            <a:endParaRPr lang="en-US" sz="1200" dirty="0"/>
          </a:p>
        </p:txBody>
      </p:sp>
      <p:sp>
        <p:nvSpPr>
          <p:cNvPr id="3" name="Text 1"/>
          <p:cNvSpPr/>
          <p:nvPr>
            <p:ph type="title"/>
          </p:nvPr>
        </p:nvSpPr>
        <p:spPr>
          <a:xfrm>
            <a:off x="812800" y="2895600"/>
            <a:ext cx="5127752" cy="665427"/>
          </a:xfrm>
          <a:prstGeom prst="rect">
            <a:avLst/>
          </a:prstGeom>
          <a:noFill/>
          <a:ln/>
        </p:spPr>
        <p:txBody>
          <a:bodyPr wrap="square" lIns="0" tIns="0" rIns="0" bIns="0" rtlCol="0" anchor="t">
            <a:normAutofit/>
          </a:bodyPr>
          <a:lstStyle/>
          <a:p>
            <a:pPr algn="l" indent="0" marL="0">
              <a:lnSpc>
                <a:spcPts val="5040"/>
              </a:lnSpc>
              <a:buNone/>
            </a:pPr>
            <a:r>
              <a:rPr lang="en-US" sz="4800" b="1" i="0" dirty="0">
                <a:solidFill>
                  <a:srgbClr val="1B2A41"/>
                </a:solidFill>
                <a:latin typeface="Rubik" pitchFamily="34" charset="0"/>
                <a:ea typeface="Rubik" pitchFamily="34" charset="-122"/>
                <a:cs typeface="Rubik" pitchFamily="34" charset="-120"/>
              </a:rPr>
              <a:t>Loops</a:t>
            </a:r>
            <a:endParaRPr lang="en-US" sz="4800" dirty="0"/>
          </a:p>
        </p:txBody>
      </p:sp>
      <p:sp>
        <p:nvSpPr>
          <p:cNvPr id="4" name="Text 2"/>
          <p:cNvSpPr/>
          <p:nvPr/>
        </p:nvSpPr>
        <p:spPr>
          <a:xfrm>
            <a:off x="812800" y="3713429"/>
            <a:ext cx="5127752" cy="665427"/>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1B2A41"/>
                </a:solidFill>
                <a:latin typeface="Rubik" pitchFamily="34" charset="0"/>
                <a:ea typeface="Rubik" pitchFamily="34" charset="-122"/>
                <a:cs typeface="Rubik" pitchFamily="34" charset="-120"/>
              </a:rPr>
              <a:t>Making the computer do the boring, repeated work for you</a:t>
            </a:r>
            <a:endParaRPr lang="en-US" sz="1800" dirty="0"/>
          </a:p>
        </p:txBody>
      </p:sp>
      <p:sp>
        <p:nvSpPr>
          <p:cNvPr id="5" name="Shape 3"/>
          <p:cNvSpPr/>
          <p:nvPr/>
        </p:nvSpPr>
        <p:spPr>
          <a:xfrm>
            <a:off x="6400800" y="2098018"/>
            <a:ext cx="4978400" cy="2661907"/>
          </a:xfrm>
          <a:prstGeom prst="roundRect">
            <a:avLst>
              <a:gd name="adj" fmla="val 5725"/>
            </a:avLst>
          </a:prstGeom>
          <a:solidFill>
            <a:srgbClr val="1B2A41"/>
          </a:solidFill>
          <a:ln/>
        </p:spPr>
      </p:sp>
      <p:sp>
        <p:nvSpPr>
          <p:cNvPr id="6" name="Text 4"/>
          <p:cNvSpPr/>
          <p:nvPr/>
        </p:nvSpPr>
        <p:spPr>
          <a:xfrm>
            <a:off x="6756400" y="2453618"/>
            <a:ext cx="4395216"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2B33D"/>
                </a:solidFill>
                <a:latin typeface="Rubik" pitchFamily="34" charset="0"/>
                <a:ea typeface="Rubik" pitchFamily="34" charset="-122"/>
                <a:cs typeface="Rubik" pitchFamily="34" charset="-120"/>
              </a:rPr>
              <a:t>By the end of today you can</a:t>
            </a:r>
            <a:endParaRPr lang="en-US" sz="1800" dirty="0"/>
          </a:p>
        </p:txBody>
      </p:sp>
      <p:sp>
        <p:nvSpPr>
          <p:cNvPr id="7" name="Text 5"/>
          <p:cNvSpPr/>
          <p:nvPr/>
        </p:nvSpPr>
        <p:spPr>
          <a:xfrm>
            <a:off x="6840220" y="2880320"/>
            <a:ext cx="4303776" cy="1549400"/>
          </a:xfrm>
          <a:prstGeom prst="rect">
            <a:avLst/>
          </a:prstGeom>
          <a:noFill/>
          <a:ln/>
        </p:spPr>
        <p:txBody>
          <a:bodyPr wrap="square" lIns="0" tIns="0" rIns="0" bIns="0" rtlCol="0" anchor="t">
            <a:normAutofit/>
          </a:bodyPr>
          <a:lstStyle/>
          <a:p>
            <a:pPr algn="l" marL="170180" indent="-170180">
              <a:lnSpc>
                <a:spcPts val="2400"/>
              </a:lnSpc>
              <a:buSzPct val="100000"/>
              <a:buChar char="•"/>
            </a:pPr>
            <a:r>
              <a:rPr lang="en-US" sz="1500" dirty="0">
                <a:solidFill>
                  <a:srgbClr val="F7F5EF"/>
                </a:solidFill>
                <a:latin typeface="Rubik" pitchFamily="34" charset="0"/>
                <a:ea typeface="Rubik" pitchFamily="34" charset="-122"/>
                <a:cs typeface="Rubik" pitchFamily="34" charset="-120"/>
              </a:rPr>
              <a:t>Write while loops safely</a:t>
            </a:r>
            <a:endParaRPr lang="en-US" sz="1500" dirty="0"/>
          </a:p>
          <a:p>
            <a:pPr algn="l" marL="170180" indent="-170180">
              <a:lnSpc>
                <a:spcPts val="2400"/>
              </a:lnSpc>
              <a:buSzPct val="100000"/>
              <a:buChar char="•"/>
            </a:pPr>
            <a:r>
              <a:rPr lang="en-US" sz="1500" dirty="0">
                <a:solidFill>
                  <a:srgbClr val="F7F5EF"/>
                </a:solidFill>
                <a:latin typeface="Rubik" pitchFamily="34" charset="0"/>
                <a:ea typeface="Rubik" pitchFamily="34" charset="-122"/>
                <a:cs typeface="Rubik" pitchFamily="34" charset="-120"/>
              </a:rPr>
              <a:t>Use for loops with range()</a:t>
            </a:r>
            <a:endParaRPr lang="en-US" sz="1500" dirty="0"/>
          </a:p>
          <a:p>
            <a:pPr algn="l" marL="170180" indent="-170180">
              <a:lnSpc>
                <a:spcPts val="2400"/>
              </a:lnSpc>
              <a:buSzPct val="100000"/>
              <a:buChar char="•"/>
            </a:pPr>
            <a:r>
              <a:rPr lang="en-US" sz="1500" dirty="0">
                <a:solidFill>
                  <a:srgbClr val="F7F5EF"/>
                </a:solidFill>
                <a:latin typeface="Rubik" pitchFamily="34" charset="0"/>
                <a:ea typeface="Rubik" pitchFamily="34" charset="-122"/>
                <a:cs typeface="Rubik" pitchFamily="34" charset="-120"/>
              </a:rPr>
              <a:t>Add up and multiply in a loop</a:t>
            </a:r>
            <a:endParaRPr lang="en-US" sz="1500" dirty="0"/>
          </a:p>
          <a:p>
            <a:pPr algn="l" marL="170180" indent="-170180">
              <a:lnSpc>
                <a:spcPts val="2400"/>
              </a:lnSpc>
              <a:buSzPct val="100000"/>
              <a:buChar char="•"/>
            </a:pPr>
            <a:r>
              <a:rPr lang="en-US" sz="1500" dirty="0">
                <a:solidFill>
                  <a:srgbClr val="F7F5EF"/>
                </a:solidFill>
                <a:latin typeface="Rubik" pitchFamily="34" charset="0"/>
                <a:ea typeface="Rubik" pitchFamily="34" charset="-122"/>
                <a:cs typeface="Rubik" pitchFamily="34" charset="-120"/>
              </a:rPr>
              <a:t>Reverse and test digits of a number</a:t>
            </a:r>
            <a:endParaRPr lang="en-US" sz="1500" dirty="0"/>
          </a:p>
          <a:p>
            <a:pPr algn="l" marL="170180" indent="-170180">
              <a:lnSpc>
                <a:spcPts val="2400"/>
              </a:lnSpc>
              <a:buSzPct val="100000"/>
              <a:buChar char="•"/>
            </a:pPr>
            <a:r>
              <a:rPr lang="en-US" sz="1500" dirty="0">
                <a:solidFill>
                  <a:srgbClr val="F7F5EF"/>
                </a:solidFill>
                <a:latin typeface="Rubik" pitchFamily="34" charset="0"/>
                <a:ea typeface="Rubik" pitchFamily="34" charset="-122"/>
                <a:cs typeface="Rubik" pitchFamily="34" charset="-120"/>
              </a:rPr>
              <a:t>Use break and continue</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CLASS 5 · WHY LOOPS</a:t>
            </a:r>
            <a:endParaRPr lang="en-US" sz="1200" dirty="0"/>
          </a:p>
        </p:txBody>
      </p:sp>
      <p:sp>
        <p:nvSpPr>
          <p:cNvPr id="3" name="Text 1"/>
          <p:cNvSpPr/>
          <p:nvPr>
            <p:ph type="title"/>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41"/>
                </a:solidFill>
                <a:latin typeface="Rubik" pitchFamily="34" charset="0"/>
                <a:ea typeface="Rubik" pitchFamily="34" charset="-122"/>
                <a:cs typeface="Rubik" pitchFamily="34" charset="-120"/>
              </a:rPr>
              <a:t>Print 1 to 100: two ways</a:t>
            </a:r>
            <a:endParaRPr lang="en-US" sz="3200" dirty="0"/>
          </a:p>
        </p:txBody>
      </p:sp>
      <p:sp>
        <p:nvSpPr>
          <p:cNvPr id="4" name="Text 2"/>
          <p:cNvSpPr/>
          <p:nvPr/>
        </p:nvSpPr>
        <p:spPr>
          <a:xfrm>
            <a:off x="812800" y="1828738"/>
            <a:ext cx="5284724"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4708"/>
                </a:solidFill>
                <a:latin typeface="Rubik" pitchFamily="34" charset="0"/>
                <a:ea typeface="Rubik" pitchFamily="34" charset="-122"/>
                <a:cs typeface="Rubik" pitchFamily="34" charset="-120"/>
              </a:rPr>
              <a:t>WITHOUT A LOOP</a:t>
            </a:r>
            <a:endParaRPr lang="en-US" sz="1200" dirty="0"/>
          </a:p>
        </p:txBody>
      </p:sp>
      <p:sp>
        <p:nvSpPr>
          <p:cNvPr id="5" name="Text 3"/>
          <p:cNvSpPr/>
          <p:nvPr/>
        </p:nvSpPr>
        <p:spPr>
          <a:xfrm>
            <a:off x="812800" y="2143658"/>
            <a:ext cx="5130800" cy="1784350"/>
          </a:xfrm>
          <a:prstGeom prst="roundRect">
            <a:avLst>
              <a:gd name="adj" fmla="val 7117"/>
            </a:avLst>
          </a:prstGeom>
          <a:solidFill>
            <a:srgbClr val="1B2A41"/>
          </a:solidFill>
          <a:ln/>
        </p:spPr>
        <p:txBody>
          <a:bodyPr wrap="square" lIns="216803" tIns="140603" rIns="78119" bIns="115203" rtlCol="0" anchor="t">
            <a:normAutofit/>
          </a:bodyPr>
          <a:lstStyle/>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(1)</a:t>
            </a: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(2)</a:t>
            </a: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(3)</a:t>
            </a: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(4)</a:t>
            </a:r>
            <a:endParaRPr lang="en-US" sz="1500" dirty="0"/>
          </a:p>
          <a:p>
            <a:pPr algn="l" indent="0" marL="0">
              <a:lnSpc>
                <a:spcPts val="2250"/>
              </a:lnSpc>
              <a:buNone/>
            </a:pPr>
            <a:r>
              <a:rPr lang="en-US" sz="1500" dirty="0">
                <a:solidFill>
                  <a:srgbClr val="8FA3B8"/>
                </a:solidFill>
                <a:latin typeface="JetBrains Mono" pitchFamily="49" charset="0"/>
                <a:ea typeface="JetBrains Mono" pitchFamily="49" charset="-122"/>
                <a:cs typeface="JetBrains Mono" pitchFamily="49" charset="-120"/>
              </a:rPr>
              <a:t># ...and 96 more lines!</a:t>
            </a:r>
            <a:endParaRPr lang="en-US" sz="1500" dirty="0"/>
          </a:p>
        </p:txBody>
      </p:sp>
      <p:sp>
        <p:nvSpPr>
          <p:cNvPr id="6" name="Text 4"/>
          <p:cNvSpPr/>
          <p:nvPr/>
        </p:nvSpPr>
        <p:spPr>
          <a:xfrm>
            <a:off x="6248400" y="1828738"/>
            <a:ext cx="5284724"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WITH A LOOP</a:t>
            </a:r>
            <a:endParaRPr lang="en-US" sz="1200" dirty="0"/>
          </a:p>
        </p:txBody>
      </p:sp>
      <p:sp>
        <p:nvSpPr>
          <p:cNvPr id="7" name="Text 5"/>
          <p:cNvSpPr/>
          <p:nvPr/>
        </p:nvSpPr>
        <p:spPr>
          <a:xfrm>
            <a:off x="6248400" y="2143658"/>
            <a:ext cx="5130800" cy="927100"/>
          </a:xfrm>
          <a:prstGeom prst="roundRect">
            <a:avLst>
              <a:gd name="adj" fmla="val 13699"/>
            </a:avLst>
          </a:prstGeom>
          <a:solidFill>
            <a:srgbClr val="1B2A41"/>
          </a:solidFill>
          <a:ln/>
        </p:spPr>
        <p:txBody>
          <a:bodyPr wrap="square" lIns="216803" tIns="140603" rIns="78119" bIns="115203" rtlCol="0" anchor="t">
            <a:normAutofit/>
          </a:bodyPr>
          <a:lstStyle/>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for</a:t>
            </a:r>
            <a:r>
              <a:rPr lang="en-US" sz="1500" dirty="0">
                <a:solidFill>
                  <a:srgbClr val="E8EDF3"/>
                </a:solidFill>
                <a:latin typeface="JetBrains Mono" pitchFamily="49" charset="0"/>
                <a:ea typeface="JetBrains Mono" pitchFamily="49" charset="-122"/>
                <a:cs typeface="JetBrains Mono" pitchFamily="49" charset="-120"/>
              </a:rPr>
              <a:t> i </a:t>
            </a:r>
            <a:r>
              <a:rPr lang="en-US" sz="1500" dirty="0">
                <a:solidFill>
                  <a:srgbClr val="F2B33D"/>
                </a:solidFill>
                <a:latin typeface="JetBrains Mono" pitchFamily="49" charset="0"/>
                <a:ea typeface="JetBrains Mono" pitchFamily="49" charset="-122"/>
                <a:cs typeface="JetBrains Mono" pitchFamily="49" charset="-120"/>
              </a:rPr>
              <a:t>in</a:t>
            </a: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range</a:t>
            </a:r>
            <a:r>
              <a:rPr lang="en-US" sz="1500" dirty="0">
                <a:solidFill>
                  <a:srgbClr val="E8EDF3"/>
                </a:solidFill>
                <a:latin typeface="JetBrains Mono" pitchFamily="49" charset="0"/>
                <a:ea typeface="JetBrains Mono" pitchFamily="49" charset="-122"/>
                <a:cs typeface="JetBrains Mono" pitchFamily="49" charset="-120"/>
              </a:rPr>
              <a:t>(1, 101):</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(i)</a:t>
            </a:r>
            <a:endParaRPr lang="en-US" sz="1500" dirty="0"/>
          </a:p>
        </p:txBody>
      </p:sp>
      <p:sp>
        <p:nvSpPr>
          <p:cNvPr id="8" name="Text 6"/>
          <p:cNvSpPr/>
          <p:nvPr/>
        </p:nvSpPr>
        <p:spPr>
          <a:xfrm>
            <a:off x="6248400" y="3172358"/>
            <a:ext cx="5284724"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Two lines instead of 100. Change 101 to 1001 and it is still two lines.</a:t>
            </a:r>
            <a:endParaRPr lang="en-US" sz="1500" dirty="0"/>
          </a:p>
        </p:txBody>
      </p:sp>
      <p:sp>
        <p:nvSpPr>
          <p:cNvPr id="9" name="Shape 7"/>
          <p:cNvSpPr/>
          <p:nvPr/>
        </p:nvSpPr>
        <p:spPr>
          <a:xfrm>
            <a:off x="819150" y="4213758"/>
            <a:ext cx="5118100" cy="1219200"/>
          </a:xfrm>
          <a:prstGeom prst="roundRect">
            <a:avLst>
              <a:gd name="adj" fmla="val 9896"/>
            </a:avLst>
          </a:prstGeom>
          <a:solidFill>
            <a:srgbClr val="FFFDF8"/>
          </a:solidFill>
          <a:ln w="12700">
            <a:solidFill>
              <a:srgbClr val="E2DED3"/>
            </a:solidFill>
            <a:prstDash val="solid"/>
          </a:ln>
        </p:spPr>
      </p:sp>
      <p:sp>
        <p:nvSpPr>
          <p:cNvPr id="10" name="Text 8"/>
          <p:cNvSpPr/>
          <p:nvPr/>
        </p:nvSpPr>
        <p:spPr>
          <a:xfrm>
            <a:off x="1054100" y="4397908"/>
            <a:ext cx="4787646"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2A64A3"/>
                </a:solidFill>
                <a:latin typeface="JetBrains Mono" pitchFamily="49" charset="0"/>
                <a:ea typeface="JetBrains Mono" pitchFamily="49" charset="-122"/>
                <a:cs typeface="JetBrains Mono" pitchFamily="49" charset="-120"/>
              </a:rPr>
              <a:t>while</a:t>
            </a:r>
            <a:endParaRPr lang="en-US" sz="1500" dirty="0"/>
          </a:p>
        </p:txBody>
      </p:sp>
      <p:sp>
        <p:nvSpPr>
          <p:cNvPr id="11" name="Text 9"/>
          <p:cNvSpPr/>
          <p:nvPr/>
        </p:nvSpPr>
        <p:spPr>
          <a:xfrm>
            <a:off x="1054100" y="4715408"/>
            <a:ext cx="4787646"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Repeat </a:t>
            </a:r>
            <a:r>
              <a:rPr lang="en-US" sz="1500" b="1" dirty="0">
                <a:solidFill>
                  <a:srgbClr val="4A5568"/>
                </a:solidFill>
                <a:latin typeface="Rubik" pitchFamily="34" charset="0"/>
                <a:ea typeface="Rubik" pitchFamily="34" charset="-122"/>
                <a:cs typeface="Rubik" pitchFamily="34" charset="-120"/>
              </a:rPr>
              <a:t>as long as</a:t>
            </a:r>
            <a:r>
              <a:rPr lang="en-US" sz="1500" dirty="0">
                <a:solidFill>
                  <a:srgbClr val="4A5568"/>
                </a:solidFill>
                <a:latin typeface="Rubik" pitchFamily="34" charset="0"/>
                <a:ea typeface="Rubik" pitchFamily="34" charset="-122"/>
                <a:cs typeface="Rubik" pitchFamily="34" charset="-120"/>
              </a:rPr>
              <a:t> a condition is True. Use it when you don't know how many rounds.</a:t>
            </a:r>
            <a:endParaRPr lang="en-US" sz="1500" dirty="0"/>
          </a:p>
        </p:txBody>
      </p:sp>
      <p:sp>
        <p:nvSpPr>
          <p:cNvPr id="12" name="Shape 10"/>
          <p:cNvSpPr/>
          <p:nvPr/>
        </p:nvSpPr>
        <p:spPr>
          <a:xfrm>
            <a:off x="6254750" y="4213758"/>
            <a:ext cx="5118100" cy="1219200"/>
          </a:xfrm>
          <a:prstGeom prst="roundRect">
            <a:avLst>
              <a:gd name="adj" fmla="val 9896"/>
            </a:avLst>
          </a:prstGeom>
          <a:solidFill>
            <a:srgbClr val="FFFDF8"/>
          </a:solidFill>
          <a:ln w="12700">
            <a:solidFill>
              <a:srgbClr val="E2DED3"/>
            </a:solidFill>
            <a:prstDash val="solid"/>
          </a:ln>
        </p:spPr>
      </p:sp>
      <p:sp>
        <p:nvSpPr>
          <p:cNvPr id="13" name="Text 11"/>
          <p:cNvSpPr/>
          <p:nvPr/>
        </p:nvSpPr>
        <p:spPr>
          <a:xfrm>
            <a:off x="6489700" y="4397908"/>
            <a:ext cx="4787646"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2A64A3"/>
                </a:solidFill>
                <a:latin typeface="JetBrains Mono" pitchFamily="49" charset="0"/>
                <a:ea typeface="JetBrains Mono" pitchFamily="49" charset="-122"/>
                <a:cs typeface="JetBrains Mono" pitchFamily="49" charset="-120"/>
              </a:rPr>
              <a:t>for</a:t>
            </a:r>
            <a:endParaRPr lang="en-US" sz="1500" dirty="0"/>
          </a:p>
        </p:txBody>
      </p:sp>
      <p:sp>
        <p:nvSpPr>
          <p:cNvPr id="14" name="Text 12"/>
          <p:cNvSpPr/>
          <p:nvPr/>
        </p:nvSpPr>
        <p:spPr>
          <a:xfrm>
            <a:off x="6489700" y="4715408"/>
            <a:ext cx="4787646"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Repeat </a:t>
            </a:r>
            <a:r>
              <a:rPr lang="en-US" sz="1500" b="1" dirty="0">
                <a:solidFill>
                  <a:srgbClr val="4A5568"/>
                </a:solidFill>
                <a:latin typeface="Rubik" pitchFamily="34" charset="0"/>
                <a:ea typeface="Rubik" pitchFamily="34" charset="-122"/>
                <a:cs typeface="Rubik" pitchFamily="34" charset="-120"/>
              </a:rPr>
              <a:t>for each</a:t>
            </a:r>
            <a:r>
              <a:rPr lang="en-US" sz="1500" dirty="0">
                <a:solidFill>
                  <a:srgbClr val="4A5568"/>
                </a:solidFill>
                <a:latin typeface="Rubik" pitchFamily="34" charset="0"/>
                <a:ea typeface="Rubik" pitchFamily="34" charset="-122"/>
                <a:cs typeface="Rubik" pitchFamily="34" charset="-120"/>
              </a:rPr>
              <a:t> number or item. Use it when you know how many rounds.</a:t>
            </a:r>
            <a:endParaRPr lang="en-US" sz="1500" dirty="0"/>
          </a:p>
        </p:txBody>
      </p:sp>
      <p:sp>
        <p:nvSpPr>
          <p:cNvPr id="15" name="Text 1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Rubik" pitchFamily="34" charset="0"/>
                <a:ea typeface="Rubik" pitchFamily="34" charset="-122"/>
                <a:cs typeface="Rubik" pitchFamily="34" charset="-120"/>
              </a:rPr>
              <a:t>Python Programming · Week 2 · Class 5</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CLASS 5 · WHILE LOOP</a:t>
            </a:r>
            <a:endParaRPr lang="en-US" sz="1200" dirty="0"/>
          </a:p>
        </p:txBody>
      </p:sp>
      <p:sp>
        <p:nvSpPr>
          <p:cNvPr id="3" name="Text 1"/>
          <p:cNvSpPr/>
          <p:nvPr>
            <p:ph type="title"/>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41"/>
                </a:solidFill>
                <a:latin typeface="Rubik" pitchFamily="34" charset="0"/>
                <a:ea typeface="Rubik" pitchFamily="34" charset="-122"/>
                <a:cs typeface="Rubik" pitchFamily="34" charset="-120"/>
              </a:rPr>
              <a:t>The while loop has three parts</a:t>
            </a:r>
            <a:endParaRPr lang="en-US" sz="3200" dirty="0"/>
          </a:p>
        </p:txBody>
      </p:sp>
      <p:sp>
        <p:nvSpPr>
          <p:cNvPr id="4" name="Shape 2"/>
          <p:cNvSpPr/>
          <p:nvPr/>
        </p:nvSpPr>
        <p:spPr>
          <a:xfrm>
            <a:off x="812800" y="1854138"/>
            <a:ext cx="5375077" cy="2073870"/>
          </a:xfrm>
          <a:prstGeom prst="roundRect">
            <a:avLst>
              <a:gd name="adj" fmla="val 6124"/>
            </a:avLst>
          </a:prstGeom>
          <a:solidFill>
            <a:srgbClr val="1B2A41"/>
          </a:solidFill>
          <a:ln/>
        </p:spPr>
      </p:sp>
      <p:sp>
        <p:nvSpPr>
          <p:cNvPr id="5" name="Text 3"/>
          <p:cNvSpPr/>
          <p:nvPr/>
        </p:nvSpPr>
        <p:spPr>
          <a:xfrm>
            <a:off x="1092200" y="2031938"/>
            <a:ext cx="496076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3B8"/>
                </a:solidFill>
                <a:latin typeface="JetBrains Mono" pitchFamily="49" charset="0"/>
                <a:ea typeface="JetBrains Mono" pitchFamily="49" charset="-122"/>
                <a:cs typeface="JetBrains Mono" pitchFamily="49" charset="-120"/>
              </a:rPr>
              <a:t>count.py</a:t>
            </a:r>
            <a:endParaRPr lang="en-US" sz="1200" dirty="0"/>
          </a:p>
        </p:txBody>
      </p:sp>
      <p:sp>
        <p:nvSpPr>
          <p:cNvPr id="6" name="Text 4"/>
          <p:cNvSpPr/>
          <p:nvPr/>
        </p:nvSpPr>
        <p:spPr>
          <a:xfrm>
            <a:off x="1092200" y="2321458"/>
            <a:ext cx="4960765" cy="14541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count = 1                </a:t>
            </a:r>
            <a:r>
              <a:rPr lang="en-US" sz="1500" dirty="0">
                <a:solidFill>
                  <a:srgbClr val="8FA3B8"/>
                </a:solidFill>
                <a:latin typeface="JetBrains Mono" pitchFamily="49" charset="0"/>
                <a:ea typeface="JetBrains Mono" pitchFamily="49" charset="-122"/>
                <a:cs typeface="JetBrains Mono" pitchFamily="49" charset="-120"/>
              </a:rPr>
              <a:t># 1. start</a:t>
            </a: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while</a:t>
            </a:r>
            <a:r>
              <a:rPr lang="en-US" sz="1500" dirty="0">
                <a:solidFill>
                  <a:srgbClr val="E8EDF3"/>
                </a:solidFill>
                <a:latin typeface="JetBrains Mono" pitchFamily="49" charset="0"/>
                <a:ea typeface="JetBrains Mono" pitchFamily="49" charset="-122"/>
                <a:cs typeface="JetBrains Mono" pitchFamily="49" charset="-120"/>
              </a:rPr>
              <a:t> count &lt;= 5:        </a:t>
            </a:r>
            <a:r>
              <a:rPr lang="en-US" sz="1500" dirty="0">
                <a:solidFill>
                  <a:srgbClr val="8FA3B8"/>
                </a:solidFill>
                <a:latin typeface="JetBrains Mono" pitchFamily="49" charset="0"/>
                <a:ea typeface="JetBrains Mono" pitchFamily="49" charset="-122"/>
                <a:cs typeface="JetBrains Mono" pitchFamily="49" charset="-120"/>
              </a:rPr>
              <a:t># 2. condition</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(count, end=</a:t>
            </a:r>
            <a:r>
              <a:rPr lang="en-US" sz="1500" dirty="0">
                <a:solidFill>
                  <a:srgbClr val="9FD8A8"/>
                </a:solidFill>
                <a:latin typeface="JetBrains Mono" pitchFamily="49" charset="0"/>
                <a:ea typeface="JetBrains Mono" pitchFamily="49" charset="-122"/>
                <a:cs typeface="JetBrains Mono" pitchFamily="49" charset="-120"/>
              </a:rPr>
              <a:t>" "</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count += 1           </a:t>
            </a:r>
            <a:r>
              <a:rPr lang="en-US" sz="1500" dirty="0">
                <a:solidFill>
                  <a:srgbClr val="8FA3B8"/>
                </a:solidFill>
                <a:latin typeface="JetBrains Mono" pitchFamily="49" charset="0"/>
                <a:ea typeface="JetBrains Mono" pitchFamily="49" charset="-122"/>
                <a:cs typeface="JetBrains Mono" pitchFamily="49" charset="-120"/>
              </a:rPr>
              <a:t># 3. update</a:t>
            </a: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a:t>
            </a:r>
            <a:r>
              <a:rPr lang="en-US" sz="1500" dirty="0">
                <a:solidFill>
                  <a:srgbClr val="9FD8A8"/>
                </a:solidFill>
                <a:latin typeface="JetBrains Mono" pitchFamily="49" charset="0"/>
                <a:ea typeface="JetBrains Mono" pitchFamily="49" charset="-122"/>
                <a:cs typeface="JetBrains Mono" pitchFamily="49" charset="-120"/>
              </a:rPr>
              <a:t>"Done!"</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p:txBody>
      </p:sp>
      <p:sp>
        <p:nvSpPr>
          <p:cNvPr id="7" name="Shape 5"/>
          <p:cNvSpPr/>
          <p:nvPr/>
        </p:nvSpPr>
        <p:spPr>
          <a:xfrm>
            <a:off x="819150" y="4061358"/>
            <a:ext cx="5362377" cy="943570"/>
          </a:xfrm>
          <a:prstGeom prst="roundRect">
            <a:avLst>
              <a:gd name="adj" fmla="val 12787"/>
            </a:avLst>
          </a:prstGeom>
          <a:solidFill>
            <a:srgbClr val="FFFDF8"/>
          </a:solidFill>
          <a:ln w="12700">
            <a:solidFill>
              <a:srgbClr val="D9DEE5"/>
            </a:solidFill>
            <a:prstDash val="solid"/>
          </a:ln>
        </p:spPr>
      </p:sp>
      <p:sp>
        <p:nvSpPr>
          <p:cNvPr id="8" name="Text 6"/>
          <p:cNvSpPr/>
          <p:nvPr/>
        </p:nvSpPr>
        <p:spPr>
          <a:xfrm>
            <a:off x="1104900" y="4245508"/>
            <a:ext cx="4934603"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OUTPUT</a:t>
            </a:r>
            <a:endParaRPr lang="en-US" sz="1200" dirty="0"/>
          </a:p>
        </p:txBody>
      </p:sp>
      <p:sp>
        <p:nvSpPr>
          <p:cNvPr id="9" name="Text 7"/>
          <p:cNvSpPr/>
          <p:nvPr/>
        </p:nvSpPr>
        <p:spPr>
          <a:xfrm>
            <a:off x="1104900" y="4535029"/>
            <a:ext cx="4934603" cy="3111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1 2 3 4 5 Done!</a:t>
            </a:r>
            <a:endParaRPr lang="en-US" sz="1500" dirty="0"/>
          </a:p>
        </p:txBody>
      </p:sp>
      <p:sp>
        <p:nvSpPr>
          <p:cNvPr id="10" name="Shape 8"/>
          <p:cNvSpPr/>
          <p:nvPr/>
        </p:nvSpPr>
        <p:spPr>
          <a:xfrm>
            <a:off x="6499027" y="1860488"/>
            <a:ext cx="4873823" cy="482600"/>
          </a:xfrm>
          <a:prstGeom prst="roundRect">
            <a:avLst>
              <a:gd name="adj" fmla="val 17105"/>
            </a:avLst>
          </a:prstGeom>
          <a:solidFill>
            <a:srgbClr val="FFFDF8"/>
          </a:solidFill>
          <a:ln w="12700">
            <a:solidFill>
              <a:srgbClr val="E2DED3"/>
            </a:solidFill>
            <a:prstDash val="solid"/>
          </a:ln>
        </p:spPr>
      </p:sp>
      <p:sp>
        <p:nvSpPr>
          <p:cNvPr id="11" name="Text 9"/>
          <p:cNvSpPr/>
          <p:nvPr/>
        </p:nvSpPr>
        <p:spPr>
          <a:xfrm>
            <a:off x="6657777" y="1968438"/>
            <a:ext cx="330200" cy="266700"/>
          </a:xfrm>
          <a:custGeom>
            <a:avLst/>
            <a:gdLst/>
            <a:ahLst/>
            <a:cxnLst/>
            <a:rect l="l" t="t" r="r" b="b"/>
            <a:pathLst>
              <a:path w="330200" h="266700">
                <a:moveTo>
                  <a:pt x="133350" y="0"/>
                </a:moveTo>
                <a:lnTo>
                  <a:pt x="196850" y="0"/>
                </a:lnTo>
                <a:arcTo hR="133350" wR="133350" stAng="16200000" swAng="5400000"/>
                <a:lnTo>
                  <a:pt x="330200" y="133350"/>
                </a:lnTo>
                <a:arcTo hR="133350" wR="133350" stAng="0" swAng="5400000"/>
                <a:lnTo>
                  <a:pt x="133350" y="266700"/>
                </a:lnTo>
                <a:arcTo hR="133350" wR="133350" stAng="5400000" swAng="5400000"/>
                <a:lnTo>
                  <a:pt x="0" y="133350"/>
                </a:lnTo>
                <a:arcTo hR="133350" wR="133350" stAng="10800000" swAng="5400000"/>
                <a:close/>
              </a:path>
            </a:pathLst>
          </a:custGeom>
          <a:solidFill>
            <a:srgbClr val="F2B33D"/>
          </a:solidFill>
          <a:ln/>
        </p:spPr>
        <p:txBody>
          <a:bodyPr wrap="square" lIns="0" tIns="0" rIns="0" bIns="0" rtlCol="0" anchor="t">
            <a:normAutofit/>
          </a:bodyPr>
          <a:lstStyle/>
          <a:p>
            <a:pPr algn="ctr" indent="0" marL="0">
              <a:lnSpc>
                <a:spcPts val="2100"/>
              </a:lnSpc>
              <a:buNone/>
            </a:pPr>
            <a:r>
              <a:rPr lang="en-US" sz="1500" b="1" dirty="0">
                <a:solidFill>
                  <a:srgbClr val="1B2A41"/>
                </a:solidFill>
                <a:latin typeface="Rubik" pitchFamily="34" charset="0"/>
                <a:ea typeface="Rubik" pitchFamily="34" charset="-122"/>
                <a:cs typeface="Rubik" pitchFamily="34" charset="-120"/>
              </a:rPr>
              <a:t>1</a:t>
            </a:r>
            <a:endParaRPr lang="en-US" sz="1500" dirty="0"/>
          </a:p>
        </p:txBody>
      </p:sp>
      <p:sp>
        <p:nvSpPr>
          <p:cNvPr id="12" name="Text 10"/>
          <p:cNvSpPr/>
          <p:nvPr/>
        </p:nvSpPr>
        <p:spPr>
          <a:xfrm>
            <a:off x="7114977" y="1968438"/>
            <a:ext cx="4251523"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4A5568"/>
                </a:solidFill>
                <a:latin typeface="Rubik" pitchFamily="34" charset="0"/>
                <a:ea typeface="Rubik" pitchFamily="34" charset="-122"/>
                <a:cs typeface="Rubik" pitchFamily="34" charset="-120"/>
              </a:rPr>
              <a:t>Start:</a:t>
            </a:r>
            <a:r>
              <a:rPr lang="en-US" sz="1500" dirty="0">
                <a:solidFill>
                  <a:srgbClr val="4A5568"/>
                </a:solidFill>
                <a:latin typeface="Rubik" pitchFamily="34" charset="0"/>
                <a:ea typeface="Rubik" pitchFamily="34" charset="-122"/>
                <a:cs typeface="Rubik" pitchFamily="34" charset="-120"/>
              </a:rPr>
              <a:t> create the counter before the loop</a:t>
            </a:r>
            <a:endParaRPr lang="en-US" sz="1500" dirty="0"/>
          </a:p>
        </p:txBody>
      </p:sp>
      <p:sp>
        <p:nvSpPr>
          <p:cNvPr id="13" name="Shape 11"/>
          <p:cNvSpPr/>
          <p:nvPr/>
        </p:nvSpPr>
        <p:spPr>
          <a:xfrm>
            <a:off x="6499027" y="2457388"/>
            <a:ext cx="4873823" cy="749300"/>
          </a:xfrm>
          <a:prstGeom prst="roundRect">
            <a:avLst>
              <a:gd name="adj" fmla="val 11017"/>
            </a:avLst>
          </a:prstGeom>
          <a:solidFill>
            <a:srgbClr val="FFFDF8"/>
          </a:solidFill>
          <a:ln w="12700">
            <a:solidFill>
              <a:srgbClr val="E2DED3"/>
            </a:solidFill>
            <a:prstDash val="solid"/>
          </a:ln>
        </p:spPr>
      </p:sp>
      <p:sp>
        <p:nvSpPr>
          <p:cNvPr id="14" name="Text 12"/>
          <p:cNvSpPr/>
          <p:nvPr/>
        </p:nvSpPr>
        <p:spPr>
          <a:xfrm>
            <a:off x="6657777" y="2698688"/>
            <a:ext cx="330200" cy="266700"/>
          </a:xfrm>
          <a:custGeom>
            <a:avLst/>
            <a:gdLst/>
            <a:ahLst/>
            <a:cxnLst/>
            <a:rect l="l" t="t" r="r" b="b"/>
            <a:pathLst>
              <a:path w="330200" h="266700">
                <a:moveTo>
                  <a:pt x="133350" y="0"/>
                </a:moveTo>
                <a:lnTo>
                  <a:pt x="196850" y="0"/>
                </a:lnTo>
                <a:arcTo hR="133350" wR="133350" stAng="16200000" swAng="5400000"/>
                <a:lnTo>
                  <a:pt x="330200" y="133350"/>
                </a:lnTo>
                <a:arcTo hR="133350" wR="133350" stAng="0" swAng="5400000"/>
                <a:lnTo>
                  <a:pt x="133350" y="266700"/>
                </a:lnTo>
                <a:arcTo hR="133350" wR="133350" stAng="5400000" swAng="5400000"/>
                <a:lnTo>
                  <a:pt x="0" y="133350"/>
                </a:lnTo>
                <a:arcTo hR="133350" wR="133350" stAng="10800000" swAng="5400000"/>
                <a:close/>
              </a:path>
            </a:pathLst>
          </a:custGeom>
          <a:solidFill>
            <a:srgbClr val="F2B33D"/>
          </a:solidFill>
          <a:ln/>
        </p:spPr>
        <p:txBody>
          <a:bodyPr wrap="square" lIns="0" tIns="0" rIns="0" bIns="0" rtlCol="0" anchor="t">
            <a:normAutofit/>
          </a:bodyPr>
          <a:lstStyle/>
          <a:p>
            <a:pPr algn="ctr" indent="0" marL="0">
              <a:lnSpc>
                <a:spcPts val="2100"/>
              </a:lnSpc>
              <a:buNone/>
            </a:pPr>
            <a:r>
              <a:rPr lang="en-US" sz="1500" b="1" dirty="0">
                <a:solidFill>
                  <a:srgbClr val="1B2A41"/>
                </a:solidFill>
                <a:latin typeface="Rubik" pitchFamily="34" charset="0"/>
                <a:ea typeface="Rubik" pitchFamily="34" charset="-122"/>
                <a:cs typeface="Rubik" pitchFamily="34" charset="-120"/>
              </a:rPr>
              <a:t>2</a:t>
            </a:r>
            <a:endParaRPr lang="en-US" sz="1500" dirty="0"/>
          </a:p>
        </p:txBody>
      </p:sp>
      <p:sp>
        <p:nvSpPr>
          <p:cNvPr id="15" name="Text 13"/>
          <p:cNvSpPr/>
          <p:nvPr/>
        </p:nvSpPr>
        <p:spPr>
          <a:xfrm>
            <a:off x="7114977" y="2565338"/>
            <a:ext cx="4222097"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4A5568"/>
                </a:solidFill>
                <a:latin typeface="Rubik" pitchFamily="34" charset="0"/>
                <a:ea typeface="Rubik" pitchFamily="34" charset="-122"/>
                <a:cs typeface="Rubik" pitchFamily="34" charset="-120"/>
              </a:rPr>
              <a:t>Condition:</a:t>
            </a:r>
            <a:r>
              <a:rPr lang="en-US" sz="1500" dirty="0">
                <a:solidFill>
                  <a:srgbClr val="4A5568"/>
                </a:solidFill>
                <a:latin typeface="Rubik" pitchFamily="34" charset="0"/>
                <a:ea typeface="Rubik" pitchFamily="34" charset="-122"/>
                <a:cs typeface="Rubik" pitchFamily="34" charset="-120"/>
              </a:rPr>
              <a:t> checked before every round. False means stop</a:t>
            </a:r>
            <a:endParaRPr lang="en-US" sz="1500" dirty="0"/>
          </a:p>
        </p:txBody>
      </p:sp>
      <p:sp>
        <p:nvSpPr>
          <p:cNvPr id="16" name="Shape 14"/>
          <p:cNvSpPr/>
          <p:nvPr/>
        </p:nvSpPr>
        <p:spPr>
          <a:xfrm>
            <a:off x="6499027" y="3320988"/>
            <a:ext cx="4873823" cy="482600"/>
          </a:xfrm>
          <a:prstGeom prst="roundRect">
            <a:avLst>
              <a:gd name="adj" fmla="val 17105"/>
            </a:avLst>
          </a:prstGeom>
          <a:solidFill>
            <a:srgbClr val="FFFDF8"/>
          </a:solidFill>
          <a:ln w="12700">
            <a:solidFill>
              <a:srgbClr val="E2DED3"/>
            </a:solidFill>
            <a:prstDash val="solid"/>
          </a:ln>
        </p:spPr>
      </p:sp>
      <p:sp>
        <p:nvSpPr>
          <p:cNvPr id="17" name="Text 15"/>
          <p:cNvSpPr/>
          <p:nvPr/>
        </p:nvSpPr>
        <p:spPr>
          <a:xfrm>
            <a:off x="6657777" y="3428938"/>
            <a:ext cx="330200" cy="266700"/>
          </a:xfrm>
          <a:custGeom>
            <a:avLst/>
            <a:gdLst/>
            <a:ahLst/>
            <a:cxnLst/>
            <a:rect l="l" t="t" r="r" b="b"/>
            <a:pathLst>
              <a:path w="330200" h="266700">
                <a:moveTo>
                  <a:pt x="133350" y="0"/>
                </a:moveTo>
                <a:lnTo>
                  <a:pt x="196850" y="0"/>
                </a:lnTo>
                <a:arcTo hR="133350" wR="133350" stAng="16200000" swAng="5400000"/>
                <a:lnTo>
                  <a:pt x="330200" y="133350"/>
                </a:lnTo>
                <a:arcTo hR="133350" wR="133350" stAng="0" swAng="5400000"/>
                <a:lnTo>
                  <a:pt x="133350" y="266700"/>
                </a:lnTo>
                <a:arcTo hR="133350" wR="133350" stAng="5400000" swAng="5400000"/>
                <a:lnTo>
                  <a:pt x="0" y="133350"/>
                </a:lnTo>
                <a:arcTo hR="133350" wR="133350" stAng="10800000" swAng="5400000"/>
                <a:close/>
              </a:path>
            </a:pathLst>
          </a:custGeom>
          <a:solidFill>
            <a:srgbClr val="F2B33D"/>
          </a:solidFill>
          <a:ln/>
        </p:spPr>
        <p:txBody>
          <a:bodyPr wrap="square" lIns="0" tIns="0" rIns="0" bIns="0" rtlCol="0" anchor="t">
            <a:normAutofit/>
          </a:bodyPr>
          <a:lstStyle/>
          <a:p>
            <a:pPr algn="ctr" indent="0" marL="0">
              <a:lnSpc>
                <a:spcPts val="2100"/>
              </a:lnSpc>
              <a:buNone/>
            </a:pPr>
            <a:r>
              <a:rPr lang="en-US" sz="1500" b="1" dirty="0">
                <a:solidFill>
                  <a:srgbClr val="1B2A41"/>
                </a:solidFill>
                <a:latin typeface="Rubik" pitchFamily="34" charset="0"/>
                <a:ea typeface="Rubik" pitchFamily="34" charset="-122"/>
                <a:cs typeface="Rubik" pitchFamily="34" charset="-120"/>
              </a:rPr>
              <a:t>3</a:t>
            </a:r>
            <a:endParaRPr lang="en-US" sz="1500" dirty="0"/>
          </a:p>
        </p:txBody>
      </p:sp>
      <p:sp>
        <p:nvSpPr>
          <p:cNvPr id="18" name="Text 16"/>
          <p:cNvSpPr/>
          <p:nvPr/>
        </p:nvSpPr>
        <p:spPr>
          <a:xfrm>
            <a:off x="7114977" y="3428938"/>
            <a:ext cx="4251523"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4A5568"/>
                </a:solidFill>
                <a:latin typeface="Rubik" pitchFamily="34" charset="0"/>
                <a:ea typeface="Rubik" pitchFamily="34" charset="-122"/>
                <a:cs typeface="Rubik" pitchFamily="34" charset="-120"/>
              </a:rPr>
              <a:t>Update:</a:t>
            </a:r>
            <a:r>
              <a:rPr lang="en-US" sz="1500" dirty="0">
                <a:solidFill>
                  <a:srgbClr val="4A5568"/>
                </a:solidFill>
                <a:latin typeface="Rubik" pitchFamily="34" charset="0"/>
                <a:ea typeface="Rubik" pitchFamily="34" charset="-122"/>
                <a:cs typeface="Rubik" pitchFamily="34" charset="-120"/>
              </a:rPr>
              <a:t> change the counter inside the loop</a:t>
            </a:r>
            <a:endParaRPr lang="en-US" sz="1500" dirty="0"/>
          </a:p>
        </p:txBody>
      </p:sp>
      <p:sp>
        <p:nvSpPr>
          <p:cNvPr id="19" name="Shape 17"/>
          <p:cNvSpPr/>
          <p:nvPr/>
        </p:nvSpPr>
        <p:spPr>
          <a:xfrm>
            <a:off x="6499027" y="3917888"/>
            <a:ext cx="4873823" cy="800100"/>
          </a:xfrm>
          <a:prstGeom prst="roundRect">
            <a:avLst>
              <a:gd name="adj" fmla="val 10317"/>
            </a:avLst>
          </a:prstGeom>
          <a:solidFill>
            <a:srgbClr val="FFFDF8"/>
          </a:solidFill>
          <a:ln w="12700">
            <a:solidFill>
              <a:srgbClr val="B54708"/>
            </a:solidFill>
            <a:prstDash val="solid"/>
          </a:ln>
        </p:spPr>
      </p:sp>
      <p:pic>
        <p:nvPicPr>
          <p:cNvPr id="20" name="Image 0" descr="Warning">    </p:cNvPr>
          <p:cNvPicPr>
            <a:picLocks noChangeAspect="1"/>
          </p:cNvPicPr>
          <p:nvPr/>
        </p:nvPicPr>
        <p:blipFill>
          <a:blip r:embed="rId1"/>
          <a:srcRect l="-333" r="-333" t="0" b="0"/>
          <a:stretch/>
        </p:blipFill>
        <p:spPr>
          <a:xfrm>
            <a:off x="6657777" y="4165538"/>
            <a:ext cx="230121" cy="304800"/>
          </a:xfrm>
          <a:prstGeom prst="rect">
            <a:avLst/>
          </a:prstGeom>
        </p:spPr>
      </p:pic>
      <p:sp>
        <p:nvSpPr>
          <p:cNvPr id="21" name="Text 18"/>
          <p:cNvSpPr/>
          <p:nvPr/>
        </p:nvSpPr>
        <p:spPr>
          <a:xfrm>
            <a:off x="7014898" y="4051238"/>
            <a:ext cx="4325178"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1"/>
                </a:solidFill>
                <a:latin typeface="Rubik" pitchFamily="34" charset="0"/>
                <a:ea typeface="Rubik" pitchFamily="34" charset="-122"/>
                <a:cs typeface="Rubik" pitchFamily="34" charset="-120"/>
              </a:rPr>
              <a:t>Forget step 3 and the loop never ends. Press </a:t>
            </a:r>
            <a:r>
              <a:rPr lang="en-US" sz="1500" b="1" dirty="0">
                <a:solidFill>
                  <a:srgbClr val="1B2A41"/>
                </a:solidFill>
                <a:latin typeface="Rubik" pitchFamily="34" charset="0"/>
                <a:ea typeface="Rubik" pitchFamily="34" charset="-122"/>
                <a:cs typeface="Rubik" pitchFamily="34" charset="-120"/>
              </a:rPr>
              <a:t>Ctrl + C</a:t>
            </a:r>
            <a:r>
              <a:rPr lang="en-US" sz="1500" dirty="0">
                <a:solidFill>
                  <a:srgbClr val="1B2A41"/>
                </a:solidFill>
                <a:latin typeface="Rubik" pitchFamily="34" charset="0"/>
                <a:ea typeface="Rubik" pitchFamily="34" charset="-122"/>
                <a:cs typeface="Rubik" pitchFamily="34" charset="-120"/>
              </a:rPr>
              <a:t> to stop it.</a:t>
            </a:r>
            <a:endParaRPr lang="en-US" sz="1500" dirty="0"/>
          </a:p>
        </p:txBody>
      </p:sp>
      <p:sp>
        <p:nvSpPr>
          <p:cNvPr id="22" name="Text 1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Rubik" pitchFamily="34" charset="0"/>
                <a:ea typeface="Rubik" pitchFamily="34" charset="-122"/>
                <a:cs typeface="Rubik" pitchFamily="34" charset="-120"/>
              </a:rPr>
              <a:t>Python Programming · Week 2 · Class 5</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CLASS 5 · FOR LOOP</a:t>
            </a:r>
            <a:endParaRPr lang="en-US" sz="1200" dirty="0"/>
          </a:p>
        </p:txBody>
      </p:sp>
      <p:sp>
        <p:nvSpPr>
          <p:cNvPr id="3" name="Text 1"/>
          <p:cNvSpPr/>
          <p:nvPr>
            <p:ph type="title"/>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41"/>
                </a:solidFill>
                <a:latin typeface="Rubik" pitchFamily="34" charset="0"/>
                <a:ea typeface="Rubik" pitchFamily="34" charset="-122"/>
                <a:cs typeface="Rubik" pitchFamily="34" charset="-120"/>
              </a:rPr>
              <a:t>for loops and range()</a:t>
            </a:r>
            <a:endParaRPr lang="en-US" sz="3200" dirty="0"/>
          </a:p>
        </p:txBody>
      </p:sp>
      <p:sp>
        <p:nvSpPr>
          <p:cNvPr id="4" name="Shape 2"/>
          <p:cNvSpPr/>
          <p:nvPr/>
        </p:nvSpPr>
        <p:spPr>
          <a:xfrm>
            <a:off x="812800" y="1854138"/>
            <a:ext cx="5105400" cy="391120"/>
          </a:xfrm>
          <a:prstGeom prst="roundRect">
            <a:avLst>
              <a:gd name="adj" fmla="val 22730"/>
            </a:avLst>
          </a:prstGeom>
          <a:solidFill>
            <a:srgbClr val="1B2A41"/>
          </a:solidFill>
          <a:ln/>
        </p:spPr>
      </p:sp>
      <p:sp>
        <p:nvSpPr>
          <p:cNvPr id="5" name="Text 3"/>
          <p:cNvSpPr/>
          <p:nvPr/>
        </p:nvSpPr>
        <p:spPr>
          <a:xfrm>
            <a:off x="990600" y="1943038"/>
            <a:ext cx="248539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7F5EF"/>
                </a:solidFill>
                <a:latin typeface="Rubik" pitchFamily="34" charset="0"/>
                <a:ea typeface="Rubik" pitchFamily="34" charset="-122"/>
                <a:cs typeface="Rubik" pitchFamily="34" charset="-120"/>
              </a:rPr>
              <a:t>YOU WRITE</a:t>
            </a:r>
            <a:endParaRPr lang="en-US" sz="1200" dirty="0"/>
          </a:p>
        </p:txBody>
      </p:sp>
      <p:sp>
        <p:nvSpPr>
          <p:cNvPr id="6" name="Text 4"/>
          <p:cNvSpPr/>
          <p:nvPr/>
        </p:nvSpPr>
        <p:spPr>
          <a:xfrm>
            <a:off x="3556000" y="1943038"/>
            <a:ext cx="224993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7F5EF"/>
                </a:solidFill>
                <a:latin typeface="Rubik" pitchFamily="34" charset="0"/>
                <a:ea typeface="Rubik" pitchFamily="34" charset="-122"/>
                <a:cs typeface="Rubik" pitchFamily="34" charset="-120"/>
              </a:rPr>
              <a:t>YOU GET</a:t>
            </a:r>
            <a:endParaRPr lang="en-US" sz="1200" dirty="0"/>
          </a:p>
        </p:txBody>
      </p:sp>
      <p:sp>
        <p:nvSpPr>
          <p:cNvPr id="7" name="Shape 5"/>
          <p:cNvSpPr/>
          <p:nvPr/>
        </p:nvSpPr>
        <p:spPr>
          <a:xfrm>
            <a:off x="812800" y="2696108"/>
            <a:ext cx="5105400" cy="0"/>
          </a:xfrm>
          <a:prstGeom prst="line">
            <a:avLst/>
          </a:prstGeom>
          <a:noFill/>
          <a:ln w="12700">
            <a:solidFill>
              <a:srgbClr val="D9DEE5"/>
            </a:solidFill>
            <a:prstDash val="solid"/>
          </a:ln>
        </p:spPr>
      </p:sp>
      <p:sp>
        <p:nvSpPr>
          <p:cNvPr id="8" name="Text 6"/>
          <p:cNvSpPr/>
          <p:nvPr/>
        </p:nvSpPr>
        <p:spPr>
          <a:xfrm>
            <a:off x="990600" y="2334158"/>
            <a:ext cx="248539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2A64A3"/>
                </a:solidFill>
                <a:latin typeface="JetBrains Mono" pitchFamily="49" charset="0"/>
                <a:ea typeface="JetBrains Mono" pitchFamily="49" charset="-122"/>
                <a:cs typeface="JetBrains Mono" pitchFamily="49" charset="-120"/>
              </a:rPr>
              <a:t>range(5)</a:t>
            </a:r>
            <a:endParaRPr lang="en-US" sz="1500" dirty="0"/>
          </a:p>
        </p:txBody>
      </p:sp>
      <p:sp>
        <p:nvSpPr>
          <p:cNvPr id="9" name="Text 7"/>
          <p:cNvSpPr/>
          <p:nvPr/>
        </p:nvSpPr>
        <p:spPr>
          <a:xfrm>
            <a:off x="3556000" y="2334158"/>
            <a:ext cx="224993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1"/>
                </a:solidFill>
                <a:latin typeface="JetBrains Mono" pitchFamily="49" charset="0"/>
                <a:ea typeface="JetBrains Mono" pitchFamily="49" charset="-122"/>
                <a:cs typeface="JetBrains Mono" pitchFamily="49" charset="-120"/>
              </a:rPr>
              <a:t>0 1 2 3 4</a:t>
            </a:r>
            <a:endParaRPr lang="en-US" sz="1500" dirty="0"/>
          </a:p>
        </p:txBody>
      </p:sp>
      <p:sp>
        <p:nvSpPr>
          <p:cNvPr id="10" name="Shape 8"/>
          <p:cNvSpPr/>
          <p:nvPr/>
        </p:nvSpPr>
        <p:spPr>
          <a:xfrm>
            <a:off x="812800" y="3153308"/>
            <a:ext cx="5105400" cy="0"/>
          </a:xfrm>
          <a:prstGeom prst="line">
            <a:avLst/>
          </a:prstGeom>
          <a:noFill/>
          <a:ln w="12700">
            <a:solidFill>
              <a:srgbClr val="D9DEE5"/>
            </a:solidFill>
            <a:prstDash val="solid"/>
          </a:ln>
        </p:spPr>
      </p:sp>
      <p:sp>
        <p:nvSpPr>
          <p:cNvPr id="11" name="Text 9"/>
          <p:cNvSpPr/>
          <p:nvPr/>
        </p:nvSpPr>
        <p:spPr>
          <a:xfrm>
            <a:off x="990600" y="2791358"/>
            <a:ext cx="248539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2A64A3"/>
                </a:solidFill>
                <a:latin typeface="JetBrains Mono" pitchFamily="49" charset="0"/>
                <a:ea typeface="JetBrains Mono" pitchFamily="49" charset="-122"/>
                <a:cs typeface="JetBrains Mono" pitchFamily="49" charset="-120"/>
              </a:rPr>
              <a:t>range(1, 6)</a:t>
            </a:r>
            <a:endParaRPr lang="en-US" sz="1500" dirty="0"/>
          </a:p>
        </p:txBody>
      </p:sp>
      <p:sp>
        <p:nvSpPr>
          <p:cNvPr id="12" name="Text 10"/>
          <p:cNvSpPr/>
          <p:nvPr/>
        </p:nvSpPr>
        <p:spPr>
          <a:xfrm>
            <a:off x="3556000" y="2791358"/>
            <a:ext cx="224993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1"/>
                </a:solidFill>
                <a:latin typeface="JetBrains Mono" pitchFamily="49" charset="0"/>
                <a:ea typeface="JetBrains Mono" pitchFamily="49" charset="-122"/>
                <a:cs typeface="JetBrains Mono" pitchFamily="49" charset="-120"/>
              </a:rPr>
              <a:t>1 2 3 4 5</a:t>
            </a:r>
            <a:endParaRPr lang="en-US" sz="1500" dirty="0"/>
          </a:p>
        </p:txBody>
      </p:sp>
      <p:sp>
        <p:nvSpPr>
          <p:cNvPr id="13" name="Shape 11"/>
          <p:cNvSpPr/>
          <p:nvPr/>
        </p:nvSpPr>
        <p:spPr>
          <a:xfrm>
            <a:off x="812800" y="3610508"/>
            <a:ext cx="5105400" cy="0"/>
          </a:xfrm>
          <a:prstGeom prst="line">
            <a:avLst/>
          </a:prstGeom>
          <a:noFill/>
          <a:ln w="12700">
            <a:solidFill>
              <a:srgbClr val="D9DEE5"/>
            </a:solidFill>
            <a:prstDash val="solid"/>
          </a:ln>
        </p:spPr>
      </p:sp>
      <p:sp>
        <p:nvSpPr>
          <p:cNvPr id="14" name="Text 12"/>
          <p:cNvSpPr/>
          <p:nvPr/>
        </p:nvSpPr>
        <p:spPr>
          <a:xfrm>
            <a:off x="990600" y="3248558"/>
            <a:ext cx="248539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2A64A3"/>
                </a:solidFill>
                <a:latin typeface="JetBrains Mono" pitchFamily="49" charset="0"/>
                <a:ea typeface="JetBrains Mono" pitchFamily="49" charset="-122"/>
                <a:cs typeface="JetBrains Mono" pitchFamily="49" charset="-120"/>
              </a:rPr>
              <a:t>range(1, 11, 2)</a:t>
            </a:r>
            <a:endParaRPr lang="en-US" sz="1500" dirty="0"/>
          </a:p>
        </p:txBody>
      </p:sp>
      <p:sp>
        <p:nvSpPr>
          <p:cNvPr id="15" name="Text 13"/>
          <p:cNvSpPr/>
          <p:nvPr/>
        </p:nvSpPr>
        <p:spPr>
          <a:xfrm>
            <a:off x="3556000" y="3248558"/>
            <a:ext cx="224993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1"/>
                </a:solidFill>
                <a:latin typeface="JetBrains Mono" pitchFamily="49" charset="0"/>
                <a:ea typeface="JetBrains Mono" pitchFamily="49" charset="-122"/>
                <a:cs typeface="JetBrains Mono" pitchFamily="49" charset="-120"/>
              </a:rPr>
              <a:t>1 3 5 7 9</a:t>
            </a:r>
            <a:endParaRPr lang="en-US" sz="1500" dirty="0"/>
          </a:p>
        </p:txBody>
      </p:sp>
      <p:sp>
        <p:nvSpPr>
          <p:cNvPr id="16" name="Shape 14"/>
          <p:cNvSpPr/>
          <p:nvPr/>
        </p:nvSpPr>
        <p:spPr>
          <a:xfrm>
            <a:off x="812800" y="4067708"/>
            <a:ext cx="5105400" cy="0"/>
          </a:xfrm>
          <a:prstGeom prst="line">
            <a:avLst/>
          </a:prstGeom>
          <a:noFill/>
          <a:ln w="12700">
            <a:solidFill>
              <a:srgbClr val="D9DEE5"/>
            </a:solidFill>
            <a:prstDash val="solid"/>
          </a:ln>
        </p:spPr>
      </p:sp>
      <p:sp>
        <p:nvSpPr>
          <p:cNvPr id="17" name="Text 15"/>
          <p:cNvSpPr/>
          <p:nvPr/>
        </p:nvSpPr>
        <p:spPr>
          <a:xfrm>
            <a:off x="990600" y="3705758"/>
            <a:ext cx="248539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2A64A3"/>
                </a:solidFill>
                <a:latin typeface="JetBrains Mono" pitchFamily="49" charset="0"/>
                <a:ea typeface="JetBrains Mono" pitchFamily="49" charset="-122"/>
                <a:cs typeface="JetBrains Mono" pitchFamily="49" charset="-120"/>
              </a:rPr>
              <a:t>range(10, 0, -2)</a:t>
            </a:r>
            <a:endParaRPr lang="en-US" sz="1500" dirty="0"/>
          </a:p>
        </p:txBody>
      </p:sp>
      <p:sp>
        <p:nvSpPr>
          <p:cNvPr id="18" name="Text 16"/>
          <p:cNvSpPr/>
          <p:nvPr/>
        </p:nvSpPr>
        <p:spPr>
          <a:xfrm>
            <a:off x="3556000" y="3705758"/>
            <a:ext cx="224993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1"/>
                </a:solidFill>
                <a:latin typeface="JetBrains Mono" pitchFamily="49" charset="0"/>
                <a:ea typeface="JetBrains Mono" pitchFamily="49" charset="-122"/>
                <a:cs typeface="JetBrains Mono" pitchFamily="49" charset="-120"/>
              </a:rPr>
              <a:t>10 8 6 4 2</a:t>
            </a:r>
            <a:endParaRPr lang="en-US" sz="1500" dirty="0"/>
          </a:p>
        </p:txBody>
      </p:sp>
      <p:sp>
        <p:nvSpPr>
          <p:cNvPr id="19" name="Text 17"/>
          <p:cNvSpPr/>
          <p:nvPr/>
        </p:nvSpPr>
        <p:spPr>
          <a:xfrm>
            <a:off x="812800" y="4226458"/>
            <a:ext cx="5105400" cy="838200"/>
          </a:xfrm>
          <a:prstGeom prst="roundRect">
            <a:avLst>
              <a:gd name="adj" fmla="val 15152"/>
            </a:avLst>
          </a:prstGeom>
          <a:solidFill>
            <a:srgbClr val="FBEFD5"/>
          </a:solidFill>
          <a:ln/>
        </p:spPr>
        <p:txBody>
          <a:bodyPr wrap="square" lIns="166003" tIns="115203" rIns="25033" bIns="89803" rtlCol="0" anchor="t">
            <a:normAutofit/>
          </a:bodyPr>
          <a:lstStyle/>
          <a:p>
            <a:pPr algn="l" indent="0" marL="0">
              <a:lnSpc>
                <a:spcPts val="2100"/>
              </a:lnSpc>
              <a:buNone/>
            </a:pPr>
            <a:r>
              <a:rPr lang="en-US" sz="1500" b="1" dirty="0">
                <a:solidFill>
                  <a:srgbClr val="1B2A41"/>
                </a:solidFill>
                <a:latin typeface="Rubik" pitchFamily="34" charset="0"/>
                <a:ea typeface="Rubik" pitchFamily="34" charset="-122"/>
                <a:cs typeface="Rubik" pitchFamily="34" charset="-120"/>
              </a:rPr>
              <a:t>range(start, stop, step)</a:t>
            </a:r>
            <a:r>
              <a:rPr lang="en-US" sz="1500" dirty="0">
                <a:solidFill>
                  <a:srgbClr val="1B2A41"/>
                </a:solidFill>
                <a:latin typeface="Rubik" pitchFamily="34" charset="0"/>
                <a:ea typeface="Rubik" pitchFamily="34" charset="-122"/>
                <a:cs typeface="Rubik" pitchFamily="34" charset="-120"/>
              </a:rPr>
              <a:t>: the stop number is never included.</a:t>
            </a:r>
            <a:endParaRPr lang="en-US" sz="1500" dirty="0"/>
          </a:p>
        </p:txBody>
      </p:sp>
      <p:sp>
        <p:nvSpPr>
          <p:cNvPr id="20" name="Shape 18"/>
          <p:cNvSpPr/>
          <p:nvPr/>
        </p:nvSpPr>
        <p:spPr>
          <a:xfrm>
            <a:off x="6273800" y="1854138"/>
            <a:ext cx="5105400" cy="1502370"/>
          </a:xfrm>
          <a:prstGeom prst="roundRect">
            <a:avLst>
              <a:gd name="adj" fmla="val 8453"/>
            </a:avLst>
          </a:prstGeom>
          <a:solidFill>
            <a:srgbClr val="1B2A41"/>
          </a:solidFill>
          <a:ln/>
        </p:spPr>
      </p:sp>
      <p:sp>
        <p:nvSpPr>
          <p:cNvPr id="21" name="Text 19"/>
          <p:cNvSpPr/>
          <p:nvPr/>
        </p:nvSpPr>
        <p:spPr>
          <a:xfrm>
            <a:off x="6527800" y="2031938"/>
            <a:ext cx="473532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3B8"/>
                </a:solidFill>
                <a:latin typeface="JetBrains Mono" pitchFamily="49" charset="0"/>
                <a:ea typeface="JetBrains Mono" pitchFamily="49" charset="-122"/>
                <a:cs typeface="JetBrains Mono" pitchFamily="49" charset="-120"/>
              </a:rPr>
              <a:t>table.py · multiplication table</a:t>
            </a:r>
            <a:endParaRPr lang="en-US" sz="1200" dirty="0"/>
          </a:p>
        </p:txBody>
      </p:sp>
      <p:sp>
        <p:nvSpPr>
          <p:cNvPr id="22" name="Text 20"/>
          <p:cNvSpPr/>
          <p:nvPr/>
        </p:nvSpPr>
        <p:spPr>
          <a:xfrm>
            <a:off x="6527800" y="2321458"/>
            <a:ext cx="4735322" cy="8826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n = 7</a:t>
            </a: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for</a:t>
            </a:r>
            <a:r>
              <a:rPr lang="en-US" sz="1500" dirty="0">
                <a:solidFill>
                  <a:srgbClr val="E8EDF3"/>
                </a:solidFill>
                <a:latin typeface="JetBrains Mono" pitchFamily="49" charset="0"/>
                <a:ea typeface="JetBrains Mono" pitchFamily="49" charset="-122"/>
                <a:cs typeface="JetBrains Mono" pitchFamily="49" charset="-120"/>
              </a:rPr>
              <a:t> i </a:t>
            </a:r>
            <a:r>
              <a:rPr lang="en-US" sz="1500" dirty="0">
                <a:solidFill>
                  <a:srgbClr val="F2B33D"/>
                </a:solidFill>
                <a:latin typeface="JetBrains Mono" pitchFamily="49" charset="0"/>
                <a:ea typeface="JetBrains Mono" pitchFamily="49" charset="-122"/>
                <a:cs typeface="JetBrains Mono" pitchFamily="49" charset="-120"/>
              </a:rPr>
              <a:t>in</a:t>
            </a: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range</a:t>
            </a:r>
            <a:r>
              <a:rPr lang="en-US" sz="1500" dirty="0">
                <a:solidFill>
                  <a:srgbClr val="E8EDF3"/>
                </a:solidFill>
                <a:latin typeface="JetBrains Mono" pitchFamily="49" charset="0"/>
                <a:ea typeface="JetBrains Mono" pitchFamily="49" charset="-122"/>
                <a:cs typeface="JetBrains Mono" pitchFamily="49" charset="-120"/>
              </a:rPr>
              <a:t>(1, 11):</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(n, </a:t>
            </a:r>
            <a:r>
              <a:rPr lang="en-US" sz="1500" dirty="0">
                <a:solidFill>
                  <a:srgbClr val="9FD8A8"/>
                </a:solidFill>
                <a:latin typeface="JetBrains Mono" pitchFamily="49" charset="0"/>
                <a:ea typeface="JetBrains Mono" pitchFamily="49" charset="-122"/>
                <a:cs typeface="JetBrains Mono" pitchFamily="49" charset="-120"/>
              </a:rPr>
              <a:t>"x"</a:t>
            </a:r>
            <a:r>
              <a:rPr lang="en-US" sz="1500" dirty="0">
                <a:solidFill>
                  <a:srgbClr val="E8EDF3"/>
                </a:solidFill>
                <a:latin typeface="JetBrains Mono" pitchFamily="49" charset="0"/>
                <a:ea typeface="JetBrains Mono" pitchFamily="49" charset="-122"/>
                <a:cs typeface="JetBrains Mono" pitchFamily="49" charset="-120"/>
              </a:rPr>
              <a:t>, i, </a:t>
            </a:r>
            <a:r>
              <a:rPr lang="en-US" sz="1500" dirty="0">
                <a:solidFill>
                  <a:srgbClr val="9FD8A8"/>
                </a:solidFill>
                <a:latin typeface="JetBrains Mono" pitchFamily="49" charset="0"/>
                <a:ea typeface="JetBrains Mono" pitchFamily="49" charset="-122"/>
                <a:cs typeface="JetBrains Mono" pitchFamily="49" charset="-120"/>
              </a:rPr>
              <a:t>"="</a:t>
            </a:r>
            <a:r>
              <a:rPr lang="en-US" sz="1500" dirty="0">
                <a:solidFill>
                  <a:srgbClr val="E8EDF3"/>
                </a:solidFill>
                <a:latin typeface="JetBrains Mono" pitchFamily="49" charset="0"/>
                <a:ea typeface="JetBrains Mono" pitchFamily="49" charset="-122"/>
                <a:cs typeface="JetBrains Mono" pitchFamily="49" charset="-120"/>
              </a:rPr>
              <a:t>, n * i)</a:t>
            </a:r>
            <a:endParaRPr lang="en-US" sz="1500" dirty="0"/>
          </a:p>
        </p:txBody>
      </p:sp>
      <p:sp>
        <p:nvSpPr>
          <p:cNvPr id="23" name="Shape 21"/>
          <p:cNvSpPr/>
          <p:nvPr/>
        </p:nvSpPr>
        <p:spPr>
          <a:xfrm>
            <a:off x="6280150" y="3489858"/>
            <a:ext cx="5092700" cy="2086570"/>
          </a:xfrm>
          <a:prstGeom prst="roundRect">
            <a:avLst>
              <a:gd name="adj" fmla="val 5782"/>
            </a:avLst>
          </a:prstGeom>
          <a:solidFill>
            <a:srgbClr val="FFFDF8"/>
          </a:solidFill>
          <a:ln w="12700">
            <a:solidFill>
              <a:srgbClr val="D9DEE5"/>
            </a:solidFill>
            <a:prstDash val="solid"/>
          </a:ln>
        </p:spPr>
      </p:sp>
      <p:sp>
        <p:nvSpPr>
          <p:cNvPr id="24" name="Text 22"/>
          <p:cNvSpPr/>
          <p:nvPr/>
        </p:nvSpPr>
        <p:spPr>
          <a:xfrm>
            <a:off x="6540500" y="3674008"/>
            <a:ext cx="470916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OUTPUT</a:t>
            </a:r>
            <a:endParaRPr lang="en-US" sz="1200" dirty="0"/>
          </a:p>
        </p:txBody>
      </p:sp>
      <p:sp>
        <p:nvSpPr>
          <p:cNvPr id="25" name="Text 23"/>
          <p:cNvSpPr/>
          <p:nvPr/>
        </p:nvSpPr>
        <p:spPr>
          <a:xfrm>
            <a:off x="6540500" y="3963529"/>
            <a:ext cx="4709160" cy="14541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7 x 1 = 7</a:t>
            </a:r>
            <a:endParaRPr lang="en-US" sz="1500" dirty="0"/>
          </a:p>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7 x 2 = 14</a:t>
            </a:r>
            <a:endParaRPr lang="en-US" sz="1500" dirty="0"/>
          </a:p>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7 x 3 = 21</a:t>
            </a:r>
            <a:endParaRPr lang="en-US" sz="1500" dirty="0"/>
          </a:p>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a:t>
            </a:r>
            <a:endParaRPr lang="en-US" sz="1500" dirty="0"/>
          </a:p>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7 x 10 = 70</a:t>
            </a:r>
            <a:endParaRPr lang="en-US" sz="1500" dirty="0"/>
          </a:p>
        </p:txBody>
      </p:sp>
      <p:sp>
        <p:nvSpPr>
          <p:cNvPr id="26" name="Text 2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Rubik" pitchFamily="34" charset="0"/>
                <a:ea typeface="Rubik" pitchFamily="34" charset="-122"/>
                <a:cs typeface="Rubik" pitchFamily="34" charset="-120"/>
              </a:rPr>
              <a:t>Python Programming · Week 2 · Class 5</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CLASS 5 · ACCUMULATORS</a:t>
            </a:r>
            <a:endParaRPr lang="en-US" sz="1200" dirty="0"/>
          </a:p>
        </p:txBody>
      </p:sp>
      <p:sp>
        <p:nvSpPr>
          <p:cNvPr id="3" name="Text 1"/>
          <p:cNvSpPr/>
          <p:nvPr>
            <p:ph type="title"/>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41"/>
                </a:solidFill>
                <a:latin typeface="Rubik" pitchFamily="34" charset="0"/>
                <a:ea typeface="Rubik" pitchFamily="34" charset="-122"/>
                <a:cs typeface="Rubik" pitchFamily="34" charset="-120"/>
              </a:rPr>
              <a:t>Adding up and multiplying in a loop</a:t>
            </a:r>
            <a:endParaRPr lang="en-US" sz="3200" dirty="0"/>
          </a:p>
        </p:txBody>
      </p:sp>
      <p:sp>
        <p:nvSpPr>
          <p:cNvPr id="4" name="Shape 2"/>
          <p:cNvSpPr/>
          <p:nvPr/>
        </p:nvSpPr>
        <p:spPr>
          <a:xfrm>
            <a:off x="812800" y="1854138"/>
            <a:ext cx="5569479" cy="2931120"/>
          </a:xfrm>
          <a:prstGeom prst="roundRect">
            <a:avLst>
              <a:gd name="adj" fmla="val 4333"/>
            </a:avLst>
          </a:prstGeom>
          <a:solidFill>
            <a:srgbClr val="1B2A41"/>
          </a:solidFill>
          <a:ln/>
        </p:spPr>
      </p:sp>
      <p:sp>
        <p:nvSpPr>
          <p:cNvPr id="5" name="Text 3"/>
          <p:cNvSpPr/>
          <p:nvPr/>
        </p:nvSpPr>
        <p:spPr>
          <a:xfrm>
            <a:off x="1066800" y="2031938"/>
            <a:ext cx="521332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3B8"/>
                </a:solidFill>
                <a:latin typeface="JetBrains Mono" pitchFamily="49" charset="0"/>
                <a:ea typeface="JetBrains Mono" pitchFamily="49" charset="-122"/>
                <a:cs typeface="JetBrains Mono" pitchFamily="49" charset="-120"/>
              </a:rPr>
              <a:t>sum_fact.py</a:t>
            </a:r>
            <a:endParaRPr lang="en-US" sz="1200" dirty="0"/>
          </a:p>
        </p:txBody>
      </p:sp>
      <p:sp>
        <p:nvSpPr>
          <p:cNvPr id="6" name="Text 4"/>
          <p:cNvSpPr/>
          <p:nvPr/>
        </p:nvSpPr>
        <p:spPr>
          <a:xfrm>
            <a:off x="1066800" y="2321458"/>
            <a:ext cx="5213324" cy="23114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n = </a:t>
            </a:r>
            <a:r>
              <a:rPr lang="en-US" sz="1500" dirty="0">
                <a:solidFill>
                  <a:srgbClr val="F2B33D"/>
                </a:solidFill>
                <a:latin typeface="JetBrains Mono" pitchFamily="49" charset="0"/>
                <a:ea typeface="JetBrains Mono" pitchFamily="49" charset="-122"/>
                <a:cs typeface="JetBrains Mono" pitchFamily="49" charset="-120"/>
              </a:rPr>
              <a:t>int</a:t>
            </a:r>
            <a:r>
              <a:rPr lang="en-US" sz="1500" dirty="0">
                <a:solidFill>
                  <a:srgbClr val="E8EDF3"/>
                </a:solidFill>
                <a:latin typeface="JetBrains Mono" pitchFamily="49" charset="0"/>
                <a:ea typeface="JetBrains Mono" pitchFamily="49" charset="-122"/>
                <a:cs typeface="JetBrains Mono" pitchFamily="49" charset="-120"/>
              </a:rPr>
              <a:t>(</a:t>
            </a:r>
            <a:r>
              <a:rPr lang="en-US" sz="1500" dirty="0">
                <a:solidFill>
                  <a:srgbClr val="F2B33D"/>
                </a:solidFill>
                <a:latin typeface="JetBrains Mono" pitchFamily="49" charset="0"/>
                <a:ea typeface="JetBrains Mono" pitchFamily="49" charset="-122"/>
                <a:cs typeface="JetBrains Mono" pitchFamily="49" charset="-120"/>
              </a:rPr>
              <a:t>input</a:t>
            </a:r>
            <a:r>
              <a:rPr lang="en-US" sz="1500" dirty="0">
                <a:solidFill>
                  <a:srgbClr val="E8EDF3"/>
                </a:solidFill>
                <a:latin typeface="JetBrains Mono" pitchFamily="49" charset="0"/>
                <a:ea typeface="JetBrains Mono" pitchFamily="49" charset="-122"/>
                <a:cs typeface="JetBrains Mono" pitchFamily="49" charset="-120"/>
              </a:rPr>
              <a:t>(</a:t>
            </a:r>
            <a:r>
              <a:rPr lang="en-US" sz="1500" dirty="0">
                <a:solidFill>
                  <a:srgbClr val="9FD8A8"/>
                </a:solidFill>
                <a:latin typeface="JetBrains Mono" pitchFamily="49" charset="0"/>
                <a:ea typeface="JetBrains Mono" pitchFamily="49" charset="-122"/>
                <a:cs typeface="JetBrains Mono" pitchFamily="49" charset="-120"/>
              </a:rPr>
              <a:t>"n: "</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total = 0</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fact = 1</a:t>
            </a: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for</a:t>
            </a:r>
            <a:r>
              <a:rPr lang="en-US" sz="1500" dirty="0">
                <a:solidFill>
                  <a:srgbClr val="E8EDF3"/>
                </a:solidFill>
                <a:latin typeface="JetBrains Mono" pitchFamily="49" charset="0"/>
                <a:ea typeface="JetBrains Mono" pitchFamily="49" charset="-122"/>
                <a:cs typeface="JetBrains Mono" pitchFamily="49" charset="-120"/>
              </a:rPr>
              <a:t> i </a:t>
            </a:r>
            <a:r>
              <a:rPr lang="en-US" sz="1500" dirty="0">
                <a:solidFill>
                  <a:srgbClr val="F2B33D"/>
                </a:solidFill>
                <a:latin typeface="JetBrains Mono" pitchFamily="49" charset="0"/>
                <a:ea typeface="JetBrains Mono" pitchFamily="49" charset="-122"/>
                <a:cs typeface="JetBrains Mono" pitchFamily="49" charset="-120"/>
              </a:rPr>
              <a:t>in</a:t>
            </a: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range</a:t>
            </a:r>
            <a:r>
              <a:rPr lang="en-US" sz="1500" dirty="0">
                <a:solidFill>
                  <a:srgbClr val="E8EDF3"/>
                </a:solidFill>
                <a:latin typeface="JetBrains Mono" pitchFamily="49" charset="0"/>
                <a:ea typeface="JetBrains Mono" pitchFamily="49" charset="-122"/>
                <a:cs typeface="JetBrains Mono" pitchFamily="49" charset="-120"/>
              </a:rPr>
              <a:t>(1, n + 1):</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total += i</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fact *= i</a:t>
            </a: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a:t>
            </a:r>
            <a:r>
              <a:rPr lang="en-US" sz="1500" dirty="0">
                <a:solidFill>
                  <a:srgbClr val="9FD8A8"/>
                </a:solidFill>
                <a:latin typeface="JetBrains Mono" pitchFamily="49" charset="0"/>
                <a:ea typeface="JetBrains Mono" pitchFamily="49" charset="-122"/>
                <a:cs typeface="JetBrains Mono" pitchFamily="49" charset="-120"/>
              </a:rPr>
              <a:t>"Sum ="</a:t>
            </a:r>
            <a:r>
              <a:rPr lang="en-US" sz="1500" dirty="0">
                <a:solidFill>
                  <a:srgbClr val="E8EDF3"/>
                </a:solidFill>
                <a:latin typeface="JetBrains Mono" pitchFamily="49" charset="0"/>
                <a:ea typeface="JetBrains Mono" pitchFamily="49" charset="-122"/>
                <a:cs typeface="JetBrains Mono" pitchFamily="49" charset="-120"/>
              </a:rPr>
              <a:t>, total)</a:t>
            </a: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a:t>
            </a:r>
            <a:r>
              <a:rPr lang="en-US" sz="1500" dirty="0">
                <a:solidFill>
                  <a:srgbClr val="9FD8A8"/>
                </a:solidFill>
                <a:latin typeface="JetBrains Mono" pitchFamily="49" charset="0"/>
                <a:ea typeface="JetBrains Mono" pitchFamily="49" charset="-122"/>
                <a:cs typeface="JetBrains Mono" pitchFamily="49" charset="-120"/>
              </a:rPr>
              <a:t>"Factorial ="</a:t>
            </a:r>
            <a:r>
              <a:rPr lang="en-US" sz="1500" dirty="0">
                <a:solidFill>
                  <a:srgbClr val="E8EDF3"/>
                </a:solidFill>
                <a:latin typeface="JetBrains Mono" pitchFamily="49" charset="0"/>
                <a:ea typeface="JetBrains Mono" pitchFamily="49" charset="-122"/>
                <a:cs typeface="JetBrains Mono" pitchFamily="49" charset="-120"/>
              </a:rPr>
              <a:t>, fact)</a:t>
            </a:r>
            <a:endParaRPr lang="en-US" sz="1500" dirty="0"/>
          </a:p>
        </p:txBody>
      </p:sp>
      <p:sp>
        <p:nvSpPr>
          <p:cNvPr id="7" name="Shape 5"/>
          <p:cNvSpPr/>
          <p:nvPr/>
        </p:nvSpPr>
        <p:spPr>
          <a:xfrm>
            <a:off x="6744229" y="1860488"/>
            <a:ext cx="4628621" cy="1515070"/>
          </a:xfrm>
          <a:prstGeom prst="roundRect">
            <a:avLst>
              <a:gd name="adj" fmla="val 7963"/>
            </a:avLst>
          </a:prstGeom>
          <a:solidFill>
            <a:srgbClr val="FFFDF8"/>
          </a:solidFill>
          <a:ln w="12700">
            <a:solidFill>
              <a:srgbClr val="D9DEE5"/>
            </a:solidFill>
            <a:prstDash val="solid"/>
          </a:ln>
        </p:spPr>
      </p:sp>
      <p:sp>
        <p:nvSpPr>
          <p:cNvPr id="8" name="Text 6"/>
          <p:cNvSpPr/>
          <p:nvPr/>
        </p:nvSpPr>
        <p:spPr>
          <a:xfrm>
            <a:off x="7004579" y="2044638"/>
            <a:ext cx="4231159"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OUTPUT · ORANGE = WHAT THE USER TYPES</a:t>
            </a:r>
            <a:endParaRPr lang="en-US" sz="1200" dirty="0"/>
          </a:p>
        </p:txBody>
      </p:sp>
      <p:sp>
        <p:nvSpPr>
          <p:cNvPr id="9" name="Text 7"/>
          <p:cNvSpPr/>
          <p:nvPr/>
        </p:nvSpPr>
        <p:spPr>
          <a:xfrm>
            <a:off x="7004579" y="2334158"/>
            <a:ext cx="4231159" cy="8826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n: </a:t>
            </a:r>
            <a:r>
              <a:rPr lang="en-US" sz="1500" dirty="0">
                <a:solidFill>
                  <a:srgbClr val="B54708"/>
                </a:solidFill>
                <a:latin typeface="JetBrains Mono" pitchFamily="49" charset="0"/>
                <a:ea typeface="JetBrains Mono" pitchFamily="49" charset="-122"/>
                <a:cs typeface="JetBrains Mono" pitchFamily="49" charset="-120"/>
              </a:rPr>
              <a:t>5</a:t>
            </a:r>
            <a:endParaRPr lang="en-US" sz="1500" dirty="0"/>
          </a:p>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Sum = 15</a:t>
            </a:r>
            <a:endParaRPr lang="en-US" sz="1500" dirty="0"/>
          </a:p>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Factorial = 120</a:t>
            </a:r>
            <a:endParaRPr lang="en-US" sz="1500" dirty="0"/>
          </a:p>
        </p:txBody>
      </p:sp>
      <p:sp>
        <p:nvSpPr>
          <p:cNvPr id="10" name="Shape 8"/>
          <p:cNvSpPr/>
          <p:nvPr/>
        </p:nvSpPr>
        <p:spPr>
          <a:xfrm>
            <a:off x="6744229" y="3515258"/>
            <a:ext cx="4628621" cy="482600"/>
          </a:xfrm>
          <a:prstGeom prst="roundRect">
            <a:avLst>
              <a:gd name="adj" fmla="val 17105"/>
            </a:avLst>
          </a:prstGeom>
          <a:solidFill>
            <a:srgbClr val="FFFDF8"/>
          </a:solidFill>
          <a:ln w="12700">
            <a:solidFill>
              <a:srgbClr val="E2DED3"/>
            </a:solidFill>
            <a:prstDash val="solid"/>
          </a:ln>
        </p:spPr>
      </p:sp>
      <p:sp>
        <p:nvSpPr>
          <p:cNvPr id="11" name="Text 9"/>
          <p:cNvSpPr/>
          <p:nvPr/>
        </p:nvSpPr>
        <p:spPr>
          <a:xfrm>
            <a:off x="6902979" y="3623208"/>
            <a:ext cx="330200" cy="266700"/>
          </a:xfrm>
          <a:custGeom>
            <a:avLst/>
            <a:gdLst/>
            <a:ahLst/>
            <a:cxnLst/>
            <a:rect l="l" t="t" r="r" b="b"/>
            <a:pathLst>
              <a:path w="330200" h="266700">
                <a:moveTo>
                  <a:pt x="133350" y="0"/>
                </a:moveTo>
                <a:lnTo>
                  <a:pt x="196850" y="0"/>
                </a:lnTo>
                <a:arcTo hR="133350" wR="133350" stAng="16200000" swAng="5400000"/>
                <a:lnTo>
                  <a:pt x="330200" y="133350"/>
                </a:lnTo>
                <a:arcTo hR="133350" wR="133350" stAng="0" swAng="5400000"/>
                <a:lnTo>
                  <a:pt x="133350" y="266700"/>
                </a:lnTo>
                <a:arcTo hR="133350" wR="133350" stAng="5400000" swAng="5400000"/>
                <a:lnTo>
                  <a:pt x="0" y="133350"/>
                </a:lnTo>
                <a:arcTo hR="133350" wR="133350" stAng="10800000" swAng="5400000"/>
                <a:close/>
              </a:path>
            </a:pathLst>
          </a:custGeom>
          <a:solidFill>
            <a:srgbClr val="F2B33D"/>
          </a:solidFill>
          <a:ln/>
        </p:spPr>
        <p:txBody>
          <a:bodyPr wrap="square" lIns="0" tIns="0" rIns="0" bIns="0" rtlCol="0" anchor="t">
            <a:normAutofit/>
          </a:bodyPr>
          <a:lstStyle/>
          <a:p>
            <a:pPr algn="ctr" indent="0" marL="0">
              <a:lnSpc>
                <a:spcPts val="2100"/>
              </a:lnSpc>
              <a:buNone/>
            </a:pPr>
            <a:r>
              <a:rPr lang="en-US" sz="1500" b="1" dirty="0">
                <a:solidFill>
                  <a:srgbClr val="1B2A41"/>
                </a:solidFill>
                <a:latin typeface="Rubik" pitchFamily="34" charset="0"/>
                <a:ea typeface="Rubik" pitchFamily="34" charset="-122"/>
                <a:cs typeface="Rubik" pitchFamily="34" charset="-120"/>
              </a:rPr>
              <a:t>1</a:t>
            </a:r>
            <a:endParaRPr lang="en-US" sz="1500" dirty="0"/>
          </a:p>
        </p:txBody>
      </p:sp>
      <p:sp>
        <p:nvSpPr>
          <p:cNvPr id="12" name="Text 10"/>
          <p:cNvSpPr/>
          <p:nvPr/>
        </p:nvSpPr>
        <p:spPr>
          <a:xfrm>
            <a:off x="7360179" y="3623208"/>
            <a:ext cx="4006321"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4A5568"/>
                </a:solidFill>
                <a:latin typeface="Rubik" pitchFamily="34" charset="0"/>
                <a:ea typeface="Rubik" pitchFamily="34" charset="-122"/>
                <a:cs typeface="Rubik" pitchFamily="34" charset="-120"/>
              </a:rPr>
              <a:t>Start:</a:t>
            </a:r>
            <a:r>
              <a:rPr lang="en-US" sz="1500" dirty="0">
                <a:solidFill>
                  <a:srgbClr val="4A5568"/>
                </a:solidFill>
                <a:latin typeface="Rubik" pitchFamily="34" charset="0"/>
                <a:ea typeface="Rubik" pitchFamily="34" charset="-122"/>
                <a:cs typeface="Rubik" pitchFamily="34" charset="-120"/>
              </a:rPr>
              <a:t> </a:t>
            </a:r>
            <a:r>
              <a:rPr lang="en-US" sz="1500" dirty="0">
                <a:solidFill>
                  <a:srgbClr val="2A64A3"/>
                </a:solidFill>
                <a:latin typeface="Rubik" pitchFamily="34" charset="0"/>
                <a:ea typeface="Rubik" pitchFamily="34" charset="-122"/>
                <a:cs typeface="Rubik" pitchFamily="34" charset="-120"/>
              </a:rPr>
              <a:t>total = 0</a:t>
            </a:r>
            <a:r>
              <a:rPr lang="en-US" sz="1500" dirty="0">
                <a:solidFill>
                  <a:srgbClr val="4A5568"/>
                </a:solidFill>
                <a:latin typeface="Rubik" pitchFamily="34" charset="0"/>
                <a:ea typeface="Rubik" pitchFamily="34" charset="-122"/>
                <a:cs typeface="Rubik" pitchFamily="34" charset="-120"/>
              </a:rPr>
              <a:t>, </a:t>
            </a:r>
            <a:r>
              <a:rPr lang="en-US" sz="1500" dirty="0">
                <a:solidFill>
                  <a:srgbClr val="2A64A3"/>
                </a:solidFill>
                <a:latin typeface="Rubik" pitchFamily="34" charset="0"/>
                <a:ea typeface="Rubik" pitchFamily="34" charset="-122"/>
                <a:cs typeface="Rubik" pitchFamily="34" charset="-120"/>
              </a:rPr>
              <a:t>fact = 1</a:t>
            </a:r>
            <a:r>
              <a:rPr lang="en-US" sz="1500" dirty="0">
                <a:solidFill>
                  <a:srgbClr val="4A5568"/>
                </a:solidFill>
                <a:latin typeface="Rubik" pitchFamily="34" charset="0"/>
                <a:ea typeface="Rubik" pitchFamily="34" charset="-122"/>
                <a:cs typeface="Rubik" pitchFamily="34" charset="-120"/>
              </a:rPr>
              <a:t> before the loop</a:t>
            </a:r>
            <a:endParaRPr lang="en-US" sz="1500" dirty="0"/>
          </a:p>
        </p:txBody>
      </p:sp>
      <p:sp>
        <p:nvSpPr>
          <p:cNvPr id="13" name="Shape 11"/>
          <p:cNvSpPr/>
          <p:nvPr/>
        </p:nvSpPr>
        <p:spPr>
          <a:xfrm>
            <a:off x="6744229" y="4137558"/>
            <a:ext cx="4628621" cy="749300"/>
          </a:xfrm>
          <a:prstGeom prst="roundRect">
            <a:avLst>
              <a:gd name="adj" fmla="val 11017"/>
            </a:avLst>
          </a:prstGeom>
          <a:solidFill>
            <a:srgbClr val="FFFDF8"/>
          </a:solidFill>
          <a:ln w="12700">
            <a:solidFill>
              <a:srgbClr val="E2DED3"/>
            </a:solidFill>
            <a:prstDash val="solid"/>
          </a:ln>
        </p:spPr>
      </p:sp>
      <p:sp>
        <p:nvSpPr>
          <p:cNvPr id="14" name="Text 12"/>
          <p:cNvSpPr/>
          <p:nvPr/>
        </p:nvSpPr>
        <p:spPr>
          <a:xfrm>
            <a:off x="6902979" y="4378858"/>
            <a:ext cx="330200" cy="266700"/>
          </a:xfrm>
          <a:custGeom>
            <a:avLst/>
            <a:gdLst/>
            <a:ahLst/>
            <a:cxnLst/>
            <a:rect l="l" t="t" r="r" b="b"/>
            <a:pathLst>
              <a:path w="330200" h="266700">
                <a:moveTo>
                  <a:pt x="133350" y="0"/>
                </a:moveTo>
                <a:lnTo>
                  <a:pt x="196850" y="0"/>
                </a:lnTo>
                <a:arcTo hR="133350" wR="133350" stAng="16200000" swAng="5400000"/>
                <a:lnTo>
                  <a:pt x="330200" y="133350"/>
                </a:lnTo>
                <a:arcTo hR="133350" wR="133350" stAng="0" swAng="5400000"/>
                <a:lnTo>
                  <a:pt x="133350" y="266700"/>
                </a:lnTo>
                <a:arcTo hR="133350" wR="133350" stAng="5400000" swAng="5400000"/>
                <a:lnTo>
                  <a:pt x="0" y="133350"/>
                </a:lnTo>
                <a:arcTo hR="133350" wR="133350" stAng="10800000" swAng="5400000"/>
                <a:close/>
              </a:path>
            </a:pathLst>
          </a:custGeom>
          <a:solidFill>
            <a:srgbClr val="F2B33D"/>
          </a:solidFill>
          <a:ln/>
        </p:spPr>
        <p:txBody>
          <a:bodyPr wrap="square" lIns="0" tIns="0" rIns="0" bIns="0" rtlCol="0" anchor="t">
            <a:normAutofit/>
          </a:bodyPr>
          <a:lstStyle/>
          <a:p>
            <a:pPr algn="ctr" indent="0" marL="0">
              <a:lnSpc>
                <a:spcPts val="2100"/>
              </a:lnSpc>
              <a:buNone/>
            </a:pPr>
            <a:r>
              <a:rPr lang="en-US" sz="1500" b="1" dirty="0">
                <a:solidFill>
                  <a:srgbClr val="1B2A41"/>
                </a:solidFill>
                <a:latin typeface="Rubik" pitchFamily="34" charset="0"/>
                <a:ea typeface="Rubik" pitchFamily="34" charset="-122"/>
                <a:cs typeface="Rubik" pitchFamily="34" charset="-120"/>
              </a:rPr>
              <a:t>2</a:t>
            </a:r>
            <a:endParaRPr lang="en-US" sz="1500" dirty="0"/>
          </a:p>
        </p:txBody>
      </p:sp>
      <p:sp>
        <p:nvSpPr>
          <p:cNvPr id="15" name="Text 13"/>
          <p:cNvSpPr/>
          <p:nvPr/>
        </p:nvSpPr>
        <p:spPr>
          <a:xfrm>
            <a:off x="7360179" y="4245508"/>
            <a:ext cx="3969539"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4A5568"/>
                </a:solidFill>
                <a:latin typeface="Rubik" pitchFamily="34" charset="0"/>
                <a:ea typeface="Rubik" pitchFamily="34" charset="-122"/>
                <a:cs typeface="Rubik" pitchFamily="34" charset="-120"/>
              </a:rPr>
              <a:t>Grow:</a:t>
            </a:r>
            <a:r>
              <a:rPr lang="en-US" sz="1500" dirty="0">
                <a:solidFill>
                  <a:srgbClr val="4A5568"/>
                </a:solidFill>
                <a:latin typeface="Rubik" pitchFamily="34" charset="0"/>
                <a:ea typeface="Rubik" pitchFamily="34" charset="-122"/>
                <a:cs typeface="Rubik" pitchFamily="34" charset="-120"/>
              </a:rPr>
              <a:t> add or multiply one value each round</a:t>
            </a:r>
            <a:endParaRPr lang="en-US" sz="1500" dirty="0"/>
          </a:p>
        </p:txBody>
      </p:sp>
      <p:sp>
        <p:nvSpPr>
          <p:cNvPr id="16" name="Shape 14"/>
          <p:cNvSpPr/>
          <p:nvPr/>
        </p:nvSpPr>
        <p:spPr>
          <a:xfrm>
            <a:off x="6744229" y="5026558"/>
            <a:ext cx="4628621" cy="571500"/>
          </a:xfrm>
          <a:prstGeom prst="roundRect">
            <a:avLst>
              <a:gd name="adj" fmla="val 14444"/>
            </a:avLst>
          </a:prstGeom>
          <a:solidFill>
            <a:srgbClr val="FFFDF8"/>
          </a:solidFill>
          <a:ln w="12700">
            <a:solidFill>
              <a:srgbClr val="B54708"/>
            </a:solidFill>
            <a:prstDash val="solid"/>
          </a:ln>
        </p:spPr>
      </p:sp>
      <p:pic>
        <p:nvPicPr>
          <p:cNvPr id="17" name="Image 0" descr="Warning">    </p:cNvPr>
          <p:cNvPicPr>
            <a:picLocks noChangeAspect="1"/>
          </p:cNvPicPr>
          <p:nvPr/>
        </p:nvPicPr>
        <p:blipFill>
          <a:blip r:embed="rId1"/>
          <a:srcRect l="0" r="0" t="0" b="0"/>
          <a:stretch/>
        </p:blipFill>
        <p:spPr>
          <a:xfrm>
            <a:off x="6928379" y="5159908"/>
            <a:ext cx="304800" cy="304800"/>
          </a:xfrm>
          <a:prstGeom prst="rect">
            <a:avLst/>
          </a:prstGeom>
        </p:spPr>
      </p:pic>
      <p:sp>
        <p:nvSpPr>
          <p:cNvPr id="18" name="Text 15"/>
          <p:cNvSpPr/>
          <p:nvPr/>
        </p:nvSpPr>
        <p:spPr>
          <a:xfrm>
            <a:off x="7360179" y="5178958"/>
            <a:ext cx="4006321"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1"/>
                </a:solidFill>
                <a:latin typeface="Rubik" pitchFamily="34" charset="0"/>
                <a:ea typeface="Rubik" pitchFamily="34" charset="-122"/>
                <a:cs typeface="Rubik" pitchFamily="34" charset="-120"/>
              </a:rPr>
              <a:t>Start </a:t>
            </a:r>
            <a:r>
              <a:rPr lang="en-US" sz="1500" dirty="0">
                <a:solidFill>
                  <a:srgbClr val="2A64A3"/>
                </a:solidFill>
                <a:latin typeface="Rubik" pitchFamily="34" charset="0"/>
                <a:ea typeface="Rubik" pitchFamily="34" charset="-122"/>
                <a:cs typeface="Rubik" pitchFamily="34" charset="-120"/>
              </a:rPr>
              <a:t>fact</a:t>
            </a:r>
            <a:r>
              <a:rPr lang="en-US" sz="1500" dirty="0">
                <a:solidFill>
                  <a:srgbClr val="1B2A41"/>
                </a:solidFill>
                <a:latin typeface="Rubik" pitchFamily="34" charset="0"/>
                <a:ea typeface="Rubik" pitchFamily="34" charset="-122"/>
                <a:cs typeface="Rubik" pitchFamily="34" charset="-120"/>
              </a:rPr>
              <a:t> at 0 and the answer is always 0!</a:t>
            </a:r>
            <a:endParaRPr lang="en-US" sz="1500" dirty="0"/>
          </a:p>
        </p:txBody>
      </p:sp>
      <p:sp>
        <p:nvSpPr>
          <p:cNvPr id="19" name="Text 1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Rubik" pitchFamily="34" charset="0"/>
                <a:ea typeface="Rubik" pitchFamily="34" charset="-122"/>
                <a:cs typeface="Rubik" pitchFamily="34" charset="-120"/>
              </a:rPr>
              <a:t>Python Programming · Week 2 · Class 5</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CLASS 5 · DIGITS</a:t>
            </a:r>
            <a:endParaRPr lang="en-US" sz="1200" dirty="0"/>
          </a:p>
        </p:txBody>
      </p:sp>
      <p:sp>
        <p:nvSpPr>
          <p:cNvPr id="3" name="Text 1"/>
          <p:cNvSpPr/>
          <p:nvPr>
            <p:ph type="title"/>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41"/>
                </a:solidFill>
                <a:latin typeface="Rubik" pitchFamily="34" charset="0"/>
                <a:ea typeface="Rubik" pitchFamily="34" charset="-122"/>
                <a:cs typeface="Rubik" pitchFamily="34" charset="-120"/>
              </a:rPr>
              <a:t>Taking a number apart, digit by digit</a:t>
            </a:r>
            <a:endParaRPr lang="en-US" sz="3200" dirty="0"/>
          </a:p>
        </p:txBody>
      </p:sp>
      <p:sp>
        <p:nvSpPr>
          <p:cNvPr id="4" name="Shape 2"/>
          <p:cNvSpPr/>
          <p:nvPr/>
        </p:nvSpPr>
        <p:spPr>
          <a:xfrm>
            <a:off x="812800" y="1854138"/>
            <a:ext cx="5672667" cy="3502620"/>
          </a:xfrm>
          <a:prstGeom prst="roundRect">
            <a:avLst>
              <a:gd name="adj" fmla="val 3626"/>
            </a:avLst>
          </a:prstGeom>
          <a:solidFill>
            <a:srgbClr val="1B2A41"/>
          </a:solidFill>
          <a:ln/>
        </p:spPr>
      </p:sp>
      <p:sp>
        <p:nvSpPr>
          <p:cNvPr id="5" name="Text 3"/>
          <p:cNvSpPr/>
          <p:nvPr/>
        </p:nvSpPr>
        <p:spPr>
          <a:xfrm>
            <a:off x="1066800" y="2031938"/>
            <a:ext cx="531960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3B8"/>
                </a:solidFill>
                <a:latin typeface="JetBrains Mono" pitchFamily="49" charset="0"/>
                <a:ea typeface="JetBrains Mono" pitchFamily="49" charset="-122"/>
                <a:cs typeface="JetBrains Mono" pitchFamily="49" charset="-120"/>
              </a:rPr>
              <a:t>digits.py</a:t>
            </a:r>
            <a:endParaRPr lang="en-US" sz="1200" dirty="0"/>
          </a:p>
        </p:txBody>
      </p:sp>
      <p:sp>
        <p:nvSpPr>
          <p:cNvPr id="6" name="Text 4"/>
          <p:cNvSpPr/>
          <p:nvPr/>
        </p:nvSpPr>
        <p:spPr>
          <a:xfrm>
            <a:off x="1066800" y="2321458"/>
            <a:ext cx="5319607" cy="28829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n = </a:t>
            </a:r>
            <a:r>
              <a:rPr lang="en-US" sz="1500" dirty="0">
                <a:solidFill>
                  <a:srgbClr val="F2B33D"/>
                </a:solidFill>
                <a:latin typeface="JetBrains Mono" pitchFamily="49" charset="0"/>
                <a:ea typeface="JetBrains Mono" pitchFamily="49" charset="-122"/>
                <a:cs typeface="JetBrains Mono" pitchFamily="49" charset="-120"/>
              </a:rPr>
              <a:t>int</a:t>
            </a:r>
            <a:r>
              <a:rPr lang="en-US" sz="1500" dirty="0">
                <a:solidFill>
                  <a:srgbClr val="E8EDF3"/>
                </a:solidFill>
                <a:latin typeface="JetBrains Mono" pitchFamily="49" charset="0"/>
                <a:ea typeface="JetBrains Mono" pitchFamily="49" charset="-122"/>
                <a:cs typeface="JetBrains Mono" pitchFamily="49" charset="-120"/>
              </a:rPr>
              <a:t>(</a:t>
            </a:r>
            <a:r>
              <a:rPr lang="en-US" sz="1500" dirty="0">
                <a:solidFill>
                  <a:srgbClr val="F2B33D"/>
                </a:solidFill>
                <a:latin typeface="JetBrains Mono" pitchFamily="49" charset="0"/>
                <a:ea typeface="JetBrains Mono" pitchFamily="49" charset="-122"/>
                <a:cs typeface="JetBrains Mono" pitchFamily="49" charset="-120"/>
              </a:rPr>
              <a:t>input</a:t>
            </a:r>
            <a:r>
              <a:rPr lang="en-US" sz="1500" dirty="0">
                <a:solidFill>
                  <a:srgbClr val="E8EDF3"/>
                </a:solidFill>
                <a:latin typeface="JetBrains Mono" pitchFamily="49" charset="0"/>
                <a:ea typeface="JetBrains Mono" pitchFamily="49" charset="-122"/>
                <a:cs typeface="JetBrains Mono" pitchFamily="49" charset="-120"/>
              </a:rPr>
              <a:t>(</a:t>
            </a:r>
            <a:r>
              <a:rPr lang="en-US" sz="1500" dirty="0">
                <a:solidFill>
                  <a:srgbClr val="9FD8A8"/>
                </a:solidFill>
                <a:latin typeface="JetBrains Mono" pitchFamily="49" charset="0"/>
                <a:ea typeface="JetBrains Mono" pitchFamily="49" charset="-122"/>
                <a:cs typeface="JetBrains Mono" pitchFamily="49" charset="-120"/>
              </a:rPr>
              <a:t>"Number: "</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rev = 0</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total = 0</a:t>
            </a: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while</a:t>
            </a:r>
            <a:r>
              <a:rPr lang="en-US" sz="1500" dirty="0">
                <a:solidFill>
                  <a:srgbClr val="E8EDF3"/>
                </a:solidFill>
                <a:latin typeface="JetBrains Mono" pitchFamily="49" charset="0"/>
                <a:ea typeface="JetBrains Mono" pitchFamily="49" charset="-122"/>
                <a:cs typeface="JetBrains Mono" pitchFamily="49" charset="-120"/>
              </a:rPr>
              <a:t> n &gt; 0:</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d = n % 10       </a:t>
            </a:r>
            <a:r>
              <a:rPr lang="en-US" sz="1500" dirty="0">
                <a:solidFill>
                  <a:srgbClr val="8FA3B8"/>
                </a:solidFill>
                <a:latin typeface="JetBrains Mono" pitchFamily="49" charset="0"/>
                <a:ea typeface="JetBrains Mono" pitchFamily="49" charset="-122"/>
                <a:cs typeface="JetBrains Mono" pitchFamily="49" charset="-120"/>
              </a:rPr>
              <a:t># last digit</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rev = rev * 10 + d</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total += d</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n //= 10         </a:t>
            </a:r>
            <a:r>
              <a:rPr lang="en-US" sz="1500" dirty="0">
                <a:solidFill>
                  <a:srgbClr val="8FA3B8"/>
                </a:solidFill>
                <a:latin typeface="JetBrains Mono" pitchFamily="49" charset="0"/>
                <a:ea typeface="JetBrains Mono" pitchFamily="49" charset="-122"/>
                <a:cs typeface="JetBrains Mono" pitchFamily="49" charset="-120"/>
              </a:rPr>
              <a:t># drop it</a:t>
            </a: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a:t>
            </a:r>
            <a:r>
              <a:rPr lang="en-US" sz="1500" dirty="0">
                <a:solidFill>
                  <a:srgbClr val="9FD8A8"/>
                </a:solidFill>
                <a:latin typeface="JetBrains Mono" pitchFamily="49" charset="0"/>
                <a:ea typeface="JetBrains Mono" pitchFamily="49" charset="-122"/>
                <a:cs typeface="JetBrains Mono" pitchFamily="49" charset="-120"/>
              </a:rPr>
              <a:t>"Reversed:"</a:t>
            </a:r>
            <a:r>
              <a:rPr lang="en-US" sz="1500" dirty="0">
                <a:solidFill>
                  <a:srgbClr val="E8EDF3"/>
                </a:solidFill>
                <a:latin typeface="JetBrains Mono" pitchFamily="49" charset="0"/>
                <a:ea typeface="JetBrains Mono" pitchFamily="49" charset="-122"/>
                <a:cs typeface="JetBrains Mono" pitchFamily="49" charset="-120"/>
              </a:rPr>
              <a:t>, rev)</a:t>
            </a: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a:t>
            </a:r>
            <a:r>
              <a:rPr lang="en-US" sz="1500" dirty="0">
                <a:solidFill>
                  <a:srgbClr val="9FD8A8"/>
                </a:solidFill>
                <a:latin typeface="JetBrains Mono" pitchFamily="49" charset="0"/>
                <a:ea typeface="JetBrains Mono" pitchFamily="49" charset="-122"/>
                <a:cs typeface="JetBrains Mono" pitchFamily="49" charset="-120"/>
              </a:rPr>
              <a:t>"Digit sum:"</a:t>
            </a:r>
            <a:r>
              <a:rPr lang="en-US" sz="1500" dirty="0">
                <a:solidFill>
                  <a:srgbClr val="E8EDF3"/>
                </a:solidFill>
                <a:latin typeface="JetBrains Mono" pitchFamily="49" charset="0"/>
                <a:ea typeface="JetBrains Mono" pitchFamily="49" charset="-122"/>
                <a:cs typeface="JetBrains Mono" pitchFamily="49" charset="-120"/>
              </a:rPr>
              <a:t>, total)</a:t>
            </a:r>
            <a:endParaRPr lang="en-US" sz="1500" dirty="0"/>
          </a:p>
        </p:txBody>
      </p:sp>
      <p:sp>
        <p:nvSpPr>
          <p:cNvPr id="7" name="Shape 5"/>
          <p:cNvSpPr/>
          <p:nvPr/>
        </p:nvSpPr>
        <p:spPr>
          <a:xfrm>
            <a:off x="6847417" y="1860488"/>
            <a:ext cx="4525433" cy="1515070"/>
          </a:xfrm>
          <a:prstGeom prst="roundRect">
            <a:avLst>
              <a:gd name="adj" fmla="val 7963"/>
            </a:avLst>
          </a:prstGeom>
          <a:solidFill>
            <a:srgbClr val="FFFDF8"/>
          </a:solidFill>
          <a:ln w="12700">
            <a:solidFill>
              <a:srgbClr val="D9DEE5"/>
            </a:solidFill>
            <a:prstDash val="solid"/>
          </a:ln>
        </p:spPr>
      </p:sp>
      <p:sp>
        <p:nvSpPr>
          <p:cNvPr id="8" name="Text 6"/>
          <p:cNvSpPr/>
          <p:nvPr/>
        </p:nvSpPr>
        <p:spPr>
          <a:xfrm>
            <a:off x="7107767" y="2044638"/>
            <a:ext cx="4258733"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OUTPUT · ORANGE = WHAT THE USER TYPES</a:t>
            </a:r>
            <a:endParaRPr lang="en-US" sz="1200" dirty="0"/>
          </a:p>
        </p:txBody>
      </p:sp>
      <p:sp>
        <p:nvSpPr>
          <p:cNvPr id="9" name="Text 7"/>
          <p:cNvSpPr/>
          <p:nvPr/>
        </p:nvSpPr>
        <p:spPr>
          <a:xfrm>
            <a:off x="7107767" y="2334158"/>
            <a:ext cx="4124875" cy="8826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Number: </a:t>
            </a:r>
            <a:r>
              <a:rPr lang="en-US" sz="1500" dirty="0">
                <a:solidFill>
                  <a:srgbClr val="B54708"/>
                </a:solidFill>
                <a:latin typeface="JetBrains Mono" pitchFamily="49" charset="0"/>
                <a:ea typeface="JetBrains Mono" pitchFamily="49" charset="-122"/>
                <a:cs typeface="JetBrains Mono" pitchFamily="49" charset="-120"/>
              </a:rPr>
              <a:t>1234</a:t>
            </a:r>
            <a:endParaRPr lang="en-US" sz="1500" dirty="0"/>
          </a:p>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Reversed: 4321</a:t>
            </a:r>
            <a:endParaRPr lang="en-US" sz="1500" dirty="0"/>
          </a:p>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Digit sum: 10</a:t>
            </a:r>
            <a:endParaRPr lang="en-US" sz="1500" dirty="0"/>
          </a:p>
        </p:txBody>
      </p:sp>
      <p:sp>
        <p:nvSpPr>
          <p:cNvPr id="10" name="Shape 8"/>
          <p:cNvSpPr/>
          <p:nvPr/>
        </p:nvSpPr>
        <p:spPr>
          <a:xfrm>
            <a:off x="6847417" y="3515258"/>
            <a:ext cx="4525433" cy="1176007"/>
          </a:xfrm>
          <a:prstGeom prst="roundRect">
            <a:avLst>
              <a:gd name="adj" fmla="val 8099"/>
            </a:avLst>
          </a:prstGeom>
          <a:solidFill>
            <a:srgbClr val="FFFDF8"/>
          </a:solidFill>
          <a:ln w="12700">
            <a:solidFill>
              <a:srgbClr val="E2DED3"/>
            </a:solidFill>
            <a:prstDash val="solid"/>
          </a:ln>
        </p:spPr>
      </p:sp>
      <p:sp>
        <p:nvSpPr>
          <p:cNvPr id="11" name="Text 9"/>
          <p:cNvSpPr/>
          <p:nvPr/>
        </p:nvSpPr>
        <p:spPr>
          <a:xfrm>
            <a:off x="7056967" y="3674008"/>
            <a:ext cx="4229523"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Palindrome?</a:t>
            </a:r>
            <a:endParaRPr lang="en-US" sz="1800" dirty="0"/>
          </a:p>
        </p:txBody>
      </p:sp>
      <p:sp>
        <p:nvSpPr>
          <p:cNvPr id="12" name="Text 10"/>
          <p:cNvSpPr/>
          <p:nvPr/>
        </p:nvSpPr>
        <p:spPr>
          <a:xfrm>
            <a:off x="7056967" y="3999111"/>
            <a:ext cx="4229523"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Keep </a:t>
            </a:r>
            <a:r>
              <a:rPr lang="en-US" sz="1500" dirty="0">
                <a:solidFill>
                  <a:srgbClr val="2A64A3"/>
                </a:solidFill>
                <a:latin typeface="Rubik" pitchFamily="34" charset="0"/>
                <a:ea typeface="Rubik" pitchFamily="34" charset="-122"/>
                <a:cs typeface="Rubik" pitchFamily="34" charset="-120"/>
              </a:rPr>
              <a:t>original = n</a:t>
            </a:r>
            <a:r>
              <a:rPr lang="en-US" sz="1500" dirty="0">
                <a:solidFill>
                  <a:srgbClr val="4A5568"/>
                </a:solidFill>
                <a:latin typeface="Rubik" pitchFamily="34" charset="0"/>
                <a:ea typeface="Rubik" pitchFamily="34" charset="-122"/>
                <a:cs typeface="Rubik" pitchFamily="34" charset="-120"/>
              </a:rPr>
              <a:t>. At the end, </a:t>
            </a:r>
            <a:r>
              <a:rPr lang="en-US" sz="1500" dirty="0">
                <a:solidFill>
                  <a:srgbClr val="2A64A3"/>
                </a:solidFill>
                <a:latin typeface="Rubik" pitchFamily="34" charset="0"/>
                <a:ea typeface="Rubik" pitchFamily="34" charset="-122"/>
                <a:cs typeface="Rubik" pitchFamily="34" charset="-120"/>
              </a:rPr>
              <a:t>rev == original</a:t>
            </a:r>
            <a:r>
              <a:rPr lang="en-US" sz="1500" dirty="0">
                <a:solidFill>
                  <a:srgbClr val="4A5568"/>
                </a:solidFill>
                <a:latin typeface="Rubik" pitchFamily="34" charset="0"/>
                <a:ea typeface="Rubik" pitchFamily="34" charset="-122"/>
                <a:cs typeface="Rubik" pitchFamily="34" charset="-120"/>
              </a:rPr>
              <a:t> means yes (121, 1331).</a:t>
            </a:r>
            <a:endParaRPr lang="en-US" sz="1500" dirty="0"/>
          </a:p>
        </p:txBody>
      </p:sp>
      <p:sp>
        <p:nvSpPr>
          <p:cNvPr id="13" name="Shape 11"/>
          <p:cNvSpPr/>
          <p:nvPr/>
        </p:nvSpPr>
        <p:spPr>
          <a:xfrm>
            <a:off x="6841067" y="4824611"/>
            <a:ext cx="4538133" cy="558800"/>
          </a:xfrm>
          <a:prstGeom prst="roundRect">
            <a:avLst>
              <a:gd name="adj" fmla="val 15909"/>
            </a:avLst>
          </a:prstGeom>
          <a:solidFill>
            <a:srgbClr val="FBEFD5"/>
          </a:solidFill>
          <a:ln/>
        </p:spPr>
      </p:sp>
      <p:pic>
        <p:nvPicPr>
          <p:cNvPr id="14" name="Image 0" descr="Lightbulb">    </p:cNvPr>
          <p:cNvPicPr>
            <a:picLocks noChangeAspect="1"/>
          </p:cNvPicPr>
          <p:nvPr/>
        </p:nvPicPr>
        <p:blipFill>
          <a:blip r:embed="rId1"/>
          <a:srcRect l="0" r="0" t="0" b="0"/>
          <a:stretch/>
        </p:blipFill>
        <p:spPr>
          <a:xfrm>
            <a:off x="7018867" y="4951611"/>
            <a:ext cx="304800" cy="304800"/>
          </a:xfrm>
          <a:prstGeom prst="rect">
            <a:avLst/>
          </a:prstGeom>
        </p:spPr>
      </p:pic>
      <p:sp>
        <p:nvSpPr>
          <p:cNvPr id="15" name="Text 12"/>
          <p:cNvSpPr/>
          <p:nvPr/>
        </p:nvSpPr>
        <p:spPr>
          <a:xfrm>
            <a:off x="7450667" y="4970661"/>
            <a:ext cx="3525361"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2A64A3"/>
                </a:solidFill>
                <a:latin typeface="Rubik" pitchFamily="34" charset="0"/>
                <a:ea typeface="Rubik" pitchFamily="34" charset="-122"/>
                <a:cs typeface="Rubik" pitchFamily="34" charset="-120"/>
              </a:rPr>
              <a:t>n % 10</a:t>
            </a:r>
            <a:r>
              <a:rPr lang="en-US" sz="1500" dirty="0">
                <a:solidFill>
                  <a:srgbClr val="1B2A41"/>
                </a:solidFill>
                <a:latin typeface="Rubik" pitchFamily="34" charset="0"/>
                <a:ea typeface="Rubik" pitchFamily="34" charset="-122"/>
                <a:cs typeface="Rubik" pitchFamily="34" charset="-120"/>
              </a:rPr>
              <a:t> = last digit. </a:t>
            </a:r>
            <a:r>
              <a:rPr lang="en-US" sz="1500" dirty="0">
                <a:solidFill>
                  <a:srgbClr val="2A64A3"/>
                </a:solidFill>
                <a:latin typeface="Rubik" pitchFamily="34" charset="0"/>
                <a:ea typeface="Rubik" pitchFamily="34" charset="-122"/>
                <a:cs typeface="Rubik" pitchFamily="34" charset="-120"/>
              </a:rPr>
              <a:t>n // 10</a:t>
            </a:r>
            <a:r>
              <a:rPr lang="en-US" sz="1500" dirty="0">
                <a:solidFill>
                  <a:srgbClr val="1B2A41"/>
                </a:solidFill>
                <a:latin typeface="Rubik" pitchFamily="34" charset="0"/>
                <a:ea typeface="Rubik" pitchFamily="34" charset="-122"/>
                <a:cs typeface="Rubik" pitchFamily="34" charset="-120"/>
              </a:rPr>
              <a:t> drops it.</a:t>
            </a:r>
            <a:endParaRPr lang="en-US" sz="1500" dirty="0"/>
          </a:p>
        </p:txBody>
      </p:sp>
      <p:sp>
        <p:nvSpPr>
          <p:cNvPr id="16" name="Text 1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Rubik" pitchFamily="34" charset="0"/>
                <a:ea typeface="Rubik" pitchFamily="34" charset="-122"/>
                <a:cs typeface="Rubik" pitchFamily="34" charset="-120"/>
              </a:rPr>
              <a:t>Python Programming · Week 2 · Class 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CLASS 5 · BREAK AND CONTINUE</a:t>
            </a:r>
            <a:endParaRPr lang="en-US" sz="1200" dirty="0"/>
          </a:p>
        </p:txBody>
      </p:sp>
      <p:sp>
        <p:nvSpPr>
          <p:cNvPr id="3" name="Text 1"/>
          <p:cNvSpPr/>
          <p:nvPr>
            <p:ph type="title"/>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41"/>
                </a:solidFill>
                <a:latin typeface="Rubik" pitchFamily="34" charset="0"/>
                <a:ea typeface="Rubik" pitchFamily="34" charset="-122"/>
                <a:cs typeface="Rubik" pitchFamily="34" charset="-120"/>
              </a:rPr>
              <a:t>Stopping early and skipping a round</a:t>
            </a:r>
            <a:endParaRPr lang="en-US" sz="3200" dirty="0"/>
          </a:p>
        </p:txBody>
      </p:sp>
      <p:sp>
        <p:nvSpPr>
          <p:cNvPr id="4" name="Shape 2"/>
          <p:cNvSpPr/>
          <p:nvPr/>
        </p:nvSpPr>
        <p:spPr>
          <a:xfrm>
            <a:off x="819150" y="1860488"/>
            <a:ext cx="5168900" cy="2807957"/>
          </a:xfrm>
          <a:prstGeom prst="roundRect">
            <a:avLst>
              <a:gd name="adj" fmla="val 4297"/>
            </a:avLst>
          </a:prstGeom>
          <a:solidFill>
            <a:srgbClr val="FFFDF8"/>
          </a:solidFill>
          <a:ln w="12700">
            <a:solidFill>
              <a:srgbClr val="E2DED3"/>
            </a:solidFill>
            <a:prstDash val="solid"/>
          </a:ln>
        </p:spPr>
      </p:sp>
      <p:sp>
        <p:nvSpPr>
          <p:cNvPr id="5" name="Text 3"/>
          <p:cNvSpPr/>
          <p:nvPr/>
        </p:nvSpPr>
        <p:spPr>
          <a:xfrm>
            <a:off x="1028700" y="2070038"/>
            <a:ext cx="4892294"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break: stop the loop now</a:t>
            </a:r>
            <a:endParaRPr lang="en-US" sz="1800" dirty="0"/>
          </a:p>
        </p:txBody>
      </p:sp>
      <p:sp>
        <p:nvSpPr>
          <p:cNvPr id="6" name="Text 4"/>
          <p:cNvSpPr/>
          <p:nvPr/>
        </p:nvSpPr>
        <p:spPr>
          <a:xfrm>
            <a:off x="1028700" y="2445941"/>
            <a:ext cx="4749800" cy="1397000"/>
          </a:xfrm>
          <a:prstGeom prst="roundRect">
            <a:avLst>
              <a:gd name="adj" fmla="val 6364"/>
            </a:avLst>
          </a:prstGeom>
          <a:solidFill>
            <a:srgbClr val="1B2A41"/>
          </a:solidFill>
          <a:ln/>
        </p:spPr>
        <p:txBody>
          <a:bodyPr wrap="square" lIns="126362" tIns="100962" rIns="0" bIns="75562" rtlCol="0" anchor="t">
            <a:normAutofit/>
          </a:bodyPr>
          <a:lstStyle/>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for</a:t>
            </a:r>
            <a:r>
              <a:rPr lang="en-US" sz="1500" dirty="0">
                <a:solidFill>
                  <a:srgbClr val="E8EDF3"/>
                </a:solidFill>
                <a:latin typeface="JetBrains Mono" pitchFamily="49" charset="0"/>
                <a:ea typeface="JetBrains Mono" pitchFamily="49" charset="-122"/>
                <a:cs typeface="JetBrains Mono" pitchFamily="49" charset="-120"/>
              </a:rPr>
              <a:t> n </a:t>
            </a:r>
            <a:r>
              <a:rPr lang="en-US" sz="1500" dirty="0">
                <a:solidFill>
                  <a:srgbClr val="F2B33D"/>
                </a:solidFill>
                <a:latin typeface="JetBrains Mono" pitchFamily="49" charset="0"/>
                <a:ea typeface="JetBrains Mono" pitchFamily="49" charset="-122"/>
                <a:cs typeface="JetBrains Mono" pitchFamily="49" charset="-120"/>
              </a:rPr>
              <a:t>in</a:t>
            </a: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range</a:t>
            </a:r>
            <a:r>
              <a:rPr lang="en-US" sz="1500" dirty="0">
                <a:solidFill>
                  <a:srgbClr val="E8EDF3"/>
                </a:solidFill>
                <a:latin typeface="JetBrains Mono" pitchFamily="49" charset="0"/>
                <a:ea typeface="JetBrains Mono" pitchFamily="49" charset="-122"/>
                <a:cs typeface="JetBrains Mono" pitchFamily="49" charset="-120"/>
              </a:rPr>
              <a:t>(1, 10):</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if</a:t>
            </a:r>
            <a:r>
              <a:rPr lang="en-US" sz="1500" dirty="0">
                <a:solidFill>
                  <a:srgbClr val="E8EDF3"/>
                </a:solidFill>
                <a:latin typeface="JetBrains Mono" pitchFamily="49" charset="0"/>
                <a:ea typeface="JetBrains Mono" pitchFamily="49" charset="-122"/>
                <a:cs typeface="JetBrains Mono" pitchFamily="49" charset="-120"/>
              </a:rPr>
              <a:t> n == 5:</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break</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(n, end=</a:t>
            </a:r>
            <a:r>
              <a:rPr lang="en-US" sz="1500" dirty="0">
                <a:solidFill>
                  <a:srgbClr val="9FD8A8"/>
                </a:solidFill>
                <a:latin typeface="JetBrains Mono" pitchFamily="49" charset="0"/>
                <a:ea typeface="JetBrains Mono" pitchFamily="49" charset="-122"/>
                <a:cs typeface="JetBrains Mono" pitchFamily="49" charset="-120"/>
              </a:rPr>
              <a:t>" "</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p:txBody>
      </p:sp>
      <p:sp>
        <p:nvSpPr>
          <p:cNvPr id="7" name="Text 5"/>
          <p:cNvSpPr/>
          <p:nvPr/>
        </p:nvSpPr>
        <p:spPr>
          <a:xfrm>
            <a:off x="1035050" y="3950891"/>
            <a:ext cx="4737100" cy="501650"/>
          </a:xfrm>
          <a:prstGeom prst="roundRect">
            <a:avLst>
              <a:gd name="adj" fmla="val 16456"/>
            </a:avLst>
          </a:prstGeom>
          <a:solidFill>
            <a:srgbClr val="F7F5EF"/>
          </a:solidFill>
          <a:ln w="12700">
            <a:solidFill>
              <a:srgbClr val="D9DEE5"/>
            </a:solidFill>
            <a:prstDash val="solid"/>
          </a:ln>
        </p:spPr>
        <p:txBody>
          <a:bodyPr wrap="square" lIns="134572" tIns="83772" rIns="1984" bIns="58372" rtlCol="0" anchor="t">
            <a:normAutofit/>
          </a:bodyPr>
          <a:lstStyle/>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1 2 3 4</a:t>
            </a:r>
            <a:endParaRPr lang="en-US" sz="1500" dirty="0"/>
          </a:p>
        </p:txBody>
      </p:sp>
      <p:sp>
        <p:nvSpPr>
          <p:cNvPr id="8" name="Shape 6"/>
          <p:cNvSpPr/>
          <p:nvPr/>
        </p:nvSpPr>
        <p:spPr>
          <a:xfrm>
            <a:off x="6203950" y="1860488"/>
            <a:ext cx="5168900" cy="2807957"/>
          </a:xfrm>
          <a:prstGeom prst="roundRect">
            <a:avLst>
              <a:gd name="adj" fmla="val 4297"/>
            </a:avLst>
          </a:prstGeom>
          <a:solidFill>
            <a:srgbClr val="FFFDF8"/>
          </a:solidFill>
          <a:ln w="12700">
            <a:solidFill>
              <a:srgbClr val="E2DED3"/>
            </a:solidFill>
            <a:prstDash val="solid"/>
          </a:ln>
        </p:spPr>
      </p:sp>
      <p:sp>
        <p:nvSpPr>
          <p:cNvPr id="9" name="Text 7"/>
          <p:cNvSpPr/>
          <p:nvPr/>
        </p:nvSpPr>
        <p:spPr>
          <a:xfrm>
            <a:off x="6413500" y="2070038"/>
            <a:ext cx="4892294"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continue: skip this round</a:t>
            </a:r>
            <a:endParaRPr lang="en-US" sz="1800" dirty="0"/>
          </a:p>
        </p:txBody>
      </p:sp>
      <p:sp>
        <p:nvSpPr>
          <p:cNvPr id="10" name="Text 8"/>
          <p:cNvSpPr/>
          <p:nvPr/>
        </p:nvSpPr>
        <p:spPr>
          <a:xfrm>
            <a:off x="6413500" y="2445941"/>
            <a:ext cx="4749800" cy="1397000"/>
          </a:xfrm>
          <a:prstGeom prst="roundRect">
            <a:avLst>
              <a:gd name="adj" fmla="val 6364"/>
            </a:avLst>
          </a:prstGeom>
          <a:solidFill>
            <a:srgbClr val="1B2A41"/>
          </a:solidFill>
          <a:ln/>
        </p:spPr>
        <p:txBody>
          <a:bodyPr wrap="square" lIns="126362" tIns="100962" rIns="0" bIns="75562" rtlCol="0" anchor="t">
            <a:normAutofit/>
          </a:bodyPr>
          <a:lstStyle/>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for</a:t>
            </a:r>
            <a:r>
              <a:rPr lang="en-US" sz="1500" dirty="0">
                <a:solidFill>
                  <a:srgbClr val="E8EDF3"/>
                </a:solidFill>
                <a:latin typeface="JetBrains Mono" pitchFamily="49" charset="0"/>
                <a:ea typeface="JetBrains Mono" pitchFamily="49" charset="-122"/>
                <a:cs typeface="JetBrains Mono" pitchFamily="49" charset="-120"/>
              </a:rPr>
              <a:t> n </a:t>
            </a:r>
            <a:r>
              <a:rPr lang="en-US" sz="1500" dirty="0">
                <a:solidFill>
                  <a:srgbClr val="F2B33D"/>
                </a:solidFill>
                <a:latin typeface="JetBrains Mono" pitchFamily="49" charset="0"/>
                <a:ea typeface="JetBrains Mono" pitchFamily="49" charset="-122"/>
                <a:cs typeface="JetBrains Mono" pitchFamily="49" charset="-120"/>
              </a:rPr>
              <a:t>in</a:t>
            </a: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range</a:t>
            </a:r>
            <a:r>
              <a:rPr lang="en-US" sz="1500" dirty="0">
                <a:solidFill>
                  <a:srgbClr val="E8EDF3"/>
                </a:solidFill>
                <a:latin typeface="JetBrains Mono" pitchFamily="49" charset="0"/>
                <a:ea typeface="JetBrains Mono" pitchFamily="49" charset="-122"/>
                <a:cs typeface="JetBrains Mono" pitchFamily="49" charset="-120"/>
              </a:rPr>
              <a:t>(1, 10):</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if</a:t>
            </a:r>
            <a:r>
              <a:rPr lang="en-US" sz="1500" dirty="0">
                <a:solidFill>
                  <a:srgbClr val="E8EDF3"/>
                </a:solidFill>
                <a:latin typeface="JetBrains Mono" pitchFamily="49" charset="0"/>
                <a:ea typeface="JetBrains Mono" pitchFamily="49" charset="-122"/>
                <a:cs typeface="JetBrains Mono" pitchFamily="49" charset="-120"/>
              </a:rPr>
              <a:t> n % 3 == 0:</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continue</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(n, end=</a:t>
            </a:r>
            <a:r>
              <a:rPr lang="en-US" sz="1500" dirty="0">
                <a:solidFill>
                  <a:srgbClr val="9FD8A8"/>
                </a:solidFill>
                <a:latin typeface="JetBrains Mono" pitchFamily="49" charset="0"/>
                <a:ea typeface="JetBrains Mono" pitchFamily="49" charset="-122"/>
                <a:cs typeface="JetBrains Mono" pitchFamily="49" charset="-120"/>
              </a:rPr>
              <a:t>" "</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p:txBody>
      </p:sp>
      <p:sp>
        <p:nvSpPr>
          <p:cNvPr id="11" name="Text 9"/>
          <p:cNvSpPr/>
          <p:nvPr/>
        </p:nvSpPr>
        <p:spPr>
          <a:xfrm>
            <a:off x="6419850" y="3950891"/>
            <a:ext cx="4737100" cy="501650"/>
          </a:xfrm>
          <a:prstGeom prst="roundRect">
            <a:avLst>
              <a:gd name="adj" fmla="val 16456"/>
            </a:avLst>
          </a:prstGeom>
          <a:solidFill>
            <a:srgbClr val="F7F5EF"/>
          </a:solidFill>
          <a:ln w="12700">
            <a:solidFill>
              <a:srgbClr val="D9DEE5"/>
            </a:solidFill>
            <a:prstDash val="solid"/>
          </a:ln>
        </p:spPr>
        <p:txBody>
          <a:bodyPr wrap="square" lIns="134572" tIns="83772" rIns="1984" bIns="58372" rtlCol="0" anchor="t">
            <a:normAutofit/>
          </a:bodyPr>
          <a:lstStyle/>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1 2 4 5 7 8</a:t>
            </a:r>
            <a:endParaRPr lang="en-US" sz="1500" dirty="0"/>
          </a:p>
        </p:txBody>
      </p:sp>
      <p:sp>
        <p:nvSpPr>
          <p:cNvPr id="12" name="Shape 10"/>
          <p:cNvSpPr/>
          <p:nvPr/>
        </p:nvSpPr>
        <p:spPr>
          <a:xfrm>
            <a:off x="812800" y="4979591"/>
            <a:ext cx="10566400" cy="762000"/>
          </a:xfrm>
          <a:prstGeom prst="roundRect">
            <a:avLst>
              <a:gd name="adj" fmla="val 20000"/>
            </a:avLst>
          </a:prstGeom>
          <a:solidFill>
            <a:srgbClr val="FBEFD5"/>
          </a:solidFill>
          <a:ln/>
        </p:spPr>
      </p:sp>
      <p:pic>
        <p:nvPicPr>
          <p:cNvPr id="13" name="Image 0" descr="Lightbulb">    </p:cNvPr>
          <p:cNvPicPr>
            <a:picLocks noChangeAspect="1"/>
          </p:cNvPicPr>
          <p:nvPr/>
        </p:nvPicPr>
        <p:blipFill>
          <a:blip r:embed="rId1"/>
          <a:srcRect l="0" r="0" t="0" b="0"/>
          <a:stretch/>
        </p:blipFill>
        <p:spPr>
          <a:xfrm>
            <a:off x="1117600" y="5182791"/>
            <a:ext cx="355600" cy="355600"/>
          </a:xfrm>
          <a:prstGeom prst="rect">
            <a:avLst/>
          </a:prstGeom>
        </p:spPr>
      </p:pic>
      <p:sp>
        <p:nvSpPr>
          <p:cNvPr id="14" name="Text 11"/>
          <p:cNvSpPr/>
          <p:nvPr/>
        </p:nvSpPr>
        <p:spPr>
          <a:xfrm>
            <a:off x="1676400" y="5217716"/>
            <a:ext cx="8622268" cy="3111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1B2A41"/>
                </a:solidFill>
                <a:latin typeface="Rubik" pitchFamily="34" charset="0"/>
                <a:ea typeface="Rubik" pitchFamily="34" charset="-122"/>
                <a:cs typeface="Rubik" pitchFamily="34" charset="-120"/>
              </a:rPr>
              <a:t>Real use: keep asking for the PIN with </a:t>
            </a:r>
            <a:r>
              <a:rPr lang="en-US" sz="1500" dirty="0">
                <a:solidFill>
                  <a:srgbClr val="2A64A3"/>
                </a:solidFill>
                <a:latin typeface="Rubik" pitchFamily="34" charset="0"/>
                <a:ea typeface="Rubik" pitchFamily="34" charset="-122"/>
                <a:cs typeface="Rubik" pitchFamily="34" charset="-120"/>
              </a:rPr>
              <a:t>while True:</a:t>
            </a:r>
            <a:r>
              <a:rPr lang="en-US" sz="1500" dirty="0">
                <a:solidFill>
                  <a:srgbClr val="1B2A41"/>
                </a:solidFill>
                <a:latin typeface="Rubik" pitchFamily="34" charset="0"/>
                <a:ea typeface="Rubik" pitchFamily="34" charset="-122"/>
                <a:cs typeface="Rubik" pitchFamily="34" charset="-120"/>
              </a:rPr>
              <a:t> and </a:t>
            </a:r>
            <a:r>
              <a:rPr lang="en-US" sz="1500" dirty="0">
                <a:solidFill>
                  <a:srgbClr val="2A64A3"/>
                </a:solidFill>
                <a:latin typeface="Rubik" pitchFamily="34" charset="0"/>
                <a:ea typeface="Rubik" pitchFamily="34" charset="-122"/>
                <a:cs typeface="Rubik" pitchFamily="34" charset="-120"/>
              </a:rPr>
              <a:t>break</a:t>
            </a:r>
            <a:r>
              <a:rPr lang="en-US" sz="1500" dirty="0">
                <a:solidFill>
                  <a:srgbClr val="1B2A41"/>
                </a:solidFill>
                <a:latin typeface="Rubik" pitchFamily="34" charset="0"/>
                <a:ea typeface="Rubik" pitchFamily="34" charset="-122"/>
                <a:cs typeface="Rubik" pitchFamily="34" charset="-120"/>
              </a:rPr>
              <a:t> out when it is correct.</a:t>
            </a:r>
            <a:endParaRPr lang="en-US" sz="1500" dirty="0"/>
          </a:p>
        </p:txBody>
      </p:sp>
      <p:sp>
        <p:nvSpPr>
          <p:cNvPr id="15" name="Text 1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Rubik" pitchFamily="34" charset="0"/>
                <a:ea typeface="Rubik" pitchFamily="34" charset="-122"/>
                <a:cs typeface="Rubik" pitchFamily="34" charset="-120"/>
              </a:rPr>
              <a:t>Python Programming · Week 2 · Class 5</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6EE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CLASS 5 · PRACTICE</a:t>
            </a:r>
            <a:endParaRPr lang="en-US" sz="1200" dirty="0"/>
          </a:p>
        </p:txBody>
      </p:sp>
      <p:sp>
        <p:nvSpPr>
          <p:cNvPr id="3" name="Text 1"/>
          <p:cNvSpPr/>
          <p:nvPr>
            <p:ph type="title"/>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41"/>
                </a:solidFill>
                <a:latin typeface="Rubik" pitchFamily="34" charset="0"/>
                <a:ea typeface="Rubik" pitchFamily="34" charset="-122"/>
                <a:cs typeface="Rubik" pitchFamily="34" charset="-120"/>
              </a:rPr>
              <a:t>Your turn: four programs</a:t>
            </a:r>
            <a:endParaRPr lang="en-US" sz="3200" dirty="0"/>
          </a:p>
        </p:txBody>
      </p:sp>
      <p:sp>
        <p:nvSpPr>
          <p:cNvPr id="4" name="Shape 2"/>
          <p:cNvSpPr/>
          <p:nvPr/>
        </p:nvSpPr>
        <p:spPr>
          <a:xfrm>
            <a:off x="819150" y="1809688"/>
            <a:ext cx="2476500" cy="2519627"/>
          </a:xfrm>
          <a:prstGeom prst="roundRect">
            <a:avLst>
              <a:gd name="adj" fmla="val 4872"/>
            </a:avLst>
          </a:prstGeom>
          <a:solidFill>
            <a:srgbClr val="FBFCFE"/>
          </a:solidFill>
          <a:ln w="12700">
            <a:solidFill>
              <a:srgbClr val="C9D7E8"/>
            </a:solidFill>
            <a:prstDash val="solid"/>
          </a:ln>
        </p:spPr>
      </p:sp>
      <p:sp>
        <p:nvSpPr>
          <p:cNvPr id="5" name="Text 3"/>
          <p:cNvSpPr/>
          <p:nvPr/>
        </p:nvSpPr>
        <p:spPr>
          <a:xfrm>
            <a:off x="1028700" y="2019238"/>
            <a:ext cx="681897" cy="289520"/>
          </a:xfrm>
          <a:custGeom>
            <a:avLst/>
            <a:gdLst/>
            <a:ahLst/>
            <a:cxnLst/>
            <a:rect l="l" t="t" r="r" b="b"/>
            <a:pathLst>
              <a:path w="681897" h="289520">
                <a:moveTo>
                  <a:pt x="144760" y="0"/>
                </a:moveTo>
                <a:lnTo>
                  <a:pt x="537137" y="0"/>
                </a:lnTo>
                <a:arcTo hR="144760" wR="144760" stAng="16200000" swAng="5400000"/>
                <a:lnTo>
                  <a:pt x="681897" y="144760"/>
                </a:lnTo>
                <a:arcTo hR="144760" wR="144760" stAng="0" swAng="5400000"/>
                <a:lnTo>
                  <a:pt x="144760" y="289520"/>
                </a:lnTo>
                <a:arcTo hR="144760" wR="144760" stAng="5400000" swAng="5400000"/>
                <a:lnTo>
                  <a:pt x="0" y="144760"/>
                </a:lnTo>
                <a:arcTo hR="144760" wR="144760" stAng="10800000" swAng="5400000"/>
                <a:close/>
              </a:path>
            </a:pathLst>
          </a:custGeom>
          <a:solidFill>
            <a:srgbClr val="F2B33D"/>
          </a:solidFill>
          <a:ln/>
        </p:spPr>
        <p:txBody>
          <a:bodyPr wrap="none" lIns="0" tIns="0" rIns="0" bIns="0" rtlCol="0" anchor="ctr">
            <a:normAutofit/>
          </a:bodyPr>
          <a:lstStyle/>
          <a:p>
            <a:pPr algn="ctr" indent="0" marL="0">
              <a:lnSpc>
                <a:spcPts val="1680"/>
              </a:lnSpc>
              <a:buNone/>
            </a:pPr>
            <a:r>
              <a:rPr lang="en-US" sz="1200" b="1" dirty="0">
                <a:solidFill>
                  <a:srgbClr val="1B2A41"/>
                </a:solidFill>
                <a:latin typeface="Rubik" pitchFamily="34" charset="0"/>
                <a:ea typeface="Rubik" pitchFamily="34" charset="-122"/>
                <a:cs typeface="Rubik" pitchFamily="34" charset="-120"/>
              </a:rPr>
              <a:t>Task 1</a:t>
            </a:r>
            <a:endParaRPr lang="en-US" sz="1200" dirty="0"/>
          </a:p>
        </p:txBody>
      </p:sp>
      <p:sp>
        <p:nvSpPr>
          <p:cNvPr id="6" name="Text 4"/>
          <p:cNvSpPr/>
          <p:nvPr/>
        </p:nvSpPr>
        <p:spPr>
          <a:xfrm>
            <a:off x="1028700" y="2410358"/>
            <a:ext cx="2119122"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Times table</a:t>
            </a:r>
            <a:endParaRPr lang="en-US" sz="1800" dirty="0"/>
          </a:p>
        </p:txBody>
      </p:sp>
      <p:sp>
        <p:nvSpPr>
          <p:cNvPr id="7" name="Text 5"/>
          <p:cNvSpPr/>
          <p:nvPr/>
        </p:nvSpPr>
        <p:spPr>
          <a:xfrm>
            <a:off x="1028700" y="2786261"/>
            <a:ext cx="2119122"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Read n and print its table from 1 to 10 with a for loop.</a:t>
            </a:r>
            <a:endParaRPr lang="en-US" sz="1500" dirty="0"/>
          </a:p>
        </p:txBody>
      </p:sp>
      <p:sp>
        <p:nvSpPr>
          <p:cNvPr id="8" name="Shape 6"/>
          <p:cNvSpPr/>
          <p:nvPr/>
        </p:nvSpPr>
        <p:spPr>
          <a:xfrm>
            <a:off x="3511550" y="1809688"/>
            <a:ext cx="2476500" cy="2519627"/>
          </a:xfrm>
          <a:prstGeom prst="roundRect">
            <a:avLst>
              <a:gd name="adj" fmla="val 4872"/>
            </a:avLst>
          </a:prstGeom>
          <a:solidFill>
            <a:srgbClr val="FBFCFE"/>
          </a:solidFill>
          <a:ln w="12700">
            <a:solidFill>
              <a:srgbClr val="C9D7E8"/>
            </a:solidFill>
            <a:prstDash val="solid"/>
          </a:ln>
        </p:spPr>
      </p:sp>
      <p:sp>
        <p:nvSpPr>
          <p:cNvPr id="9" name="Text 7"/>
          <p:cNvSpPr/>
          <p:nvPr/>
        </p:nvSpPr>
        <p:spPr>
          <a:xfrm>
            <a:off x="3721100" y="2019238"/>
            <a:ext cx="705181" cy="289520"/>
          </a:xfrm>
          <a:custGeom>
            <a:avLst/>
            <a:gdLst/>
            <a:ahLst/>
            <a:cxnLst/>
            <a:rect l="l" t="t" r="r" b="b"/>
            <a:pathLst>
              <a:path w="705181" h="289520">
                <a:moveTo>
                  <a:pt x="144760" y="0"/>
                </a:moveTo>
                <a:lnTo>
                  <a:pt x="560421" y="0"/>
                </a:lnTo>
                <a:arcTo hR="144760" wR="144760" stAng="16200000" swAng="5400000"/>
                <a:lnTo>
                  <a:pt x="705181" y="144760"/>
                </a:lnTo>
                <a:arcTo hR="144760" wR="144760" stAng="0" swAng="5400000"/>
                <a:lnTo>
                  <a:pt x="144760" y="289520"/>
                </a:lnTo>
                <a:arcTo hR="144760" wR="144760" stAng="5400000" swAng="5400000"/>
                <a:lnTo>
                  <a:pt x="0" y="144760"/>
                </a:lnTo>
                <a:arcTo hR="144760" wR="144760" stAng="10800000" swAng="5400000"/>
                <a:close/>
              </a:path>
            </a:pathLst>
          </a:custGeom>
          <a:solidFill>
            <a:srgbClr val="F2B33D"/>
          </a:solidFill>
          <a:ln/>
        </p:spPr>
        <p:txBody>
          <a:bodyPr wrap="none" lIns="0" tIns="0" rIns="0" bIns="0" rtlCol="0" anchor="ctr">
            <a:normAutofit/>
          </a:bodyPr>
          <a:lstStyle/>
          <a:p>
            <a:pPr algn="ctr" indent="0" marL="0">
              <a:lnSpc>
                <a:spcPts val="1680"/>
              </a:lnSpc>
              <a:buNone/>
            </a:pPr>
            <a:r>
              <a:rPr lang="en-US" sz="1200" b="1" dirty="0">
                <a:solidFill>
                  <a:srgbClr val="1B2A41"/>
                </a:solidFill>
                <a:latin typeface="Rubik" pitchFamily="34" charset="0"/>
                <a:ea typeface="Rubik" pitchFamily="34" charset="-122"/>
                <a:cs typeface="Rubik" pitchFamily="34" charset="-120"/>
              </a:rPr>
              <a:t>Task 2</a:t>
            </a:r>
            <a:endParaRPr lang="en-US" sz="1200" dirty="0"/>
          </a:p>
        </p:txBody>
      </p:sp>
      <p:sp>
        <p:nvSpPr>
          <p:cNvPr id="10" name="Text 8"/>
          <p:cNvSpPr/>
          <p:nvPr/>
        </p:nvSpPr>
        <p:spPr>
          <a:xfrm>
            <a:off x="3721100" y="2410358"/>
            <a:ext cx="2119122"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Count digits</a:t>
            </a:r>
            <a:endParaRPr lang="en-US" sz="1800" dirty="0"/>
          </a:p>
        </p:txBody>
      </p:sp>
      <p:sp>
        <p:nvSpPr>
          <p:cNvPr id="11" name="Text 9"/>
          <p:cNvSpPr/>
          <p:nvPr/>
        </p:nvSpPr>
        <p:spPr>
          <a:xfrm>
            <a:off x="3721100" y="2786261"/>
            <a:ext cx="2119122" cy="10922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Read a number and print how many digits it has. Test: 90210 has 5</a:t>
            </a:r>
            <a:endParaRPr lang="en-US" sz="1500" dirty="0"/>
          </a:p>
        </p:txBody>
      </p:sp>
      <p:sp>
        <p:nvSpPr>
          <p:cNvPr id="12" name="Shape 10"/>
          <p:cNvSpPr/>
          <p:nvPr/>
        </p:nvSpPr>
        <p:spPr>
          <a:xfrm>
            <a:off x="6203950" y="1809688"/>
            <a:ext cx="2476500" cy="2519627"/>
          </a:xfrm>
          <a:prstGeom prst="roundRect">
            <a:avLst>
              <a:gd name="adj" fmla="val 4872"/>
            </a:avLst>
          </a:prstGeom>
          <a:solidFill>
            <a:srgbClr val="FBFCFE"/>
          </a:solidFill>
          <a:ln w="12700">
            <a:solidFill>
              <a:srgbClr val="C9D7E8"/>
            </a:solidFill>
            <a:prstDash val="solid"/>
          </a:ln>
        </p:spPr>
      </p:sp>
      <p:sp>
        <p:nvSpPr>
          <p:cNvPr id="13" name="Text 11"/>
          <p:cNvSpPr/>
          <p:nvPr/>
        </p:nvSpPr>
        <p:spPr>
          <a:xfrm>
            <a:off x="6413500" y="2019238"/>
            <a:ext cx="706570" cy="289520"/>
          </a:xfrm>
          <a:custGeom>
            <a:avLst/>
            <a:gdLst/>
            <a:ahLst/>
            <a:cxnLst/>
            <a:rect l="l" t="t" r="r" b="b"/>
            <a:pathLst>
              <a:path w="706570" h="289520">
                <a:moveTo>
                  <a:pt x="144760" y="0"/>
                </a:moveTo>
                <a:lnTo>
                  <a:pt x="561810" y="0"/>
                </a:lnTo>
                <a:arcTo hR="144760" wR="144760" stAng="16200000" swAng="5400000"/>
                <a:lnTo>
                  <a:pt x="706570" y="144760"/>
                </a:lnTo>
                <a:arcTo hR="144760" wR="144760" stAng="0" swAng="5400000"/>
                <a:lnTo>
                  <a:pt x="144760" y="289520"/>
                </a:lnTo>
                <a:arcTo hR="144760" wR="144760" stAng="5400000" swAng="5400000"/>
                <a:lnTo>
                  <a:pt x="0" y="144760"/>
                </a:lnTo>
                <a:arcTo hR="144760" wR="144760" stAng="10800000" swAng="5400000"/>
                <a:close/>
              </a:path>
            </a:pathLst>
          </a:custGeom>
          <a:solidFill>
            <a:srgbClr val="F2B33D"/>
          </a:solidFill>
          <a:ln/>
        </p:spPr>
        <p:txBody>
          <a:bodyPr wrap="none" lIns="0" tIns="0" rIns="0" bIns="0" rtlCol="0" anchor="ctr">
            <a:normAutofit/>
          </a:bodyPr>
          <a:lstStyle/>
          <a:p>
            <a:pPr algn="ctr" indent="0" marL="0">
              <a:lnSpc>
                <a:spcPts val="1680"/>
              </a:lnSpc>
              <a:buNone/>
            </a:pPr>
            <a:r>
              <a:rPr lang="en-US" sz="1200" b="1" dirty="0">
                <a:solidFill>
                  <a:srgbClr val="1B2A41"/>
                </a:solidFill>
                <a:latin typeface="Rubik" pitchFamily="34" charset="0"/>
                <a:ea typeface="Rubik" pitchFamily="34" charset="-122"/>
                <a:cs typeface="Rubik" pitchFamily="34" charset="-120"/>
              </a:rPr>
              <a:t>Task 3</a:t>
            </a:r>
            <a:endParaRPr lang="en-US" sz="1200" dirty="0"/>
          </a:p>
        </p:txBody>
      </p:sp>
      <p:sp>
        <p:nvSpPr>
          <p:cNvPr id="14" name="Text 12"/>
          <p:cNvSpPr/>
          <p:nvPr/>
        </p:nvSpPr>
        <p:spPr>
          <a:xfrm>
            <a:off x="6413500" y="2410358"/>
            <a:ext cx="2119122"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Armstrong</a:t>
            </a:r>
            <a:endParaRPr lang="en-US" sz="1800" dirty="0"/>
          </a:p>
        </p:txBody>
      </p:sp>
      <p:sp>
        <p:nvSpPr>
          <p:cNvPr id="15" name="Text 13"/>
          <p:cNvSpPr/>
          <p:nvPr/>
        </p:nvSpPr>
        <p:spPr>
          <a:xfrm>
            <a:off x="6413500" y="2786261"/>
            <a:ext cx="2119122" cy="13589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Check if a 3-digit number equals the sum of cubes of its digits. Test: 153 yes, 154 no</a:t>
            </a:r>
            <a:endParaRPr lang="en-US" sz="1500" dirty="0"/>
          </a:p>
        </p:txBody>
      </p:sp>
      <p:sp>
        <p:nvSpPr>
          <p:cNvPr id="16" name="Shape 14"/>
          <p:cNvSpPr/>
          <p:nvPr/>
        </p:nvSpPr>
        <p:spPr>
          <a:xfrm>
            <a:off x="8896350" y="1809688"/>
            <a:ext cx="2476500" cy="2519627"/>
          </a:xfrm>
          <a:prstGeom prst="roundRect">
            <a:avLst>
              <a:gd name="adj" fmla="val 4872"/>
            </a:avLst>
          </a:prstGeom>
          <a:solidFill>
            <a:srgbClr val="FBFCFE"/>
          </a:solidFill>
          <a:ln w="12700">
            <a:solidFill>
              <a:srgbClr val="C9D7E8"/>
            </a:solidFill>
            <a:prstDash val="solid"/>
          </a:ln>
        </p:spPr>
      </p:sp>
      <p:sp>
        <p:nvSpPr>
          <p:cNvPr id="17" name="Text 15"/>
          <p:cNvSpPr/>
          <p:nvPr/>
        </p:nvSpPr>
        <p:spPr>
          <a:xfrm>
            <a:off x="9105900" y="2019238"/>
            <a:ext cx="710076" cy="289520"/>
          </a:xfrm>
          <a:custGeom>
            <a:avLst/>
            <a:gdLst/>
            <a:ahLst/>
            <a:cxnLst/>
            <a:rect l="l" t="t" r="r" b="b"/>
            <a:pathLst>
              <a:path w="710076" h="289520">
                <a:moveTo>
                  <a:pt x="144760" y="0"/>
                </a:moveTo>
                <a:lnTo>
                  <a:pt x="565315" y="0"/>
                </a:lnTo>
                <a:arcTo hR="144760" wR="144760" stAng="16200000" swAng="5400000"/>
                <a:lnTo>
                  <a:pt x="710076" y="144760"/>
                </a:lnTo>
                <a:arcTo hR="144760" wR="144760" stAng="0" swAng="5400000"/>
                <a:lnTo>
                  <a:pt x="144760" y="289520"/>
                </a:lnTo>
                <a:arcTo hR="144760" wR="144760" stAng="5400000" swAng="5400000"/>
                <a:lnTo>
                  <a:pt x="0" y="144760"/>
                </a:lnTo>
                <a:arcTo hR="144760" wR="144760" stAng="10800000" swAng="5400000"/>
                <a:close/>
              </a:path>
            </a:pathLst>
          </a:custGeom>
          <a:solidFill>
            <a:srgbClr val="F2B33D"/>
          </a:solidFill>
          <a:ln/>
        </p:spPr>
        <p:txBody>
          <a:bodyPr wrap="none" lIns="0" tIns="0" rIns="0" bIns="0" rtlCol="0" anchor="ctr">
            <a:normAutofit/>
          </a:bodyPr>
          <a:lstStyle/>
          <a:p>
            <a:pPr algn="ctr" indent="0" marL="0">
              <a:lnSpc>
                <a:spcPts val="1680"/>
              </a:lnSpc>
              <a:buNone/>
            </a:pPr>
            <a:r>
              <a:rPr lang="en-US" sz="1200" b="1" dirty="0">
                <a:solidFill>
                  <a:srgbClr val="1B2A41"/>
                </a:solidFill>
                <a:latin typeface="Rubik" pitchFamily="34" charset="0"/>
                <a:ea typeface="Rubik" pitchFamily="34" charset="-122"/>
                <a:cs typeface="Rubik" pitchFamily="34" charset="-120"/>
              </a:rPr>
              <a:t>Task 4</a:t>
            </a:r>
            <a:endParaRPr lang="en-US" sz="1200" dirty="0"/>
          </a:p>
        </p:txBody>
      </p:sp>
      <p:sp>
        <p:nvSpPr>
          <p:cNvPr id="18" name="Text 16"/>
          <p:cNvSpPr/>
          <p:nvPr/>
        </p:nvSpPr>
        <p:spPr>
          <a:xfrm>
            <a:off x="9105900" y="2410358"/>
            <a:ext cx="2119122"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Even sum</a:t>
            </a:r>
            <a:endParaRPr lang="en-US" sz="1800" dirty="0"/>
          </a:p>
        </p:txBody>
      </p:sp>
      <p:sp>
        <p:nvSpPr>
          <p:cNvPr id="19" name="Text 17"/>
          <p:cNvSpPr/>
          <p:nvPr/>
        </p:nvSpPr>
        <p:spPr>
          <a:xfrm>
            <a:off x="9105900" y="2786261"/>
            <a:ext cx="2119122" cy="10922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Read n and add up all even numbers from 1 to n. Test: n = 10 gives 30</a:t>
            </a:r>
            <a:endParaRPr lang="en-US" sz="1500" dirty="0"/>
          </a:p>
        </p:txBody>
      </p:sp>
      <p:sp>
        <p:nvSpPr>
          <p:cNvPr id="20" name="Shape 18"/>
          <p:cNvSpPr/>
          <p:nvPr/>
        </p:nvSpPr>
        <p:spPr>
          <a:xfrm>
            <a:off x="812800" y="4589661"/>
            <a:ext cx="10566400" cy="622300"/>
          </a:xfrm>
          <a:prstGeom prst="roundRect">
            <a:avLst>
              <a:gd name="adj" fmla="val 20408"/>
            </a:avLst>
          </a:prstGeom>
          <a:solidFill>
            <a:srgbClr val="1B2A41"/>
          </a:solidFill>
          <a:ln/>
        </p:spPr>
      </p:sp>
      <p:sp>
        <p:nvSpPr>
          <p:cNvPr id="21" name="Text 19"/>
          <p:cNvSpPr/>
          <p:nvPr/>
        </p:nvSpPr>
        <p:spPr>
          <a:xfrm>
            <a:off x="1066800" y="4794126"/>
            <a:ext cx="1215694"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B33D"/>
                </a:solidFill>
                <a:latin typeface="Rubik" pitchFamily="34" charset="0"/>
                <a:ea typeface="Rubik" pitchFamily="34" charset="-122"/>
                <a:cs typeface="Rubik" pitchFamily="34" charset="-120"/>
              </a:rPr>
              <a:t>HOMEWORK</a:t>
            </a:r>
            <a:endParaRPr lang="en-US" sz="1200" dirty="0"/>
          </a:p>
        </p:txBody>
      </p:sp>
      <p:sp>
        <p:nvSpPr>
          <p:cNvPr id="22" name="Text 20"/>
          <p:cNvSpPr/>
          <p:nvPr/>
        </p:nvSpPr>
        <p:spPr>
          <a:xfrm>
            <a:off x="2282494" y="4767461"/>
            <a:ext cx="9096706"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7F5EF"/>
                </a:solidFill>
                <a:latin typeface="Rubik" pitchFamily="34" charset="0"/>
                <a:ea typeface="Rubik" pitchFamily="34" charset="-122"/>
                <a:cs typeface="Rubik" pitchFamily="34" charset="-120"/>
              </a:rPr>
              <a:t>Read on W3Schools: </a:t>
            </a:r>
            <a:r>
              <a:rPr lang="en-US" sz="1500" u="sng" dirty="0">
                <a:solidFill>
                  <a:srgbClr val="F2B33D"/>
                </a:solidFill>
                <a:latin typeface="Rubik" pitchFamily="34" charset="0"/>
                <a:ea typeface="Rubik" pitchFamily="34" charset="-122"/>
                <a:cs typeface="Rubik" pitchFamily="34" charset="-120"/>
                <a:hlinkClick r:id="rId1" invalidUrl="" action="" tgtFrame="" tooltip="" history="1" highlightClick="0" endSnd="0">
                  <a:extLst>
                    <a:ext uri="{A12FA001-AC4F-418D-AE19-62706E023703}">
                      <ahyp:hlinkClr xmlns:ahyp="http://schemas.microsoft.com/office/drawing/2018/hyperlinkcolor" val="tx"/>
                    </a:ext>
                  </a:extLst>
                </a:hlinkClick>
              </a:rPr>
              <a:t>While Loops</a:t>
            </a:r>
            <a:r>
              <a:rPr lang="en-US" sz="1500" dirty="0">
                <a:solidFill>
                  <a:srgbClr val="F7F5EF"/>
                </a:solidFill>
                <a:latin typeface="Rubik" pitchFamily="34" charset="0"/>
                <a:ea typeface="Rubik" pitchFamily="34" charset="-122"/>
                <a:cs typeface="Rubik" pitchFamily="34" charset="-120"/>
              </a:rPr>
              <a:t> · </a:t>
            </a:r>
            <a:r>
              <a:rPr lang="en-US" sz="1500" u="sng" dirty="0">
                <a:solidFill>
                  <a:srgbClr val="F2B33D"/>
                </a:solidFill>
                <a:latin typeface="Rubik" pitchFamily="34" charset="0"/>
                <a:ea typeface="Rubik" pitchFamily="34" charset="-122"/>
                <a:cs typeface="Rubik" pitchFamily="34" charset="-120"/>
                <a:hlinkClick r:id="rId2" invalidUrl="" action="" tgtFrame="" tooltip="" history="1" highlightClick="0" endSnd="0">
                  <a:extLst>
                    <a:ext uri="{A12FA001-AC4F-418D-AE19-62706E023703}">
                      <ahyp:hlinkClr xmlns:ahyp="http://schemas.microsoft.com/office/drawing/2018/hyperlinkcolor" val="tx"/>
                    </a:ext>
                  </a:extLst>
                </a:hlinkClick>
              </a:rPr>
              <a:t>For Loops</a:t>
            </a:r>
            <a:r>
              <a:rPr lang="en-US" sz="1500" dirty="0">
                <a:solidFill>
                  <a:srgbClr val="F7F5EF"/>
                </a:solidFill>
                <a:latin typeface="Rubik" pitchFamily="34" charset="0"/>
                <a:ea typeface="Rubik" pitchFamily="34" charset="-122"/>
                <a:cs typeface="Rubik" pitchFamily="34" charset="-120"/>
              </a:rPr>
              <a:t> · and write the palindrome number program</a:t>
            </a:r>
            <a:endParaRPr lang="en-US" sz="1500" dirty="0"/>
          </a:p>
        </p:txBody>
      </p:sp>
      <p:sp>
        <p:nvSpPr>
          <p:cNvPr id="23" name="Text 2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Rubik" pitchFamily="34" charset="0"/>
                <a:ea typeface="Rubik" pitchFamily="34" charset="-122"/>
                <a:cs typeface="Rubik" pitchFamily="34" charset="-120"/>
              </a:rPr>
              <a:t>Python Programming · Week 2 · Class 5</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2B33D"/>
        </a:solidFill>
      </p:bgPr>
    </p:bg>
    <p:spTree>
      <p:nvGrpSpPr>
        <p:cNvPr id="1" name=""/>
        <p:cNvGrpSpPr/>
        <p:nvPr/>
      </p:nvGrpSpPr>
      <p:grpSpPr>
        <a:xfrm>
          <a:off x="0" y="0"/>
          <a:ext cx="0" cy="0"/>
          <a:chOff x="0" y="0"/>
          <a:chExt cx="0" cy="0"/>
        </a:xfrm>
      </p:grpSpPr>
      <p:sp>
        <p:nvSpPr>
          <p:cNvPr id="2" name="Text 0"/>
          <p:cNvSpPr/>
          <p:nvPr/>
        </p:nvSpPr>
        <p:spPr>
          <a:xfrm>
            <a:off x="812800" y="1864457"/>
            <a:ext cx="512775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1B2A41"/>
                </a:solidFill>
                <a:latin typeface="Rubik" pitchFamily="34" charset="0"/>
                <a:ea typeface="Rubik" pitchFamily="34" charset="-122"/>
                <a:cs typeface="Rubik" pitchFamily="34" charset="-120"/>
              </a:rPr>
              <a:t>CLASS 6 OF 24</a:t>
            </a:r>
            <a:endParaRPr lang="en-US" sz="1200" dirty="0"/>
          </a:p>
        </p:txBody>
      </p:sp>
      <p:sp>
        <p:nvSpPr>
          <p:cNvPr id="3" name="Text 1"/>
          <p:cNvSpPr/>
          <p:nvPr>
            <p:ph type="title"/>
          </p:nvPr>
        </p:nvSpPr>
        <p:spPr>
          <a:xfrm>
            <a:off x="812800" y="2255577"/>
            <a:ext cx="5127752" cy="1945481"/>
          </a:xfrm>
          <a:prstGeom prst="rect">
            <a:avLst/>
          </a:prstGeom>
          <a:noFill/>
          <a:ln/>
        </p:spPr>
        <p:txBody>
          <a:bodyPr wrap="square" lIns="0" tIns="0" rIns="0" bIns="0" rtlCol="0" anchor="t">
            <a:normAutofit/>
          </a:bodyPr>
          <a:lstStyle/>
          <a:p>
            <a:pPr algn="l" indent="0" marL="0">
              <a:lnSpc>
                <a:spcPts val="5040"/>
              </a:lnSpc>
              <a:buNone/>
            </a:pPr>
            <a:r>
              <a:rPr lang="en-US" sz="4800" b="1" i="0" dirty="0">
                <a:solidFill>
                  <a:srgbClr val="1B2A41"/>
                </a:solidFill>
                <a:latin typeface="Rubik" pitchFamily="34" charset="0"/>
                <a:ea typeface="Rubik" pitchFamily="34" charset="-122"/>
                <a:cs typeface="Rubik" pitchFamily="34" charset="-120"/>
              </a:rPr>
              <a:t>Patterns and classic programs</a:t>
            </a:r>
            <a:endParaRPr lang="en-US" sz="4800" dirty="0"/>
          </a:p>
        </p:txBody>
      </p:sp>
      <p:sp>
        <p:nvSpPr>
          <p:cNvPr id="4" name="Text 2"/>
          <p:cNvSpPr/>
          <p:nvPr/>
        </p:nvSpPr>
        <p:spPr>
          <a:xfrm>
            <a:off x="812800" y="4353458"/>
            <a:ext cx="5127752" cy="665427"/>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1B2A41"/>
                </a:solidFill>
                <a:latin typeface="Rubik" pitchFamily="34" charset="0"/>
                <a:ea typeface="Rubik" pitchFamily="34" charset="-122"/>
                <a:cs typeface="Rubik" pitchFamily="34" charset="-120"/>
              </a:rPr>
              <a:t>Loops inside loops: the favourite questions in every lab exam</a:t>
            </a:r>
            <a:endParaRPr lang="en-US" sz="1800" dirty="0"/>
          </a:p>
        </p:txBody>
      </p:sp>
      <p:sp>
        <p:nvSpPr>
          <p:cNvPr id="5" name="Shape 3"/>
          <p:cNvSpPr/>
          <p:nvPr/>
        </p:nvSpPr>
        <p:spPr>
          <a:xfrm>
            <a:off x="6400800" y="2098018"/>
            <a:ext cx="4978400" cy="2661907"/>
          </a:xfrm>
          <a:prstGeom prst="roundRect">
            <a:avLst>
              <a:gd name="adj" fmla="val 5725"/>
            </a:avLst>
          </a:prstGeom>
          <a:solidFill>
            <a:srgbClr val="1B2A41"/>
          </a:solidFill>
          <a:ln/>
        </p:spPr>
      </p:sp>
      <p:sp>
        <p:nvSpPr>
          <p:cNvPr id="6" name="Text 4"/>
          <p:cNvSpPr/>
          <p:nvPr/>
        </p:nvSpPr>
        <p:spPr>
          <a:xfrm>
            <a:off x="6756400" y="2453618"/>
            <a:ext cx="4395216"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2B33D"/>
                </a:solidFill>
                <a:latin typeface="Rubik" pitchFamily="34" charset="0"/>
                <a:ea typeface="Rubik" pitchFamily="34" charset="-122"/>
                <a:cs typeface="Rubik" pitchFamily="34" charset="-120"/>
              </a:rPr>
              <a:t>By the end of today you can</a:t>
            </a:r>
            <a:endParaRPr lang="en-US" sz="1800" dirty="0"/>
          </a:p>
        </p:txBody>
      </p:sp>
      <p:sp>
        <p:nvSpPr>
          <p:cNvPr id="7" name="Text 5"/>
          <p:cNvSpPr/>
          <p:nvPr/>
        </p:nvSpPr>
        <p:spPr>
          <a:xfrm>
            <a:off x="6840220" y="2880320"/>
            <a:ext cx="4303776" cy="1549400"/>
          </a:xfrm>
          <a:prstGeom prst="rect">
            <a:avLst/>
          </a:prstGeom>
          <a:noFill/>
          <a:ln/>
        </p:spPr>
        <p:txBody>
          <a:bodyPr wrap="square" lIns="0" tIns="0" rIns="0" bIns="0" rtlCol="0" anchor="t">
            <a:normAutofit/>
          </a:bodyPr>
          <a:lstStyle/>
          <a:p>
            <a:pPr algn="l" marL="170180" indent="-170180">
              <a:lnSpc>
                <a:spcPts val="2400"/>
              </a:lnSpc>
              <a:buSzPct val="100000"/>
              <a:buChar char="•"/>
            </a:pPr>
            <a:r>
              <a:rPr lang="en-US" sz="1500" dirty="0">
                <a:solidFill>
                  <a:srgbClr val="F7F5EF"/>
                </a:solidFill>
                <a:latin typeface="Rubik" pitchFamily="34" charset="0"/>
                <a:ea typeface="Rubik" pitchFamily="34" charset="-122"/>
                <a:cs typeface="Rubik" pitchFamily="34" charset="-120"/>
              </a:rPr>
              <a:t>Explain how nested loops run</a:t>
            </a:r>
            <a:endParaRPr lang="en-US" sz="1500" dirty="0"/>
          </a:p>
          <a:p>
            <a:pPr algn="l" marL="170180" indent="-170180">
              <a:lnSpc>
                <a:spcPts val="2400"/>
              </a:lnSpc>
              <a:buSzPct val="100000"/>
              <a:buChar char="•"/>
            </a:pPr>
            <a:r>
              <a:rPr lang="en-US" sz="1500" dirty="0">
                <a:solidFill>
                  <a:srgbClr val="F7F5EF"/>
                </a:solidFill>
                <a:latin typeface="Rubik" pitchFamily="34" charset="0"/>
                <a:ea typeface="Rubik" pitchFamily="34" charset="-122"/>
                <a:cs typeface="Rubik" pitchFamily="34" charset="-120"/>
              </a:rPr>
              <a:t>Print star triangles and pyramids</a:t>
            </a:r>
            <a:endParaRPr lang="en-US" sz="1500" dirty="0"/>
          </a:p>
          <a:p>
            <a:pPr algn="l" marL="170180" indent="-170180">
              <a:lnSpc>
                <a:spcPts val="2400"/>
              </a:lnSpc>
              <a:buSzPct val="100000"/>
              <a:buChar char="•"/>
            </a:pPr>
            <a:r>
              <a:rPr lang="en-US" sz="1500" dirty="0">
                <a:solidFill>
                  <a:srgbClr val="F7F5EF"/>
                </a:solidFill>
                <a:latin typeface="Rubik" pitchFamily="34" charset="0"/>
                <a:ea typeface="Rubik" pitchFamily="34" charset="-122"/>
                <a:cs typeface="Rubik" pitchFamily="34" charset="-120"/>
              </a:rPr>
              <a:t>Print number patterns</a:t>
            </a:r>
            <a:endParaRPr lang="en-US" sz="1500" dirty="0"/>
          </a:p>
          <a:p>
            <a:pPr algn="l" marL="170180" indent="-170180">
              <a:lnSpc>
                <a:spcPts val="2400"/>
              </a:lnSpc>
              <a:buSzPct val="100000"/>
              <a:buChar char="•"/>
            </a:pPr>
            <a:r>
              <a:rPr lang="en-US" sz="1500" dirty="0">
                <a:solidFill>
                  <a:srgbClr val="F7F5EF"/>
                </a:solidFill>
                <a:latin typeface="Rubik" pitchFamily="34" charset="0"/>
                <a:ea typeface="Rubik" pitchFamily="34" charset="-122"/>
                <a:cs typeface="Rubik" pitchFamily="34" charset="-120"/>
              </a:rPr>
              <a:t>Check if a number is prime</a:t>
            </a:r>
            <a:endParaRPr lang="en-US" sz="1500" dirty="0"/>
          </a:p>
          <a:p>
            <a:pPr algn="l" marL="170180" indent="-170180">
              <a:lnSpc>
                <a:spcPts val="2400"/>
              </a:lnSpc>
              <a:buSzPct val="100000"/>
              <a:buChar char="•"/>
            </a:pPr>
            <a:r>
              <a:rPr lang="en-US" sz="1500" dirty="0">
                <a:solidFill>
                  <a:srgbClr val="F7F5EF"/>
                </a:solidFill>
                <a:latin typeface="Rubik" pitchFamily="34" charset="0"/>
                <a:ea typeface="Rubik" pitchFamily="34" charset="-122"/>
                <a:cs typeface="Rubik" pitchFamily="34" charset="-120"/>
              </a:rPr>
              <a:t>Print the Fibonacci series</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CLASS 6 · NESTED LOOPS</a:t>
            </a:r>
            <a:endParaRPr lang="en-US" sz="1200" dirty="0"/>
          </a:p>
        </p:txBody>
      </p:sp>
      <p:sp>
        <p:nvSpPr>
          <p:cNvPr id="3" name="Text 1"/>
          <p:cNvSpPr/>
          <p:nvPr>
            <p:ph type="title"/>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41"/>
                </a:solidFill>
                <a:latin typeface="Rubik" pitchFamily="34" charset="0"/>
                <a:ea typeface="Rubik" pitchFamily="34" charset="-122"/>
                <a:cs typeface="Rubik" pitchFamily="34" charset="-120"/>
              </a:rPr>
              <a:t>A loop inside a loop</a:t>
            </a:r>
            <a:endParaRPr lang="en-US" sz="3200" dirty="0"/>
          </a:p>
        </p:txBody>
      </p:sp>
      <p:sp>
        <p:nvSpPr>
          <p:cNvPr id="4" name="Shape 2"/>
          <p:cNvSpPr/>
          <p:nvPr/>
        </p:nvSpPr>
        <p:spPr>
          <a:xfrm>
            <a:off x="812800" y="1854138"/>
            <a:ext cx="5461529" cy="1788120"/>
          </a:xfrm>
          <a:prstGeom prst="roundRect">
            <a:avLst>
              <a:gd name="adj" fmla="val 7102"/>
            </a:avLst>
          </a:prstGeom>
          <a:solidFill>
            <a:srgbClr val="1B2A41"/>
          </a:solidFill>
          <a:ln/>
        </p:spPr>
      </p:sp>
      <p:sp>
        <p:nvSpPr>
          <p:cNvPr id="5" name="Text 3"/>
          <p:cNvSpPr/>
          <p:nvPr/>
        </p:nvSpPr>
        <p:spPr>
          <a:xfrm>
            <a:off x="1066800" y="2031938"/>
            <a:ext cx="51021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3B8"/>
                </a:solidFill>
                <a:latin typeface="JetBrains Mono" pitchFamily="49" charset="0"/>
                <a:ea typeface="JetBrains Mono" pitchFamily="49" charset="-122"/>
                <a:cs typeface="JetBrains Mono" pitchFamily="49" charset="-120"/>
              </a:rPr>
              <a:t>rectangle.py</a:t>
            </a:r>
            <a:endParaRPr lang="en-US" sz="1200" dirty="0"/>
          </a:p>
        </p:txBody>
      </p:sp>
      <p:sp>
        <p:nvSpPr>
          <p:cNvPr id="6" name="Text 4"/>
          <p:cNvSpPr/>
          <p:nvPr/>
        </p:nvSpPr>
        <p:spPr>
          <a:xfrm>
            <a:off x="1066800" y="2321458"/>
            <a:ext cx="5102135" cy="11684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for</a:t>
            </a:r>
            <a:r>
              <a:rPr lang="en-US" sz="1500" dirty="0">
                <a:solidFill>
                  <a:srgbClr val="E8EDF3"/>
                </a:solidFill>
                <a:latin typeface="JetBrains Mono" pitchFamily="49" charset="0"/>
                <a:ea typeface="JetBrains Mono" pitchFamily="49" charset="-122"/>
                <a:cs typeface="JetBrains Mono" pitchFamily="49" charset="-120"/>
              </a:rPr>
              <a:t> row </a:t>
            </a:r>
            <a:r>
              <a:rPr lang="en-US" sz="1500" dirty="0">
                <a:solidFill>
                  <a:srgbClr val="F2B33D"/>
                </a:solidFill>
                <a:latin typeface="JetBrains Mono" pitchFamily="49" charset="0"/>
                <a:ea typeface="JetBrains Mono" pitchFamily="49" charset="-122"/>
                <a:cs typeface="JetBrains Mono" pitchFamily="49" charset="-120"/>
              </a:rPr>
              <a:t>in</a:t>
            </a: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range</a:t>
            </a:r>
            <a:r>
              <a:rPr lang="en-US" sz="1500" dirty="0">
                <a:solidFill>
                  <a:srgbClr val="E8EDF3"/>
                </a:solidFill>
                <a:latin typeface="JetBrains Mono" pitchFamily="49" charset="0"/>
                <a:ea typeface="JetBrains Mono" pitchFamily="49" charset="-122"/>
                <a:cs typeface="JetBrains Mono" pitchFamily="49" charset="-120"/>
              </a:rPr>
              <a:t>(1, 4):</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for</a:t>
            </a:r>
            <a:r>
              <a:rPr lang="en-US" sz="1500" dirty="0">
                <a:solidFill>
                  <a:srgbClr val="E8EDF3"/>
                </a:solidFill>
                <a:latin typeface="JetBrains Mono" pitchFamily="49" charset="0"/>
                <a:ea typeface="JetBrains Mono" pitchFamily="49" charset="-122"/>
                <a:cs typeface="JetBrains Mono" pitchFamily="49" charset="-120"/>
              </a:rPr>
              <a:t> col </a:t>
            </a:r>
            <a:r>
              <a:rPr lang="en-US" sz="1500" dirty="0">
                <a:solidFill>
                  <a:srgbClr val="F2B33D"/>
                </a:solidFill>
                <a:latin typeface="JetBrains Mono" pitchFamily="49" charset="0"/>
                <a:ea typeface="JetBrains Mono" pitchFamily="49" charset="-122"/>
                <a:cs typeface="JetBrains Mono" pitchFamily="49" charset="-120"/>
              </a:rPr>
              <a:t>in</a:t>
            </a: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range</a:t>
            </a:r>
            <a:r>
              <a:rPr lang="en-US" sz="1500" dirty="0">
                <a:solidFill>
                  <a:srgbClr val="E8EDF3"/>
                </a:solidFill>
                <a:latin typeface="JetBrains Mono" pitchFamily="49" charset="0"/>
                <a:ea typeface="JetBrains Mono" pitchFamily="49" charset="-122"/>
                <a:cs typeface="JetBrains Mono" pitchFamily="49" charset="-120"/>
              </a:rPr>
              <a:t>(1, 5):</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a:t>
            </a:r>
            <a:r>
              <a:rPr lang="en-US" sz="1500" dirty="0">
                <a:solidFill>
                  <a:srgbClr val="9FD8A8"/>
                </a:solidFill>
                <a:latin typeface="JetBrains Mono" pitchFamily="49" charset="0"/>
                <a:ea typeface="JetBrains Mono" pitchFamily="49" charset="-122"/>
                <a:cs typeface="JetBrains Mono" pitchFamily="49" charset="-120"/>
              </a:rPr>
              <a:t>"*"</a:t>
            </a:r>
            <a:r>
              <a:rPr lang="en-US" sz="1500" dirty="0">
                <a:solidFill>
                  <a:srgbClr val="E8EDF3"/>
                </a:solidFill>
                <a:latin typeface="JetBrains Mono" pitchFamily="49" charset="0"/>
                <a:ea typeface="JetBrains Mono" pitchFamily="49" charset="-122"/>
                <a:cs typeface="JetBrains Mono" pitchFamily="49" charset="-120"/>
              </a:rPr>
              <a:t>, end=</a:t>
            </a:r>
            <a:r>
              <a:rPr lang="en-US" sz="1500" dirty="0">
                <a:solidFill>
                  <a:srgbClr val="9FD8A8"/>
                </a:solidFill>
                <a:latin typeface="JetBrains Mono" pitchFamily="49" charset="0"/>
                <a:ea typeface="JetBrains Mono" pitchFamily="49" charset="-122"/>
                <a:cs typeface="JetBrains Mono" pitchFamily="49" charset="-120"/>
              </a:rPr>
              <a:t>" "</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p:txBody>
      </p:sp>
      <p:sp>
        <p:nvSpPr>
          <p:cNvPr id="7" name="Shape 5"/>
          <p:cNvSpPr/>
          <p:nvPr/>
        </p:nvSpPr>
        <p:spPr>
          <a:xfrm>
            <a:off x="819150" y="3775608"/>
            <a:ext cx="5448829" cy="1515070"/>
          </a:xfrm>
          <a:prstGeom prst="roundRect">
            <a:avLst>
              <a:gd name="adj" fmla="val 7963"/>
            </a:avLst>
          </a:prstGeom>
          <a:solidFill>
            <a:srgbClr val="FFFDF8"/>
          </a:solidFill>
          <a:ln w="12700">
            <a:solidFill>
              <a:srgbClr val="D9DEE5"/>
            </a:solidFill>
            <a:prstDash val="solid"/>
          </a:ln>
        </p:spPr>
      </p:sp>
      <p:sp>
        <p:nvSpPr>
          <p:cNvPr id="8" name="Text 6"/>
          <p:cNvSpPr/>
          <p:nvPr/>
        </p:nvSpPr>
        <p:spPr>
          <a:xfrm>
            <a:off x="1079500" y="3959758"/>
            <a:ext cx="5075973"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OUTPUT</a:t>
            </a:r>
            <a:endParaRPr lang="en-US" sz="1200" dirty="0"/>
          </a:p>
        </p:txBody>
      </p:sp>
      <p:sp>
        <p:nvSpPr>
          <p:cNvPr id="9" name="Text 7"/>
          <p:cNvSpPr/>
          <p:nvPr/>
        </p:nvSpPr>
        <p:spPr>
          <a:xfrm>
            <a:off x="1079500" y="4249279"/>
            <a:ext cx="5075973" cy="8826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 * * *</a:t>
            </a:r>
            <a:endParaRPr lang="en-US" sz="1500" dirty="0"/>
          </a:p>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 * * *</a:t>
            </a:r>
            <a:endParaRPr lang="en-US" sz="1500" dirty="0"/>
          </a:p>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 * * *</a:t>
            </a:r>
            <a:endParaRPr lang="en-US" sz="1500" dirty="0"/>
          </a:p>
        </p:txBody>
      </p:sp>
      <p:sp>
        <p:nvSpPr>
          <p:cNvPr id="10" name="Shape 8"/>
          <p:cNvSpPr/>
          <p:nvPr/>
        </p:nvSpPr>
        <p:spPr>
          <a:xfrm>
            <a:off x="6636279" y="1860488"/>
            <a:ext cx="4736571" cy="482600"/>
          </a:xfrm>
          <a:prstGeom prst="roundRect">
            <a:avLst>
              <a:gd name="adj" fmla="val 17105"/>
            </a:avLst>
          </a:prstGeom>
          <a:solidFill>
            <a:srgbClr val="FFFDF8"/>
          </a:solidFill>
          <a:ln w="12700">
            <a:solidFill>
              <a:srgbClr val="E2DED3"/>
            </a:solidFill>
            <a:prstDash val="solid"/>
          </a:ln>
        </p:spPr>
      </p:sp>
      <p:sp>
        <p:nvSpPr>
          <p:cNvPr id="11" name="Text 9"/>
          <p:cNvSpPr/>
          <p:nvPr/>
        </p:nvSpPr>
        <p:spPr>
          <a:xfrm>
            <a:off x="6795029" y="1968438"/>
            <a:ext cx="330200" cy="266700"/>
          </a:xfrm>
          <a:custGeom>
            <a:avLst/>
            <a:gdLst/>
            <a:ahLst/>
            <a:cxnLst/>
            <a:rect l="l" t="t" r="r" b="b"/>
            <a:pathLst>
              <a:path w="330200" h="266700">
                <a:moveTo>
                  <a:pt x="133350" y="0"/>
                </a:moveTo>
                <a:lnTo>
                  <a:pt x="196850" y="0"/>
                </a:lnTo>
                <a:arcTo hR="133350" wR="133350" stAng="16200000" swAng="5400000"/>
                <a:lnTo>
                  <a:pt x="330200" y="133350"/>
                </a:lnTo>
                <a:arcTo hR="133350" wR="133350" stAng="0" swAng="5400000"/>
                <a:lnTo>
                  <a:pt x="133350" y="266700"/>
                </a:lnTo>
                <a:arcTo hR="133350" wR="133350" stAng="5400000" swAng="5400000"/>
                <a:lnTo>
                  <a:pt x="0" y="133350"/>
                </a:lnTo>
                <a:arcTo hR="133350" wR="133350" stAng="10800000" swAng="5400000"/>
                <a:close/>
              </a:path>
            </a:pathLst>
          </a:custGeom>
          <a:solidFill>
            <a:srgbClr val="F2B33D"/>
          </a:solidFill>
          <a:ln/>
        </p:spPr>
        <p:txBody>
          <a:bodyPr wrap="square" lIns="0" tIns="0" rIns="0" bIns="0" rtlCol="0" anchor="t">
            <a:normAutofit/>
          </a:bodyPr>
          <a:lstStyle/>
          <a:p>
            <a:pPr algn="ctr" indent="0" marL="0">
              <a:lnSpc>
                <a:spcPts val="2100"/>
              </a:lnSpc>
              <a:buNone/>
            </a:pPr>
            <a:r>
              <a:rPr lang="en-US" sz="1500" b="1" dirty="0">
                <a:solidFill>
                  <a:srgbClr val="1B2A41"/>
                </a:solidFill>
                <a:latin typeface="Rubik" pitchFamily="34" charset="0"/>
                <a:ea typeface="Rubik" pitchFamily="34" charset="-122"/>
                <a:cs typeface="Rubik" pitchFamily="34" charset="-120"/>
              </a:rPr>
              <a:t>1</a:t>
            </a:r>
            <a:endParaRPr lang="en-US" sz="1500" dirty="0"/>
          </a:p>
        </p:txBody>
      </p:sp>
      <p:sp>
        <p:nvSpPr>
          <p:cNvPr id="12" name="Text 10"/>
          <p:cNvSpPr/>
          <p:nvPr/>
        </p:nvSpPr>
        <p:spPr>
          <a:xfrm>
            <a:off x="7252229" y="1968438"/>
            <a:ext cx="4114271"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4A5568"/>
                </a:solidFill>
                <a:latin typeface="Rubik" pitchFamily="34" charset="0"/>
                <a:ea typeface="Rubik" pitchFamily="34" charset="-122"/>
                <a:cs typeface="Rubik" pitchFamily="34" charset="-120"/>
              </a:rPr>
              <a:t>Outer loop:</a:t>
            </a:r>
            <a:r>
              <a:rPr lang="en-US" sz="1500" dirty="0">
                <a:solidFill>
                  <a:srgbClr val="4A5568"/>
                </a:solidFill>
                <a:latin typeface="Rubik" pitchFamily="34" charset="0"/>
                <a:ea typeface="Rubik" pitchFamily="34" charset="-122"/>
                <a:cs typeface="Rubik" pitchFamily="34" charset="-120"/>
              </a:rPr>
              <a:t> one round per row (3 rows)</a:t>
            </a:r>
            <a:endParaRPr lang="en-US" sz="1500" dirty="0"/>
          </a:p>
        </p:txBody>
      </p:sp>
      <p:sp>
        <p:nvSpPr>
          <p:cNvPr id="13" name="Shape 11"/>
          <p:cNvSpPr/>
          <p:nvPr/>
        </p:nvSpPr>
        <p:spPr>
          <a:xfrm>
            <a:off x="6636279" y="2482788"/>
            <a:ext cx="4736571" cy="482600"/>
          </a:xfrm>
          <a:prstGeom prst="roundRect">
            <a:avLst>
              <a:gd name="adj" fmla="val 17105"/>
            </a:avLst>
          </a:prstGeom>
          <a:solidFill>
            <a:srgbClr val="FFFDF8"/>
          </a:solidFill>
          <a:ln w="12700">
            <a:solidFill>
              <a:srgbClr val="E2DED3"/>
            </a:solidFill>
            <a:prstDash val="solid"/>
          </a:ln>
        </p:spPr>
      </p:sp>
      <p:sp>
        <p:nvSpPr>
          <p:cNvPr id="14" name="Text 12"/>
          <p:cNvSpPr/>
          <p:nvPr/>
        </p:nvSpPr>
        <p:spPr>
          <a:xfrm>
            <a:off x="6795029" y="2590738"/>
            <a:ext cx="330200" cy="266700"/>
          </a:xfrm>
          <a:custGeom>
            <a:avLst/>
            <a:gdLst/>
            <a:ahLst/>
            <a:cxnLst/>
            <a:rect l="l" t="t" r="r" b="b"/>
            <a:pathLst>
              <a:path w="330200" h="266700">
                <a:moveTo>
                  <a:pt x="133350" y="0"/>
                </a:moveTo>
                <a:lnTo>
                  <a:pt x="196850" y="0"/>
                </a:lnTo>
                <a:arcTo hR="133350" wR="133350" stAng="16200000" swAng="5400000"/>
                <a:lnTo>
                  <a:pt x="330200" y="133350"/>
                </a:lnTo>
                <a:arcTo hR="133350" wR="133350" stAng="0" swAng="5400000"/>
                <a:lnTo>
                  <a:pt x="133350" y="266700"/>
                </a:lnTo>
                <a:arcTo hR="133350" wR="133350" stAng="5400000" swAng="5400000"/>
                <a:lnTo>
                  <a:pt x="0" y="133350"/>
                </a:lnTo>
                <a:arcTo hR="133350" wR="133350" stAng="10800000" swAng="5400000"/>
                <a:close/>
              </a:path>
            </a:pathLst>
          </a:custGeom>
          <a:solidFill>
            <a:srgbClr val="F2B33D"/>
          </a:solidFill>
          <a:ln/>
        </p:spPr>
        <p:txBody>
          <a:bodyPr wrap="square" lIns="0" tIns="0" rIns="0" bIns="0" rtlCol="0" anchor="t">
            <a:normAutofit/>
          </a:bodyPr>
          <a:lstStyle/>
          <a:p>
            <a:pPr algn="ctr" indent="0" marL="0">
              <a:lnSpc>
                <a:spcPts val="2100"/>
              </a:lnSpc>
              <a:buNone/>
            </a:pPr>
            <a:r>
              <a:rPr lang="en-US" sz="1500" b="1" dirty="0">
                <a:solidFill>
                  <a:srgbClr val="1B2A41"/>
                </a:solidFill>
                <a:latin typeface="Rubik" pitchFamily="34" charset="0"/>
                <a:ea typeface="Rubik" pitchFamily="34" charset="-122"/>
                <a:cs typeface="Rubik" pitchFamily="34" charset="-120"/>
              </a:rPr>
              <a:t>2</a:t>
            </a:r>
            <a:endParaRPr lang="en-US" sz="1500" dirty="0"/>
          </a:p>
        </p:txBody>
      </p:sp>
      <p:sp>
        <p:nvSpPr>
          <p:cNvPr id="15" name="Text 13"/>
          <p:cNvSpPr/>
          <p:nvPr/>
        </p:nvSpPr>
        <p:spPr>
          <a:xfrm>
            <a:off x="7252229" y="2590738"/>
            <a:ext cx="4114271"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4A5568"/>
                </a:solidFill>
                <a:latin typeface="Rubik" pitchFamily="34" charset="0"/>
                <a:ea typeface="Rubik" pitchFamily="34" charset="-122"/>
                <a:cs typeface="Rubik" pitchFamily="34" charset="-120"/>
              </a:rPr>
              <a:t>Inner loop:</a:t>
            </a:r>
            <a:r>
              <a:rPr lang="en-US" sz="1500" dirty="0">
                <a:solidFill>
                  <a:srgbClr val="4A5568"/>
                </a:solidFill>
                <a:latin typeface="Rubik" pitchFamily="34" charset="0"/>
                <a:ea typeface="Rubik" pitchFamily="34" charset="-122"/>
                <a:cs typeface="Rubik" pitchFamily="34" charset="-120"/>
              </a:rPr>
              <a:t> one star per column (4 stars)</a:t>
            </a:r>
            <a:endParaRPr lang="en-US" sz="1500" dirty="0"/>
          </a:p>
        </p:txBody>
      </p:sp>
      <p:sp>
        <p:nvSpPr>
          <p:cNvPr id="16" name="Shape 14"/>
          <p:cNvSpPr/>
          <p:nvPr/>
        </p:nvSpPr>
        <p:spPr>
          <a:xfrm>
            <a:off x="6636279" y="3105088"/>
            <a:ext cx="4736571" cy="749300"/>
          </a:xfrm>
          <a:prstGeom prst="roundRect">
            <a:avLst>
              <a:gd name="adj" fmla="val 11017"/>
            </a:avLst>
          </a:prstGeom>
          <a:solidFill>
            <a:srgbClr val="FFFDF8"/>
          </a:solidFill>
          <a:ln w="12700">
            <a:solidFill>
              <a:srgbClr val="E2DED3"/>
            </a:solidFill>
            <a:prstDash val="solid"/>
          </a:ln>
        </p:spPr>
      </p:sp>
      <p:sp>
        <p:nvSpPr>
          <p:cNvPr id="17" name="Text 15"/>
          <p:cNvSpPr/>
          <p:nvPr/>
        </p:nvSpPr>
        <p:spPr>
          <a:xfrm>
            <a:off x="6795029" y="3346388"/>
            <a:ext cx="330200" cy="266700"/>
          </a:xfrm>
          <a:custGeom>
            <a:avLst/>
            <a:gdLst/>
            <a:ahLst/>
            <a:cxnLst/>
            <a:rect l="l" t="t" r="r" b="b"/>
            <a:pathLst>
              <a:path w="330200" h="266700">
                <a:moveTo>
                  <a:pt x="133350" y="0"/>
                </a:moveTo>
                <a:lnTo>
                  <a:pt x="196850" y="0"/>
                </a:lnTo>
                <a:arcTo hR="133350" wR="133350" stAng="16200000" swAng="5400000"/>
                <a:lnTo>
                  <a:pt x="330200" y="133350"/>
                </a:lnTo>
                <a:arcTo hR="133350" wR="133350" stAng="0" swAng="5400000"/>
                <a:lnTo>
                  <a:pt x="133350" y="266700"/>
                </a:lnTo>
                <a:arcTo hR="133350" wR="133350" stAng="5400000" swAng="5400000"/>
                <a:lnTo>
                  <a:pt x="0" y="133350"/>
                </a:lnTo>
                <a:arcTo hR="133350" wR="133350" stAng="10800000" swAng="5400000"/>
                <a:close/>
              </a:path>
            </a:pathLst>
          </a:custGeom>
          <a:solidFill>
            <a:srgbClr val="F2B33D"/>
          </a:solidFill>
          <a:ln/>
        </p:spPr>
        <p:txBody>
          <a:bodyPr wrap="square" lIns="0" tIns="0" rIns="0" bIns="0" rtlCol="0" anchor="t">
            <a:normAutofit/>
          </a:bodyPr>
          <a:lstStyle/>
          <a:p>
            <a:pPr algn="ctr" indent="0" marL="0">
              <a:lnSpc>
                <a:spcPts val="2100"/>
              </a:lnSpc>
              <a:buNone/>
            </a:pPr>
            <a:r>
              <a:rPr lang="en-US" sz="1500" b="1" dirty="0">
                <a:solidFill>
                  <a:srgbClr val="1B2A41"/>
                </a:solidFill>
                <a:latin typeface="Rubik" pitchFamily="34" charset="0"/>
                <a:ea typeface="Rubik" pitchFamily="34" charset="-122"/>
                <a:cs typeface="Rubik" pitchFamily="34" charset="-120"/>
              </a:rPr>
              <a:t>3</a:t>
            </a:r>
            <a:endParaRPr lang="en-US" sz="1500" dirty="0"/>
          </a:p>
        </p:txBody>
      </p:sp>
      <p:sp>
        <p:nvSpPr>
          <p:cNvPr id="18" name="Text 16"/>
          <p:cNvSpPr/>
          <p:nvPr/>
        </p:nvSpPr>
        <p:spPr>
          <a:xfrm>
            <a:off x="7252229" y="3213038"/>
            <a:ext cx="4080727"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4A5568"/>
                </a:solidFill>
                <a:latin typeface="Rubik" pitchFamily="34" charset="0"/>
                <a:ea typeface="Rubik" pitchFamily="34" charset="-122"/>
                <a:cs typeface="Rubik" pitchFamily="34" charset="-120"/>
              </a:rPr>
              <a:t>print():</a:t>
            </a:r>
            <a:r>
              <a:rPr lang="en-US" sz="1500" dirty="0">
                <a:solidFill>
                  <a:srgbClr val="4A5568"/>
                </a:solidFill>
                <a:latin typeface="Rubik" pitchFamily="34" charset="0"/>
                <a:ea typeface="Rubik" pitchFamily="34" charset="-122"/>
                <a:cs typeface="Rubik" pitchFamily="34" charset="-120"/>
              </a:rPr>
              <a:t> after the inner loop: move to a new line</a:t>
            </a:r>
            <a:endParaRPr lang="en-US" sz="1500" dirty="0"/>
          </a:p>
        </p:txBody>
      </p:sp>
      <p:sp>
        <p:nvSpPr>
          <p:cNvPr id="19" name="Text 17"/>
          <p:cNvSpPr/>
          <p:nvPr/>
        </p:nvSpPr>
        <p:spPr>
          <a:xfrm>
            <a:off x="6629929" y="3987738"/>
            <a:ext cx="4749271" cy="838200"/>
          </a:xfrm>
          <a:prstGeom prst="roundRect">
            <a:avLst>
              <a:gd name="adj" fmla="val 15152"/>
            </a:avLst>
          </a:prstGeom>
          <a:solidFill>
            <a:srgbClr val="FBEFD5"/>
          </a:solidFill>
          <a:ln/>
        </p:spPr>
        <p:txBody>
          <a:bodyPr wrap="square" lIns="166003" tIns="115203" rIns="35717" bIns="89803" rtlCol="0" anchor="t">
            <a:normAutofit/>
          </a:bodyPr>
          <a:lstStyle/>
          <a:p>
            <a:pPr algn="l" indent="0" marL="0">
              <a:lnSpc>
                <a:spcPts val="2100"/>
              </a:lnSpc>
              <a:buNone/>
            </a:pPr>
            <a:r>
              <a:rPr lang="en-US" sz="1500" dirty="0">
                <a:solidFill>
                  <a:srgbClr val="1B2A41"/>
                </a:solidFill>
                <a:latin typeface="Rubik" pitchFamily="34" charset="0"/>
                <a:ea typeface="Rubik" pitchFamily="34" charset="-122"/>
                <a:cs typeface="Rubik" pitchFamily="34" charset="-120"/>
              </a:rPr>
              <a:t>Like a clock: the minute hand goes all the way round for every single tick of the hour hand.</a:t>
            </a:r>
            <a:endParaRPr lang="en-US" sz="1500" dirty="0"/>
          </a:p>
        </p:txBody>
      </p:sp>
      <p:sp>
        <p:nvSpPr>
          <p:cNvPr id="20" name="Text 1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Rubik" pitchFamily="34" charset="0"/>
                <a:ea typeface="Rubik" pitchFamily="34" charset="-122"/>
                <a:cs typeface="Rubik" pitchFamily="34" charset="-120"/>
              </a:rPr>
              <a:t>Python Programming · Week 2 · Class 6</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CLASS 6 · STAR PATTERNS</a:t>
            </a:r>
            <a:endParaRPr lang="en-US" sz="1200" dirty="0"/>
          </a:p>
        </p:txBody>
      </p:sp>
      <p:sp>
        <p:nvSpPr>
          <p:cNvPr id="3" name="Text 1"/>
          <p:cNvSpPr/>
          <p:nvPr>
            <p:ph type="title"/>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41"/>
                </a:solidFill>
                <a:latin typeface="Rubik" pitchFamily="34" charset="0"/>
                <a:ea typeface="Rubik" pitchFamily="34" charset="-122"/>
                <a:cs typeface="Rubik" pitchFamily="34" charset="-120"/>
              </a:rPr>
              <a:t>Triangles of stars</a:t>
            </a:r>
            <a:endParaRPr lang="en-US" sz="3200" dirty="0"/>
          </a:p>
        </p:txBody>
      </p:sp>
      <p:sp>
        <p:nvSpPr>
          <p:cNvPr id="4" name="Shape 2"/>
          <p:cNvSpPr/>
          <p:nvPr/>
        </p:nvSpPr>
        <p:spPr>
          <a:xfrm>
            <a:off x="819150" y="1860488"/>
            <a:ext cx="5168900" cy="3747757"/>
          </a:xfrm>
          <a:prstGeom prst="roundRect">
            <a:avLst>
              <a:gd name="adj" fmla="val 3219"/>
            </a:avLst>
          </a:prstGeom>
          <a:solidFill>
            <a:srgbClr val="FFFDF8"/>
          </a:solidFill>
          <a:ln w="12700">
            <a:solidFill>
              <a:srgbClr val="E2DED3"/>
            </a:solidFill>
            <a:prstDash val="solid"/>
          </a:ln>
        </p:spPr>
      </p:sp>
      <p:sp>
        <p:nvSpPr>
          <p:cNvPr id="5" name="Text 3"/>
          <p:cNvSpPr/>
          <p:nvPr/>
        </p:nvSpPr>
        <p:spPr>
          <a:xfrm>
            <a:off x="1028700" y="2070038"/>
            <a:ext cx="4892294"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Right triangle</a:t>
            </a:r>
            <a:endParaRPr lang="en-US" sz="1800" dirty="0"/>
          </a:p>
        </p:txBody>
      </p:sp>
      <p:sp>
        <p:nvSpPr>
          <p:cNvPr id="6" name="Text 4"/>
          <p:cNvSpPr/>
          <p:nvPr/>
        </p:nvSpPr>
        <p:spPr>
          <a:xfrm>
            <a:off x="1028700" y="2445941"/>
            <a:ext cx="4892294"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2A64A3"/>
                </a:solidFill>
                <a:latin typeface="Rubik" pitchFamily="34" charset="0"/>
                <a:ea typeface="Rubik" pitchFamily="34" charset="-122"/>
                <a:cs typeface="Rubik" pitchFamily="34" charset="-120"/>
              </a:rPr>
              <a:t>"* " * i</a:t>
            </a:r>
            <a:r>
              <a:rPr lang="en-US" sz="1500" dirty="0">
                <a:solidFill>
                  <a:srgbClr val="4A5568"/>
                </a:solidFill>
                <a:latin typeface="Rubik" pitchFamily="34" charset="0"/>
                <a:ea typeface="Rubik" pitchFamily="34" charset="-122"/>
                <a:cs typeface="Rubik" pitchFamily="34" charset="-120"/>
              </a:rPr>
              <a:t> repeats the text i times</a:t>
            </a:r>
            <a:endParaRPr lang="en-US" sz="1500" dirty="0"/>
          </a:p>
        </p:txBody>
      </p:sp>
      <p:sp>
        <p:nvSpPr>
          <p:cNvPr id="7" name="Text 5"/>
          <p:cNvSpPr/>
          <p:nvPr/>
        </p:nvSpPr>
        <p:spPr>
          <a:xfrm>
            <a:off x="1028700" y="2814241"/>
            <a:ext cx="4749800" cy="1111250"/>
          </a:xfrm>
          <a:prstGeom prst="roundRect">
            <a:avLst>
              <a:gd name="adj" fmla="val 8000"/>
            </a:avLst>
          </a:prstGeom>
          <a:solidFill>
            <a:srgbClr val="1B2A41"/>
          </a:solidFill>
          <a:ln/>
        </p:spPr>
        <p:txBody>
          <a:bodyPr wrap="square" lIns="126362" tIns="100962" rIns="0" bIns="75562" rtlCol="0" anchor="t">
            <a:normAutofit/>
          </a:bodyPr>
          <a:lstStyle/>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n = 4</a:t>
            </a: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for</a:t>
            </a:r>
            <a:r>
              <a:rPr lang="en-US" sz="1500" dirty="0">
                <a:solidFill>
                  <a:srgbClr val="E8EDF3"/>
                </a:solidFill>
                <a:latin typeface="JetBrains Mono" pitchFamily="49" charset="0"/>
                <a:ea typeface="JetBrains Mono" pitchFamily="49" charset="-122"/>
                <a:cs typeface="JetBrains Mono" pitchFamily="49" charset="-120"/>
              </a:rPr>
              <a:t> i </a:t>
            </a:r>
            <a:r>
              <a:rPr lang="en-US" sz="1500" dirty="0">
                <a:solidFill>
                  <a:srgbClr val="F2B33D"/>
                </a:solidFill>
                <a:latin typeface="JetBrains Mono" pitchFamily="49" charset="0"/>
                <a:ea typeface="JetBrains Mono" pitchFamily="49" charset="-122"/>
                <a:cs typeface="JetBrains Mono" pitchFamily="49" charset="-120"/>
              </a:rPr>
              <a:t>in</a:t>
            </a: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range</a:t>
            </a:r>
            <a:r>
              <a:rPr lang="en-US" sz="1500" dirty="0">
                <a:solidFill>
                  <a:srgbClr val="E8EDF3"/>
                </a:solidFill>
                <a:latin typeface="JetBrains Mono" pitchFamily="49" charset="0"/>
                <a:ea typeface="JetBrains Mono" pitchFamily="49" charset="-122"/>
                <a:cs typeface="JetBrains Mono" pitchFamily="49" charset="-120"/>
              </a:rPr>
              <a:t>(1, n + 1):</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a:t>
            </a:r>
            <a:r>
              <a:rPr lang="en-US" sz="1500" dirty="0">
                <a:solidFill>
                  <a:srgbClr val="9FD8A8"/>
                </a:solidFill>
                <a:latin typeface="JetBrains Mono" pitchFamily="49" charset="0"/>
                <a:ea typeface="JetBrains Mono" pitchFamily="49" charset="-122"/>
                <a:cs typeface="JetBrains Mono" pitchFamily="49" charset="-120"/>
              </a:rPr>
              <a:t>"* "</a:t>
            </a:r>
            <a:r>
              <a:rPr lang="en-US" sz="1500" dirty="0">
                <a:solidFill>
                  <a:srgbClr val="E8EDF3"/>
                </a:solidFill>
                <a:latin typeface="JetBrains Mono" pitchFamily="49" charset="0"/>
                <a:ea typeface="JetBrains Mono" pitchFamily="49" charset="-122"/>
                <a:cs typeface="JetBrains Mono" pitchFamily="49" charset="-120"/>
              </a:rPr>
              <a:t> * i)</a:t>
            </a:r>
            <a:endParaRPr lang="en-US" sz="1500" dirty="0"/>
          </a:p>
        </p:txBody>
      </p:sp>
      <p:sp>
        <p:nvSpPr>
          <p:cNvPr id="8" name="Text 6"/>
          <p:cNvSpPr/>
          <p:nvPr/>
        </p:nvSpPr>
        <p:spPr>
          <a:xfrm>
            <a:off x="1035050" y="4033441"/>
            <a:ext cx="4737100" cy="1358900"/>
          </a:xfrm>
          <a:prstGeom prst="roundRect">
            <a:avLst>
              <a:gd name="adj" fmla="val 6075"/>
            </a:avLst>
          </a:prstGeom>
          <a:solidFill>
            <a:srgbClr val="F7F5EF"/>
          </a:solidFill>
          <a:ln w="12700">
            <a:solidFill>
              <a:srgbClr val="D9DEE5"/>
            </a:solidFill>
            <a:prstDash val="solid"/>
          </a:ln>
        </p:spPr>
        <p:txBody>
          <a:bodyPr wrap="square" lIns="134572" tIns="83772" rIns="1984" bIns="58372" rtlCol="0" anchor="t">
            <a:normAutofit/>
          </a:bodyPr>
          <a:lstStyle/>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a:t>
            </a:r>
            <a:endParaRPr lang="en-US" sz="1500" dirty="0"/>
          </a:p>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 *</a:t>
            </a:r>
            <a:endParaRPr lang="en-US" sz="1500" dirty="0"/>
          </a:p>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 * *</a:t>
            </a:r>
            <a:endParaRPr lang="en-US" sz="1500" dirty="0"/>
          </a:p>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 * * *</a:t>
            </a:r>
            <a:endParaRPr lang="en-US" sz="1500" dirty="0"/>
          </a:p>
        </p:txBody>
      </p:sp>
      <p:sp>
        <p:nvSpPr>
          <p:cNvPr id="9" name="Shape 7"/>
          <p:cNvSpPr/>
          <p:nvPr/>
        </p:nvSpPr>
        <p:spPr>
          <a:xfrm>
            <a:off x="6203950" y="1860488"/>
            <a:ext cx="5168900" cy="3747757"/>
          </a:xfrm>
          <a:prstGeom prst="roundRect">
            <a:avLst>
              <a:gd name="adj" fmla="val 3219"/>
            </a:avLst>
          </a:prstGeom>
          <a:solidFill>
            <a:srgbClr val="FFFDF8"/>
          </a:solidFill>
          <a:ln w="12700">
            <a:solidFill>
              <a:srgbClr val="E2DED3"/>
            </a:solidFill>
            <a:prstDash val="solid"/>
          </a:ln>
        </p:spPr>
      </p:sp>
      <p:sp>
        <p:nvSpPr>
          <p:cNvPr id="10" name="Text 8"/>
          <p:cNvSpPr/>
          <p:nvPr/>
        </p:nvSpPr>
        <p:spPr>
          <a:xfrm>
            <a:off x="6413500" y="2070038"/>
            <a:ext cx="4892294"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Upside down</a:t>
            </a:r>
            <a:endParaRPr lang="en-US" sz="1800" dirty="0"/>
          </a:p>
        </p:txBody>
      </p:sp>
      <p:sp>
        <p:nvSpPr>
          <p:cNvPr id="11" name="Text 9"/>
          <p:cNvSpPr/>
          <p:nvPr/>
        </p:nvSpPr>
        <p:spPr>
          <a:xfrm>
            <a:off x="6413500" y="2445941"/>
            <a:ext cx="4892294"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Count down from n to 1.</a:t>
            </a:r>
            <a:endParaRPr lang="en-US" sz="1500" dirty="0"/>
          </a:p>
        </p:txBody>
      </p:sp>
      <p:sp>
        <p:nvSpPr>
          <p:cNvPr id="12" name="Text 10"/>
          <p:cNvSpPr/>
          <p:nvPr/>
        </p:nvSpPr>
        <p:spPr>
          <a:xfrm>
            <a:off x="6413500" y="2814241"/>
            <a:ext cx="4749800" cy="1111250"/>
          </a:xfrm>
          <a:prstGeom prst="roundRect">
            <a:avLst>
              <a:gd name="adj" fmla="val 8000"/>
            </a:avLst>
          </a:prstGeom>
          <a:solidFill>
            <a:srgbClr val="1B2A41"/>
          </a:solidFill>
          <a:ln/>
        </p:spPr>
        <p:txBody>
          <a:bodyPr wrap="square" lIns="126362" tIns="100962" rIns="0" bIns="75562" rtlCol="0" anchor="t">
            <a:normAutofit/>
          </a:bodyPr>
          <a:lstStyle/>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n = 4</a:t>
            </a: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for</a:t>
            </a:r>
            <a:r>
              <a:rPr lang="en-US" sz="1500" dirty="0">
                <a:solidFill>
                  <a:srgbClr val="E8EDF3"/>
                </a:solidFill>
                <a:latin typeface="JetBrains Mono" pitchFamily="49" charset="0"/>
                <a:ea typeface="JetBrains Mono" pitchFamily="49" charset="-122"/>
                <a:cs typeface="JetBrains Mono" pitchFamily="49" charset="-120"/>
              </a:rPr>
              <a:t> i </a:t>
            </a:r>
            <a:r>
              <a:rPr lang="en-US" sz="1500" dirty="0">
                <a:solidFill>
                  <a:srgbClr val="F2B33D"/>
                </a:solidFill>
                <a:latin typeface="JetBrains Mono" pitchFamily="49" charset="0"/>
                <a:ea typeface="JetBrains Mono" pitchFamily="49" charset="-122"/>
                <a:cs typeface="JetBrains Mono" pitchFamily="49" charset="-120"/>
              </a:rPr>
              <a:t>in</a:t>
            </a: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range</a:t>
            </a:r>
            <a:r>
              <a:rPr lang="en-US" sz="1500" dirty="0">
                <a:solidFill>
                  <a:srgbClr val="E8EDF3"/>
                </a:solidFill>
                <a:latin typeface="JetBrains Mono" pitchFamily="49" charset="0"/>
                <a:ea typeface="JetBrains Mono" pitchFamily="49" charset="-122"/>
                <a:cs typeface="JetBrains Mono" pitchFamily="49" charset="-120"/>
              </a:rPr>
              <a:t>(n, 0, -1):</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a:t>
            </a:r>
            <a:r>
              <a:rPr lang="en-US" sz="1500" dirty="0">
                <a:solidFill>
                  <a:srgbClr val="9FD8A8"/>
                </a:solidFill>
                <a:latin typeface="JetBrains Mono" pitchFamily="49" charset="0"/>
                <a:ea typeface="JetBrains Mono" pitchFamily="49" charset="-122"/>
                <a:cs typeface="JetBrains Mono" pitchFamily="49" charset="-120"/>
              </a:rPr>
              <a:t>"* "</a:t>
            </a:r>
            <a:r>
              <a:rPr lang="en-US" sz="1500" dirty="0">
                <a:solidFill>
                  <a:srgbClr val="E8EDF3"/>
                </a:solidFill>
                <a:latin typeface="JetBrains Mono" pitchFamily="49" charset="0"/>
                <a:ea typeface="JetBrains Mono" pitchFamily="49" charset="-122"/>
                <a:cs typeface="JetBrains Mono" pitchFamily="49" charset="-120"/>
              </a:rPr>
              <a:t> * i)</a:t>
            </a:r>
            <a:endParaRPr lang="en-US" sz="1500" dirty="0"/>
          </a:p>
        </p:txBody>
      </p:sp>
      <p:sp>
        <p:nvSpPr>
          <p:cNvPr id="13" name="Text 11"/>
          <p:cNvSpPr/>
          <p:nvPr/>
        </p:nvSpPr>
        <p:spPr>
          <a:xfrm>
            <a:off x="6419850" y="4033441"/>
            <a:ext cx="4737100" cy="1358900"/>
          </a:xfrm>
          <a:prstGeom prst="roundRect">
            <a:avLst>
              <a:gd name="adj" fmla="val 6075"/>
            </a:avLst>
          </a:prstGeom>
          <a:solidFill>
            <a:srgbClr val="F7F5EF"/>
          </a:solidFill>
          <a:ln w="12700">
            <a:solidFill>
              <a:srgbClr val="D9DEE5"/>
            </a:solidFill>
            <a:prstDash val="solid"/>
          </a:ln>
        </p:spPr>
        <p:txBody>
          <a:bodyPr wrap="square" lIns="134572" tIns="83772" rIns="1984" bIns="58372" rtlCol="0" anchor="t">
            <a:normAutofit/>
          </a:bodyPr>
          <a:lstStyle/>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 * * *</a:t>
            </a:r>
            <a:endParaRPr lang="en-US" sz="1500" dirty="0"/>
          </a:p>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 * *</a:t>
            </a:r>
            <a:endParaRPr lang="en-US" sz="1500" dirty="0"/>
          </a:p>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 *</a:t>
            </a:r>
            <a:endParaRPr lang="en-US" sz="1500" dirty="0"/>
          </a:p>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a:t>
            </a:r>
            <a:endParaRPr lang="en-US" sz="1500" dirty="0"/>
          </a:p>
        </p:txBody>
      </p:sp>
      <p:sp>
        <p:nvSpPr>
          <p:cNvPr id="14" name="Text 1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Rubik" pitchFamily="34" charset="0"/>
                <a:ea typeface="Rubik" pitchFamily="34" charset="-122"/>
                <a:cs typeface="Rubik" pitchFamily="34" charset="-120"/>
              </a:rPr>
              <a:t>Python Programming · Week 2 · Class 6</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7397"/>
          </a:xfrm>
          <a:prstGeom prst="rect">
            <a:avLst/>
          </a:prstGeom>
          <a:noFill/>
          <a:ln/>
        </p:spPr>
        <p:txBody>
          <a:bodyPr wrap="square" lIns="0" tIns="0" rIns="0" bIns="0" rtlCol="0" anchor="t">
            <a:normAutofit/>
          </a:bodyPr>
          <a:lstStyle/>
          <a:p>
            <a:pPr algn="l" indent="0" marL="0">
              <a:lnSpc>
                <a:spcPts val="1675"/>
              </a:lnSpc>
              <a:buNone/>
            </a:pPr>
            <a:r>
              <a:rPr lang="en-US" sz="1196" b="1" spc="150" kern="0" dirty="0">
                <a:solidFill>
                  <a:srgbClr val="2A64A3"/>
                </a:solidFill>
                <a:latin typeface="Rubik" pitchFamily="34" charset="0"/>
                <a:ea typeface="Rubik" pitchFamily="34" charset="-122"/>
                <a:cs typeface="Rubik" pitchFamily="34" charset="-120"/>
              </a:rPr>
              <a:t>CLASS 6 · PYRAMID</a:t>
            </a:r>
            <a:endParaRPr lang="en-US" sz="1196" dirty="0"/>
          </a:p>
        </p:txBody>
      </p:sp>
      <p:sp>
        <p:nvSpPr>
          <p:cNvPr id="3" name="Text 1"/>
          <p:cNvSpPr/>
          <p:nvPr>
            <p:ph type="title"/>
          </p:nvPr>
        </p:nvSpPr>
        <p:spPr>
          <a:xfrm>
            <a:off x="812800" y="1101006"/>
            <a:ext cx="10883392" cy="469635"/>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41"/>
                </a:solidFill>
                <a:latin typeface="Rubik" pitchFamily="34" charset="0"/>
                <a:ea typeface="Rubik" pitchFamily="34" charset="-122"/>
                <a:cs typeface="Rubik" pitchFamily="34" charset="-120"/>
              </a:rPr>
              <a:t>The centred pyramid</a:t>
            </a:r>
            <a:endParaRPr lang="en-US" sz="3200" dirty="0"/>
          </a:p>
        </p:txBody>
      </p:sp>
      <p:sp>
        <p:nvSpPr>
          <p:cNvPr id="4" name="Shape 2"/>
          <p:cNvSpPr/>
          <p:nvPr/>
        </p:nvSpPr>
        <p:spPr>
          <a:xfrm>
            <a:off x="812800" y="1850033"/>
            <a:ext cx="5461529" cy="2073870"/>
          </a:xfrm>
          <a:prstGeom prst="roundRect">
            <a:avLst>
              <a:gd name="adj" fmla="val 6124"/>
            </a:avLst>
          </a:prstGeom>
          <a:solidFill>
            <a:srgbClr val="1B2A41"/>
          </a:solidFill>
          <a:ln/>
        </p:spPr>
      </p:sp>
      <p:sp>
        <p:nvSpPr>
          <p:cNvPr id="5" name="Text 3"/>
          <p:cNvSpPr/>
          <p:nvPr/>
        </p:nvSpPr>
        <p:spPr>
          <a:xfrm>
            <a:off x="1066800" y="2027833"/>
            <a:ext cx="51021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3B8"/>
                </a:solidFill>
                <a:latin typeface="JetBrains Mono" pitchFamily="49" charset="0"/>
                <a:ea typeface="JetBrains Mono" pitchFamily="49" charset="-122"/>
                <a:cs typeface="JetBrains Mono" pitchFamily="49" charset="-120"/>
              </a:rPr>
              <a:t>pyramid.py</a:t>
            </a:r>
            <a:endParaRPr lang="en-US" sz="1200" dirty="0"/>
          </a:p>
        </p:txBody>
      </p:sp>
      <p:sp>
        <p:nvSpPr>
          <p:cNvPr id="6" name="Text 4"/>
          <p:cNvSpPr/>
          <p:nvPr/>
        </p:nvSpPr>
        <p:spPr>
          <a:xfrm>
            <a:off x="1066800" y="2317353"/>
            <a:ext cx="5102135" cy="14541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n = 4</a:t>
            </a: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for</a:t>
            </a:r>
            <a:r>
              <a:rPr lang="en-US" sz="1500" dirty="0">
                <a:solidFill>
                  <a:srgbClr val="E8EDF3"/>
                </a:solidFill>
                <a:latin typeface="JetBrains Mono" pitchFamily="49" charset="0"/>
                <a:ea typeface="JetBrains Mono" pitchFamily="49" charset="-122"/>
                <a:cs typeface="JetBrains Mono" pitchFamily="49" charset="-120"/>
              </a:rPr>
              <a:t> i </a:t>
            </a:r>
            <a:r>
              <a:rPr lang="en-US" sz="1500" dirty="0">
                <a:solidFill>
                  <a:srgbClr val="F2B33D"/>
                </a:solidFill>
                <a:latin typeface="JetBrains Mono" pitchFamily="49" charset="0"/>
                <a:ea typeface="JetBrains Mono" pitchFamily="49" charset="-122"/>
                <a:cs typeface="JetBrains Mono" pitchFamily="49" charset="-120"/>
              </a:rPr>
              <a:t>in</a:t>
            </a: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range</a:t>
            </a:r>
            <a:r>
              <a:rPr lang="en-US" sz="1500" dirty="0">
                <a:solidFill>
                  <a:srgbClr val="E8EDF3"/>
                </a:solidFill>
                <a:latin typeface="JetBrains Mono" pitchFamily="49" charset="0"/>
                <a:ea typeface="JetBrains Mono" pitchFamily="49" charset="-122"/>
                <a:cs typeface="JetBrains Mono" pitchFamily="49" charset="-120"/>
              </a:rPr>
              <a:t>(1, n + 1):</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spaces = </a:t>
            </a:r>
            <a:r>
              <a:rPr lang="en-US" sz="1500" dirty="0">
                <a:solidFill>
                  <a:srgbClr val="9FD8A8"/>
                </a:solidFill>
                <a:latin typeface="JetBrains Mono" pitchFamily="49" charset="0"/>
                <a:ea typeface="JetBrains Mono" pitchFamily="49" charset="-122"/>
                <a:cs typeface="JetBrains Mono" pitchFamily="49" charset="-120"/>
              </a:rPr>
              <a:t>" "</a:t>
            </a:r>
            <a:r>
              <a:rPr lang="en-US" sz="1500" dirty="0">
                <a:solidFill>
                  <a:srgbClr val="E8EDF3"/>
                </a:solidFill>
                <a:latin typeface="JetBrains Mono" pitchFamily="49" charset="0"/>
                <a:ea typeface="JetBrains Mono" pitchFamily="49" charset="-122"/>
                <a:cs typeface="JetBrains Mono" pitchFamily="49" charset="-120"/>
              </a:rPr>
              <a:t> * (n - i)</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stars = </a:t>
            </a:r>
            <a:r>
              <a:rPr lang="en-US" sz="1500" dirty="0">
                <a:solidFill>
                  <a:srgbClr val="9FD8A8"/>
                </a:solidFill>
                <a:latin typeface="JetBrains Mono" pitchFamily="49" charset="0"/>
                <a:ea typeface="JetBrains Mono" pitchFamily="49" charset="-122"/>
                <a:cs typeface="JetBrains Mono" pitchFamily="49" charset="-120"/>
              </a:rPr>
              <a:t>"* "</a:t>
            </a:r>
            <a:r>
              <a:rPr lang="en-US" sz="1500" dirty="0">
                <a:solidFill>
                  <a:srgbClr val="E8EDF3"/>
                </a:solidFill>
                <a:latin typeface="JetBrains Mono" pitchFamily="49" charset="0"/>
                <a:ea typeface="JetBrains Mono" pitchFamily="49" charset="-122"/>
                <a:cs typeface="JetBrains Mono" pitchFamily="49" charset="-120"/>
              </a:rPr>
              <a:t> * i</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(spaces + stars)</a:t>
            </a:r>
            <a:endParaRPr lang="en-US" sz="1500" dirty="0"/>
          </a:p>
        </p:txBody>
      </p:sp>
      <p:sp>
        <p:nvSpPr>
          <p:cNvPr id="7" name="Shape 5"/>
          <p:cNvSpPr/>
          <p:nvPr/>
        </p:nvSpPr>
        <p:spPr>
          <a:xfrm>
            <a:off x="819150" y="4057253"/>
            <a:ext cx="5448829" cy="1800820"/>
          </a:xfrm>
          <a:prstGeom prst="roundRect">
            <a:avLst>
              <a:gd name="adj" fmla="val 6700"/>
            </a:avLst>
          </a:prstGeom>
          <a:solidFill>
            <a:srgbClr val="FFFDF8"/>
          </a:solidFill>
          <a:ln w="12700">
            <a:solidFill>
              <a:srgbClr val="D9DEE5"/>
            </a:solidFill>
            <a:prstDash val="solid"/>
          </a:ln>
        </p:spPr>
      </p:sp>
      <p:sp>
        <p:nvSpPr>
          <p:cNvPr id="8" name="Text 6"/>
          <p:cNvSpPr/>
          <p:nvPr/>
        </p:nvSpPr>
        <p:spPr>
          <a:xfrm>
            <a:off x="1079500" y="4241403"/>
            <a:ext cx="5075973"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OUTPUT</a:t>
            </a:r>
            <a:endParaRPr lang="en-US" sz="1200" dirty="0"/>
          </a:p>
        </p:txBody>
      </p:sp>
      <p:sp>
        <p:nvSpPr>
          <p:cNvPr id="9" name="Text 7"/>
          <p:cNvSpPr/>
          <p:nvPr/>
        </p:nvSpPr>
        <p:spPr>
          <a:xfrm>
            <a:off x="1079500" y="4530923"/>
            <a:ext cx="5075973" cy="11684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   *</a:t>
            </a:r>
            <a:endParaRPr lang="en-US" sz="1500" dirty="0"/>
          </a:p>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  * *</a:t>
            </a:r>
            <a:endParaRPr lang="en-US" sz="1500" dirty="0"/>
          </a:p>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 * * *</a:t>
            </a:r>
            <a:endParaRPr lang="en-US" sz="1500" dirty="0"/>
          </a:p>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 * * *</a:t>
            </a:r>
            <a:endParaRPr lang="en-US" sz="1500" dirty="0"/>
          </a:p>
        </p:txBody>
      </p:sp>
      <p:sp>
        <p:nvSpPr>
          <p:cNvPr id="10" name="Shape 8"/>
          <p:cNvSpPr/>
          <p:nvPr/>
        </p:nvSpPr>
        <p:spPr>
          <a:xfrm>
            <a:off x="6636279" y="1856383"/>
            <a:ext cx="4736571" cy="482600"/>
          </a:xfrm>
          <a:prstGeom prst="roundRect">
            <a:avLst>
              <a:gd name="adj" fmla="val 17105"/>
            </a:avLst>
          </a:prstGeom>
          <a:solidFill>
            <a:srgbClr val="FFFDF8"/>
          </a:solidFill>
          <a:ln w="12700">
            <a:solidFill>
              <a:srgbClr val="E2DED3"/>
            </a:solidFill>
            <a:prstDash val="solid"/>
          </a:ln>
        </p:spPr>
      </p:sp>
      <p:sp>
        <p:nvSpPr>
          <p:cNvPr id="11" name="Text 9"/>
          <p:cNvSpPr/>
          <p:nvPr/>
        </p:nvSpPr>
        <p:spPr>
          <a:xfrm>
            <a:off x="6795029" y="1964333"/>
            <a:ext cx="330200" cy="266700"/>
          </a:xfrm>
          <a:custGeom>
            <a:avLst/>
            <a:gdLst/>
            <a:ahLst/>
            <a:cxnLst/>
            <a:rect l="l" t="t" r="r" b="b"/>
            <a:pathLst>
              <a:path w="330200" h="266700">
                <a:moveTo>
                  <a:pt x="133350" y="0"/>
                </a:moveTo>
                <a:lnTo>
                  <a:pt x="196850" y="0"/>
                </a:lnTo>
                <a:arcTo hR="133350" wR="133350" stAng="16200000" swAng="5400000"/>
                <a:lnTo>
                  <a:pt x="330200" y="133350"/>
                </a:lnTo>
                <a:arcTo hR="133350" wR="133350" stAng="0" swAng="5400000"/>
                <a:lnTo>
                  <a:pt x="133350" y="266700"/>
                </a:lnTo>
                <a:arcTo hR="133350" wR="133350" stAng="5400000" swAng="5400000"/>
                <a:lnTo>
                  <a:pt x="0" y="133350"/>
                </a:lnTo>
                <a:arcTo hR="133350" wR="133350" stAng="10800000" swAng="5400000"/>
                <a:close/>
              </a:path>
            </a:pathLst>
          </a:custGeom>
          <a:solidFill>
            <a:srgbClr val="F2B33D"/>
          </a:solidFill>
          <a:ln/>
        </p:spPr>
        <p:txBody>
          <a:bodyPr wrap="square" lIns="0" tIns="0" rIns="0" bIns="0" rtlCol="0" anchor="t">
            <a:normAutofit/>
          </a:bodyPr>
          <a:lstStyle/>
          <a:p>
            <a:pPr algn="ctr" indent="0" marL="0">
              <a:lnSpc>
                <a:spcPts val="2100"/>
              </a:lnSpc>
              <a:buNone/>
            </a:pPr>
            <a:r>
              <a:rPr lang="en-US" sz="1500" b="1" dirty="0">
                <a:solidFill>
                  <a:srgbClr val="1B2A41"/>
                </a:solidFill>
                <a:latin typeface="Rubik" pitchFamily="34" charset="0"/>
                <a:ea typeface="Rubik" pitchFamily="34" charset="-122"/>
                <a:cs typeface="Rubik" pitchFamily="34" charset="-120"/>
              </a:rPr>
              <a:t>1</a:t>
            </a:r>
            <a:endParaRPr lang="en-US" sz="1500" dirty="0"/>
          </a:p>
        </p:txBody>
      </p:sp>
      <p:sp>
        <p:nvSpPr>
          <p:cNvPr id="12" name="Text 10"/>
          <p:cNvSpPr/>
          <p:nvPr/>
        </p:nvSpPr>
        <p:spPr>
          <a:xfrm>
            <a:off x="7252229" y="1964333"/>
            <a:ext cx="3929856"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4A5568"/>
                </a:solidFill>
                <a:latin typeface="Rubik" pitchFamily="34" charset="0"/>
                <a:ea typeface="Rubik" pitchFamily="34" charset="-122"/>
                <a:cs typeface="Rubik" pitchFamily="34" charset="-120"/>
              </a:rPr>
              <a:t>Spaces:</a:t>
            </a:r>
            <a:r>
              <a:rPr lang="en-US" sz="1500" dirty="0">
                <a:solidFill>
                  <a:srgbClr val="4A5568"/>
                </a:solidFill>
                <a:latin typeface="Rubik" pitchFamily="34" charset="0"/>
                <a:ea typeface="Rubik" pitchFamily="34" charset="-122"/>
                <a:cs typeface="Rubik" pitchFamily="34" charset="-120"/>
              </a:rPr>
              <a:t> row i starts with n - i spaces</a:t>
            </a:r>
            <a:endParaRPr lang="en-US" sz="1500" dirty="0"/>
          </a:p>
        </p:txBody>
      </p:sp>
      <p:sp>
        <p:nvSpPr>
          <p:cNvPr id="13" name="Shape 11"/>
          <p:cNvSpPr/>
          <p:nvPr/>
        </p:nvSpPr>
        <p:spPr>
          <a:xfrm>
            <a:off x="6636279" y="2478683"/>
            <a:ext cx="4736571" cy="482600"/>
          </a:xfrm>
          <a:prstGeom prst="roundRect">
            <a:avLst>
              <a:gd name="adj" fmla="val 17105"/>
            </a:avLst>
          </a:prstGeom>
          <a:solidFill>
            <a:srgbClr val="FFFDF8"/>
          </a:solidFill>
          <a:ln w="12700">
            <a:solidFill>
              <a:srgbClr val="E2DED3"/>
            </a:solidFill>
            <a:prstDash val="solid"/>
          </a:ln>
        </p:spPr>
      </p:sp>
      <p:sp>
        <p:nvSpPr>
          <p:cNvPr id="14" name="Text 12"/>
          <p:cNvSpPr/>
          <p:nvPr/>
        </p:nvSpPr>
        <p:spPr>
          <a:xfrm>
            <a:off x="6795029" y="2586633"/>
            <a:ext cx="330200" cy="266700"/>
          </a:xfrm>
          <a:custGeom>
            <a:avLst/>
            <a:gdLst/>
            <a:ahLst/>
            <a:cxnLst/>
            <a:rect l="l" t="t" r="r" b="b"/>
            <a:pathLst>
              <a:path w="330200" h="266700">
                <a:moveTo>
                  <a:pt x="133350" y="0"/>
                </a:moveTo>
                <a:lnTo>
                  <a:pt x="196850" y="0"/>
                </a:lnTo>
                <a:arcTo hR="133350" wR="133350" stAng="16200000" swAng="5400000"/>
                <a:lnTo>
                  <a:pt x="330200" y="133350"/>
                </a:lnTo>
                <a:arcTo hR="133350" wR="133350" stAng="0" swAng="5400000"/>
                <a:lnTo>
                  <a:pt x="133350" y="266700"/>
                </a:lnTo>
                <a:arcTo hR="133350" wR="133350" stAng="5400000" swAng="5400000"/>
                <a:lnTo>
                  <a:pt x="0" y="133350"/>
                </a:lnTo>
                <a:arcTo hR="133350" wR="133350" stAng="10800000" swAng="5400000"/>
                <a:close/>
              </a:path>
            </a:pathLst>
          </a:custGeom>
          <a:solidFill>
            <a:srgbClr val="F2B33D"/>
          </a:solidFill>
          <a:ln/>
        </p:spPr>
        <p:txBody>
          <a:bodyPr wrap="square" lIns="0" tIns="0" rIns="0" bIns="0" rtlCol="0" anchor="t">
            <a:normAutofit/>
          </a:bodyPr>
          <a:lstStyle/>
          <a:p>
            <a:pPr algn="ctr" indent="0" marL="0">
              <a:lnSpc>
                <a:spcPts val="2100"/>
              </a:lnSpc>
              <a:buNone/>
            </a:pPr>
            <a:r>
              <a:rPr lang="en-US" sz="1500" b="1" dirty="0">
                <a:solidFill>
                  <a:srgbClr val="1B2A41"/>
                </a:solidFill>
                <a:latin typeface="Rubik" pitchFamily="34" charset="0"/>
                <a:ea typeface="Rubik" pitchFamily="34" charset="-122"/>
                <a:cs typeface="Rubik" pitchFamily="34" charset="-120"/>
              </a:rPr>
              <a:t>2</a:t>
            </a:r>
            <a:endParaRPr lang="en-US" sz="1500" dirty="0"/>
          </a:p>
        </p:txBody>
      </p:sp>
      <p:sp>
        <p:nvSpPr>
          <p:cNvPr id="15" name="Text 13"/>
          <p:cNvSpPr/>
          <p:nvPr/>
        </p:nvSpPr>
        <p:spPr>
          <a:xfrm>
            <a:off x="7252229" y="2586633"/>
            <a:ext cx="275082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4A5568"/>
                </a:solidFill>
                <a:latin typeface="Rubik" pitchFamily="34" charset="0"/>
                <a:ea typeface="Rubik" pitchFamily="34" charset="-122"/>
                <a:cs typeface="Rubik" pitchFamily="34" charset="-120"/>
              </a:rPr>
              <a:t>Stars:</a:t>
            </a:r>
            <a:r>
              <a:rPr lang="en-US" sz="1500" dirty="0">
                <a:solidFill>
                  <a:srgbClr val="4A5568"/>
                </a:solidFill>
                <a:latin typeface="Rubik" pitchFamily="34" charset="0"/>
                <a:ea typeface="Rubik" pitchFamily="34" charset="-122"/>
                <a:cs typeface="Rubik" pitchFamily="34" charset="-120"/>
              </a:rPr>
              <a:t> then i copies of "* "</a:t>
            </a:r>
            <a:endParaRPr lang="en-US" sz="1500" dirty="0"/>
          </a:p>
        </p:txBody>
      </p:sp>
      <p:sp>
        <p:nvSpPr>
          <p:cNvPr id="16" name="Text 14"/>
          <p:cNvSpPr/>
          <p:nvPr/>
        </p:nvSpPr>
        <p:spPr>
          <a:xfrm>
            <a:off x="6629929" y="3094633"/>
            <a:ext cx="4749271" cy="838200"/>
          </a:xfrm>
          <a:prstGeom prst="roundRect">
            <a:avLst>
              <a:gd name="adj" fmla="val 15152"/>
            </a:avLst>
          </a:prstGeom>
          <a:solidFill>
            <a:srgbClr val="FBEFD5"/>
          </a:solidFill>
          <a:ln/>
        </p:spPr>
        <p:txBody>
          <a:bodyPr wrap="square" lIns="166003" tIns="115203" rIns="35717" bIns="89803" rtlCol="0" anchor="t">
            <a:normAutofit/>
          </a:bodyPr>
          <a:lstStyle/>
          <a:p>
            <a:pPr algn="l" indent="0" marL="0">
              <a:lnSpc>
                <a:spcPts val="2100"/>
              </a:lnSpc>
              <a:buNone/>
            </a:pPr>
            <a:r>
              <a:rPr lang="en-US" sz="1500" dirty="0">
                <a:solidFill>
                  <a:srgbClr val="1B2A41"/>
                </a:solidFill>
                <a:latin typeface="Rubik" pitchFamily="34" charset="0"/>
                <a:ea typeface="Rubik" pitchFamily="34" charset="-122"/>
                <a:cs typeface="Rubik" pitchFamily="34" charset="-120"/>
              </a:rPr>
              <a:t>Draw it on squared paper first. Count the spaces and stars in each row, then find the rule.</a:t>
            </a:r>
            <a:endParaRPr lang="en-US" sz="1500" dirty="0"/>
          </a:p>
        </p:txBody>
      </p:sp>
      <p:sp>
        <p:nvSpPr>
          <p:cNvPr id="17" name="Text 15"/>
          <p:cNvSpPr/>
          <p:nvPr/>
        </p:nvSpPr>
        <p:spPr>
          <a:xfrm>
            <a:off x="6629929" y="4059833"/>
            <a:ext cx="4891749" cy="3111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4A5568"/>
                </a:solidFill>
                <a:latin typeface="Rubik" pitchFamily="34" charset="0"/>
                <a:ea typeface="Rubik" pitchFamily="34" charset="-122"/>
                <a:cs typeface="Rubik" pitchFamily="34" charset="-120"/>
              </a:rPr>
              <a:t>Row 1: 3 spaces, 1 star. Row 4: 0 spaces, 4 stars.</a:t>
            </a:r>
            <a:endParaRPr lang="en-US" sz="1500" dirty="0"/>
          </a:p>
        </p:txBody>
      </p:sp>
      <p:sp>
        <p:nvSpPr>
          <p:cNvPr id="18" name="Text 1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Rubik" pitchFamily="34" charset="0"/>
                <a:ea typeface="Rubik" pitchFamily="34" charset="-122"/>
                <a:cs typeface="Rubik" pitchFamily="34" charset="-120"/>
              </a:rPr>
              <a:t>Python Programming · Week 2 · Class 6</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CLASS 6 · NUMBER PATTERNS</a:t>
            </a:r>
            <a:endParaRPr lang="en-US" sz="1200" dirty="0"/>
          </a:p>
        </p:txBody>
      </p:sp>
      <p:sp>
        <p:nvSpPr>
          <p:cNvPr id="3" name="Text 1"/>
          <p:cNvSpPr/>
          <p:nvPr>
            <p:ph type="title"/>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41"/>
                </a:solidFill>
                <a:latin typeface="Rubik" pitchFamily="34" charset="0"/>
                <a:ea typeface="Rubik" pitchFamily="34" charset="-122"/>
                <a:cs typeface="Rubik" pitchFamily="34" charset="-120"/>
              </a:rPr>
              <a:t>Patterns with numbers</a:t>
            </a:r>
            <a:endParaRPr lang="en-US" sz="3200" dirty="0"/>
          </a:p>
        </p:txBody>
      </p:sp>
      <p:sp>
        <p:nvSpPr>
          <p:cNvPr id="4" name="Shape 2"/>
          <p:cNvSpPr/>
          <p:nvPr/>
        </p:nvSpPr>
        <p:spPr>
          <a:xfrm>
            <a:off x="819150" y="1860488"/>
            <a:ext cx="5168900" cy="3950957"/>
          </a:xfrm>
          <a:prstGeom prst="roundRect">
            <a:avLst>
              <a:gd name="adj" fmla="val 3054"/>
            </a:avLst>
          </a:prstGeom>
          <a:solidFill>
            <a:srgbClr val="FFFDF8"/>
          </a:solidFill>
          <a:ln w="12700">
            <a:solidFill>
              <a:srgbClr val="E2DED3"/>
            </a:solidFill>
            <a:prstDash val="solid"/>
          </a:ln>
        </p:spPr>
      </p:sp>
      <p:sp>
        <p:nvSpPr>
          <p:cNvPr id="5" name="Text 3"/>
          <p:cNvSpPr/>
          <p:nvPr/>
        </p:nvSpPr>
        <p:spPr>
          <a:xfrm>
            <a:off x="1028700" y="2070038"/>
            <a:ext cx="4892294"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Counting rows</a:t>
            </a:r>
            <a:endParaRPr lang="en-US" sz="1800" dirty="0"/>
          </a:p>
        </p:txBody>
      </p:sp>
      <p:sp>
        <p:nvSpPr>
          <p:cNvPr id="6" name="Text 4"/>
          <p:cNvSpPr/>
          <p:nvPr/>
        </p:nvSpPr>
        <p:spPr>
          <a:xfrm>
            <a:off x="1028700" y="2445941"/>
            <a:ext cx="4749800" cy="1397000"/>
          </a:xfrm>
          <a:prstGeom prst="roundRect">
            <a:avLst>
              <a:gd name="adj" fmla="val 6364"/>
            </a:avLst>
          </a:prstGeom>
          <a:solidFill>
            <a:srgbClr val="1B2A41"/>
          </a:solidFill>
          <a:ln/>
        </p:spPr>
        <p:txBody>
          <a:bodyPr wrap="square" lIns="126362" tIns="100962" rIns="0" bIns="75562" rtlCol="0" anchor="t">
            <a:normAutofit/>
          </a:bodyPr>
          <a:lstStyle/>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for</a:t>
            </a:r>
            <a:r>
              <a:rPr lang="en-US" sz="1500" dirty="0">
                <a:solidFill>
                  <a:srgbClr val="E8EDF3"/>
                </a:solidFill>
                <a:latin typeface="JetBrains Mono" pitchFamily="49" charset="0"/>
                <a:ea typeface="JetBrains Mono" pitchFamily="49" charset="-122"/>
                <a:cs typeface="JetBrains Mono" pitchFamily="49" charset="-120"/>
              </a:rPr>
              <a:t> i </a:t>
            </a:r>
            <a:r>
              <a:rPr lang="en-US" sz="1500" dirty="0">
                <a:solidFill>
                  <a:srgbClr val="F2B33D"/>
                </a:solidFill>
                <a:latin typeface="JetBrains Mono" pitchFamily="49" charset="0"/>
                <a:ea typeface="JetBrains Mono" pitchFamily="49" charset="-122"/>
                <a:cs typeface="JetBrains Mono" pitchFamily="49" charset="-120"/>
              </a:rPr>
              <a:t>in</a:t>
            </a: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range</a:t>
            </a:r>
            <a:r>
              <a:rPr lang="en-US" sz="1500" dirty="0">
                <a:solidFill>
                  <a:srgbClr val="E8EDF3"/>
                </a:solidFill>
                <a:latin typeface="JetBrains Mono" pitchFamily="49" charset="0"/>
                <a:ea typeface="JetBrains Mono" pitchFamily="49" charset="-122"/>
                <a:cs typeface="JetBrains Mono" pitchFamily="49" charset="-120"/>
              </a:rPr>
              <a:t>(1, 5):</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for</a:t>
            </a:r>
            <a:r>
              <a:rPr lang="en-US" sz="1500" dirty="0">
                <a:solidFill>
                  <a:srgbClr val="E8EDF3"/>
                </a:solidFill>
                <a:latin typeface="JetBrains Mono" pitchFamily="49" charset="0"/>
                <a:ea typeface="JetBrains Mono" pitchFamily="49" charset="-122"/>
                <a:cs typeface="JetBrains Mono" pitchFamily="49" charset="-120"/>
              </a:rPr>
              <a:t> j </a:t>
            </a:r>
            <a:r>
              <a:rPr lang="en-US" sz="1500" dirty="0">
                <a:solidFill>
                  <a:srgbClr val="F2B33D"/>
                </a:solidFill>
                <a:latin typeface="JetBrains Mono" pitchFamily="49" charset="0"/>
                <a:ea typeface="JetBrains Mono" pitchFamily="49" charset="-122"/>
                <a:cs typeface="JetBrains Mono" pitchFamily="49" charset="-120"/>
              </a:rPr>
              <a:t>in</a:t>
            </a: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range</a:t>
            </a:r>
            <a:r>
              <a:rPr lang="en-US" sz="1500" dirty="0">
                <a:solidFill>
                  <a:srgbClr val="E8EDF3"/>
                </a:solidFill>
                <a:latin typeface="JetBrains Mono" pitchFamily="49" charset="0"/>
                <a:ea typeface="JetBrains Mono" pitchFamily="49" charset="-122"/>
                <a:cs typeface="JetBrains Mono" pitchFamily="49" charset="-120"/>
              </a:rPr>
              <a:t>(1, i + 1):</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(j, end=</a:t>
            </a:r>
            <a:r>
              <a:rPr lang="en-US" sz="1500" dirty="0">
                <a:solidFill>
                  <a:srgbClr val="9FD8A8"/>
                </a:solidFill>
                <a:latin typeface="JetBrains Mono" pitchFamily="49" charset="0"/>
                <a:ea typeface="JetBrains Mono" pitchFamily="49" charset="-122"/>
                <a:cs typeface="JetBrains Mono" pitchFamily="49" charset="-120"/>
              </a:rPr>
              <a:t>" "</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p:txBody>
      </p:sp>
      <p:sp>
        <p:nvSpPr>
          <p:cNvPr id="7" name="Text 5"/>
          <p:cNvSpPr/>
          <p:nvPr/>
        </p:nvSpPr>
        <p:spPr>
          <a:xfrm>
            <a:off x="1035050" y="3950891"/>
            <a:ext cx="4737100" cy="1358900"/>
          </a:xfrm>
          <a:prstGeom prst="roundRect">
            <a:avLst>
              <a:gd name="adj" fmla="val 6075"/>
            </a:avLst>
          </a:prstGeom>
          <a:solidFill>
            <a:srgbClr val="F7F5EF"/>
          </a:solidFill>
          <a:ln w="12700">
            <a:solidFill>
              <a:srgbClr val="D9DEE5"/>
            </a:solidFill>
            <a:prstDash val="solid"/>
          </a:ln>
        </p:spPr>
        <p:txBody>
          <a:bodyPr wrap="square" lIns="134572" tIns="83772" rIns="1984" bIns="58372" rtlCol="0" anchor="t">
            <a:normAutofit/>
          </a:bodyPr>
          <a:lstStyle/>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1</a:t>
            </a:r>
            <a:endParaRPr lang="en-US" sz="1500" dirty="0"/>
          </a:p>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1 2</a:t>
            </a:r>
            <a:endParaRPr lang="en-US" sz="1500" dirty="0"/>
          </a:p>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1 2 3</a:t>
            </a:r>
            <a:endParaRPr lang="en-US" sz="1500" dirty="0"/>
          </a:p>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1 2 3 4</a:t>
            </a:r>
            <a:endParaRPr lang="en-US" sz="1500" dirty="0"/>
          </a:p>
        </p:txBody>
      </p:sp>
      <p:sp>
        <p:nvSpPr>
          <p:cNvPr id="8" name="Shape 6"/>
          <p:cNvSpPr/>
          <p:nvPr/>
        </p:nvSpPr>
        <p:spPr>
          <a:xfrm>
            <a:off x="6203950" y="1860488"/>
            <a:ext cx="5168900" cy="3950957"/>
          </a:xfrm>
          <a:prstGeom prst="roundRect">
            <a:avLst>
              <a:gd name="adj" fmla="val 3054"/>
            </a:avLst>
          </a:prstGeom>
          <a:solidFill>
            <a:srgbClr val="FFFDF8"/>
          </a:solidFill>
          <a:ln w="12700">
            <a:solidFill>
              <a:srgbClr val="E2DED3"/>
            </a:solidFill>
            <a:prstDash val="solid"/>
          </a:ln>
        </p:spPr>
      </p:sp>
      <p:sp>
        <p:nvSpPr>
          <p:cNvPr id="9" name="Text 7"/>
          <p:cNvSpPr/>
          <p:nvPr/>
        </p:nvSpPr>
        <p:spPr>
          <a:xfrm>
            <a:off x="6413500" y="2070038"/>
            <a:ext cx="4892294"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Floyd's triangle</a:t>
            </a:r>
            <a:endParaRPr lang="en-US" sz="1800" dirty="0"/>
          </a:p>
        </p:txBody>
      </p:sp>
      <p:sp>
        <p:nvSpPr>
          <p:cNvPr id="10" name="Text 8"/>
          <p:cNvSpPr/>
          <p:nvPr/>
        </p:nvSpPr>
        <p:spPr>
          <a:xfrm>
            <a:off x="6413500" y="2445941"/>
            <a:ext cx="4749800" cy="1968500"/>
          </a:xfrm>
          <a:prstGeom prst="roundRect">
            <a:avLst>
              <a:gd name="adj" fmla="val 4516"/>
            </a:avLst>
          </a:prstGeom>
          <a:solidFill>
            <a:srgbClr val="1B2A41"/>
          </a:solidFill>
          <a:ln/>
        </p:spPr>
        <p:txBody>
          <a:bodyPr wrap="square" lIns="126362" tIns="100962" rIns="0" bIns="75562" rtlCol="0" anchor="t">
            <a:normAutofit/>
          </a:bodyPr>
          <a:lstStyle/>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num = 1</a:t>
            </a: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for</a:t>
            </a:r>
            <a:r>
              <a:rPr lang="en-US" sz="1500" dirty="0">
                <a:solidFill>
                  <a:srgbClr val="E8EDF3"/>
                </a:solidFill>
                <a:latin typeface="JetBrains Mono" pitchFamily="49" charset="0"/>
                <a:ea typeface="JetBrains Mono" pitchFamily="49" charset="-122"/>
                <a:cs typeface="JetBrains Mono" pitchFamily="49" charset="-120"/>
              </a:rPr>
              <a:t> i </a:t>
            </a:r>
            <a:r>
              <a:rPr lang="en-US" sz="1500" dirty="0">
                <a:solidFill>
                  <a:srgbClr val="F2B33D"/>
                </a:solidFill>
                <a:latin typeface="JetBrains Mono" pitchFamily="49" charset="0"/>
                <a:ea typeface="JetBrains Mono" pitchFamily="49" charset="-122"/>
                <a:cs typeface="JetBrains Mono" pitchFamily="49" charset="-120"/>
              </a:rPr>
              <a:t>in</a:t>
            </a: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range</a:t>
            </a:r>
            <a:r>
              <a:rPr lang="en-US" sz="1500" dirty="0">
                <a:solidFill>
                  <a:srgbClr val="E8EDF3"/>
                </a:solidFill>
                <a:latin typeface="JetBrains Mono" pitchFamily="49" charset="0"/>
                <a:ea typeface="JetBrains Mono" pitchFamily="49" charset="-122"/>
                <a:cs typeface="JetBrains Mono" pitchFamily="49" charset="-120"/>
              </a:rPr>
              <a:t>(1, 4):</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for</a:t>
            </a:r>
            <a:r>
              <a:rPr lang="en-US" sz="1500" dirty="0">
                <a:solidFill>
                  <a:srgbClr val="E8EDF3"/>
                </a:solidFill>
                <a:latin typeface="JetBrains Mono" pitchFamily="49" charset="0"/>
                <a:ea typeface="JetBrains Mono" pitchFamily="49" charset="-122"/>
                <a:cs typeface="JetBrains Mono" pitchFamily="49" charset="-120"/>
              </a:rPr>
              <a:t> j </a:t>
            </a:r>
            <a:r>
              <a:rPr lang="en-US" sz="1500" dirty="0">
                <a:solidFill>
                  <a:srgbClr val="F2B33D"/>
                </a:solidFill>
                <a:latin typeface="JetBrains Mono" pitchFamily="49" charset="0"/>
                <a:ea typeface="JetBrains Mono" pitchFamily="49" charset="-122"/>
                <a:cs typeface="JetBrains Mono" pitchFamily="49" charset="-120"/>
              </a:rPr>
              <a:t>in</a:t>
            </a: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range</a:t>
            </a:r>
            <a:r>
              <a:rPr lang="en-US" sz="1500" dirty="0">
                <a:solidFill>
                  <a:srgbClr val="E8EDF3"/>
                </a:solidFill>
                <a:latin typeface="JetBrains Mono" pitchFamily="49" charset="0"/>
                <a:ea typeface="JetBrains Mono" pitchFamily="49" charset="-122"/>
                <a:cs typeface="JetBrains Mono" pitchFamily="49" charset="-120"/>
              </a:rPr>
              <a:t>(i):</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(num, end=</a:t>
            </a:r>
            <a:r>
              <a:rPr lang="en-US" sz="1500" dirty="0">
                <a:solidFill>
                  <a:srgbClr val="9FD8A8"/>
                </a:solidFill>
                <a:latin typeface="JetBrains Mono" pitchFamily="49" charset="0"/>
                <a:ea typeface="JetBrains Mono" pitchFamily="49" charset="-122"/>
                <a:cs typeface="JetBrains Mono" pitchFamily="49" charset="-120"/>
              </a:rPr>
              <a:t>" "</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num += 1</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p:txBody>
      </p:sp>
      <p:sp>
        <p:nvSpPr>
          <p:cNvPr id="11" name="Text 9"/>
          <p:cNvSpPr/>
          <p:nvPr/>
        </p:nvSpPr>
        <p:spPr>
          <a:xfrm>
            <a:off x="6419850" y="4522391"/>
            <a:ext cx="4737100" cy="1073150"/>
          </a:xfrm>
          <a:prstGeom prst="roundRect">
            <a:avLst>
              <a:gd name="adj" fmla="val 7692"/>
            </a:avLst>
          </a:prstGeom>
          <a:solidFill>
            <a:srgbClr val="F7F5EF"/>
          </a:solidFill>
          <a:ln w="12700">
            <a:solidFill>
              <a:srgbClr val="D9DEE5"/>
            </a:solidFill>
            <a:prstDash val="solid"/>
          </a:ln>
        </p:spPr>
        <p:txBody>
          <a:bodyPr wrap="square" lIns="134572" tIns="83772" rIns="1984" bIns="58372" rtlCol="0" anchor="t">
            <a:normAutofit/>
          </a:bodyPr>
          <a:lstStyle/>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1</a:t>
            </a:r>
            <a:endParaRPr lang="en-US" sz="1500" dirty="0"/>
          </a:p>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2 3</a:t>
            </a:r>
            <a:endParaRPr lang="en-US" sz="1500" dirty="0"/>
          </a:p>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4 5 6</a:t>
            </a:r>
            <a:endParaRPr lang="en-US" sz="1500" dirty="0"/>
          </a:p>
        </p:txBody>
      </p:sp>
      <p:sp>
        <p:nvSpPr>
          <p:cNvPr id="12" name="Text 1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Rubik" pitchFamily="34" charset="0"/>
                <a:ea typeface="Rubik" pitchFamily="34" charset="-122"/>
                <a:cs typeface="Rubik" pitchFamily="34" charset="-120"/>
              </a:rPr>
              <a:t>Python Programming · Week 2 · Class 6</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CLASS 6 · PRIME NUMBERS</a:t>
            </a:r>
            <a:endParaRPr lang="en-US" sz="1200" dirty="0"/>
          </a:p>
        </p:txBody>
      </p:sp>
      <p:sp>
        <p:nvSpPr>
          <p:cNvPr id="3" name="Text 1"/>
          <p:cNvSpPr/>
          <p:nvPr>
            <p:ph type="title"/>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41"/>
                </a:solidFill>
                <a:latin typeface="Rubik" pitchFamily="34" charset="0"/>
                <a:ea typeface="Rubik" pitchFamily="34" charset="-122"/>
                <a:cs typeface="Rubik" pitchFamily="34" charset="-120"/>
              </a:rPr>
              <a:t>Is the number prime?</a:t>
            </a:r>
            <a:endParaRPr lang="en-US" sz="3200" dirty="0"/>
          </a:p>
        </p:txBody>
      </p:sp>
      <p:sp>
        <p:nvSpPr>
          <p:cNvPr id="4" name="Shape 2"/>
          <p:cNvSpPr/>
          <p:nvPr/>
        </p:nvSpPr>
        <p:spPr>
          <a:xfrm>
            <a:off x="812800" y="1854138"/>
            <a:ext cx="5672667" cy="3502620"/>
          </a:xfrm>
          <a:prstGeom prst="roundRect">
            <a:avLst>
              <a:gd name="adj" fmla="val 3626"/>
            </a:avLst>
          </a:prstGeom>
          <a:solidFill>
            <a:srgbClr val="1B2A41"/>
          </a:solidFill>
          <a:ln/>
        </p:spPr>
      </p:sp>
      <p:sp>
        <p:nvSpPr>
          <p:cNvPr id="5" name="Text 3"/>
          <p:cNvSpPr/>
          <p:nvPr/>
        </p:nvSpPr>
        <p:spPr>
          <a:xfrm>
            <a:off x="1066800" y="2031938"/>
            <a:ext cx="531960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3B8"/>
                </a:solidFill>
                <a:latin typeface="JetBrains Mono" pitchFamily="49" charset="0"/>
                <a:ea typeface="JetBrains Mono" pitchFamily="49" charset="-122"/>
                <a:cs typeface="JetBrains Mono" pitchFamily="49" charset="-120"/>
              </a:rPr>
              <a:t>prime.py</a:t>
            </a:r>
            <a:endParaRPr lang="en-US" sz="1200" dirty="0"/>
          </a:p>
        </p:txBody>
      </p:sp>
      <p:sp>
        <p:nvSpPr>
          <p:cNvPr id="6" name="Text 4"/>
          <p:cNvSpPr/>
          <p:nvPr/>
        </p:nvSpPr>
        <p:spPr>
          <a:xfrm>
            <a:off x="1066800" y="2321458"/>
            <a:ext cx="5319607" cy="28829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n = </a:t>
            </a:r>
            <a:r>
              <a:rPr lang="en-US" sz="1500" dirty="0">
                <a:solidFill>
                  <a:srgbClr val="F2B33D"/>
                </a:solidFill>
                <a:latin typeface="JetBrains Mono" pitchFamily="49" charset="0"/>
                <a:ea typeface="JetBrains Mono" pitchFamily="49" charset="-122"/>
                <a:cs typeface="JetBrains Mono" pitchFamily="49" charset="-120"/>
              </a:rPr>
              <a:t>int</a:t>
            </a:r>
            <a:r>
              <a:rPr lang="en-US" sz="1500" dirty="0">
                <a:solidFill>
                  <a:srgbClr val="E8EDF3"/>
                </a:solidFill>
                <a:latin typeface="JetBrains Mono" pitchFamily="49" charset="0"/>
                <a:ea typeface="JetBrains Mono" pitchFamily="49" charset="-122"/>
                <a:cs typeface="JetBrains Mono" pitchFamily="49" charset="-120"/>
              </a:rPr>
              <a:t>(</a:t>
            </a:r>
            <a:r>
              <a:rPr lang="en-US" sz="1500" dirty="0">
                <a:solidFill>
                  <a:srgbClr val="F2B33D"/>
                </a:solidFill>
                <a:latin typeface="JetBrains Mono" pitchFamily="49" charset="0"/>
                <a:ea typeface="JetBrains Mono" pitchFamily="49" charset="-122"/>
                <a:cs typeface="JetBrains Mono" pitchFamily="49" charset="-120"/>
              </a:rPr>
              <a:t>input</a:t>
            </a:r>
            <a:r>
              <a:rPr lang="en-US" sz="1500" dirty="0">
                <a:solidFill>
                  <a:srgbClr val="E8EDF3"/>
                </a:solidFill>
                <a:latin typeface="JetBrains Mono" pitchFamily="49" charset="0"/>
                <a:ea typeface="JetBrains Mono" pitchFamily="49" charset="-122"/>
                <a:cs typeface="JetBrains Mono" pitchFamily="49" charset="-120"/>
              </a:rPr>
              <a:t>(</a:t>
            </a:r>
            <a:r>
              <a:rPr lang="en-US" sz="1500" dirty="0">
                <a:solidFill>
                  <a:srgbClr val="9FD8A8"/>
                </a:solidFill>
                <a:latin typeface="JetBrains Mono" pitchFamily="49" charset="0"/>
                <a:ea typeface="JetBrains Mono" pitchFamily="49" charset="-122"/>
                <a:cs typeface="JetBrains Mono" pitchFamily="49" charset="-120"/>
              </a:rPr>
              <a:t>"Number: "</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is_prime = n &gt; 1</a:t>
            </a: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for</a:t>
            </a:r>
            <a:r>
              <a:rPr lang="en-US" sz="1500" dirty="0">
                <a:solidFill>
                  <a:srgbClr val="E8EDF3"/>
                </a:solidFill>
                <a:latin typeface="JetBrains Mono" pitchFamily="49" charset="0"/>
                <a:ea typeface="JetBrains Mono" pitchFamily="49" charset="-122"/>
                <a:cs typeface="JetBrains Mono" pitchFamily="49" charset="-120"/>
              </a:rPr>
              <a:t> i </a:t>
            </a:r>
            <a:r>
              <a:rPr lang="en-US" sz="1500" dirty="0">
                <a:solidFill>
                  <a:srgbClr val="F2B33D"/>
                </a:solidFill>
                <a:latin typeface="JetBrains Mono" pitchFamily="49" charset="0"/>
                <a:ea typeface="JetBrains Mono" pitchFamily="49" charset="-122"/>
                <a:cs typeface="JetBrains Mono" pitchFamily="49" charset="-120"/>
              </a:rPr>
              <a:t>in</a:t>
            </a: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range</a:t>
            </a:r>
            <a:r>
              <a:rPr lang="en-US" sz="1500" dirty="0">
                <a:solidFill>
                  <a:srgbClr val="E8EDF3"/>
                </a:solidFill>
                <a:latin typeface="JetBrains Mono" pitchFamily="49" charset="0"/>
                <a:ea typeface="JetBrains Mono" pitchFamily="49" charset="-122"/>
                <a:cs typeface="JetBrains Mono" pitchFamily="49" charset="-120"/>
              </a:rPr>
              <a:t>(2, n):</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if</a:t>
            </a:r>
            <a:r>
              <a:rPr lang="en-US" sz="1500" dirty="0">
                <a:solidFill>
                  <a:srgbClr val="E8EDF3"/>
                </a:solidFill>
                <a:latin typeface="JetBrains Mono" pitchFamily="49" charset="0"/>
                <a:ea typeface="JetBrains Mono" pitchFamily="49" charset="-122"/>
                <a:cs typeface="JetBrains Mono" pitchFamily="49" charset="-120"/>
              </a:rPr>
              <a:t> n % i == 0:</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is_prime = </a:t>
            </a:r>
            <a:r>
              <a:rPr lang="en-US" sz="1500" dirty="0">
                <a:solidFill>
                  <a:srgbClr val="F2B33D"/>
                </a:solidFill>
                <a:latin typeface="JetBrains Mono" pitchFamily="49" charset="0"/>
                <a:ea typeface="JetBrains Mono" pitchFamily="49" charset="-122"/>
                <a:cs typeface="JetBrains Mono" pitchFamily="49" charset="-120"/>
              </a:rPr>
              <a:t>False</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break</a:t>
            </a: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if</a:t>
            </a:r>
            <a:r>
              <a:rPr lang="en-US" sz="1500" dirty="0">
                <a:solidFill>
                  <a:srgbClr val="E8EDF3"/>
                </a:solidFill>
                <a:latin typeface="JetBrains Mono" pitchFamily="49" charset="0"/>
                <a:ea typeface="JetBrains Mono" pitchFamily="49" charset="-122"/>
                <a:cs typeface="JetBrains Mono" pitchFamily="49" charset="-120"/>
              </a:rPr>
              <a:t> is_prime:</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(n, </a:t>
            </a:r>
            <a:r>
              <a:rPr lang="en-US" sz="1500" dirty="0">
                <a:solidFill>
                  <a:srgbClr val="9FD8A8"/>
                </a:solidFill>
                <a:latin typeface="JetBrains Mono" pitchFamily="49" charset="0"/>
                <a:ea typeface="JetBrains Mono" pitchFamily="49" charset="-122"/>
                <a:cs typeface="JetBrains Mono" pitchFamily="49" charset="-120"/>
              </a:rPr>
              <a:t>"is prime"</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else</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(n, </a:t>
            </a:r>
            <a:r>
              <a:rPr lang="en-US" sz="1500" dirty="0">
                <a:solidFill>
                  <a:srgbClr val="9FD8A8"/>
                </a:solidFill>
                <a:latin typeface="JetBrains Mono" pitchFamily="49" charset="0"/>
                <a:ea typeface="JetBrains Mono" pitchFamily="49" charset="-122"/>
                <a:cs typeface="JetBrains Mono" pitchFamily="49" charset="-120"/>
              </a:rPr>
              <a:t>"is not prime"</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p:txBody>
      </p:sp>
      <p:sp>
        <p:nvSpPr>
          <p:cNvPr id="7" name="Shape 5"/>
          <p:cNvSpPr/>
          <p:nvPr/>
        </p:nvSpPr>
        <p:spPr>
          <a:xfrm>
            <a:off x="6847417" y="1860488"/>
            <a:ext cx="4525433" cy="1229320"/>
          </a:xfrm>
          <a:prstGeom prst="roundRect">
            <a:avLst>
              <a:gd name="adj" fmla="val 9814"/>
            </a:avLst>
          </a:prstGeom>
          <a:solidFill>
            <a:srgbClr val="FFFDF8"/>
          </a:solidFill>
          <a:ln w="12700">
            <a:solidFill>
              <a:srgbClr val="D9DEE5"/>
            </a:solidFill>
            <a:prstDash val="solid"/>
          </a:ln>
        </p:spPr>
      </p:sp>
      <p:sp>
        <p:nvSpPr>
          <p:cNvPr id="8" name="Text 6"/>
          <p:cNvSpPr/>
          <p:nvPr/>
        </p:nvSpPr>
        <p:spPr>
          <a:xfrm>
            <a:off x="7107767" y="2044638"/>
            <a:ext cx="4258733"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OUTPUT · ORANGE = WHAT THE USER TYPES</a:t>
            </a:r>
            <a:endParaRPr lang="en-US" sz="1200" dirty="0"/>
          </a:p>
        </p:txBody>
      </p:sp>
      <p:sp>
        <p:nvSpPr>
          <p:cNvPr id="9" name="Text 7"/>
          <p:cNvSpPr/>
          <p:nvPr/>
        </p:nvSpPr>
        <p:spPr>
          <a:xfrm>
            <a:off x="7107767" y="2334158"/>
            <a:ext cx="4124875" cy="5969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Number: </a:t>
            </a:r>
            <a:r>
              <a:rPr lang="en-US" sz="1500" dirty="0">
                <a:solidFill>
                  <a:srgbClr val="B54708"/>
                </a:solidFill>
                <a:latin typeface="JetBrains Mono" pitchFamily="49" charset="0"/>
                <a:ea typeface="JetBrains Mono" pitchFamily="49" charset="-122"/>
                <a:cs typeface="JetBrains Mono" pitchFamily="49" charset="-120"/>
              </a:rPr>
              <a:t>29</a:t>
            </a:r>
            <a:endParaRPr lang="en-US" sz="1500" dirty="0"/>
          </a:p>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29 is prime</a:t>
            </a:r>
            <a:endParaRPr lang="en-US" sz="1500" dirty="0"/>
          </a:p>
        </p:txBody>
      </p:sp>
      <p:sp>
        <p:nvSpPr>
          <p:cNvPr id="10" name="Shape 8"/>
          <p:cNvSpPr/>
          <p:nvPr/>
        </p:nvSpPr>
        <p:spPr>
          <a:xfrm>
            <a:off x="6847417" y="3229508"/>
            <a:ext cx="4525433" cy="482600"/>
          </a:xfrm>
          <a:prstGeom prst="roundRect">
            <a:avLst>
              <a:gd name="adj" fmla="val 17105"/>
            </a:avLst>
          </a:prstGeom>
          <a:solidFill>
            <a:srgbClr val="FFFDF8"/>
          </a:solidFill>
          <a:ln w="12700">
            <a:solidFill>
              <a:srgbClr val="E2DED3"/>
            </a:solidFill>
            <a:prstDash val="solid"/>
          </a:ln>
        </p:spPr>
      </p:sp>
      <p:sp>
        <p:nvSpPr>
          <p:cNvPr id="11" name="Text 9"/>
          <p:cNvSpPr/>
          <p:nvPr/>
        </p:nvSpPr>
        <p:spPr>
          <a:xfrm>
            <a:off x="7006167" y="3337458"/>
            <a:ext cx="330200" cy="266700"/>
          </a:xfrm>
          <a:custGeom>
            <a:avLst/>
            <a:gdLst/>
            <a:ahLst/>
            <a:cxnLst/>
            <a:rect l="l" t="t" r="r" b="b"/>
            <a:pathLst>
              <a:path w="330200" h="266700">
                <a:moveTo>
                  <a:pt x="133350" y="0"/>
                </a:moveTo>
                <a:lnTo>
                  <a:pt x="196850" y="0"/>
                </a:lnTo>
                <a:arcTo hR="133350" wR="133350" stAng="16200000" swAng="5400000"/>
                <a:lnTo>
                  <a:pt x="330200" y="133350"/>
                </a:lnTo>
                <a:arcTo hR="133350" wR="133350" stAng="0" swAng="5400000"/>
                <a:lnTo>
                  <a:pt x="133350" y="266700"/>
                </a:lnTo>
                <a:arcTo hR="133350" wR="133350" stAng="5400000" swAng="5400000"/>
                <a:lnTo>
                  <a:pt x="0" y="133350"/>
                </a:lnTo>
                <a:arcTo hR="133350" wR="133350" stAng="10800000" swAng="5400000"/>
                <a:close/>
              </a:path>
            </a:pathLst>
          </a:custGeom>
          <a:solidFill>
            <a:srgbClr val="F2B33D"/>
          </a:solidFill>
          <a:ln/>
        </p:spPr>
        <p:txBody>
          <a:bodyPr wrap="square" lIns="0" tIns="0" rIns="0" bIns="0" rtlCol="0" anchor="t">
            <a:normAutofit/>
          </a:bodyPr>
          <a:lstStyle/>
          <a:p>
            <a:pPr algn="ctr" indent="0" marL="0">
              <a:lnSpc>
                <a:spcPts val="2100"/>
              </a:lnSpc>
              <a:buNone/>
            </a:pPr>
            <a:r>
              <a:rPr lang="en-US" sz="1500" b="1" dirty="0">
                <a:solidFill>
                  <a:srgbClr val="1B2A41"/>
                </a:solidFill>
                <a:latin typeface="Rubik" pitchFamily="34" charset="0"/>
                <a:ea typeface="Rubik" pitchFamily="34" charset="-122"/>
                <a:cs typeface="Rubik" pitchFamily="34" charset="-120"/>
              </a:rPr>
              <a:t>1</a:t>
            </a:r>
            <a:endParaRPr lang="en-US" sz="1500" dirty="0"/>
          </a:p>
        </p:txBody>
      </p:sp>
      <p:sp>
        <p:nvSpPr>
          <p:cNvPr id="12" name="Text 10"/>
          <p:cNvSpPr/>
          <p:nvPr/>
        </p:nvSpPr>
        <p:spPr>
          <a:xfrm>
            <a:off x="7463367" y="3337458"/>
            <a:ext cx="3903133"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4A5568"/>
                </a:solidFill>
                <a:latin typeface="Rubik" pitchFamily="34" charset="0"/>
                <a:ea typeface="Rubik" pitchFamily="34" charset="-122"/>
                <a:cs typeface="Rubik" pitchFamily="34" charset="-120"/>
              </a:rPr>
              <a:t>Assume:</a:t>
            </a:r>
            <a:r>
              <a:rPr lang="en-US" sz="1500" dirty="0">
                <a:solidFill>
                  <a:srgbClr val="4A5568"/>
                </a:solidFill>
                <a:latin typeface="Rubik" pitchFamily="34" charset="0"/>
                <a:ea typeface="Rubik" pitchFamily="34" charset="-122"/>
                <a:cs typeface="Rubik" pitchFamily="34" charset="-120"/>
              </a:rPr>
              <a:t> it is prime (0 and 1 never are)</a:t>
            </a:r>
            <a:endParaRPr lang="en-US" sz="1500" dirty="0"/>
          </a:p>
        </p:txBody>
      </p:sp>
      <p:sp>
        <p:nvSpPr>
          <p:cNvPr id="13" name="Shape 11"/>
          <p:cNvSpPr/>
          <p:nvPr/>
        </p:nvSpPr>
        <p:spPr>
          <a:xfrm>
            <a:off x="6847417" y="3851808"/>
            <a:ext cx="4525433" cy="482600"/>
          </a:xfrm>
          <a:prstGeom prst="roundRect">
            <a:avLst>
              <a:gd name="adj" fmla="val 17105"/>
            </a:avLst>
          </a:prstGeom>
          <a:solidFill>
            <a:srgbClr val="FFFDF8"/>
          </a:solidFill>
          <a:ln w="12700">
            <a:solidFill>
              <a:srgbClr val="E2DED3"/>
            </a:solidFill>
            <a:prstDash val="solid"/>
          </a:ln>
        </p:spPr>
      </p:sp>
      <p:sp>
        <p:nvSpPr>
          <p:cNvPr id="14" name="Text 12"/>
          <p:cNvSpPr/>
          <p:nvPr/>
        </p:nvSpPr>
        <p:spPr>
          <a:xfrm>
            <a:off x="7006167" y="3959758"/>
            <a:ext cx="330200" cy="266700"/>
          </a:xfrm>
          <a:custGeom>
            <a:avLst/>
            <a:gdLst/>
            <a:ahLst/>
            <a:cxnLst/>
            <a:rect l="l" t="t" r="r" b="b"/>
            <a:pathLst>
              <a:path w="330200" h="266700">
                <a:moveTo>
                  <a:pt x="133350" y="0"/>
                </a:moveTo>
                <a:lnTo>
                  <a:pt x="196850" y="0"/>
                </a:lnTo>
                <a:arcTo hR="133350" wR="133350" stAng="16200000" swAng="5400000"/>
                <a:lnTo>
                  <a:pt x="330200" y="133350"/>
                </a:lnTo>
                <a:arcTo hR="133350" wR="133350" stAng="0" swAng="5400000"/>
                <a:lnTo>
                  <a:pt x="133350" y="266700"/>
                </a:lnTo>
                <a:arcTo hR="133350" wR="133350" stAng="5400000" swAng="5400000"/>
                <a:lnTo>
                  <a:pt x="0" y="133350"/>
                </a:lnTo>
                <a:arcTo hR="133350" wR="133350" stAng="10800000" swAng="5400000"/>
                <a:close/>
              </a:path>
            </a:pathLst>
          </a:custGeom>
          <a:solidFill>
            <a:srgbClr val="F2B33D"/>
          </a:solidFill>
          <a:ln/>
        </p:spPr>
        <p:txBody>
          <a:bodyPr wrap="square" lIns="0" tIns="0" rIns="0" bIns="0" rtlCol="0" anchor="t">
            <a:normAutofit/>
          </a:bodyPr>
          <a:lstStyle/>
          <a:p>
            <a:pPr algn="ctr" indent="0" marL="0">
              <a:lnSpc>
                <a:spcPts val="2100"/>
              </a:lnSpc>
              <a:buNone/>
            </a:pPr>
            <a:r>
              <a:rPr lang="en-US" sz="1500" b="1" dirty="0">
                <a:solidFill>
                  <a:srgbClr val="1B2A41"/>
                </a:solidFill>
                <a:latin typeface="Rubik" pitchFamily="34" charset="0"/>
                <a:ea typeface="Rubik" pitchFamily="34" charset="-122"/>
                <a:cs typeface="Rubik" pitchFamily="34" charset="-120"/>
              </a:rPr>
              <a:t>2</a:t>
            </a:r>
            <a:endParaRPr lang="en-US" sz="1500" dirty="0"/>
          </a:p>
        </p:txBody>
      </p:sp>
      <p:sp>
        <p:nvSpPr>
          <p:cNvPr id="15" name="Text 13"/>
          <p:cNvSpPr/>
          <p:nvPr/>
        </p:nvSpPr>
        <p:spPr>
          <a:xfrm>
            <a:off x="7463367" y="3959758"/>
            <a:ext cx="3903133"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4A5568"/>
                </a:solidFill>
                <a:latin typeface="Rubik" pitchFamily="34" charset="0"/>
                <a:ea typeface="Rubik" pitchFamily="34" charset="-122"/>
                <a:cs typeface="Rubik" pitchFamily="34" charset="-120"/>
              </a:rPr>
              <a:t>Search:</a:t>
            </a:r>
            <a:r>
              <a:rPr lang="en-US" sz="1500" dirty="0">
                <a:solidFill>
                  <a:srgbClr val="4A5568"/>
                </a:solidFill>
                <a:latin typeface="Rubik" pitchFamily="34" charset="0"/>
                <a:ea typeface="Rubik" pitchFamily="34" charset="-122"/>
                <a:cs typeface="Rubik" pitchFamily="34" charset="-120"/>
              </a:rPr>
              <a:t> try every divisor from 2 to n - 1</a:t>
            </a:r>
            <a:endParaRPr lang="en-US" sz="1500" dirty="0"/>
          </a:p>
        </p:txBody>
      </p:sp>
      <p:sp>
        <p:nvSpPr>
          <p:cNvPr id="16" name="Shape 14"/>
          <p:cNvSpPr/>
          <p:nvPr/>
        </p:nvSpPr>
        <p:spPr>
          <a:xfrm>
            <a:off x="6847417" y="4474108"/>
            <a:ext cx="4525433" cy="749300"/>
          </a:xfrm>
          <a:prstGeom prst="roundRect">
            <a:avLst>
              <a:gd name="adj" fmla="val 11017"/>
            </a:avLst>
          </a:prstGeom>
          <a:solidFill>
            <a:srgbClr val="FFFDF8"/>
          </a:solidFill>
          <a:ln w="12700">
            <a:solidFill>
              <a:srgbClr val="E2DED3"/>
            </a:solidFill>
            <a:prstDash val="solid"/>
          </a:ln>
        </p:spPr>
      </p:sp>
      <p:sp>
        <p:nvSpPr>
          <p:cNvPr id="17" name="Text 15"/>
          <p:cNvSpPr/>
          <p:nvPr/>
        </p:nvSpPr>
        <p:spPr>
          <a:xfrm>
            <a:off x="7006167" y="4715408"/>
            <a:ext cx="330200" cy="266700"/>
          </a:xfrm>
          <a:custGeom>
            <a:avLst/>
            <a:gdLst/>
            <a:ahLst/>
            <a:cxnLst/>
            <a:rect l="l" t="t" r="r" b="b"/>
            <a:pathLst>
              <a:path w="330200" h="266700">
                <a:moveTo>
                  <a:pt x="133350" y="0"/>
                </a:moveTo>
                <a:lnTo>
                  <a:pt x="196850" y="0"/>
                </a:lnTo>
                <a:arcTo hR="133350" wR="133350" stAng="16200000" swAng="5400000"/>
                <a:lnTo>
                  <a:pt x="330200" y="133350"/>
                </a:lnTo>
                <a:arcTo hR="133350" wR="133350" stAng="0" swAng="5400000"/>
                <a:lnTo>
                  <a:pt x="133350" y="266700"/>
                </a:lnTo>
                <a:arcTo hR="133350" wR="133350" stAng="5400000" swAng="5400000"/>
                <a:lnTo>
                  <a:pt x="0" y="133350"/>
                </a:lnTo>
                <a:arcTo hR="133350" wR="133350" stAng="10800000" swAng="5400000"/>
                <a:close/>
              </a:path>
            </a:pathLst>
          </a:custGeom>
          <a:solidFill>
            <a:srgbClr val="F2B33D"/>
          </a:solidFill>
          <a:ln/>
        </p:spPr>
        <p:txBody>
          <a:bodyPr wrap="square" lIns="0" tIns="0" rIns="0" bIns="0" rtlCol="0" anchor="t">
            <a:normAutofit/>
          </a:bodyPr>
          <a:lstStyle/>
          <a:p>
            <a:pPr algn="ctr" indent="0" marL="0">
              <a:lnSpc>
                <a:spcPts val="2100"/>
              </a:lnSpc>
              <a:buNone/>
            </a:pPr>
            <a:r>
              <a:rPr lang="en-US" sz="1500" b="1" dirty="0">
                <a:solidFill>
                  <a:srgbClr val="1B2A41"/>
                </a:solidFill>
                <a:latin typeface="Rubik" pitchFamily="34" charset="0"/>
                <a:ea typeface="Rubik" pitchFamily="34" charset="-122"/>
                <a:cs typeface="Rubik" pitchFamily="34" charset="-120"/>
              </a:rPr>
              <a:t>3</a:t>
            </a:r>
            <a:endParaRPr lang="en-US" sz="1500" dirty="0"/>
          </a:p>
        </p:txBody>
      </p:sp>
      <p:sp>
        <p:nvSpPr>
          <p:cNvPr id="18" name="Text 16"/>
          <p:cNvSpPr/>
          <p:nvPr/>
        </p:nvSpPr>
        <p:spPr>
          <a:xfrm>
            <a:off x="7463367" y="4582058"/>
            <a:ext cx="3863255"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4A5568"/>
                </a:solidFill>
                <a:latin typeface="Rubik" pitchFamily="34" charset="0"/>
                <a:ea typeface="Rubik" pitchFamily="34" charset="-122"/>
                <a:cs typeface="Rubik" pitchFamily="34" charset="-120"/>
              </a:rPr>
              <a:t>Found one?:</a:t>
            </a:r>
            <a:r>
              <a:rPr lang="en-US" sz="1500" dirty="0">
                <a:solidFill>
                  <a:srgbClr val="4A5568"/>
                </a:solidFill>
                <a:latin typeface="Rubik" pitchFamily="34" charset="0"/>
                <a:ea typeface="Rubik" pitchFamily="34" charset="-122"/>
                <a:cs typeface="Rubik" pitchFamily="34" charset="-120"/>
              </a:rPr>
              <a:t> not prime, and break: no need to look further</a:t>
            </a:r>
            <a:endParaRPr lang="en-US" sz="1500" dirty="0"/>
          </a:p>
        </p:txBody>
      </p:sp>
      <p:sp>
        <p:nvSpPr>
          <p:cNvPr id="19" name="Text 1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Rubik" pitchFamily="34" charset="0"/>
                <a:ea typeface="Rubik" pitchFamily="34" charset="-122"/>
                <a:cs typeface="Rubik" pitchFamily="34" charset="-120"/>
              </a:rPr>
              <a:t>Python Programming · Week 2 · Class 6</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CLASS 6 · FIBONACCI</a:t>
            </a:r>
            <a:endParaRPr lang="en-US" sz="1200" dirty="0"/>
          </a:p>
        </p:txBody>
      </p:sp>
      <p:sp>
        <p:nvSpPr>
          <p:cNvPr id="3" name="Text 1"/>
          <p:cNvSpPr/>
          <p:nvPr>
            <p:ph type="title"/>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41"/>
                </a:solidFill>
                <a:latin typeface="Rubik" pitchFamily="34" charset="0"/>
                <a:ea typeface="Rubik" pitchFamily="34" charset="-122"/>
                <a:cs typeface="Rubik" pitchFamily="34" charset="-120"/>
              </a:rPr>
              <a:t>The Fibonacci series</a:t>
            </a:r>
            <a:endParaRPr lang="en-US" sz="3200" dirty="0"/>
          </a:p>
        </p:txBody>
      </p:sp>
      <p:sp>
        <p:nvSpPr>
          <p:cNvPr id="4" name="Shape 2"/>
          <p:cNvSpPr/>
          <p:nvPr/>
        </p:nvSpPr>
        <p:spPr>
          <a:xfrm>
            <a:off x="812800" y="1854138"/>
            <a:ext cx="5461529" cy="2073870"/>
          </a:xfrm>
          <a:prstGeom prst="roundRect">
            <a:avLst>
              <a:gd name="adj" fmla="val 6124"/>
            </a:avLst>
          </a:prstGeom>
          <a:solidFill>
            <a:srgbClr val="1B2A41"/>
          </a:solidFill>
          <a:ln/>
        </p:spPr>
      </p:sp>
      <p:sp>
        <p:nvSpPr>
          <p:cNvPr id="5" name="Text 3"/>
          <p:cNvSpPr/>
          <p:nvPr/>
        </p:nvSpPr>
        <p:spPr>
          <a:xfrm>
            <a:off x="1066800" y="2031938"/>
            <a:ext cx="51021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3B8"/>
                </a:solidFill>
                <a:latin typeface="JetBrains Mono" pitchFamily="49" charset="0"/>
                <a:ea typeface="JetBrains Mono" pitchFamily="49" charset="-122"/>
                <a:cs typeface="JetBrains Mono" pitchFamily="49" charset="-120"/>
              </a:rPr>
              <a:t>fibonacci.py</a:t>
            </a:r>
            <a:endParaRPr lang="en-US" sz="1200" dirty="0"/>
          </a:p>
        </p:txBody>
      </p:sp>
      <p:sp>
        <p:nvSpPr>
          <p:cNvPr id="6" name="Text 4"/>
          <p:cNvSpPr/>
          <p:nvPr/>
        </p:nvSpPr>
        <p:spPr>
          <a:xfrm>
            <a:off x="1066800" y="2321458"/>
            <a:ext cx="5102135" cy="14541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n = </a:t>
            </a:r>
            <a:r>
              <a:rPr lang="en-US" sz="1500" dirty="0">
                <a:solidFill>
                  <a:srgbClr val="F2B33D"/>
                </a:solidFill>
                <a:latin typeface="JetBrains Mono" pitchFamily="49" charset="0"/>
                <a:ea typeface="JetBrains Mono" pitchFamily="49" charset="-122"/>
                <a:cs typeface="JetBrains Mono" pitchFamily="49" charset="-120"/>
              </a:rPr>
              <a:t>int</a:t>
            </a:r>
            <a:r>
              <a:rPr lang="en-US" sz="1500" dirty="0">
                <a:solidFill>
                  <a:srgbClr val="E8EDF3"/>
                </a:solidFill>
                <a:latin typeface="JetBrains Mono" pitchFamily="49" charset="0"/>
                <a:ea typeface="JetBrains Mono" pitchFamily="49" charset="-122"/>
                <a:cs typeface="JetBrains Mono" pitchFamily="49" charset="-120"/>
              </a:rPr>
              <a:t>(</a:t>
            </a:r>
            <a:r>
              <a:rPr lang="en-US" sz="1500" dirty="0">
                <a:solidFill>
                  <a:srgbClr val="F2B33D"/>
                </a:solidFill>
                <a:latin typeface="JetBrains Mono" pitchFamily="49" charset="0"/>
                <a:ea typeface="JetBrains Mono" pitchFamily="49" charset="-122"/>
                <a:cs typeface="JetBrains Mono" pitchFamily="49" charset="-120"/>
              </a:rPr>
              <a:t>input</a:t>
            </a:r>
            <a:r>
              <a:rPr lang="en-US" sz="1500" dirty="0">
                <a:solidFill>
                  <a:srgbClr val="E8EDF3"/>
                </a:solidFill>
                <a:latin typeface="JetBrains Mono" pitchFamily="49" charset="0"/>
                <a:ea typeface="JetBrains Mono" pitchFamily="49" charset="-122"/>
                <a:cs typeface="JetBrains Mono" pitchFamily="49" charset="-120"/>
              </a:rPr>
              <a:t>(</a:t>
            </a:r>
            <a:r>
              <a:rPr lang="en-US" sz="1500" dirty="0">
                <a:solidFill>
                  <a:srgbClr val="9FD8A8"/>
                </a:solidFill>
                <a:latin typeface="JetBrains Mono" pitchFamily="49" charset="0"/>
                <a:ea typeface="JetBrains Mono" pitchFamily="49" charset="-122"/>
                <a:cs typeface="JetBrains Mono" pitchFamily="49" charset="-120"/>
              </a:rPr>
              <a:t>"How many terms? "</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a, b = 0, 1</a:t>
            </a: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for</a:t>
            </a:r>
            <a:r>
              <a:rPr lang="en-US" sz="1500" dirty="0">
                <a:solidFill>
                  <a:srgbClr val="E8EDF3"/>
                </a:solidFill>
                <a:latin typeface="JetBrains Mono" pitchFamily="49" charset="0"/>
                <a:ea typeface="JetBrains Mono" pitchFamily="49" charset="-122"/>
                <a:cs typeface="JetBrains Mono" pitchFamily="49" charset="-120"/>
              </a:rPr>
              <a:t> i </a:t>
            </a:r>
            <a:r>
              <a:rPr lang="en-US" sz="1500" dirty="0">
                <a:solidFill>
                  <a:srgbClr val="F2B33D"/>
                </a:solidFill>
                <a:latin typeface="JetBrains Mono" pitchFamily="49" charset="0"/>
                <a:ea typeface="JetBrains Mono" pitchFamily="49" charset="-122"/>
                <a:cs typeface="JetBrains Mono" pitchFamily="49" charset="-120"/>
              </a:rPr>
              <a:t>in</a:t>
            </a: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range</a:t>
            </a:r>
            <a:r>
              <a:rPr lang="en-US" sz="1500" dirty="0">
                <a:solidFill>
                  <a:srgbClr val="E8EDF3"/>
                </a:solidFill>
                <a:latin typeface="JetBrains Mono" pitchFamily="49" charset="0"/>
                <a:ea typeface="JetBrains Mono" pitchFamily="49" charset="-122"/>
                <a:cs typeface="JetBrains Mono" pitchFamily="49" charset="-120"/>
              </a:rPr>
              <a:t>(n):</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(a, end=</a:t>
            </a:r>
            <a:r>
              <a:rPr lang="en-US" sz="1500" dirty="0">
                <a:solidFill>
                  <a:srgbClr val="9FD8A8"/>
                </a:solidFill>
                <a:latin typeface="JetBrains Mono" pitchFamily="49" charset="0"/>
                <a:ea typeface="JetBrains Mono" pitchFamily="49" charset="-122"/>
                <a:cs typeface="JetBrains Mono" pitchFamily="49" charset="-120"/>
              </a:rPr>
              <a:t>" "</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 b = b, a + b</a:t>
            </a:r>
            <a:endParaRPr lang="en-US" sz="1500" dirty="0"/>
          </a:p>
        </p:txBody>
      </p:sp>
      <p:sp>
        <p:nvSpPr>
          <p:cNvPr id="7" name="Shape 5"/>
          <p:cNvSpPr/>
          <p:nvPr/>
        </p:nvSpPr>
        <p:spPr>
          <a:xfrm>
            <a:off x="819150" y="4061358"/>
            <a:ext cx="5448829" cy="1229320"/>
          </a:xfrm>
          <a:prstGeom prst="roundRect">
            <a:avLst>
              <a:gd name="adj" fmla="val 9814"/>
            </a:avLst>
          </a:prstGeom>
          <a:solidFill>
            <a:srgbClr val="FFFDF8"/>
          </a:solidFill>
          <a:ln w="12700">
            <a:solidFill>
              <a:srgbClr val="D9DEE5"/>
            </a:solidFill>
            <a:prstDash val="solid"/>
          </a:ln>
        </p:spPr>
      </p:sp>
      <p:sp>
        <p:nvSpPr>
          <p:cNvPr id="8" name="Text 6"/>
          <p:cNvSpPr/>
          <p:nvPr/>
        </p:nvSpPr>
        <p:spPr>
          <a:xfrm>
            <a:off x="1079500" y="4245508"/>
            <a:ext cx="5075973"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OUTPUT · ORANGE = WHAT THE USER TYPES</a:t>
            </a:r>
            <a:endParaRPr lang="en-US" sz="1200" dirty="0"/>
          </a:p>
        </p:txBody>
      </p:sp>
      <p:sp>
        <p:nvSpPr>
          <p:cNvPr id="9" name="Text 7"/>
          <p:cNvSpPr/>
          <p:nvPr/>
        </p:nvSpPr>
        <p:spPr>
          <a:xfrm>
            <a:off x="1079500" y="4535029"/>
            <a:ext cx="5075973" cy="5969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How many terms? </a:t>
            </a:r>
            <a:r>
              <a:rPr lang="en-US" sz="1500" dirty="0">
                <a:solidFill>
                  <a:srgbClr val="B54708"/>
                </a:solidFill>
                <a:latin typeface="JetBrains Mono" pitchFamily="49" charset="0"/>
                <a:ea typeface="JetBrains Mono" pitchFamily="49" charset="-122"/>
                <a:cs typeface="JetBrains Mono" pitchFamily="49" charset="-120"/>
              </a:rPr>
              <a:t>8</a:t>
            </a:r>
            <a:endParaRPr lang="en-US" sz="1500" dirty="0"/>
          </a:p>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0 1 1 2 3 5 8 13</a:t>
            </a:r>
            <a:endParaRPr lang="en-US" sz="1500" dirty="0"/>
          </a:p>
        </p:txBody>
      </p:sp>
      <p:sp>
        <p:nvSpPr>
          <p:cNvPr id="10" name="Text 8"/>
          <p:cNvSpPr/>
          <p:nvPr/>
        </p:nvSpPr>
        <p:spPr>
          <a:xfrm>
            <a:off x="6629929" y="1854138"/>
            <a:ext cx="4891749" cy="642541"/>
          </a:xfrm>
          <a:prstGeom prst="rect">
            <a:avLst/>
          </a:prstGeom>
          <a:noFill/>
          <a:ln/>
        </p:spPr>
        <p:txBody>
          <a:bodyPr wrap="square" lIns="0" tIns="0" rIns="0" bIns="0" rtlCol="0" anchor="t">
            <a:normAutofit/>
          </a:bodyPr>
          <a:lstStyle/>
          <a:p>
            <a:pPr algn="l" indent="0" marL="0">
              <a:lnSpc>
                <a:spcPts val="2430"/>
              </a:lnSpc>
              <a:buNone/>
            </a:pPr>
            <a:r>
              <a:rPr lang="en-US" sz="1800" b="1" dirty="0">
                <a:solidFill>
                  <a:srgbClr val="1B2A41"/>
                </a:solidFill>
                <a:latin typeface="Rubik" pitchFamily="34" charset="0"/>
                <a:ea typeface="Rubik" pitchFamily="34" charset="-122"/>
                <a:cs typeface="Rubik" pitchFamily="34" charset="-120"/>
              </a:rPr>
              <a:t>Each number is the sum of the two before it.</a:t>
            </a:r>
            <a:endParaRPr lang="en-US" sz="1800" dirty="0"/>
          </a:p>
        </p:txBody>
      </p:sp>
      <p:sp>
        <p:nvSpPr>
          <p:cNvPr id="11" name="Shape 9"/>
          <p:cNvSpPr/>
          <p:nvPr/>
        </p:nvSpPr>
        <p:spPr>
          <a:xfrm>
            <a:off x="6636279" y="2604629"/>
            <a:ext cx="4736571" cy="909307"/>
          </a:xfrm>
          <a:prstGeom prst="roundRect">
            <a:avLst>
              <a:gd name="adj" fmla="val 10475"/>
            </a:avLst>
          </a:prstGeom>
          <a:solidFill>
            <a:srgbClr val="FFFDF8"/>
          </a:solidFill>
          <a:ln w="12700">
            <a:solidFill>
              <a:srgbClr val="E2DED3"/>
            </a:solidFill>
            <a:prstDash val="solid"/>
          </a:ln>
        </p:spPr>
      </p:sp>
      <p:sp>
        <p:nvSpPr>
          <p:cNvPr id="12" name="Text 10"/>
          <p:cNvSpPr/>
          <p:nvPr/>
        </p:nvSpPr>
        <p:spPr>
          <a:xfrm>
            <a:off x="6845829" y="2763379"/>
            <a:ext cx="4446995"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How a and b move</a:t>
            </a:r>
            <a:endParaRPr lang="en-US" sz="1800" dirty="0"/>
          </a:p>
        </p:txBody>
      </p:sp>
      <p:sp>
        <p:nvSpPr>
          <p:cNvPr id="13" name="Text 11"/>
          <p:cNvSpPr/>
          <p:nvPr/>
        </p:nvSpPr>
        <p:spPr>
          <a:xfrm>
            <a:off x="6845829" y="3088481"/>
            <a:ext cx="4446995"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0, 1 → 1, 1 → 1, 2 → 2, 3 → 3, 5 → …</a:t>
            </a:r>
            <a:endParaRPr lang="en-US" sz="1500" dirty="0"/>
          </a:p>
        </p:txBody>
      </p:sp>
      <p:sp>
        <p:nvSpPr>
          <p:cNvPr id="14" name="Shape 12"/>
          <p:cNvSpPr/>
          <p:nvPr/>
        </p:nvSpPr>
        <p:spPr>
          <a:xfrm>
            <a:off x="6629929" y="3647281"/>
            <a:ext cx="4749271" cy="787400"/>
          </a:xfrm>
          <a:prstGeom prst="roundRect">
            <a:avLst>
              <a:gd name="adj" fmla="val 11290"/>
            </a:avLst>
          </a:prstGeom>
          <a:solidFill>
            <a:srgbClr val="FBEFD5"/>
          </a:solidFill>
          <a:ln/>
        </p:spPr>
      </p:sp>
      <p:pic>
        <p:nvPicPr>
          <p:cNvPr id="15" name="Image 0" descr="Lightbulb">    </p:cNvPr>
          <p:cNvPicPr>
            <a:picLocks noChangeAspect="1"/>
          </p:cNvPicPr>
          <p:nvPr/>
        </p:nvPicPr>
        <p:blipFill>
          <a:blip r:embed="rId1"/>
          <a:srcRect l="0" r="0" t="-47" b="-47"/>
          <a:stretch/>
        </p:blipFill>
        <p:spPr>
          <a:xfrm>
            <a:off x="6807729" y="3888581"/>
            <a:ext cx="209352" cy="304800"/>
          </a:xfrm>
          <a:prstGeom prst="rect">
            <a:avLst/>
          </a:prstGeom>
        </p:spPr>
      </p:pic>
      <p:sp>
        <p:nvSpPr>
          <p:cNvPr id="16" name="Text 13"/>
          <p:cNvSpPr/>
          <p:nvPr/>
        </p:nvSpPr>
        <p:spPr>
          <a:xfrm>
            <a:off x="7144081" y="3774281"/>
            <a:ext cx="4179039"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2A64A3"/>
                </a:solidFill>
                <a:latin typeface="Rubik" pitchFamily="34" charset="0"/>
                <a:ea typeface="Rubik" pitchFamily="34" charset="-122"/>
                <a:cs typeface="Rubik" pitchFamily="34" charset="-120"/>
              </a:rPr>
              <a:t>a, b = b, a + b</a:t>
            </a:r>
            <a:r>
              <a:rPr lang="en-US" sz="1500" dirty="0">
                <a:solidFill>
                  <a:srgbClr val="1B2A41"/>
                </a:solidFill>
                <a:latin typeface="Rubik" pitchFamily="34" charset="0"/>
                <a:ea typeface="Rubik" pitchFamily="34" charset="-122"/>
                <a:cs typeface="Rubik" pitchFamily="34" charset="-120"/>
              </a:rPr>
              <a:t> updates both at once, like the swap trick from Week 1.</a:t>
            </a:r>
            <a:endParaRPr lang="en-US" sz="1500" dirty="0"/>
          </a:p>
        </p:txBody>
      </p:sp>
      <p:sp>
        <p:nvSpPr>
          <p:cNvPr id="17" name="Text 1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Rubik" pitchFamily="34" charset="0"/>
                <a:ea typeface="Rubik" pitchFamily="34" charset="-122"/>
                <a:cs typeface="Rubik" pitchFamily="34" charset="-120"/>
              </a:rPr>
              <a:t>Python Programming · Week 2 · Class 6</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E6EE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CLASS 6 · PRACTICE</a:t>
            </a:r>
            <a:endParaRPr lang="en-US" sz="1200" dirty="0"/>
          </a:p>
        </p:txBody>
      </p:sp>
      <p:sp>
        <p:nvSpPr>
          <p:cNvPr id="3" name="Text 1"/>
          <p:cNvSpPr/>
          <p:nvPr>
            <p:ph type="title"/>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41"/>
                </a:solidFill>
                <a:latin typeface="Rubik" pitchFamily="34" charset="0"/>
                <a:ea typeface="Rubik" pitchFamily="34" charset="-122"/>
                <a:cs typeface="Rubik" pitchFamily="34" charset="-120"/>
              </a:rPr>
              <a:t>Your turn: four programs</a:t>
            </a:r>
            <a:endParaRPr lang="en-US" sz="3200" dirty="0"/>
          </a:p>
        </p:txBody>
      </p:sp>
      <p:sp>
        <p:nvSpPr>
          <p:cNvPr id="4" name="Shape 2"/>
          <p:cNvSpPr/>
          <p:nvPr/>
        </p:nvSpPr>
        <p:spPr>
          <a:xfrm>
            <a:off x="819150" y="1809688"/>
            <a:ext cx="2476500" cy="1986227"/>
          </a:xfrm>
          <a:prstGeom prst="roundRect">
            <a:avLst>
              <a:gd name="adj" fmla="val 6074"/>
            </a:avLst>
          </a:prstGeom>
          <a:solidFill>
            <a:srgbClr val="FBFCFE"/>
          </a:solidFill>
          <a:ln w="12700">
            <a:solidFill>
              <a:srgbClr val="C9D7E8"/>
            </a:solidFill>
            <a:prstDash val="solid"/>
          </a:ln>
        </p:spPr>
      </p:sp>
      <p:sp>
        <p:nvSpPr>
          <p:cNvPr id="5" name="Text 3"/>
          <p:cNvSpPr/>
          <p:nvPr/>
        </p:nvSpPr>
        <p:spPr>
          <a:xfrm>
            <a:off x="1028700" y="2019238"/>
            <a:ext cx="681897" cy="289520"/>
          </a:xfrm>
          <a:custGeom>
            <a:avLst/>
            <a:gdLst/>
            <a:ahLst/>
            <a:cxnLst/>
            <a:rect l="l" t="t" r="r" b="b"/>
            <a:pathLst>
              <a:path w="681897" h="289520">
                <a:moveTo>
                  <a:pt x="144760" y="0"/>
                </a:moveTo>
                <a:lnTo>
                  <a:pt x="537137" y="0"/>
                </a:lnTo>
                <a:arcTo hR="144760" wR="144760" stAng="16200000" swAng="5400000"/>
                <a:lnTo>
                  <a:pt x="681897" y="144760"/>
                </a:lnTo>
                <a:arcTo hR="144760" wR="144760" stAng="0" swAng="5400000"/>
                <a:lnTo>
                  <a:pt x="144760" y="289520"/>
                </a:lnTo>
                <a:arcTo hR="144760" wR="144760" stAng="5400000" swAng="5400000"/>
                <a:lnTo>
                  <a:pt x="0" y="144760"/>
                </a:lnTo>
                <a:arcTo hR="144760" wR="144760" stAng="10800000" swAng="5400000"/>
                <a:close/>
              </a:path>
            </a:pathLst>
          </a:custGeom>
          <a:solidFill>
            <a:srgbClr val="F2B33D"/>
          </a:solidFill>
          <a:ln/>
        </p:spPr>
        <p:txBody>
          <a:bodyPr wrap="none" lIns="0" tIns="0" rIns="0" bIns="0" rtlCol="0" anchor="ctr">
            <a:normAutofit/>
          </a:bodyPr>
          <a:lstStyle/>
          <a:p>
            <a:pPr algn="ctr" indent="0" marL="0">
              <a:lnSpc>
                <a:spcPts val="1680"/>
              </a:lnSpc>
              <a:buNone/>
            </a:pPr>
            <a:r>
              <a:rPr lang="en-US" sz="1200" b="1" dirty="0">
                <a:solidFill>
                  <a:srgbClr val="1B2A41"/>
                </a:solidFill>
                <a:latin typeface="Rubik" pitchFamily="34" charset="0"/>
                <a:ea typeface="Rubik" pitchFamily="34" charset="-122"/>
                <a:cs typeface="Rubik" pitchFamily="34" charset="-120"/>
              </a:rPr>
              <a:t>Task 1</a:t>
            </a:r>
            <a:endParaRPr lang="en-US" sz="1200" dirty="0"/>
          </a:p>
        </p:txBody>
      </p:sp>
      <p:sp>
        <p:nvSpPr>
          <p:cNvPr id="6" name="Text 4"/>
          <p:cNvSpPr/>
          <p:nvPr/>
        </p:nvSpPr>
        <p:spPr>
          <a:xfrm>
            <a:off x="1028700" y="2410358"/>
            <a:ext cx="2119122"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Square</a:t>
            </a:r>
            <a:endParaRPr lang="en-US" sz="1800" dirty="0"/>
          </a:p>
        </p:txBody>
      </p:sp>
      <p:sp>
        <p:nvSpPr>
          <p:cNvPr id="7" name="Text 5"/>
          <p:cNvSpPr/>
          <p:nvPr/>
        </p:nvSpPr>
        <p:spPr>
          <a:xfrm>
            <a:off x="1028700" y="2786261"/>
            <a:ext cx="211912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Read n and print an n by n square of stars.</a:t>
            </a:r>
            <a:endParaRPr lang="en-US" sz="1500" dirty="0"/>
          </a:p>
        </p:txBody>
      </p:sp>
      <p:sp>
        <p:nvSpPr>
          <p:cNvPr id="8" name="Shape 6"/>
          <p:cNvSpPr/>
          <p:nvPr/>
        </p:nvSpPr>
        <p:spPr>
          <a:xfrm>
            <a:off x="3511550" y="1809688"/>
            <a:ext cx="2476500" cy="1986227"/>
          </a:xfrm>
          <a:prstGeom prst="roundRect">
            <a:avLst>
              <a:gd name="adj" fmla="val 6074"/>
            </a:avLst>
          </a:prstGeom>
          <a:solidFill>
            <a:srgbClr val="FBFCFE"/>
          </a:solidFill>
          <a:ln w="12700">
            <a:solidFill>
              <a:srgbClr val="C9D7E8"/>
            </a:solidFill>
            <a:prstDash val="solid"/>
          </a:ln>
        </p:spPr>
      </p:sp>
      <p:sp>
        <p:nvSpPr>
          <p:cNvPr id="9" name="Text 7"/>
          <p:cNvSpPr/>
          <p:nvPr/>
        </p:nvSpPr>
        <p:spPr>
          <a:xfrm>
            <a:off x="3721100" y="2019238"/>
            <a:ext cx="705181" cy="289520"/>
          </a:xfrm>
          <a:custGeom>
            <a:avLst/>
            <a:gdLst/>
            <a:ahLst/>
            <a:cxnLst/>
            <a:rect l="l" t="t" r="r" b="b"/>
            <a:pathLst>
              <a:path w="705181" h="289520">
                <a:moveTo>
                  <a:pt x="144760" y="0"/>
                </a:moveTo>
                <a:lnTo>
                  <a:pt x="560421" y="0"/>
                </a:lnTo>
                <a:arcTo hR="144760" wR="144760" stAng="16200000" swAng="5400000"/>
                <a:lnTo>
                  <a:pt x="705181" y="144760"/>
                </a:lnTo>
                <a:arcTo hR="144760" wR="144760" stAng="0" swAng="5400000"/>
                <a:lnTo>
                  <a:pt x="144760" y="289520"/>
                </a:lnTo>
                <a:arcTo hR="144760" wR="144760" stAng="5400000" swAng="5400000"/>
                <a:lnTo>
                  <a:pt x="0" y="144760"/>
                </a:lnTo>
                <a:arcTo hR="144760" wR="144760" stAng="10800000" swAng="5400000"/>
                <a:close/>
              </a:path>
            </a:pathLst>
          </a:custGeom>
          <a:solidFill>
            <a:srgbClr val="F2B33D"/>
          </a:solidFill>
          <a:ln/>
        </p:spPr>
        <p:txBody>
          <a:bodyPr wrap="none" lIns="0" tIns="0" rIns="0" bIns="0" rtlCol="0" anchor="ctr">
            <a:normAutofit/>
          </a:bodyPr>
          <a:lstStyle/>
          <a:p>
            <a:pPr algn="ctr" indent="0" marL="0">
              <a:lnSpc>
                <a:spcPts val="1680"/>
              </a:lnSpc>
              <a:buNone/>
            </a:pPr>
            <a:r>
              <a:rPr lang="en-US" sz="1200" b="1" dirty="0">
                <a:solidFill>
                  <a:srgbClr val="1B2A41"/>
                </a:solidFill>
                <a:latin typeface="Rubik" pitchFamily="34" charset="0"/>
                <a:ea typeface="Rubik" pitchFamily="34" charset="-122"/>
                <a:cs typeface="Rubik" pitchFamily="34" charset="-120"/>
              </a:rPr>
              <a:t>Task 2</a:t>
            </a:r>
            <a:endParaRPr lang="en-US" sz="1200" dirty="0"/>
          </a:p>
        </p:txBody>
      </p:sp>
      <p:sp>
        <p:nvSpPr>
          <p:cNvPr id="10" name="Text 8"/>
          <p:cNvSpPr/>
          <p:nvPr/>
        </p:nvSpPr>
        <p:spPr>
          <a:xfrm>
            <a:off x="3721100" y="2410358"/>
            <a:ext cx="2119122"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Repeat rows</a:t>
            </a:r>
            <a:endParaRPr lang="en-US" sz="1800" dirty="0"/>
          </a:p>
        </p:txBody>
      </p:sp>
      <p:sp>
        <p:nvSpPr>
          <p:cNvPr id="11" name="Text 9"/>
          <p:cNvSpPr/>
          <p:nvPr/>
        </p:nvSpPr>
        <p:spPr>
          <a:xfrm>
            <a:off x="3721100" y="2786261"/>
            <a:ext cx="2119122"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Print 1 / 2 2 / 3 3 3 / 4 4 4 4 using nested loops.</a:t>
            </a:r>
            <a:endParaRPr lang="en-US" sz="1500" dirty="0"/>
          </a:p>
        </p:txBody>
      </p:sp>
      <p:sp>
        <p:nvSpPr>
          <p:cNvPr id="12" name="Shape 10"/>
          <p:cNvSpPr/>
          <p:nvPr/>
        </p:nvSpPr>
        <p:spPr>
          <a:xfrm>
            <a:off x="6203950" y="1809688"/>
            <a:ext cx="2476500" cy="1986227"/>
          </a:xfrm>
          <a:prstGeom prst="roundRect">
            <a:avLst>
              <a:gd name="adj" fmla="val 6074"/>
            </a:avLst>
          </a:prstGeom>
          <a:solidFill>
            <a:srgbClr val="FBFCFE"/>
          </a:solidFill>
          <a:ln w="12700">
            <a:solidFill>
              <a:srgbClr val="C9D7E8"/>
            </a:solidFill>
            <a:prstDash val="solid"/>
          </a:ln>
        </p:spPr>
      </p:sp>
      <p:sp>
        <p:nvSpPr>
          <p:cNvPr id="13" name="Text 11"/>
          <p:cNvSpPr/>
          <p:nvPr/>
        </p:nvSpPr>
        <p:spPr>
          <a:xfrm>
            <a:off x="6413500" y="2019238"/>
            <a:ext cx="706570" cy="289520"/>
          </a:xfrm>
          <a:custGeom>
            <a:avLst/>
            <a:gdLst/>
            <a:ahLst/>
            <a:cxnLst/>
            <a:rect l="l" t="t" r="r" b="b"/>
            <a:pathLst>
              <a:path w="706570" h="289520">
                <a:moveTo>
                  <a:pt x="144760" y="0"/>
                </a:moveTo>
                <a:lnTo>
                  <a:pt x="561810" y="0"/>
                </a:lnTo>
                <a:arcTo hR="144760" wR="144760" stAng="16200000" swAng="5400000"/>
                <a:lnTo>
                  <a:pt x="706570" y="144760"/>
                </a:lnTo>
                <a:arcTo hR="144760" wR="144760" stAng="0" swAng="5400000"/>
                <a:lnTo>
                  <a:pt x="144760" y="289520"/>
                </a:lnTo>
                <a:arcTo hR="144760" wR="144760" stAng="5400000" swAng="5400000"/>
                <a:lnTo>
                  <a:pt x="0" y="144760"/>
                </a:lnTo>
                <a:arcTo hR="144760" wR="144760" stAng="10800000" swAng="5400000"/>
                <a:close/>
              </a:path>
            </a:pathLst>
          </a:custGeom>
          <a:solidFill>
            <a:srgbClr val="F2B33D"/>
          </a:solidFill>
          <a:ln/>
        </p:spPr>
        <p:txBody>
          <a:bodyPr wrap="none" lIns="0" tIns="0" rIns="0" bIns="0" rtlCol="0" anchor="ctr">
            <a:normAutofit/>
          </a:bodyPr>
          <a:lstStyle/>
          <a:p>
            <a:pPr algn="ctr" indent="0" marL="0">
              <a:lnSpc>
                <a:spcPts val="1680"/>
              </a:lnSpc>
              <a:buNone/>
            </a:pPr>
            <a:r>
              <a:rPr lang="en-US" sz="1200" b="1" dirty="0">
                <a:solidFill>
                  <a:srgbClr val="1B2A41"/>
                </a:solidFill>
                <a:latin typeface="Rubik" pitchFamily="34" charset="0"/>
                <a:ea typeface="Rubik" pitchFamily="34" charset="-122"/>
                <a:cs typeface="Rubik" pitchFamily="34" charset="-120"/>
              </a:rPr>
              <a:t>Task 3</a:t>
            </a:r>
            <a:endParaRPr lang="en-US" sz="1200" dirty="0"/>
          </a:p>
        </p:txBody>
      </p:sp>
      <p:sp>
        <p:nvSpPr>
          <p:cNvPr id="14" name="Text 12"/>
          <p:cNvSpPr/>
          <p:nvPr/>
        </p:nvSpPr>
        <p:spPr>
          <a:xfrm>
            <a:off x="6413500" y="2410358"/>
            <a:ext cx="2119122"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Primes to 50</a:t>
            </a:r>
            <a:endParaRPr lang="en-US" sz="1800" dirty="0"/>
          </a:p>
        </p:txBody>
      </p:sp>
      <p:sp>
        <p:nvSpPr>
          <p:cNvPr id="15" name="Text 13"/>
          <p:cNvSpPr/>
          <p:nvPr/>
        </p:nvSpPr>
        <p:spPr>
          <a:xfrm>
            <a:off x="6413500" y="2786261"/>
            <a:ext cx="2119122"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Print every prime number from 2 to 50 on one line.</a:t>
            </a:r>
            <a:endParaRPr lang="en-US" sz="1500" dirty="0"/>
          </a:p>
        </p:txBody>
      </p:sp>
      <p:sp>
        <p:nvSpPr>
          <p:cNvPr id="16" name="Shape 14"/>
          <p:cNvSpPr/>
          <p:nvPr/>
        </p:nvSpPr>
        <p:spPr>
          <a:xfrm>
            <a:off x="8896350" y="1809688"/>
            <a:ext cx="2476500" cy="1986227"/>
          </a:xfrm>
          <a:prstGeom prst="roundRect">
            <a:avLst>
              <a:gd name="adj" fmla="val 6074"/>
            </a:avLst>
          </a:prstGeom>
          <a:solidFill>
            <a:srgbClr val="FBFCFE"/>
          </a:solidFill>
          <a:ln w="12700">
            <a:solidFill>
              <a:srgbClr val="C9D7E8"/>
            </a:solidFill>
            <a:prstDash val="solid"/>
          </a:ln>
        </p:spPr>
      </p:sp>
      <p:sp>
        <p:nvSpPr>
          <p:cNvPr id="17" name="Text 15"/>
          <p:cNvSpPr/>
          <p:nvPr/>
        </p:nvSpPr>
        <p:spPr>
          <a:xfrm>
            <a:off x="9105900" y="2019238"/>
            <a:ext cx="710076" cy="289520"/>
          </a:xfrm>
          <a:custGeom>
            <a:avLst/>
            <a:gdLst/>
            <a:ahLst/>
            <a:cxnLst/>
            <a:rect l="l" t="t" r="r" b="b"/>
            <a:pathLst>
              <a:path w="710076" h="289520">
                <a:moveTo>
                  <a:pt x="144760" y="0"/>
                </a:moveTo>
                <a:lnTo>
                  <a:pt x="565315" y="0"/>
                </a:lnTo>
                <a:arcTo hR="144760" wR="144760" stAng="16200000" swAng="5400000"/>
                <a:lnTo>
                  <a:pt x="710076" y="144760"/>
                </a:lnTo>
                <a:arcTo hR="144760" wR="144760" stAng="0" swAng="5400000"/>
                <a:lnTo>
                  <a:pt x="144760" y="289520"/>
                </a:lnTo>
                <a:arcTo hR="144760" wR="144760" stAng="5400000" swAng="5400000"/>
                <a:lnTo>
                  <a:pt x="0" y="144760"/>
                </a:lnTo>
                <a:arcTo hR="144760" wR="144760" stAng="10800000" swAng="5400000"/>
                <a:close/>
              </a:path>
            </a:pathLst>
          </a:custGeom>
          <a:solidFill>
            <a:srgbClr val="F2B33D"/>
          </a:solidFill>
          <a:ln/>
        </p:spPr>
        <p:txBody>
          <a:bodyPr wrap="none" lIns="0" tIns="0" rIns="0" bIns="0" rtlCol="0" anchor="ctr">
            <a:normAutofit/>
          </a:bodyPr>
          <a:lstStyle/>
          <a:p>
            <a:pPr algn="ctr" indent="0" marL="0">
              <a:lnSpc>
                <a:spcPts val="1680"/>
              </a:lnSpc>
              <a:buNone/>
            </a:pPr>
            <a:r>
              <a:rPr lang="en-US" sz="1200" b="1" dirty="0">
                <a:solidFill>
                  <a:srgbClr val="1B2A41"/>
                </a:solidFill>
                <a:latin typeface="Rubik" pitchFamily="34" charset="0"/>
                <a:ea typeface="Rubik" pitchFamily="34" charset="-122"/>
                <a:cs typeface="Rubik" pitchFamily="34" charset="-120"/>
              </a:rPr>
              <a:t>Task 4</a:t>
            </a:r>
            <a:endParaRPr lang="en-US" sz="1200" dirty="0"/>
          </a:p>
        </p:txBody>
      </p:sp>
      <p:sp>
        <p:nvSpPr>
          <p:cNvPr id="18" name="Text 16"/>
          <p:cNvSpPr/>
          <p:nvPr/>
        </p:nvSpPr>
        <p:spPr>
          <a:xfrm>
            <a:off x="9105900" y="2410358"/>
            <a:ext cx="2119122"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Perfect number</a:t>
            </a:r>
            <a:endParaRPr lang="en-US" sz="1800" dirty="0"/>
          </a:p>
        </p:txBody>
      </p:sp>
      <p:sp>
        <p:nvSpPr>
          <p:cNvPr id="19" name="Text 17"/>
          <p:cNvSpPr/>
          <p:nvPr/>
        </p:nvSpPr>
        <p:spPr>
          <a:xfrm>
            <a:off x="9105900" y="2786261"/>
            <a:ext cx="2119122"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6 = 1 + 2 + 3 is perfect. Check any n. Test: 28 yes, 12 no</a:t>
            </a:r>
            <a:endParaRPr lang="en-US" sz="1500" dirty="0"/>
          </a:p>
        </p:txBody>
      </p:sp>
      <p:sp>
        <p:nvSpPr>
          <p:cNvPr id="20" name="Shape 18"/>
          <p:cNvSpPr/>
          <p:nvPr/>
        </p:nvSpPr>
        <p:spPr>
          <a:xfrm>
            <a:off x="812800" y="4056261"/>
            <a:ext cx="10566400" cy="622300"/>
          </a:xfrm>
          <a:prstGeom prst="roundRect">
            <a:avLst>
              <a:gd name="adj" fmla="val 20408"/>
            </a:avLst>
          </a:prstGeom>
          <a:solidFill>
            <a:srgbClr val="1B2A41"/>
          </a:solidFill>
          <a:ln/>
        </p:spPr>
      </p:sp>
      <p:sp>
        <p:nvSpPr>
          <p:cNvPr id="21" name="Text 19"/>
          <p:cNvSpPr/>
          <p:nvPr/>
        </p:nvSpPr>
        <p:spPr>
          <a:xfrm>
            <a:off x="1066800" y="4260726"/>
            <a:ext cx="1215694"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B33D"/>
                </a:solidFill>
                <a:latin typeface="Rubik" pitchFamily="34" charset="0"/>
                <a:ea typeface="Rubik" pitchFamily="34" charset="-122"/>
                <a:cs typeface="Rubik" pitchFamily="34" charset="-120"/>
              </a:rPr>
              <a:t>HOMEWORK</a:t>
            </a:r>
            <a:endParaRPr lang="en-US" sz="1200" dirty="0"/>
          </a:p>
        </p:txBody>
      </p:sp>
      <p:sp>
        <p:nvSpPr>
          <p:cNvPr id="22" name="Text 20"/>
          <p:cNvSpPr/>
          <p:nvPr/>
        </p:nvSpPr>
        <p:spPr>
          <a:xfrm>
            <a:off x="2282494" y="4234061"/>
            <a:ext cx="7767876"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7F5EF"/>
                </a:solidFill>
                <a:latin typeface="Rubik" pitchFamily="34" charset="0"/>
                <a:ea typeface="Rubik" pitchFamily="34" charset="-122"/>
                <a:cs typeface="Rubik" pitchFamily="34" charset="-120"/>
              </a:rPr>
              <a:t>Read on W3Schools: </a:t>
            </a:r>
            <a:r>
              <a:rPr lang="en-US" sz="1500" u="sng" dirty="0">
                <a:solidFill>
                  <a:srgbClr val="F2B33D"/>
                </a:solidFill>
                <a:latin typeface="Rubik" pitchFamily="34" charset="0"/>
                <a:ea typeface="Rubik" pitchFamily="34" charset="-122"/>
                <a:cs typeface="Rubik" pitchFamily="34" charset="-120"/>
                <a:hlinkClick r:id="rId1" invalidUrl="" action="" tgtFrame="" tooltip="" history="1" highlightClick="0" endSnd="0">
                  <a:extLst>
                    <a:ext uri="{A12FA001-AC4F-418D-AE19-62706E023703}">
                      <ahyp:hlinkClr xmlns:ahyp="http://schemas.microsoft.com/office/drawing/2018/hyperlinkcolor" val="tx"/>
                    </a:ext>
                  </a:extLst>
                </a:hlinkClick>
              </a:rPr>
              <a:t>For Loops</a:t>
            </a:r>
            <a:r>
              <a:rPr lang="en-US" sz="1500" dirty="0">
                <a:solidFill>
                  <a:srgbClr val="F7F5EF"/>
                </a:solidFill>
                <a:latin typeface="Rubik" pitchFamily="34" charset="0"/>
                <a:ea typeface="Rubik" pitchFamily="34" charset="-122"/>
                <a:cs typeface="Rubik" pitchFamily="34" charset="-120"/>
              </a:rPr>
              <a:t> · and draw then code the diamond pattern</a:t>
            </a:r>
            <a:endParaRPr lang="en-US" sz="1500" dirty="0"/>
          </a:p>
        </p:txBody>
      </p:sp>
      <p:sp>
        <p:nvSpPr>
          <p:cNvPr id="23" name="Text 2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Rubik" pitchFamily="34" charset="0"/>
                <a:ea typeface="Rubik" pitchFamily="34" charset="-122"/>
                <a:cs typeface="Rubik" pitchFamily="34" charset="-120"/>
              </a:rPr>
              <a:t>Python Programming · Week 2 · Class 6</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B2A4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B33D"/>
                </a:solidFill>
                <a:latin typeface="Rubik" pitchFamily="34" charset="0"/>
                <a:ea typeface="Rubik" pitchFamily="34" charset="-122"/>
                <a:cs typeface="Rubik" pitchFamily="34" charset="-120"/>
              </a:rPr>
              <a:t>WEEK 2 RECAP</a:t>
            </a:r>
            <a:endParaRPr lang="en-US" sz="1200" dirty="0"/>
          </a:p>
        </p:txBody>
      </p:sp>
      <p:sp>
        <p:nvSpPr>
          <p:cNvPr id="3" name="Text 1"/>
          <p:cNvSpPr/>
          <p:nvPr>
            <p:ph type="title"/>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7F5EF"/>
                </a:solidFill>
                <a:latin typeface="Rubik" pitchFamily="34" charset="0"/>
                <a:ea typeface="Rubik" pitchFamily="34" charset="-122"/>
                <a:cs typeface="Rubik" pitchFamily="34" charset="-120"/>
              </a:rPr>
              <a:t>What you can do now</a:t>
            </a:r>
            <a:endParaRPr lang="en-US" sz="3200" dirty="0"/>
          </a:p>
        </p:txBody>
      </p:sp>
      <p:sp>
        <p:nvSpPr>
          <p:cNvPr id="4" name="Shape 2"/>
          <p:cNvSpPr/>
          <p:nvPr/>
        </p:nvSpPr>
        <p:spPr>
          <a:xfrm>
            <a:off x="812800" y="1854138"/>
            <a:ext cx="2527300" cy="1549400"/>
          </a:xfrm>
          <a:prstGeom prst="roundRect">
            <a:avLst>
              <a:gd name="adj" fmla="val 8197"/>
            </a:avLst>
          </a:prstGeom>
          <a:solidFill>
            <a:srgbClr val="24364F"/>
          </a:solidFill>
          <a:ln/>
        </p:spPr>
      </p:sp>
      <p:sp>
        <p:nvSpPr>
          <p:cNvPr id="5" name="Text 3"/>
          <p:cNvSpPr/>
          <p:nvPr/>
        </p:nvSpPr>
        <p:spPr>
          <a:xfrm>
            <a:off x="1016000" y="2057338"/>
            <a:ext cx="2184527"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2B33D"/>
                </a:solidFill>
                <a:latin typeface="JetBrains Mono" pitchFamily="49" charset="0"/>
                <a:ea typeface="JetBrains Mono" pitchFamily="49" charset="-122"/>
                <a:cs typeface="JetBrains Mono" pitchFamily="49" charset="-120"/>
              </a:rPr>
              <a:t>if / elif / else</a:t>
            </a:r>
            <a:endParaRPr lang="en-US" sz="1500" dirty="0"/>
          </a:p>
        </p:txBody>
      </p:sp>
      <p:sp>
        <p:nvSpPr>
          <p:cNvPr id="6" name="Text 4"/>
          <p:cNvSpPr/>
          <p:nvPr/>
        </p:nvSpPr>
        <p:spPr>
          <a:xfrm>
            <a:off x="1016000" y="2400238"/>
            <a:ext cx="2184527"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8EDF3"/>
                </a:solidFill>
                <a:latin typeface="Rubik" pitchFamily="34" charset="0"/>
                <a:ea typeface="Rubik" pitchFamily="34" charset="-122"/>
                <a:cs typeface="Rubik" pitchFamily="34" charset="-120"/>
              </a:rPr>
              <a:t>Choose one path out of many</a:t>
            </a:r>
            <a:endParaRPr lang="en-US" sz="1500" dirty="0"/>
          </a:p>
        </p:txBody>
      </p:sp>
      <p:sp>
        <p:nvSpPr>
          <p:cNvPr id="7" name="Shape 5"/>
          <p:cNvSpPr/>
          <p:nvPr/>
        </p:nvSpPr>
        <p:spPr>
          <a:xfrm>
            <a:off x="3492500" y="1854138"/>
            <a:ext cx="2527300" cy="1549400"/>
          </a:xfrm>
          <a:prstGeom prst="roundRect">
            <a:avLst>
              <a:gd name="adj" fmla="val 8197"/>
            </a:avLst>
          </a:prstGeom>
          <a:solidFill>
            <a:srgbClr val="24364F"/>
          </a:solidFill>
          <a:ln/>
        </p:spPr>
      </p:sp>
      <p:sp>
        <p:nvSpPr>
          <p:cNvPr id="8" name="Text 6"/>
          <p:cNvSpPr/>
          <p:nvPr/>
        </p:nvSpPr>
        <p:spPr>
          <a:xfrm>
            <a:off x="3695700" y="2057338"/>
            <a:ext cx="2184527"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2B33D"/>
                </a:solidFill>
                <a:latin typeface="JetBrains Mono" pitchFamily="49" charset="0"/>
                <a:ea typeface="JetBrains Mono" pitchFamily="49" charset="-122"/>
                <a:cs typeface="JetBrains Mono" pitchFamily="49" charset="-120"/>
              </a:rPr>
              <a:t>while cond:</a:t>
            </a:r>
            <a:endParaRPr lang="en-US" sz="1500" dirty="0"/>
          </a:p>
        </p:txBody>
      </p:sp>
      <p:sp>
        <p:nvSpPr>
          <p:cNvPr id="9" name="Text 7"/>
          <p:cNvSpPr/>
          <p:nvPr/>
        </p:nvSpPr>
        <p:spPr>
          <a:xfrm>
            <a:off x="3695700" y="2400238"/>
            <a:ext cx="2184527"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8EDF3"/>
                </a:solidFill>
                <a:latin typeface="Rubik" pitchFamily="34" charset="0"/>
                <a:ea typeface="Rubik" pitchFamily="34" charset="-122"/>
                <a:cs typeface="Rubik" pitchFamily="34" charset="-120"/>
              </a:rPr>
              <a:t>Repeat until the condition becomes False</a:t>
            </a:r>
            <a:endParaRPr lang="en-US" sz="1500" dirty="0"/>
          </a:p>
        </p:txBody>
      </p:sp>
      <p:sp>
        <p:nvSpPr>
          <p:cNvPr id="10" name="Shape 8"/>
          <p:cNvSpPr/>
          <p:nvPr/>
        </p:nvSpPr>
        <p:spPr>
          <a:xfrm>
            <a:off x="6172200" y="1854138"/>
            <a:ext cx="2527300" cy="1549400"/>
          </a:xfrm>
          <a:prstGeom prst="roundRect">
            <a:avLst>
              <a:gd name="adj" fmla="val 8197"/>
            </a:avLst>
          </a:prstGeom>
          <a:solidFill>
            <a:srgbClr val="24364F"/>
          </a:solidFill>
          <a:ln/>
        </p:spPr>
      </p:sp>
      <p:sp>
        <p:nvSpPr>
          <p:cNvPr id="11" name="Text 9"/>
          <p:cNvSpPr/>
          <p:nvPr/>
        </p:nvSpPr>
        <p:spPr>
          <a:xfrm>
            <a:off x="6375400" y="2057338"/>
            <a:ext cx="2184527"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2B33D"/>
                </a:solidFill>
                <a:latin typeface="JetBrains Mono" pitchFamily="49" charset="0"/>
                <a:ea typeface="JetBrains Mono" pitchFamily="49" charset="-122"/>
                <a:cs typeface="JetBrains Mono" pitchFamily="49" charset="-120"/>
              </a:rPr>
              <a:t>for i in range()</a:t>
            </a:r>
            <a:endParaRPr lang="en-US" sz="1500" dirty="0"/>
          </a:p>
        </p:txBody>
      </p:sp>
      <p:sp>
        <p:nvSpPr>
          <p:cNvPr id="12" name="Text 10"/>
          <p:cNvSpPr/>
          <p:nvPr/>
        </p:nvSpPr>
        <p:spPr>
          <a:xfrm>
            <a:off x="6375400" y="2400238"/>
            <a:ext cx="2184527"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8EDF3"/>
                </a:solidFill>
                <a:latin typeface="Rubik" pitchFamily="34" charset="0"/>
                <a:ea typeface="Rubik" pitchFamily="34" charset="-122"/>
                <a:cs typeface="Rubik" pitchFamily="34" charset="-120"/>
              </a:rPr>
              <a:t>Repeat a fixed number of times</a:t>
            </a:r>
            <a:endParaRPr lang="en-US" sz="1500" dirty="0"/>
          </a:p>
        </p:txBody>
      </p:sp>
      <p:sp>
        <p:nvSpPr>
          <p:cNvPr id="13" name="Shape 11"/>
          <p:cNvSpPr/>
          <p:nvPr/>
        </p:nvSpPr>
        <p:spPr>
          <a:xfrm>
            <a:off x="8851900" y="1854138"/>
            <a:ext cx="2527300" cy="1549400"/>
          </a:xfrm>
          <a:prstGeom prst="roundRect">
            <a:avLst>
              <a:gd name="adj" fmla="val 8197"/>
            </a:avLst>
          </a:prstGeom>
          <a:solidFill>
            <a:srgbClr val="24364F"/>
          </a:solidFill>
          <a:ln/>
        </p:spPr>
      </p:sp>
      <p:sp>
        <p:nvSpPr>
          <p:cNvPr id="14" name="Text 12"/>
          <p:cNvSpPr/>
          <p:nvPr/>
        </p:nvSpPr>
        <p:spPr>
          <a:xfrm>
            <a:off x="9055100" y="2057338"/>
            <a:ext cx="2184527"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2B33D"/>
                </a:solidFill>
                <a:latin typeface="JetBrains Mono" pitchFamily="49" charset="0"/>
                <a:ea typeface="JetBrains Mono" pitchFamily="49" charset="-122"/>
                <a:cs typeface="JetBrains Mono" pitchFamily="49" charset="-120"/>
              </a:rPr>
              <a:t>break continue</a:t>
            </a:r>
            <a:endParaRPr lang="en-US" sz="1500" dirty="0"/>
          </a:p>
        </p:txBody>
      </p:sp>
      <p:sp>
        <p:nvSpPr>
          <p:cNvPr id="15" name="Text 13"/>
          <p:cNvSpPr/>
          <p:nvPr/>
        </p:nvSpPr>
        <p:spPr>
          <a:xfrm>
            <a:off x="9055100" y="2400238"/>
            <a:ext cx="2184527"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8EDF3"/>
                </a:solidFill>
                <a:latin typeface="Rubik" pitchFamily="34" charset="0"/>
                <a:ea typeface="Rubik" pitchFamily="34" charset="-122"/>
                <a:cs typeface="Rubik" pitchFamily="34" charset="-120"/>
              </a:rPr>
              <a:t>Stop the loop, or skip one round</a:t>
            </a:r>
            <a:endParaRPr lang="en-US" sz="1500" dirty="0"/>
          </a:p>
        </p:txBody>
      </p:sp>
      <p:sp>
        <p:nvSpPr>
          <p:cNvPr id="16" name="Shape 14"/>
          <p:cNvSpPr/>
          <p:nvPr/>
        </p:nvSpPr>
        <p:spPr>
          <a:xfrm>
            <a:off x="812800" y="3708338"/>
            <a:ext cx="10566400" cy="967647"/>
          </a:xfrm>
          <a:prstGeom prst="roundRect">
            <a:avLst>
              <a:gd name="adj" fmla="val 13125"/>
            </a:avLst>
          </a:prstGeom>
          <a:solidFill>
            <a:srgbClr val="F2B33D"/>
          </a:solidFill>
          <a:ln/>
        </p:spPr>
      </p:sp>
      <p:sp>
        <p:nvSpPr>
          <p:cNvPr id="17" name="Text 15"/>
          <p:cNvSpPr/>
          <p:nvPr/>
        </p:nvSpPr>
        <p:spPr>
          <a:xfrm>
            <a:off x="1066800" y="3911538"/>
            <a:ext cx="1036015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B2A41"/>
                </a:solidFill>
                <a:latin typeface="Rubik" pitchFamily="34" charset="0"/>
                <a:ea typeface="Rubik" pitchFamily="34" charset="-122"/>
                <a:cs typeface="Rubik" pitchFamily="34" charset="-120"/>
              </a:rPr>
              <a:t>NEXT WEEK</a:t>
            </a:r>
            <a:endParaRPr lang="en-US" sz="1200" dirty="0"/>
          </a:p>
        </p:txBody>
      </p:sp>
      <p:sp>
        <p:nvSpPr>
          <p:cNvPr id="18" name="Text 16"/>
          <p:cNvSpPr/>
          <p:nvPr/>
        </p:nvSpPr>
        <p:spPr>
          <a:xfrm>
            <a:off x="1066800" y="4175658"/>
            <a:ext cx="10360152" cy="322527"/>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1B2A41"/>
                </a:solidFill>
                <a:latin typeface="Rubik" pitchFamily="34" charset="0"/>
                <a:ea typeface="Rubik" pitchFamily="34" charset="-122"/>
                <a:cs typeface="Rubik" pitchFamily="34" charset="-120"/>
              </a:rPr>
              <a:t>Strings and lists: working with text and collections of data</a:t>
            </a:r>
            <a:endParaRPr lang="en-US" sz="1800" dirty="0"/>
          </a:p>
        </p:txBody>
      </p:sp>
      <p:sp>
        <p:nvSpPr>
          <p:cNvPr id="19" name="Text 17"/>
          <p:cNvSpPr/>
          <p:nvPr/>
        </p:nvSpPr>
        <p:spPr>
          <a:xfrm>
            <a:off x="812800" y="4980781"/>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C9D4E2"/>
                </a:solidFill>
                <a:latin typeface="Rubik" pitchFamily="34" charset="0"/>
                <a:ea typeface="Rubik" pitchFamily="34" charset="-122"/>
                <a:cs typeface="Rubik" pitchFamily="34" charset="-120"/>
              </a:rPr>
              <a:t>Lab habit:</a:t>
            </a:r>
            <a:r>
              <a:rPr lang="en-US" sz="1500" dirty="0">
                <a:solidFill>
                  <a:srgbClr val="C9D4E2"/>
                </a:solidFill>
                <a:latin typeface="Rubik" pitchFamily="34" charset="0"/>
                <a:ea typeface="Rubik" pitchFamily="34" charset="-122"/>
                <a:cs typeface="Rubik" pitchFamily="34" charset="-120"/>
              </a:rPr>
              <a:t> trace every loop on paper with a small table before you run it.</a:t>
            </a:r>
            <a:endParaRPr lang="en-US" sz="1500" dirty="0"/>
          </a:p>
        </p:txBody>
      </p:sp>
      <p:sp>
        <p:nvSpPr>
          <p:cNvPr id="20" name="Text 1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0C6"/>
                </a:solidFill>
                <a:latin typeface="Rubik" pitchFamily="34" charset="0"/>
                <a:ea typeface="Rubik" pitchFamily="34" charset="-122"/>
                <a:cs typeface="Rubik" pitchFamily="34" charset="-120"/>
              </a:rPr>
              <a:t>Python Programming · Week 2</a:t>
            </a:r>
            <a:endParaRPr lang="en-US" sz="1200" dirty="0"/>
          </a:p>
        </p:txBody>
      </p:sp>
    </p:spTree>
  </p:cSld>
  <p:clrMapOvr>
    <a:masterClrMapping/>
  </p:clrMapOvr>
</p:sld>
</file>

<file path=ppt/theme/theme1.xml><?xml version="1.0" encoding="utf-8"?>
<a:theme xmlns:a="http://schemas.openxmlformats.org/drawingml/2006/main" name="Python Week 2 – Decisions &amp; Loops">
  <a:themeElements>
    <a:clrScheme name="Python Week 2 – Decisions &amp; Loops">
      <a:dk1>
        <a:srgbClr val="1B2A41"/>
      </a:dk1>
      <a:lt1>
        <a:srgbClr val="F7F5EF"/>
      </a:lt1>
      <a:dk2>
        <a:srgbClr val="525D6D"/>
      </a:dk2>
      <a:lt2>
        <a:srgbClr val="E1E1DE"/>
      </a:lt2>
      <a:accent1>
        <a:srgbClr val="2A64A3"/>
      </a:accent1>
      <a:accent2>
        <a:srgbClr val="F2B33D"/>
      </a:accent2>
      <a:accent3>
        <a:srgbClr val="8FA3B8"/>
      </a:accent3>
      <a:accent4>
        <a:srgbClr val="8A5A00"/>
      </a:accent4>
      <a:accent5>
        <a:srgbClr val="B54708"/>
      </a:accent5>
      <a:accent6>
        <a:srgbClr val="9FB0C6"/>
      </a:accent6>
      <a:hlink>
        <a:srgbClr val="0563C1"/>
      </a:hlink>
      <a:folHlink>
        <a:srgbClr val="954F72"/>
      </a:folHlink>
    </a:clrScheme>
    <a:fontScheme name="Python Week 2 – Decisions &amp; Loops">
      <a:majorFont>
        <a:latin typeface="Rubi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Rubik"/>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Python Week 2 – Decisions &amp; Loops</dc:title>
  <dc:subject/>
  <dc:creator/>
  <cp:lastModifiedBy/>
  <cp:revision>1</cp:revision>
  <dcterms:created xsi:type="dcterms:W3CDTF">2026-10-06T16:44:28Z</dcterms:created>
  <dcterms:modified xsi:type="dcterms:W3CDTF">2026-10-06T16:44:28Z</dcterms:modified>
</cp:coreProperties>
</file>