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slide. Introduce yourself and the course: 8 weeks, 24 classes, about 1 hour each. Week 1 covers three classes: (1) what programming is and your first program, (2) variables, data types and input, (3) operators. Tell the student that every class ends with hands-on practice, so they should have a laptop (or at least a phone with Pydroid 3) ready from Class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about 5 minutes here. Show the whole journey so the student knows where each topic fits. Phase 1 builds logic (the base for every lab program). Phase 2 is about storing data. Phase 3 is about organising code and saving data to files. Phase 4 is object-oriented programming plus exam and viva preparation. Ask: "Have you coded before, in C, Scratch or a school computer class?" Adjust the pace to the answer. Point out the rhythm every class follows: learn the idea, see the code, try it yourself, recap.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1 opener. Read the four goals aloud and tell the student: "By the end of this hour you will have written and run your first Python program." Suggested timing: concepts 20 min, setup 15 min, first program and rules 15 min, practice 10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recipe analogy before showing any code. Ask: "What happens if I swap steps 1 and 3?" (You cook dry noodles: the order matters.) "What if I just write 'make Maggi'?" (A computer would not understand: every step must be spelled out.) Key message: computers are fast but literal. A program is a recipe the computer follows exactly. Bugs come from unclear or wrong steps, not from the computer "thinking wrongly".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first-year students also meet C in their course, so this comparison helps. Point at the C version: header file, main function, semicolons, return value. All of that is needed just to print one line. Python needs one line. Do not teach C here; just show that Python lets you focus on the logic instead of the punctuation. Mention real-world use: Instagram's backend, Netflix's data tools and NASA's scientific scripts all use Python, and almost every AI/ML library is written for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favourite: "Is Python compiled or interpreted?" Simple answer for a first-year: Python is an interpreted language. The interpreter executes code line by line, so an error on line 5 means lines 1 to 4 already ran. (Advanced note, only if asked: Python first converts code to bytecode, then the Python Virtual Machine runs it.) Compare with C: a compiler translates the whole program first, then you run it. Analogy: compiler = translating a whole book before publishing; interpreter = a live translator at a press conference.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the installation live, together. The most common Windows problem: forgetting to tick "Add python.exe to PATH". If python --version says "not recognized", re-run the installer, choose Modify, and enable the PATH option (or try "py --version"). IDLE comes with Python and is perfect for beginners. VS Code with the Python extension is better for longer programs. If the laptop is not ready, use W3Schools Try it Yourself or Google Colab for today and install later. A phone is fine for practice but not for the full course.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this program live, line by line, and run it after each line so the student sees the effect. Ask the student to predict line 4 first: will it print "10 + 5" or 15? (15, because there are no quotes, so Python calculates.) Then ask: what would print("10 + 5") show? (The text 10 + 5.) Show one more trick verbally: print("Hi", end=" ") keeps the next print on the same line. Vocabulary to introduce: function (print), string (text in quotes), argument (what goes inside the brackets).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errors on purpose, live, and read the messages together. This removes the fear of red text. Rule 1: Python is case-sensitive, so Print is an unknown name (NameError). Rule 2: a string must open and close with the same quote type (SyntaxError). Rule 3: spaces at the start of a line have meaning in Python; we will use them for if and loops next week. For now, never indent without a reason (IndentationError). Rule 4: comments start with # and are notes for humans. Viva question: "What is a comment and why do we use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student work alone first; help only after 3 to 4 minutes. Answers. Task 1: three print() lines. Task 2: print("*"), print("* *"), print("* * *"). Bonus: print("*\n* *\n* * *") in one line using \n (new line). Task 3: Print must be lowercase print, and the closing quote is missing: print("Hello World"). Homework: read the four W3Schools pages and use the "Try it Yourself" button on each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warm-up (3 minutes): ask the student to write, from memory, a program that prints their name and 2 + 2. Then introduce today's problem: "How does a program remember things, like your marks, to use later?" That is what variables are for.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three boxes on paper or the whiteboard if possible. Key points: (1) A variable is a name that points to a value. (2) The = sign is assignment: the right side is worked out first, then stored in the name on the left. So age = age + 1 makes sense in Python even though it is "wrong" in maths. (3) Putting a new value in the box replaces the old one. Ask: after age = 19, what does print(age) show? (19, the 18 is gone.) Common mistake: writing 18 = age (the name must be on the left).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rules to remember: (1) only letters, digits and underscore; (2) cannot start with a digit; (3) cannot be a keyword. Show the keyword list live: import keyword, then print(keyword.kwlist). There are about 35 keywords, such as if, else, for, while, class, def, True, False, None. Viva question: "Is Python case-sensitive?" Yes: Marks and marks are two different variables. Encourage snake_case (words joined with underscores); it is the Python style convention (PEP 8).</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real-life examples so the four types stick. Quick quiz: what type is each of these? 25 (int), 25.0 (float), "25" (str, because of the quotes), True (bool). Point out that True and False start with a capital letter; true without a capital is a NameError. You do not have to declare types in Python (unlike C's int x;). Python decides the type from the value. This is called dynamic typing, and it is a common viva question.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greet.py live and let the student type the answers. Stress point 3: input() ALWAYS returns a string. This single fact causes most beginner bugs, which is exactly what the next slide is about. Tip: put a space at the end of the prompt ("Enter your name: ") so the typed text does not stick to the colon. Ask the student to change the program to also ask for their branch and print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error first and let the student read it. "concatenate" means joining strings together: Python sees "18" + 1 and cannot join text with a number. Fix: wrap input() in int() for whole numbers or float() for decimals. Read int(input("Age: ")) from the inside out: input() runs first and gives "18", then int() turns it into 18. Extra demos: int("abc") gives ValueError; int("8.5") also gives ValueError (use float first). Viva question: "What is type casting?" Converting a value from one type to another.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Task 1: name = input("Name: "); college = input("College: "); print("Welcome", name, "to", college + "!"). Task 2: a = int(input("First: ")); b = int(input("Second: ")); print("Sum =", a + b). If the student forgets int(), 5 and 3 give 53: a perfect teaching moment. Task 3: class 'float' (the / operator always gives a float), 55 (joining two strings), 10. Output-prediction questions like Task 3 are very common in university exams and quizzes, so do one or two every class.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Warm-up: ask the student to write a program that reads two numbers and prints their sum (last class's Task 2) in under 2 minutes. Today we turn Python into a calculator and learn how it decides whether something is True or False. That is the base for if/else next week.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Python shell (IDLE) and type each example; the shell prints the result instantly, so it works like a calculator. Spend most time on / versus //: 17 / 5 is 3.4 (true division, always a float), 17 // 5 is 3 (floor division: how many whole times 5 fits into 17). Note: in C, 17/5 gives 3, but in Python it gives 3.4. Also: ^ is NOT power in Python (it is bitwise XOR, so 2 ^ 10 gives 8). Exam trick question: what is -17 // 5? Answer -4, because floor always rounds down towards minus infinity.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makes // and % click. Act it out: 47 rasagolas, boxes of 6. Fill 7 boxes (42 rasagolas) and 5 are left. That is exactly 47 // 6 and 47 % 6. The % operator appears again and again in lab programs: even/odd, divisibility (n % 3 == 0), leap year, extracting the last digit of a number (n % 10), and digit-sum or reverse-number programs next week. Quick check: what is 1234 % 10? (4, the last digit.) And 1234 // 10? (123, the last digit removed.)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comparison produces a bool (True or False): this is how programs make decisions, which is next week's topic. Walk through the example: attendance 80 is at least 75, so True. With and, both parts must be True, but marks 35 is below 40, so False. With or, one True part is enough, so True. The most common beginner bug: writing if x = 5 instead of if x == 5. One = stores, two == compare. Quick quiz: what is not (5 &gt; 3)? (False.) What is 10 != 10? (False.)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already know BODMAS from school maths, so connect to it. Cover the answers on the right with your hand (or ask the student to look away) and let them predict each result first. 10 - 4 / 2 gives 8.0, not 8: the division happens first and / always makes a float. Golden advice: when in doubt, add brackets. They make code easier to read and remove any doubt. Exam trick (only if the student is quick): 2 ** 3 ** 2 is 512, because power is worked out right to left. Shortcuts: x += 1 is used constantly in loops next week.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"old way" first: print(name, "scored", pct, "%") gives "Priyanka scored 87.4 %" with an extra space, and long decimals can look messy. Then show the f-string version. Analogy: an f-string is like a form with blanks ("Name: ____, Marks: ____") that Python fills in for you. Try variations live: {pct:.1f} gives 87.4, {pct:.0f} gives 87, and {marks + 10} works too, since any expression can go inside the braces. From now on, use f-strings for all output in lab programs; it looks professional.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typical first lab program. Build it step by step with the student: first the three inputs, then the formula, then the output. Explain the IPO model: Input (read p, r, t), Process (si = p * r * t / 100), Output (print the results). Ask the student to label each line of the program as I, P or O. Why float() and not int()? Because the rate can be 7.5. Extension challenge: change it to compound interest: amount = p * (1 + r / 100) ** t. For 50000 at 7.5% for 2 years, the amount is Rs. 57781.25.</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two tasks in class and give the other two as homework. Answers. Task 1: r = float(input("Radius: ")); print(f"Area = {3.14159 * r * r:.2f}"); print(f"Circumference = {2 * 3.14159 * r:.2f}"). Task 2: c = float(input()); f = c * 9 / 5 + 32. Task 3: also show the classic way with a third variable: temp = a; a = b; b = temp. Examiners often ask for both. Task 4: h = s // 3600; rest = s % 3600; m = rest // 60; sec = rest % 60. Ask the student to save all programs in a week-1 folder: they are the start of a lab record.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Five-minute oral quiz to close the week (good viva practice): 1. Is Python compiled or interpreted? 2. What does input() always return? 3. What is the difference between / and //? 4. What does 17 % 5 give? 5. What is the difference between = and ==? 6. Name the four basic data types. 7. Is Python case-sensitive? Check the homework folder at the start of next week.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w3schools.com/python/python_intro.asp" TargetMode="External"/><Relationship Id="rId3" Type="http://schemas.openxmlformats.org/officeDocument/2006/relationships/hyperlink" Target="https://www.w3schools.com/python/python_getstarted.asp" TargetMode="External"/><Relationship Id="rId4" Type="http://schemas.openxmlformats.org/officeDocument/2006/relationships/hyperlink" Target="https://www.w3schools.com/python/python_syntax.asp" TargetMode="External"/><Relationship Id="rId5" Type="http://schemas.openxmlformats.org/officeDocument/2006/relationships/hyperlink" Target="https://www.w3schools.com/python/python_comments.asp" TargetMode="Externa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w3schools.com/python/python_variables.asp" TargetMode="External"/><Relationship Id="rId3" Type="http://schemas.openxmlformats.org/officeDocument/2006/relationships/hyperlink" Target="https://www.w3schools.com/python/python_datatypes.asp" TargetMode="External"/><Relationship Id="rId4" Type="http://schemas.openxmlformats.org/officeDocument/2006/relationships/hyperlink" Target="https://www.w3schools.com/python/python_casting.asp" TargetMode="External"/><Relationship Id="rId5" Type="http://schemas.openxmlformats.org/officeDocument/2006/relationships/hyperlink" Target="https://www.w3schools.com/python/python_user_input.asp" TargetMode="Externa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w3schools.com/python/python_operators.asp" TargetMode="External"/><Relationship Id="rId3" Type="http://schemas.openxmlformats.org/officeDocument/2006/relationships/hyperlink" Target="https://www.w3schools.com/python/python_string_formatting.asp" TargetMode="Externa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3" name="TextBox 2"/>
          <p:cNvSpPr txBox="1"/>
          <p:nvPr/>
        </p:nvSpPr>
        <p:spPr>
          <a:xfrm>
            <a:off x="7978140" y="812800"/>
            <a:ext cx="3401060" cy="1270000"/>
          </a:xfrm>
          <a:prstGeom prst="rect">
            <a:avLst/>
          </a:prstGeom>
          <a:noFill/>
        </p:spPr>
        <p:txBody>
          <a:bodyPr wrap="square" lIns="0" rIns="0" tIns="0" bIns="0" anchor="t">
            <a:normAutofit/>
          </a:bodyPr>
          <a:lstStyle/>
          <a:p>
            <a:pPr algn="r" marL="0" indent="0">
              <a:lnSpc>
                <a:spcPts val="10000"/>
              </a:lnSpc>
              <a:buNone/>
            </a:pPr>
            <a:r>
              <a:rPr sz="10000" b="1" i="0">
                <a:solidFill>
                  <a:srgbClr val="2A3D5A"/>
                </a:solidFill>
                <a:latin typeface="JetBrains Mono"/>
                <a:ea typeface="JetBrains Mono"/>
                <a:cs typeface="JetBrains Mono"/>
              </a:rPr>
              <a:t>&gt;&gt;&gt;</a:t>
            </a:r>
          </a:p>
        </p:txBody>
      </p:sp>
      <p:sp>
        <p:nvSpPr>
          <p:cNvPr id="4" name="TextBox 3"/>
          <p:cNvSpPr txBox="1"/>
          <p:nvPr/>
        </p:nvSpPr>
        <p:spPr>
          <a:xfrm>
            <a:off x="812800" y="2032000"/>
            <a:ext cx="10883392" cy="213320"/>
          </a:xfrm>
          <a:prstGeom prst="rect">
            <a:avLst/>
          </a:prstGeom>
          <a:noFill/>
        </p:spPr>
        <p:txBody>
          <a:bodyPr wrap="square" lIns="0" rIns="0" tIns="0" bIns="0" anchor="t">
            <a:normAutofit/>
          </a:bodyPr>
          <a:lstStyle/>
          <a:p>
            <a:pPr algn="l" marL="0" indent="0">
              <a:lnSpc>
                <a:spcPts val="1680"/>
              </a:lnSpc>
              <a:buNone/>
            </a:pPr>
            <a:r>
              <a:rPr sz="1200" b="1" i="0" spc="200">
                <a:solidFill>
                  <a:srgbClr val="F2B33D"/>
                </a:solidFill>
                <a:latin typeface="Rubik"/>
                <a:ea typeface="Rubik"/>
                <a:cs typeface="Rubik"/>
              </a:rPr>
              <a:t>WEEK 1 · CLASSES 1–3</a:t>
            </a:r>
          </a:p>
        </p:txBody>
      </p:sp>
      <p:sp>
        <p:nvSpPr>
          <p:cNvPr id="2" name="Title 1"/>
          <p:cNvSpPr>
            <a:spLocks noGrp="1"/>
          </p:cNvSpPr>
          <p:nvPr>
            <p:ph type="title"/>
          </p:nvPr>
        </p:nvSpPr>
        <p:spPr>
          <a:xfrm>
            <a:off x="812800" y="2473920"/>
            <a:ext cx="10883392" cy="1600200"/>
          </a:xfrm>
        </p:spPr>
        <p:txBody>
          <a:bodyPr wrap="square" lIns="0" rIns="0" tIns="0" bIns="0" anchor="t">
            <a:normAutofit/>
          </a:bodyPr>
          <a:lstStyle/>
          <a:p>
            <a:pPr algn="l" marL="0" indent="0">
              <a:lnSpc>
                <a:spcPts val="6300"/>
              </a:lnSpc>
              <a:buNone/>
            </a:pPr>
            <a:r>
              <a:rPr sz="6000" b="1" i="0">
                <a:solidFill>
                  <a:srgbClr val="F7F5EF"/>
                </a:solidFill>
                <a:latin typeface="Rubik"/>
                <a:ea typeface="Rubik"/>
                <a:cs typeface="Rubik"/>
              </a:rPr>
              <a:t>Getting started</a:t>
            </a:r>
          </a:p>
          <a:p>
            <a:pPr algn="l" marL="0" indent="0">
              <a:lnSpc>
                <a:spcPts val="6300"/>
              </a:lnSpc>
              <a:buNone/>
            </a:pPr>
            <a:r>
              <a:rPr sz="6000" b="1" i="0">
                <a:solidFill>
                  <a:srgbClr val="F7F5EF"/>
                </a:solidFill>
                <a:latin typeface="Rubik"/>
                <a:ea typeface="Rubik"/>
                <a:cs typeface="Rubik"/>
              </a:rPr>
              <a:t>with Python</a:t>
            </a:r>
          </a:p>
        </p:txBody>
      </p:sp>
      <p:sp>
        <p:nvSpPr>
          <p:cNvPr id="5" name="TextBox 4"/>
          <p:cNvSpPr txBox="1"/>
          <p:nvPr/>
        </p:nvSpPr>
        <p:spPr>
          <a:xfrm>
            <a:off x="812800" y="4302720"/>
            <a:ext cx="7848600" cy="319980"/>
          </a:xfrm>
          <a:prstGeom prst="rect">
            <a:avLst/>
          </a:prstGeom>
          <a:noFill/>
        </p:spPr>
        <p:txBody>
          <a:bodyPr wrap="square" lIns="0" rIns="0" tIns="0" bIns="0" anchor="t">
            <a:normAutofit/>
          </a:bodyPr>
          <a:lstStyle/>
          <a:p>
            <a:pPr algn="l" marL="0" indent="0">
              <a:lnSpc>
                <a:spcPts val="2520"/>
              </a:lnSpc>
              <a:buNone/>
            </a:pPr>
            <a:r>
              <a:rPr sz="1800" b="0" i="0">
                <a:solidFill>
                  <a:srgbClr val="C9D4E2"/>
                </a:solidFill>
                <a:latin typeface="Rubik"/>
                <a:ea typeface="Rubik"/>
                <a:cs typeface="Rubik"/>
              </a:rPr>
              <a:t>Your first programs, variables, keyboard input and operators</a:t>
            </a:r>
          </a:p>
        </p:txBody>
      </p:sp>
      <p:sp>
        <p:nvSpPr>
          <p:cNvPr id="6" name="TextBox 5"/>
          <p:cNvSpPr txBox="1"/>
          <p:nvPr/>
        </p:nvSpPr>
        <p:spPr>
          <a:xfrm>
            <a:off x="812800" y="6238280"/>
            <a:ext cx="10883392" cy="213320"/>
          </a:xfrm>
          <a:prstGeom prst="rect">
            <a:avLst/>
          </a:prstGeom>
          <a:noFill/>
        </p:spPr>
        <p:txBody>
          <a:bodyPr wrap="square" lIns="0" rIns="0" tIns="0" bIns="0" anchor="t">
            <a:normAutofit/>
          </a:bodyPr>
          <a:lstStyle/>
          <a:p>
            <a:pPr algn="l" marL="0" indent="0">
              <a:lnSpc>
                <a:spcPts val="1680"/>
              </a:lnSpc>
              <a:buNone/>
            </a:pPr>
            <a:r>
              <a:rPr sz="1200" b="0" i="0">
                <a:solidFill>
                  <a:srgbClr val="9FB0C6"/>
                </a:solidFill>
                <a:latin typeface="Rubik"/>
                <a:ea typeface="Rubik"/>
                <a:cs typeface="Rubik"/>
              </a:rPr>
              <a:t>Python Programming · B.Tech 1st Year · 8-week course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3" name="TextBox 2"/>
          <p:cNvSpPr txBox="1"/>
          <p:nvPr/>
        </p:nvSpPr>
        <p:spPr>
          <a:xfrm>
            <a:off x="812800" y="812800"/>
            <a:ext cx="10883392"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THE PLAN</a:t>
            </a:r>
          </a:p>
        </p:txBody>
      </p:sp>
      <p:sp>
        <p:nvSpPr>
          <p:cNvPr id="2" name="Title 1"/>
          <p:cNvSpPr>
            <a:spLocks noGrp="1"/>
          </p:cNvSpPr>
          <p:nvPr>
            <p:ph type="title"/>
          </p:nvPr>
        </p:nvSpPr>
        <p:spPr>
          <a:xfrm>
            <a:off x="812800" y="1102320"/>
            <a:ext cx="10883392" cy="446980"/>
          </a:xfrm>
        </p:spPr>
        <p:txBody>
          <a:bodyPr wrap="square" lIns="0" rIns="0" tIns="0" bIns="0" anchor="t">
            <a:normAutofit/>
          </a:bodyPr>
          <a:lstStyle/>
          <a:p>
            <a:pPr algn="l" marL="0" indent="0">
              <a:lnSpc>
                <a:spcPts val="3520"/>
              </a:lnSpc>
              <a:buNone/>
            </a:pPr>
            <a:r>
              <a:rPr sz="3200" b="1" i="0">
                <a:solidFill>
                  <a:srgbClr val="1B2A41"/>
                </a:solidFill>
                <a:latin typeface="Rubik"/>
                <a:ea typeface="Rubik"/>
                <a:cs typeface="Rubik"/>
              </a:rPr>
              <a:t>Your 8-week Python roadmap</a:t>
            </a:r>
          </a:p>
        </p:txBody>
      </p:sp>
      <p:sp>
        <p:nvSpPr>
          <p:cNvPr id="4" name="Rounded Rectangle 3"/>
          <p:cNvSpPr/>
          <p:nvPr/>
        </p:nvSpPr>
        <p:spPr>
          <a:xfrm>
            <a:off x="819150" y="1860451"/>
            <a:ext cx="2495550" cy="2808883"/>
          </a:xfrm>
          <a:prstGeom prst="roundRect">
            <a:avLst>
              <a:gd name="adj" fmla="val 5089"/>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54100" y="2095401"/>
            <a:ext cx="994668" cy="28952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8400" y="2133501"/>
            <a:ext cx="789050" cy="213320"/>
          </a:xfrm>
          <a:prstGeom prst="rect">
            <a:avLst/>
          </a:prstGeom>
          <a:noFill/>
        </p:spPr>
        <p:txBody>
          <a:bodyPr wrap="square" lIns="0" rIns="0" tIns="0" bIns="0" anchor="t">
            <a:normAutofit/>
          </a:bodyPr>
          <a:lstStyle/>
          <a:p>
            <a:pPr algn="l" marL="0" indent="0">
              <a:lnSpc>
                <a:spcPts val="1680"/>
              </a:lnSpc>
              <a:buNone/>
            </a:pPr>
            <a:r>
              <a:rPr sz="1200" b="1" i="0">
                <a:solidFill>
                  <a:srgbClr val="1B2A41"/>
                </a:solidFill>
                <a:latin typeface="Rubik"/>
                <a:ea typeface="Rubik"/>
                <a:cs typeface="Rubik"/>
              </a:rPr>
              <a:t>Weeks 1–2</a:t>
            </a:r>
          </a:p>
        </p:txBody>
      </p:sp>
      <p:sp>
        <p:nvSpPr>
          <p:cNvPr id="7" name="TextBox 6"/>
          <p:cNvSpPr txBox="1"/>
          <p:nvPr/>
        </p:nvSpPr>
        <p:spPr>
          <a:xfrm>
            <a:off x="1054100" y="2486521"/>
            <a:ext cx="2086420" cy="54848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Foundations &amp; logic</a:t>
            </a:r>
          </a:p>
        </p:txBody>
      </p:sp>
      <p:sp>
        <p:nvSpPr>
          <p:cNvPr id="8" name="TextBox 7"/>
          <p:cNvSpPr txBox="1"/>
          <p:nvPr/>
        </p:nvSpPr>
        <p:spPr>
          <a:xfrm>
            <a:off x="1054100" y="3136602"/>
            <a:ext cx="2086420" cy="8001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print, variables, operators, if/else, loops, patterns</a:t>
            </a:r>
          </a:p>
        </p:txBody>
      </p:sp>
      <p:sp>
        <p:nvSpPr>
          <p:cNvPr id="9" name="TextBox 8"/>
          <p:cNvSpPr txBox="1"/>
          <p:nvPr/>
        </p:nvSpPr>
        <p:spPr>
          <a:xfrm>
            <a:off x="1054100" y="4038302"/>
            <a:ext cx="2086420" cy="396081"/>
          </a:xfrm>
          <a:prstGeom prst="rect">
            <a:avLst/>
          </a:prstGeom>
          <a:noFill/>
        </p:spPr>
        <p:txBody>
          <a:bodyPr wrap="square" lIns="0" rIns="0" tIns="0" bIns="0" anchor="t">
            <a:normAutofit/>
          </a:bodyPr>
          <a:lstStyle/>
          <a:p>
            <a:pPr algn="l" marL="0" indent="0">
              <a:lnSpc>
                <a:spcPts val="1560"/>
              </a:lnSpc>
              <a:buNone/>
            </a:pPr>
            <a:r>
              <a:rPr sz="1200" b="1" i="0">
                <a:solidFill>
                  <a:srgbClr val="2A64A3"/>
                </a:solidFill>
                <a:latin typeface="Rubik"/>
                <a:ea typeface="Rubik"/>
                <a:cs typeface="Rubik"/>
              </a:rPr>
              <a:t>Goal: think like a programmer</a:t>
            </a:r>
          </a:p>
        </p:txBody>
      </p:sp>
      <p:sp>
        <p:nvSpPr>
          <p:cNvPr id="10" name="Rounded Rectangle 9"/>
          <p:cNvSpPr/>
          <p:nvPr/>
        </p:nvSpPr>
        <p:spPr>
          <a:xfrm>
            <a:off x="3505200" y="1860451"/>
            <a:ext cx="2495550" cy="2808883"/>
          </a:xfrm>
          <a:prstGeom prst="roundRect">
            <a:avLst>
              <a:gd name="adj" fmla="val 5089"/>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40150" y="2095401"/>
            <a:ext cx="1028303" cy="28952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54450" y="2133501"/>
            <a:ext cx="823694" cy="213320"/>
          </a:xfrm>
          <a:prstGeom prst="rect">
            <a:avLst/>
          </a:prstGeom>
          <a:noFill/>
        </p:spPr>
        <p:txBody>
          <a:bodyPr wrap="square" lIns="0" rIns="0" tIns="0" bIns="0" anchor="t">
            <a:normAutofit/>
          </a:bodyPr>
          <a:lstStyle/>
          <a:p>
            <a:pPr algn="l" marL="0" indent="0">
              <a:lnSpc>
                <a:spcPts val="1680"/>
              </a:lnSpc>
              <a:buNone/>
            </a:pPr>
            <a:r>
              <a:rPr sz="1200" b="1" i="0">
                <a:solidFill>
                  <a:srgbClr val="1B2A41"/>
                </a:solidFill>
                <a:latin typeface="Rubik"/>
                <a:ea typeface="Rubik"/>
                <a:cs typeface="Rubik"/>
              </a:rPr>
              <a:t>Weeks 3–4</a:t>
            </a:r>
          </a:p>
        </p:txBody>
      </p:sp>
      <p:sp>
        <p:nvSpPr>
          <p:cNvPr id="13" name="TextBox 12"/>
          <p:cNvSpPr txBox="1"/>
          <p:nvPr/>
        </p:nvSpPr>
        <p:spPr>
          <a:xfrm>
            <a:off x="3740150" y="2486521"/>
            <a:ext cx="2086420"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Data structures</a:t>
            </a:r>
          </a:p>
        </p:txBody>
      </p:sp>
      <p:sp>
        <p:nvSpPr>
          <p:cNvPr id="14" name="TextBox 13"/>
          <p:cNvSpPr txBox="1"/>
          <p:nvPr/>
        </p:nvSpPr>
        <p:spPr>
          <a:xfrm>
            <a:off x="3740150" y="2862362"/>
            <a:ext cx="2086420" cy="5334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strings, lists, tuples, sets, dictionaries</a:t>
            </a:r>
          </a:p>
        </p:txBody>
      </p:sp>
      <p:sp>
        <p:nvSpPr>
          <p:cNvPr id="15" name="TextBox 14"/>
          <p:cNvSpPr txBox="1"/>
          <p:nvPr/>
        </p:nvSpPr>
        <p:spPr>
          <a:xfrm>
            <a:off x="3740150" y="3497362"/>
            <a:ext cx="2086420" cy="396081"/>
          </a:xfrm>
          <a:prstGeom prst="rect">
            <a:avLst/>
          </a:prstGeom>
          <a:noFill/>
        </p:spPr>
        <p:txBody>
          <a:bodyPr wrap="square" lIns="0" rIns="0" tIns="0" bIns="0" anchor="t">
            <a:normAutofit/>
          </a:bodyPr>
          <a:lstStyle/>
          <a:p>
            <a:pPr algn="l" marL="0" indent="0">
              <a:lnSpc>
                <a:spcPts val="1560"/>
              </a:lnSpc>
              <a:buNone/>
            </a:pPr>
            <a:r>
              <a:rPr sz="1200" b="1" i="0">
                <a:solidFill>
                  <a:srgbClr val="2A64A3"/>
                </a:solidFill>
                <a:latin typeface="Rubik"/>
                <a:ea typeface="Rubik"/>
                <a:cs typeface="Rubik"/>
              </a:rPr>
              <a:t>Project: student record system</a:t>
            </a:r>
          </a:p>
        </p:txBody>
      </p:sp>
      <p:sp>
        <p:nvSpPr>
          <p:cNvPr id="16" name="Rounded Rectangle 15"/>
          <p:cNvSpPr/>
          <p:nvPr/>
        </p:nvSpPr>
        <p:spPr>
          <a:xfrm>
            <a:off x="6191250" y="1860451"/>
            <a:ext cx="2495550" cy="2808883"/>
          </a:xfrm>
          <a:prstGeom prst="roundRect">
            <a:avLst>
              <a:gd name="adj" fmla="val 5089"/>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26200" y="2095401"/>
            <a:ext cx="1021556" cy="28952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40500" y="2133501"/>
            <a:ext cx="816745" cy="213320"/>
          </a:xfrm>
          <a:prstGeom prst="rect">
            <a:avLst/>
          </a:prstGeom>
          <a:noFill/>
        </p:spPr>
        <p:txBody>
          <a:bodyPr wrap="square" lIns="0" rIns="0" tIns="0" bIns="0" anchor="t">
            <a:normAutofit/>
          </a:bodyPr>
          <a:lstStyle/>
          <a:p>
            <a:pPr algn="l" marL="0" indent="0">
              <a:lnSpc>
                <a:spcPts val="1680"/>
              </a:lnSpc>
              <a:buNone/>
            </a:pPr>
            <a:r>
              <a:rPr sz="1200" b="1" i="0">
                <a:solidFill>
                  <a:srgbClr val="1B2A41"/>
                </a:solidFill>
                <a:latin typeface="Rubik"/>
                <a:ea typeface="Rubik"/>
                <a:cs typeface="Rubik"/>
              </a:rPr>
              <a:t>Weeks 5–6</a:t>
            </a:r>
          </a:p>
        </p:txBody>
      </p:sp>
      <p:sp>
        <p:nvSpPr>
          <p:cNvPr id="19" name="TextBox 18"/>
          <p:cNvSpPr txBox="1"/>
          <p:nvPr/>
        </p:nvSpPr>
        <p:spPr>
          <a:xfrm>
            <a:off x="6426200" y="2486521"/>
            <a:ext cx="2086420"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Functions &amp; files</a:t>
            </a:r>
          </a:p>
        </p:txBody>
      </p:sp>
      <p:sp>
        <p:nvSpPr>
          <p:cNvPr id="20" name="TextBox 19"/>
          <p:cNvSpPr txBox="1"/>
          <p:nvPr/>
        </p:nvSpPr>
        <p:spPr>
          <a:xfrm>
            <a:off x="6426200" y="2862362"/>
            <a:ext cx="2086420" cy="5334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functions, recursion, modules, file handling</a:t>
            </a:r>
          </a:p>
        </p:txBody>
      </p:sp>
      <p:sp>
        <p:nvSpPr>
          <p:cNvPr id="21" name="TextBox 20"/>
          <p:cNvSpPr txBox="1"/>
          <p:nvPr/>
        </p:nvSpPr>
        <p:spPr>
          <a:xfrm>
            <a:off x="6426200" y="3497362"/>
            <a:ext cx="2086420" cy="198041"/>
          </a:xfrm>
          <a:prstGeom prst="rect">
            <a:avLst/>
          </a:prstGeom>
          <a:noFill/>
        </p:spPr>
        <p:txBody>
          <a:bodyPr wrap="square" lIns="0" rIns="0" tIns="0" bIns="0" anchor="t">
            <a:normAutofit/>
          </a:bodyPr>
          <a:lstStyle/>
          <a:p>
            <a:pPr algn="l" marL="0" indent="0">
              <a:lnSpc>
                <a:spcPts val="1560"/>
              </a:lnSpc>
              <a:buNone/>
            </a:pPr>
            <a:r>
              <a:rPr sz="1200" b="1" i="0">
                <a:solidFill>
                  <a:srgbClr val="2A64A3"/>
                </a:solidFill>
                <a:latin typeface="Rubik"/>
                <a:ea typeface="Rubik"/>
                <a:cs typeface="Rubik"/>
              </a:rPr>
              <a:t>Project: expense tracker</a:t>
            </a:r>
          </a:p>
        </p:txBody>
      </p:sp>
      <p:sp>
        <p:nvSpPr>
          <p:cNvPr id="22" name="Rounded Rectangle 21"/>
          <p:cNvSpPr/>
          <p:nvPr/>
        </p:nvSpPr>
        <p:spPr>
          <a:xfrm>
            <a:off x="8877300" y="1860451"/>
            <a:ext cx="2495550" cy="2808883"/>
          </a:xfrm>
          <a:prstGeom prst="roundRect">
            <a:avLst>
              <a:gd name="adj" fmla="val 5089"/>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112250" y="2095401"/>
            <a:ext cx="1010245" cy="28952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26550" y="2133501"/>
            <a:ext cx="805095" cy="213320"/>
          </a:xfrm>
          <a:prstGeom prst="rect">
            <a:avLst/>
          </a:prstGeom>
          <a:noFill/>
        </p:spPr>
        <p:txBody>
          <a:bodyPr wrap="square" lIns="0" rIns="0" tIns="0" bIns="0" anchor="t">
            <a:normAutofit/>
          </a:bodyPr>
          <a:lstStyle/>
          <a:p>
            <a:pPr algn="l" marL="0" indent="0">
              <a:lnSpc>
                <a:spcPts val="1680"/>
              </a:lnSpc>
              <a:buNone/>
            </a:pPr>
            <a:r>
              <a:rPr sz="1200" b="1" i="0">
                <a:solidFill>
                  <a:srgbClr val="1B2A41"/>
                </a:solidFill>
                <a:latin typeface="Rubik"/>
                <a:ea typeface="Rubik"/>
                <a:cs typeface="Rubik"/>
              </a:rPr>
              <a:t>Weeks 7–8</a:t>
            </a:r>
          </a:p>
        </p:txBody>
      </p:sp>
      <p:sp>
        <p:nvSpPr>
          <p:cNvPr id="25" name="TextBox 24"/>
          <p:cNvSpPr txBox="1"/>
          <p:nvPr/>
        </p:nvSpPr>
        <p:spPr>
          <a:xfrm>
            <a:off x="9112250" y="2486521"/>
            <a:ext cx="2086420"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OOP &amp; exam prep</a:t>
            </a:r>
          </a:p>
        </p:txBody>
      </p:sp>
      <p:sp>
        <p:nvSpPr>
          <p:cNvPr id="26" name="TextBox 25"/>
          <p:cNvSpPr txBox="1"/>
          <p:nvPr/>
        </p:nvSpPr>
        <p:spPr>
          <a:xfrm>
            <a:off x="9112250" y="2862362"/>
            <a:ext cx="2086420" cy="8001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errors, classes, inheritance, revision, viva</a:t>
            </a:r>
          </a:p>
        </p:txBody>
      </p:sp>
      <p:sp>
        <p:nvSpPr>
          <p:cNvPr id="27" name="TextBox 26"/>
          <p:cNvSpPr txBox="1"/>
          <p:nvPr/>
        </p:nvSpPr>
        <p:spPr>
          <a:xfrm>
            <a:off x="9112250" y="3764062"/>
            <a:ext cx="2086420" cy="396081"/>
          </a:xfrm>
          <a:prstGeom prst="rect">
            <a:avLst/>
          </a:prstGeom>
          <a:noFill/>
        </p:spPr>
        <p:txBody>
          <a:bodyPr wrap="square" lIns="0" rIns="0" tIns="0" bIns="0" anchor="t">
            <a:normAutofit/>
          </a:bodyPr>
          <a:lstStyle/>
          <a:p>
            <a:pPr algn="l" marL="0" indent="0">
              <a:lnSpc>
                <a:spcPts val="1560"/>
              </a:lnSpc>
              <a:buNone/>
            </a:pPr>
            <a:r>
              <a:rPr sz="1200" b="1" i="0">
                <a:solidFill>
                  <a:srgbClr val="2A64A3"/>
                </a:solidFill>
                <a:latin typeface="Rubik"/>
                <a:ea typeface="Rubik"/>
                <a:cs typeface="Rubik"/>
              </a:rPr>
              <a:t>Capstone: bank / ATM system</a:t>
            </a:r>
          </a:p>
        </p:txBody>
      </p:sp>
      <p:sp>
        <p:nvSpPr>
          <p:cNvPr id="28" name="TextBox 27"/>
          <p:cNvSpPr txBox="1"/>
          <p:nvPr/>
        </p:nvSpPr>
        <p:spPr>
          <a:xfrm>
            <a:off x="812800" y="5056684"/>
            <a:ext cx="1135799"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Rubik"/>
                <a:ea typeface="Rubik"/>
                <a:cs typeface="Rubik"/>
              </a:rPr>
              <a:t>Every class:</a:t>
            </a:r>
          </a:p>
        </p:txBody>
      </p:sp>
      <p:sp>
        <p:nvSpPr>
          <p:cNvPr id="29" name="Rounded Rectangle 28"/>
          <p:cNvSpPr/>
          <p:nvPr/>
        </p:nvSpPr>
        <p:spPr>
          <a:xfrm>
            <a:off x="2067917" y="4980484"/>
            <a:ext cx="942677" cy="419100"/>
          </a:xfrm>
          <a:prstGeom prst="roundRect">
            <a:avLst>
              <a:gd name="adj" fmla="val 50000"/>
            </a:avLst>
          </a:prstGeom>
          <a:solidFill>
            <a:srgbClr val="E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271117" y="5056684"/>
            <a:ext cx="552366"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Rubik"/>
                <a:ea typeface="Rubik"/>
                <a:cs typeface="Rubik"/>
              </a:rPr>
              <a:t>Learn</a:t>
            </a:r>
          </a:p>
        </p:txBody>
      </p:sp>
      <p:sp>
        <p:nvSpPr>
          <p:cNvPr id="31" name="Right Arrow 30"/>
          <p:cNvSpPr/>
          <p:nvPr/>
        </p:nvSpPr>
        <p:spPr>
          <a:xfrm>
            <a:off x="3162995" y="5113834"/>
            <a:ext cx="304800" cy="152400"/>
          </a:xfrm>
          <a:prstGeom prst="rightArrow">
            <a:avLst/>
          </a:prstGeom>
          <a:solidFill>
            <a:srgbClr val="2A64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620195" y="4980484"/>
            <a:ext cx="1607344" cy="419100"/>
          </a:xfrm>
          <a:prstGeom prst="roundRect">
            <a:avLst>
              <a:gd name="adj" fmla="val 50000"/>
            </a:avLst>
          </a:prstGeom>
          <a:solidFill>
            <a:srgbClr val="E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23395" y="5056684"/>
            <a:ext cx="1236972"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Rubik"/>
                <a:ea typeface="Rubik"/>
                <a:cs typeface="Rubik"/>
              </a:rPr>
              <a:t>See the code</a:t>
            </a:r>
          </a:p>
        </p:txBody>
      </p:sp>
      <p:sp>
        <p:nvSpPr>
          <p:cNvPr id="34" name="Right Arrow 33"/>
          <p:cNvSpPr/>
          <p:nvPr/>
        </p:nvSpPr>
        <p:spPr>
          <a:xfrm>
            <a:off x="5379938" y="5113834"/>
            <a:ext cx="304800" cy="152400"/>
          </a:xfrm>
          <a:prstGeom prst="rightArrow">
            <a:avLst/>
          </a:prstGeom>
          <a:solidFill>
            <a:srgbClr val="2A64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837138" y="4980484"/>
            <a:ext cx="881757" cy="419100"/>
          </a:xfrm>
          <a:prstGeom prst="roundRect">
            <a:avLst>
              <a:gd name="adj" fmla="val 50000"/>
            </a:avLst>
          </a:prstGeom>
          <a:solidFill>
            <a:srgbClr val="E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40338" y="5056684"/>
            <a:ext cx="489618"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Rubik"/>
                <a:ea typeface="Rubik"/>
                <a:cs typeface="Rubik"/>
              </a:rPr>
              <a:t>Try it</a:t>
            </a:r>
          </a:p>
        </p:txBody>
      </p:sp>
      <p:sp>
        <p:nvSpPr>
          <p:cNvPr id="37" name="Right Arrow 36"/>
          <p:cNvSpPr/>
          <p:nvPr/>
        </p:nvSpPr>
        <p:spPr>
          <a:xfrm>
            <a:off x="6871295" y="5113834"/>
            <a:ext cx="304800" cy="152400"/>
          </a:xfrm>
          <a:prstGeom prst="rightArrow">
            <a:avLst/>
          </a:prstGeom>
          <a:solidFill>
            <a:srgbClr val="2A64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328495" y="4980484"/>
            <a:ext cx="986036" cy="419100"/>
          </a:xfrm>
          <a:prstGeom prst="roundRect">
            <a:avLst>
              <a:gd name="adj" fmla="val 50000"/>
            </a:avLst>
          </a:prstGeom>
          <a:solidFill>
            <a:srgbClr val="E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531695" y="5056684"/>
            <a:ext cx="597025"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Rubik"/>
                <a:ea typeface="Rubik"/>
                <a:cs typeface="Rubik"/>
              </a:rPr>
              <a:t>Recap</a:t>
            </a:r>
          </a:p>
        </p:txBody>
      </p:sp>
      <p:sp>
        <p:nvSpPr>
          <p:cNvPr id="40" name="TextBox 39"/>
          <p:cNvSpPr txBox="1"/>
          <p:nvPr/>
        </p:nvSpPr>
        <p:spPr>
          <a:xfrm>
            <a:off x="812800" y="6238280"/>
            <a:ext cx="10883392" cy="213320"/>
          </a:xfrm>
          <a:prstGeom prst="rect">
            <a:avLst/>
          </a:prstGeom>
          <a:noFill/>
        </p:spPr>
        <p:txBody>
          <a:bodyPr wrap="square" lIns="0" rIns="0" tIns="0" bIns="0" anchor="t">
            <a:normAutofit/>
          </a:bodyPr>
          <a:lstStyle/>
          <a:p>
            <a:pPr algn="l" marL="0" indent="0">
              <a:lnSpc>
                <a:spcPts val="1680"/>
              </a:lnSpc>
              <a:buNone/>
            </a:pPr>
            <a:r>
              <a:rPr sz="1200" b="0" i="0">
                <a:solidFill>
                  <a:srgbClr val="5F6B7A"/>
                </a:solidFill>
                <a:latin typeface="Rubik"/>
                <a:ea typeface="Rubik"/>
                <a:cs typeface="Rubik"/>
              </a:rPr>
              <a:t>Python Programming · Week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B33D"/>
        </a:solidFill>
        <a:effectLst/>
      </p:bgPr>
    </p:bg>
    <p:spTree>
      <p:nvGrpSpPr>
        <p:cNvPr id="1" name=""/>
        <p:cNvGrpSpPr/>
        <p:nvPr/>
      </p:nvGrpSpPr>
      <p:grpSpPr/>
      <p:sp>
        <p:nvSpPr>
          <p:cNvPr id="3" name="TextBox 2"/>
          <p:cNvSpPr txBox="1"/>
          <p:nvPr/>
        </p:nvSpPr>
        <p:spPr>
          <a:xfrm>
            <a:off x="812800" y="2504480"/>
            <a:ext cx="5127752" cy="213320"/>
          </a:xfrm>
          <a:prstGeom prst="rect">
            <a:avLst/>
          </a:prstGeom>
          <a:noFill/>
        </p:spPr>
        <p:txBody>
          <a:bodyPr wrap="square" lIns="0" rIns="0" tIns="0" bIns="0" anchor="t">
            <a:normAutofit/>
          </a:bodyPr>
          <a:lstStyle/>
          <a:p>
            <a:pPr algn="l" marL="0" indent="0">
              <a:lnSpc>
                <a:spcPts val="1680"/>
              </a:lnSpc>
              <a:buNone/>
            </a:pPr>
            <a:r>
              <a:rPr sz="1200" b="1" i="0" spc="200">
                <a:solidFill>
                  <a:srgbClr val="1B2A41"/>
                </a:solidFill>
                <a:latin typeface="Rubik"/>
                <a:ea typeface="Rubik"/>
                <a:cs typeface="Rubik"/>
              </a:rPr>
              <a:t>CLASS 1 OF 24</a:t>
            </a:r>
          </a:p>
        </p:txBody>
      </p:sp>
      <p:sp>
        <p:nvSpPr>
          <p:cNvPr id="2" name="Title 1"/>
          <p:cNvSpPr>
            <a:spLocks noGrp="1"/>
          </p:cNvSpPr>
          <p:nvPr>
            <p:ph type="title"/>
          </p:nvPr>
        </p:nvSpPr>
        <p:spPr>
          <a:xfrm>
            <a:off x="812800" y="2895600"/>
            <a:ext cx="5127752" cy="640060"/>
          </a:xfrm>
        </p:spPr>
        <p:txBody>
          <a:bodyPr wrap="square" lIns="0" rIns="0" tIns="0" bIns="0" anchor="t">
            <a:normAutofit/>
          </a:bodyPr>
          <a:lstStyle/>
          <a:p>
            <a:pPr algn="l" marL="0" indent="0">
              <a:lnSpc>
                <a:spcPts val="5040"/>
              </a:lnSpc>
              <a:buNone/>
            </a:pPr>
            <a:r>
              <a:rPr sz="4800" b="1" i="0">
                <a:solidFill>
                  <a:srgbClr val="1B2A41"/>
                </a:solidFill>
                <a:latin typeface="Rubik"/>
                <a:ea typeface="Rubik"/>
                <a:cs typeface="Rubik"/>
              </a:rPr>
              <a:t>Hello, Python!</a:t>
            </a:r>
          </a:p>
        </p:txBody>
      </p:sp>
      <p:sp>
        <p:nvSpPr>
          <p:cNvPr id="4" name="TextBox 3"/>
          <p:cNvSpPr txBox="1"/>
          <p:nvPr/>
        </p:nvSpPr>
        <p:spPr>
          <a:xfrm>
            <a:off x="812800" y="3713460"/>
            <a:ext cx="5127752" cy="639961"/>
          </a:xfrm>
          <a:prstGeom prst="rect">
            <a:avLst/>
          </a:prstGeom>
          <a:noFill/>
        </p:spPr>
        <p:txBody>
          <a:bodyPr wrap="square" lIns="0" rIns="0" tIns="0" bIns="0" anchor="t">
            <a:normAutofit/>
          </a:bodyPr>
          <a:lstStyle/>
          <a:p>
            <a:pPr algn="l" marL="0" indent="0">
              <a:lnSpc>
                <a:spcPts val="2520"/>
              </a:lnSpc>
              <a:buNone/>
            </a:pPr>
            <a:r>
              <a:rPr sz="1800" b="0" i="0">
                <a:solidFill>
                  <a:srgbClr val="1B2A41"/>
                </a:solidFill>
                <a:latin typeface="Rubik"/>
                <a:ea typeface="Rubik"/>
                <a:cs typeface="Rubik"/>
              </a:rPr>
              <a:t>What programming is, setting up Python, and writing your very first program</a:t>
            </a:r>
          </a:p>
        </p:txBody>
      </p:sp>
      <p:sp>
        <p:nvSpPr>
          <p:cNvPr id="5" name="Rounded Rectangle 4"/>
          <p:cNvSpPr/>
          <p:nvPr/>
        </p:nvSpPr>
        <p:spPr>
          <a:xfrm>
            <a:off x="6400800" y="2250480"/>
            <a:ext cx="4978400" cy="2357041"/>
          </a:xfrm>
          <a:prstGeom prst="roundRect">
            <a:avLst>
              <a:gd name="adj" fmla="val 6465"/>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56400" y="2606080"/>
            <a:ext cx="4395216" cy="274241"/>
          </a:xfrm>
          <a:prstGeom prst="rect">
            <a:avLst/>
          </a:prstGeom>
          <a:noFill/>
        </p:spPr>
        <p:txBody>
          <a:bodyPr wrap="square" lIns="0" rIns="0" tIns="0" bIns="0" anchor="t">
            <a:normAutofit/>
          </a:bodyPr>
          <a:lstStyle/>
          <a:p>
            <a:pPr algn="l" marL="0" indent="0">
              <a:lnSpc>
                <a:spcPts val="2160"/>
              </a:lnSpc>
              <a:buNone/>
            </a:pPr>
            <a:r>
              <a:rPr sz="1800" b="1" i="0">
                <a:solidFill>
                  <a:srgbClr val="F2B33D"/>
                </a:solidFill>
                <a:latin typeface="Rubik"/>
                <a:ea typeface="Rubik"/>
                <a:cs typeface="Rubik"/>
              </a:rPr>
              <a:t>By the end of today you can</a:t>
            </a:r>
          </a:p>
        </p:txBody>
      </p:sp>
      <p:sp>
        <p:nvSpPr>
          <p:cNvPr id="7" name="TextBox 6"/>
          <p:cNvSpPr txBox="1"/>
          <p:nvPr/>
        </p:nvSpPr>
        <p:spPr>
          <a:xfrm>
            <a:off x="6756400" y="3032720"/>
            <a:ext cx="4395216" cy="1219200"/>
          </a:xfrm>
          <a:prstGeom prst="rect">
            <a:avLst/>
          </a:prstGeom>
          <a:noFill/>
        </p:spPr>
        <p:txBody>
          <a:bodyPr wrap="square" lIns="0" rIns="0" tIns="0" bIns="0" anchor="t">
            <a:normAutofit/>
          </a:bodyPr>
          <a:lstStyle/>
          <a:p>
            <a:pPr algn="l" marL="247650" indent="-171450">
              <a:lnSpc>
                <a:spcPts val="2400"/>
              </a:lnSpc>
              <a:buFont typeface="Arial"/>
              <a:buChar char="•"/>
            </a:pPr>
            <a:r>
              <a:rPr sz="1500" b="0" i="0">
                <a:solidFill>
                  <a:srgbClr val="F7F5EF"/>
                </a:solidFill>
                <a:latin typeface="Rubik"/>
                <a:ea typeface="Rubik"/>
                <a:cs typeface="Rubik"/>
              </a:rPr>
              <a:t>Explain what a program is</a:t>
            </a:r>
          </a:p>
          <a:p>
            <a:pPr algn="l" marL="247650" indent="-171450">
              <a:lnSpc>
                <a:spcPts val="2400"/>
              </a:lnSpc>
              <a:buFont typeface="Arial"/>
              <a:buChar char="•"/>
            </a:pPr>
            <a:r>
              <a:rPr sz="1500" b="0" i="0">
                <a:solidFill>
                  <a:srgbClr val="F7F5EF"/>
                </a:solidFill>
                <a:latin typeface="Rubik"/>
                <a:ea typeface="Rubik"/>
                <a:cs typeface="Rubik"/>
              </a:rPr>
              <a:t>Install and run Python</a:t>
            </a:r>
          </a:p>
          <a:p>
            <a:pPr algn="l" marL="247650" indent="-171450">
              <a:lnSpc>
                <a:spcPts val="2400"/>
              </a:lnSpc>
              <a:buFont typeface="Arial"/>
              <a:buChar char="•"/>
            </a:pPr>
            <a:r>
              <a:rPr sz="1500" b="0" i="0">
                <a:solidFill>
                  <a:srgbClr val="F7F5EF"/>
                </a:solidFill>
                <a:latin typeface="Rubik"/>
                <a:ea typeface="Rubik"/>
                <a:cs typeface="Rubik"/>
              </a:rPr>
              <a:t>Print anything on the screen</a:t>
            </a:r>
          </a:p>
          <a:p>
            <a:pPr algn="l" marL="247650" indent="-171450">
              <a:lnSpc>
                <a:spcPts val="2400"/>
              </a:lnSpc>
              <a:buFont typeface="Arial"/>
              <a:buChar char="•"/>
            </a:pPr>
            <a:r>
              <a:rPr sz="1500" b="0" i="0">
                <a:solidFill>
                  <a:srgbClr val="F7F5EF"/>
                </a:solidFill>
                <a:latin typeface="Rubik"/>
                <a:ea typeface="Rubik"/>
                <a:cs typeface="Rubik"/>
              </a:rPr>
              <a:t>Spot and fix simple errors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3" name="TextBox 2"/>
          <p:cNvSpPr txBox="1"/>
          <p:nvPr/>
        </p:nvSpPr>
        <p:spPr>
          <a:xfrm>
            <a:off x="812800" y="812800"/>
            <a:ext cx="10883392"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CLASS 1 · THE BIG IDEA</a:t>
            </a:r>
          </a:p>
        </p:txBody>
      </p:sp>
      <p:sp>
        <p:nvSpPr>
          <p:cNvPr id="2" name="Title 1"/>
          <p:cNvSpPr>
            <a:spLocks noGrp="1"/>
          </p:cNvSpPr>
          <p:nvPr>
            <p:ph type="title"/>
          </p:nvPr>
        </p:nvSpPr>
        <p:spPr>
          <a:xfrm>
            <a:off x="812800" y="1102320"/>
            <a:ext cx="10883392" cy="446980"/>
          </a:xfrm>
        </p:spPr>
        <p:txBody>
          <a:bodyPr wrap="square" lIns="0" rIns="0" tIns="0" bIns="0" anchor="t">
            <a:normAutofit/>
          </a:bodyPr>
          <a:lstStyle/>
          <a:p>
            <a:pPr algn="l" marL="0" indent="0">
              <a:lnSpc>
                <a:spcPts val="3520"/>
              </a:lnSpc>
              <a:buNone/>
            </a:pPr>
            <a:r>
              <a:rPr sz="3200" b="1" i="0">
                <a:solidFill>
                  <a:srgbClr val="1B2A41"/>
                </a:solidFill>
                <a:latin typeface="Rubik"/>
                <a:ea typeface="Rubik"/>
                <a:cs typeface="Rubik"/>
              </a:rPr>
              <a:t>What is a program?</a:t>
            </a:r>
          </a:p>
        </p:txBody>
      </p:sp>
      <p:sp>
        <p:nvSpPr>
          <p:cNvPr id="4" name="TextBox 3"/>
          <p:cNvSpPr txBox="1"/>
          <p:nvPr/>
        </p:nvSpPr>
        <p:spPr>
          <a:xfrm>
            <a:off x="812800" y="1904901"/>
            <a:ext cx="5232400" cy="617141"/>
          </a:xfrm>
          <a:prstGeom prst="rect">
            <a:avLst/>
          </a:prstGeom>
          <a:noFill/>
        </p:spPr>
        <p:txBody>
          <a:bodyPr wrap="square" lIns="0" rIns="0" tIns="0" bIns="0" anchor="t">
            <a:normAutofit/>
          </a:bodyPr>
          <a:lstStyle/>
          <a:p>
            <a:pPr algn="l" marL="0" indent="0">
              <a:lnSpc>
                <a:spcPts val="2430"/>
              </a:lnSpc>
              <a:buNone/>
            </a:pPr>
            <a:r>
              <a:rPr sz="1800" b="1" i="0">
                <a:solidFill>
                  <a:srgbClr val="1B2A41"/>
                </a:solidFill>
                <a:latin typeface="Rubik"/>
                <a:ea typeface="Rubik"/>
                <a:cs typeface="Rubik"/>
              </a:rPr>
              <a:t>A program is a list of instructions that a computer follows exactly, one step at a time.</a:t>
            </a:r>
          </a:p>
        </p:txBody>
      </p:sp>
      <p:sp>
        <p:nvSpPr>
          <p:cNvPr id="5" name="TextBox 4"/>
          <p:cNvSpPr txBox="1"/>
          <p:nvPr/>
        </p:nvSpPr>
        <p:spPr>
          <a:xfrm>
            <a:off x="812800" y="2725241"/>
            <a:ext cx="5232400" cy="857250"/>
          </a:xfrm>
          <a:prstGeom prst="rect">
            <a:avLst/>
          </a:prstGeom>
          <a:noFill/>
        </p:spPr>
        <p:txBody>
          <a:bodyPr wrap="square" lIns="0" rIns="0" tIns="0" bIns="0" anchor="t">
            <a:normAutofit/>
          </a:bodyPr>
          <a:lstStyle/>
          <a:p>
            <a:pPr algn="l" marL="0" indent="0">
              <a:lnSpc>
                <a:spcPts val="2250"/>
              </a:lnSpc>
              <a:buNone/>
            </a:pPr>
            <a:r>
              <a:rPr sz="1500" b="0" i="0">
                <a:solidFill>
                  <a:srgbClr val="4A5568"/>
                </a:solidFill>
                <a:latin typeface="Rubik"/>
                <a:ea typeface="Rubik"/>
                <a:cs typeface="Rubik"/>
              </a:rPr>
              <a:t>The computer is incredibly fast, but it has zero common sense. It does exactly what you write, not what you meant.</a:t>
            </a:r>
          </a:p>
        </p:txBody>
      </p:sp>
      <p:sp>
        <p:nvSpPr>
          <p:cNvPr id="6" name="TextBox 5"/>
          <p:cNvSpPr txBox="1"/>
          <p:nvPr/>
        </p:nvSpPr>
        <p:spPr>
          <a:xfrm>
            <a:off x="812800" y="3785691"/>
            <a:ext cx="5232400" cy="571500"/>
          </a:xfrm>
          <a:prstGeom prst="rect">
            <a:avLst/>
          </a:prstGeom>
          <a:noFill/>
        </p:spPr>
        <p:txBody>
          <a:bodyPr wrap="square" lIns="0" rIns="0" tIns="0" bIns="0" anchor="t">
            <a:normAutofit/>
          </a:bodyPr>
          <a:lstStyle/>
          <a:p>
            <a:pPr algn="l" marL="0" indent="0">
              <a:lnSpc>
                <a:spcPts val="2250"/>
              </a:lnSpc>
              <a:buNone/>
            </a:pPr>
            <a:r>
              <a:rPr sz="1500" b="0" i="0">
                <a:solidFill>
                  <a:srgbClr val="4A5568"/>
                </a:solidFill>
                <a:latin typeface="Rubik"/>
                <a:ea typeface="Rubik"/>
                <a:cs typeface="Rubik"/>
              </a:rPr>
              <a:t>Programming means learning to give </a:t>
            </a:r>
            <a:r>
              <a:rPr sz="1500" b="1" i="0">
                <a:solidFill>
                  <a:srgbClr val="4A5568"/>
                </a:solidFill>
                <a:latin typeface="Rubik"/>
                <a:ea typeface="Rubik"/>
                <a:cs typeface="Rubik"/>
              </a:rPr>
              <a:t>clear, step-by-step</a:t>
            </a:r>
            <a:r>
              <a:rPr sz="1500" b="0" i="0">
                <a:solidFill>
                  <a:srgbClr val="4A5568"/>
                </a:solidFill>
                <a:latin typeface="Rubik"/>
                <a:ea typeface="Rubik"/>
                <a:cs typeface="Rubik"/>
              </a:rPr>
              <a:t> instructions.</a:t>
            </a:r>
          </a:p>
        </p:txBody>
      </p:sp>
      <p:sp>
        <p:nvSpPr>
          <p:cNvPr id="7" name="Rounded Rectangle 6"/>
          <p:cNvSpPr/>
          <p:nvPr/>
        </p:nvSpPr>
        <p:spPr>
          <a:xfrm>
            <a:off x="6299200" y="1904901"/>
            <a:ext cx="5080000" cy="3230761"/>
          </a:xfrm>
          <a:prstGeom prst="roundRect">
            <a:avLst>
              <a:gd name="adj" fmla="val 4717"/>
            </a:avLst>
          </a:prstGeom>
          <a:solidFill>
            <a:srgbClr val="FBE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0" y="2209701"/>
            <a:ext cx="4604512" cy="213320"/>
          </a:xfrm>
          <a:prstGeom prst="rect">
            <a:avLst/>
          </a:prstGeom>
          <a:noFill/>
        </p:spPr>
        <p:txBody>
          <a:bodyPr wrap="square" lIns="0" rIns="0" tIns="0" bIns="0" anchor="t">
            <a:normAutofit/>
          </a:bodyPr>
          <a:lstStyle/>
          <a:p>
            <a:pPr algn="l" marL="0" indent="0">
              <a:lnSpc>
                <a:spcPts val="1680"/>
              </a:lnSpc>
              <a:buNone/>
            </a:pPr>
            <a:r>
              <a:rPr sz="1200" b="1" i="0" spc="150">
                <a:solidFill>
                  <a:srgbClr val="8A5A00"/>
                </a:solidFill>
                <a:latin typeface="Rubik"/>
                <a:ea typeface="Rubik"/>
                <a:cs typeface="Rubik"/>
              </a:rPr>
              <a:t>THINK OF IT LIKE</a:t>
            </a:r>
          </a:p>
        </p:txBody>
      </p:sp>
      <p:sp>
        <p:nvSpPr>
          <p:cNvPr id="9" name="TextBox 8"/>
          <p:cNvSpPr txBox="1"/>
          <p:nvPr/>
        </p:nvSpPr>
        <p:spPr>
          <a:xfrm>
            <a:off x="6604000" y="2550021"/>
            <a:ext cx="4604512"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A recipe for hostel Maggi</a:t>
            </a:r>
          </a:p>
        </p:txBody>
      </p:sp>
      <p:sp>
        <p:nvSpPr>
          <p:cNvPr id="10" name="TextBox 9"/>
          <p:cNvSpPr txBox="1"/>
          <p:nvPr/>
        </p:nvSpPr>
        <p:spPr>
          <a:xfrm>
            <a:off x="6604000" y="2951262"/>
            <a:ext cx="4604512" cy="1219200"/>
          </a:xfrm>
          <a:prstGeom prst="rect">
            <a:avLst/>
          </a:prstGeom>
          <a:noFill/>
        </p:spPr>
        <p:txBody>
          <a:bodyPr wrap="square" lIns="0" rIns="0" tIns="0" bIns="0" anchor="t">
            <a:normAutofit/>
          </a:bodyPr>
          <a:lstStyle/>
          <a:p>
            <a:pPr algn="l" marL="247650" indent="-171450">
              <a:lnSpc>
                <a:spcPts val="2400"/>
              </a:lnSpc>
              <a:buAutoNum type="arabicPeriod"/>
            </a:pPr>
            <a:r>
              <a:rPr sz="1500" b="0" i="0">
                <a:solidFill>
                  <a:srgbClr val="1B2A41"/>
                </a:solidFill>
                <a:latin typeface="Rubik"/>
                <a:ea typeface="Rubik"/>
                <a:cs typeface="Rubik"/>
              </a:rPr>
              <a:t>Boil 1½ cups of water</a:t>
            </a:r>
          </a:p>
          <a:p>
            <a:pPr algn="l" marL="247650" indent="-171450">
              <a:lnSpc>
                <a:spcPts val="2400"/>
              </a:lnSpc>
              <a:buAutoNum type="arabicPeriod"/>
            </a:pPr>
            <a:r>
              <a:rPr sz="1500" b="0" i="0">
                <a:solidFill>
                  <a:srgbClr val="1B2A41"/>
                </a:solidFill>
                <a:latin typeface="Rubik"/>
                <a:ea typeface="Rubik"/>
                <a:cs typeface="Rubik"/>
              </a:rPr>
              <a:t>Add noodles and tastemaker</a:t>
            </a:r>
          </a:p>
          <a:p>
            <a:pPr algn="l" marL="247650" indent="-171450">
              <a:lnSpc>
                <a:spcPts val="2400"/>
              </a:lnSpc>
              <a:buAutoNum type="arabicPeriod"/>
            </a:pPr>
            <a:r>
              <a:rPr sz="1500" b="0" i="0">
                <a:solidFill>
                  <a:srgbClr val="1B2A41"/>
                </a:solidFill>
                <a:latin typeface="Rubik"/>
                <a:ea typeface="Rubik"/>
                <a:cs typeface="Rubik"/>
              </a:rPr>
              <a:t>Cook for 2 minutes, stirring</a:t>
            </a:r>
          </a:p>
          <a:p>
            <a:pPr algn="l" marL="247650" indent="-171450">
              <a:lnSpc>
                <a:spcPts val="2400"/>
              </a:lnSpc>
              <a:buAutoNum type="arabicPeriod"/>
            </a:pPr>
            <a:r>
              <a:rPr sz="1500" b="0" i="0">
                <a:solidFill>
                  <a:srgbClr val="1B2A41"/>
                </a:solidFill>
                <a:latin typeface="Rubik"/>
                <a:ea typeface="Rubik"/>
                <a:cs typeface="Rubik"/>
              </a:rPr>
              <a:t>Serve hot</a:t>
            </a:r>
          </a:p>
        </p:txBody>
      </p:sp>
      <p:sp>
        <p:nvSpPr>
          <p:cNvPr id="11" name="TextBox 10"/>
          <p:cNvSpPr txBox="1"/>
          <p:nvPr/>
        </p:nvSpPr>
        <p:spPr>
          <a:xfrm>
            <a:off x="6604000" y="4297462"/>
            <a:ext cx="4604512" cy="5334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Recipe = </a:t>
            </a:r>
            <a:r>
              <a:rPr sz="1500" b="1" i="0">
                <a:solidFill>
                  <a:srgbClr val="4A5568"/>
                </a:solidFill>
                <a:latin typeface="Rubik"/>
                <a:ea typeface="Rubik"/>
                <a:cs typeface="Rubik"/>
              </a:rPr>
              <a:t>program</a:t>
            </a:r>
            <a:r>
              <a:rPr sz="1500" b="0" i="0">
                <a:solidFill>
                  <a:srgbClr val="4A5568"/>
                </a:solidFill>
                <a:latin typeface="Rubik"/>
                <a:ea typeface="Rubik"/>
                <a:cs typeface="Rubik"/>
              </a:rPr>
              <a:t> · You = </a:t>
            </a:r>
            <a:r>
              <a:rPr sz="1500" b="1" i="0">
                <a:solidFill>
                  <a:srgbClr val="4A5568"/>
                </a:solidFill>
                <a:latin typeface="Rubik"/>
                <a:ea typeface="Rubik"/>
                <a:cs typeface="Rubik"/>
              </a:rPr>
              <a:t>programmer</a:t>
            </a:r>
            <a:r>
              <a:rPr sz="1500" b="0" i="0">
                <a:solidFill>
                  <a:srgbClr val="4A5568"/>
                </a:solidFill>
                <a:latin typeface="Rubik"/>
                <a:ea typeface="Rubik"/>
                <a:cs typeface="Rubik"/>
              </a:rPr>
              <a:t> · Cook = </a:t>
            </a:r>
            <a:r>
              <a:rPr sz="1500" b="1" i="0">
                <a:solidFill>
                  <a:srgbClr val="4A5568"/>
                </a:solidFill>
                <a:latin typeface="Rubik"/>
                <a:ea typeface="Rubik"/>
                <a:cs typeface="Rubik"/>
              </a:rPr>
              <a:t>computer</a:t>
            </a:r>
          </a:p>
        </p:txBody>
      </p:sp>
      <p:sp>
        <p:nvSpPr>
          <p:cNvPr id="12" name="TextBox 11"/>
          <p:cNvSpPr txBox="1"/>
          <p:nvPr/>
        </p:nvSpPr>
        <p:spPr>
          <a:xfrm>
            <a:off x="812800" y="6238280"/>
            <a:ext cx="10883392" cy="213320"/>
          </a:xfrm>
          <a:prstGeom prst="rect">
            <a:avLst/>
          </a:prstGeom>
          <a:noFill/>
        </p:spPr>
        <p:txBody>
          <a:bodyPr wrap="square" lIns="0" rIns="0" tIns="0" bIns="0" anchor="t">
            <a:normAutofit/>
          </a:bodyPr>
          <a:lstStyle/>
          <a:p>
            <a:pPr algn="l" marL="0" indent="0">
              <a:lnSpc>
                <a:spcPts val="1680"/>
              </a:lnSpc>
              <a:buNone/>
            </a:pPr>
            <a:r>
              <a:rPr sz="1200" b="0" i="0">
                <a:solidFill>
                  <a:srgbClr val="5F6B7A"/>
                </a:solidFill>
                <a:latin typeface="Rubik"/>
                <a:ea typeface="Rubik"/>
                <a:cs typeface="Rubik"/>
              </a:rPr>
              <a:t>Python Programming · Week 1 · Class 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3" name="TextBox 2"/>
          <p:cNvSpPr txBox="1"/>
          <p:nvPr/>
        </p:nvSpPr>
        <p:spPr>
          <a:xfrm>
            <a:off x="812800" y="812800"/>
            <a:ext cx="10883392"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CLASS 1 · WHY PYTHON</a:t>
            </a:r>
          </a:p>
        </p:txBody>
      </p:sp>
      <p:sp>
        <p:nvSpPr>
          <p:cNvPr id="2" name="Title 1"/>
          <p:cNvSpPr>
            <a:spLocks noGrp="1"/>
          </p:cNvSpPr>
          <p:nvPr>
            <p:ph type="title"/>
          </p:nvPr>
        </p:nvSpPr>
        <p:spPr>
          <a:xfrm>
            <a:off x="812800" y="1102320"/>
            <a:ext cx="10883392" cy="446980"/>
          </a:xfrm>
        </p:spPr>
        <p:txBody>
          <a:bodyPr wrap="square" lIns="0" rIns="0" tIns="0" bIns="0" anchor="t">
            <a:normAutofit/>
          </a:bodyPr>
          <a:lstStyle/>
          <a:p>
            <a:pPr algn="l" marL="0" indent="0">
              <a:lnSpc>
                <a:spcPts val="3520"/>
              </a:lnSpc>
              <a:buNone/>
            </a:pPr>
            <a:r>
              <a:rPr sz="3200" b="1" i="0">
                <a:solidFill>
                  <a:srgbClr val="1B2A41"/>
                </a:solidFill>
                <a:latin typeface="Rubik"/>
                <a:ea typeface="Rubik"/>
                <a:cs typeface="Rubik"/>
              </a:rPr>
              <a:t>Why learn Python first?</a:t>
            </a:r>
          </a:p>
        </p:txBody>
      </p:sp>
      <p:pic>
        <p:nvPicPr>
          <p:cNvPr id="4" name="Picture 3" descr="Book"/>
          <p:cNvPicPr>
            <a:picLocks noChangeAspect="1"/>
          </p:cNvPicPr>
          <p:nvPr/>
        </p:nvPicPr>
        <p:blipFill>
          <a:blip r:embed="rId2"/>
          <a:stretch>
            <a:fillRect/>
          </a:stretch>
        </p:blipFill>
        <p:spPr>
          <a:xfrm>
            <a:off x="812800" y="1904901"/>
            <a:ext cx="355600" cy="355600"/>
          </a:xfrm>
          <a:prstGeom prst="rect">
            <a:avLst/>
          </a:prstGeom>
        </p:spPr>
      </p:pic>
      <p:sp>
        <p:nvSpPr>
          <p:cNvPr id="5" name="TextBox 4"/>
          <p:cNvSpPr txBox="1"/>
          <p:nvPr/>
        </p:nvSpPr>
        <p:spPr>
          <a:xfrm>
            <a:off x="1320800" y="1904901"/>
            <a:ext cx="4584584"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Reads like English</a:t>
            </a:r>
          </a:p>
        </p:txBody>
      </p:sp>
      <p:sp>
        <p:nvSpPr>
          <p:cNvPr id="6" name="TextBox 5"/>
          <p:cNvSpPr txBox="1"/>
          <p:nvPr/>
        </p:nvSpPr>
        <p:spPr>
          <a:xfrm>
            <a:off x="1320800" y="2204541"/>
            <a:ext cx="4584584"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Short, clean code with fewer symbols to memorise</a:t>
            </a:r>
          </a:p>
        </p:txBody>
      </p:sp>
      <p:pic>
        <p:nvPicPr>
          <p:cNvPr id="7" name="Picture 6" descr="Globe"/>
          <p:cNvPicPr>
            <a:picLocks noChangeAspect="1"/>
          </p:cNvPicPr>
          <p:nvPr/>
        </p:nvPicPr>
        <p:blipFill>
          <a:blip r:embed="rId3"/>
          <a:stretch>
            <a:fillRect/>
          </a:stretch>
        </p:blipFill>
        <p:spPr>
          <a:xfrm>
            <a:off x="812800" y="2649041"/>
            <a:ext cx="355600" cy="355600"/>
          </a:xfrm>
          <a:prstGeom prst="rect">
            <a:avLst/>
          </a:prstGeom>
        </p:spPr>
      </p:pic>
      <p:sp>
        <p:nvSpPr>
          <p:cNvPr id="8" name="TextBox 7"/>
          <p:cNvSpPr txBox="1"/>
          <p:nvPr/>
        </p:nvSpPr>
        <p:spPr>
          <a:xfrm>
            <a:off x="1320800" y="2649041"/>
            <a:ext cx="4640689"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Used everywhere</a:t>
            </a:r>
          </a:p>
        </p:txBody>
      </p:sp>
      <p:sp>
        <p:nvSpPr>
          <p:cNvPr id="9" name="TextBox 8"/>
          <p:cNvSpPr txBox="1"/>
          <p:nvPr/>
        </p:nvSpPr>
        <p:spPr>
          <a:xfrm>
            <a:off x="1320800" y="2948682"/>
            <a:ext cx="4640689"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Google, Instagram, Netflix and NASA all use Python</a:t>
            </a:r>
          </a:p>
        </p:txBody>
      </p:sp>
      <p:pic>
        <p:nvPicPr>
          <p:cNvPr id="10" name="Picture 9" descr="Tool"/>
          <p:cNvPicPr>
            <a:picLocks noChangeAspect="1"/>
          </p:cNvPicPr>
          <p:nvPr/>
        </p:nvPicPr>
        <p:blipFill>
          <a:blip r:embed="rId4"/>
          <a:stretch>
            <a:fillRect/>
          </a:stretch>
        </p:blipFill>
        <p:spPr>
          <a:xfrm>
            <a:off x="812800" y="3393182"/>
            <a:ext cx="355600" cy="355600"/>
          </a:xfrm>
          <a:prstGeom prst="rect">
            <a:avLst/>
          </a:prstGeom>
        </p:spPr>
      </p:pic>
      <p:sp>
        <p:nvSpPr>
          <p:cNvPr id="11" name="TextBox 10"/>
          <p:cNvSpPr txBox="1"/>
          <p:nvPr/>
        </p:nvSpPr>
        <p:spPr>
          <a:xfrm>
            <a:off x="1320800" y="3393182"/>
            <a:ext cx="4493119"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Batteries included</a:t>
            </a:r>
          </a:p>
        </p:txBody>
      </p:sp>
      <p:sp>
        <p:nvSpPr>
          <p:cNvPr id="12" name="TextBox 11"/>
          <p:cNvSpPr txBox="1"/>
          <p:nvPr/>
        </p:nvSpPr>
        <p:spPr>
          <a:xfrm>
            <a:off x="1320800" y="3692823"/>
            <a:ext cx="4493119"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Ready-made tools for maths, files, the web and AI</a:t>
            </a:r>
          </a:p>
        </p:txBody>
      </p:sp>
      <p:pic>
        <p:nvPicPr>
          <p:cNvPr id="13" name="Picture 12" descr="GraduationCap"/>
          <p:cNvPicPr>
            <a:picLocks noChangeAspect="1"/>
          </p:cNvPicPr>
          <p:nvPr/>
        </p:nvPicPr>
        <p:blipFill>
          <a:blip r:embed="rId5"/>
          <a:stretch>
            <a:fillRect/>
          </a:stretch>
        </p:blipFill>
        <p:spPr>
          <a:xfrm>
            <a:off x="812800" y="4137323"/>
            <a:ext cx="355600" cy="355600"/>
          </a:xfrm>
          <a:prstGeom prst="rect">
            <a:avLst/>
          </a:prstGeom>
        </p:spPr>
      </p:pic>
      <p:sp>
        <p:nvSpPr>
          <p:cNvPr id="14" name="TextBox 13"/>
          <p:cNvSpPr txBox="1"/>
          <p:nvPr/>
        </p:nvSpPr>
        <p:spPr>
          <a:xfrm>
            <a:off x="1320800" y="4137323"/>
            <a:ext cx="4676458"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Opens career doors</a:t>
            </a:r>
          </a:p>
        </p:txBody>
      </p:sp>
      <p:sp>
        <p:nvSpPr>
          <p:cNvPr id="15" name="TextBox 14"/>
          <p:cNvSpPr txBox="1"/>
          <p:nvPr/>
        </p:nvSpPr>
        <p:spPr>
          <a:xfrm>
            <a:off x="1320800" y="4436963"/>
            <a:ext cx="4676458"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Data science, AI/ML, web apps, automation, testing</a:t>
            </a:r>
          </a:p>
        </p:txBody>
      </p:sp>
      <p:sp>
        <p:nvSpPr>
          <p:cNvPr id="16" name="TextBox 15"/>
          <p:cNvSpPr txBox="1"/>
          <p:nvPr/>
        </p:nvSpPr>
        <p:spPr>
          <a:xfrm>
            <a:off x="6299200" y="1904901"/>
            <a:ext cx="5232400"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THE SAME JOB IN C</a:t>
            </a:r>
          </a:p>
        </p:txBody>
      </p:sp>
      <p:sp>
        <p:nvSpPr>
          <p:cNvPr id="17" name="Rounded Rectangle 16"/>
          <p:cNvSpPr/>
          <p:nvPr/>
        </p:nvSpPr>
        <p:spPr>
          <a:xfrm>
            <a:off x="6299200" y="2245221"/>
            <a:ext cx="5080000" cy="1784350"/>
          </a:xfrm>
          <a:prstGeom prst="roundRect">
            <a:avLst>
              <a:gd name="adj" fmla="val 7117"/>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53200" y="2423021"/>
            <a:ext cx="4709160" cy="1428750"/>
          </a:xfrm>
          <a:prstGeom prst="rect">
            <a:avLst/>
          </a:prstGeom>
          <a:noFill/>
        </p:spPr>
        <p:txBody>
          <a:bodyPr wrap="square" lIns="0" rIns="0" tIns="0" bIns="0" anchor="t">
            <a:normAutofit/>
          </a:bodyPr>
          <a:lstStyle/>
          <a:p>
            <a:pPr algn="l" marL="0" indent="0">
              <a:lnSpc>
                <a:spcPts val="2250"/>
              </a:lnSpc>
              <a:buNone/>
            </a:pPr>
            <a:r>
              <a:rPr sz="1500" b="0" i="0">
                <a:solidFill>
                  <a:srgbClr val="8FA3B8"/>
                </a:solidFill>
                <a:latin typeface="JetBrains Mono"/>
                <a:ea typeface="JetBrains Mono"/>
                <a:cs typeface="JetBrains Mono"/>
              </a:rPr>
              <a:t>#include &lt;stdio.h&gt;</a:t>
            </a:r>
          </a:p>
          <a:p>
            <a:pPr algn="l" marL="0" indent="0">
              <a:lnSpc>
                <a:spcPts val="2250"/>
              </a:lnSpc>
              <a:buNone/>
            </a:pPr>
            <a:r>
              <a:rPr sz="1500" b="0" i="0">
                <a:solidFill>
                  <a:srgbClr val="F2B33D"/>
                </a:solidFill>
                <a:latin typeface="JetBrains Mono"/>
                <a:ea typeface="JetBrains Mono"/>
                <a:cs typeface="JetBrains Mono"/>
              </a:rPr>
              <a:t>int</a:t>
            </a:r>
            <a:r>
              <a:rPr sz="1500" b="0" i="0">
                <a:solidFill>
                  <a:srgbClr val="E8EDF3"/>
                </a:solidFill>
                <a:latin typeface="JetBrains Mono"/>
                <a:ea typeface="JetBrains Mono"/>
                <a:cs typeface="JetBrains Mono"/>
              </a:rPr>
              <a:t> main() {</a:t>
            </a:r>
          </a:p>
          <a:p>
            <a:pPr algn="l" marL="0" indent="0">
              <a:lnSpc>
                <a:spcPts val="2250"/>
              </a:lnSpc>
              <a:buNone/>
            </a:pPr>
            <a:r>
              <a:rPr sz="1500" b="0" i="0">
                <a:solidFill>
                  <a:srgbClr val="E8EDF3"/>
                </a:solidFill>
                <a:latin typeface="JetBrains Mono"/>
                <a:ea typeface="JetBrains Mono"/>
                <a:cs typeface="JetBrains Mono"/>
              </a:rPr>
              <a:t>    printf(</a:t>
            </a:r>
            <a:r>
              <a:rPr sz="1500" b="0" i="0">
                <a:solidFill>
                  <a:srgbClr val="9FD8A8"/>
                </a:solidFill>
                <a:latin typeface="JetBrains Mono"/>
                <a:ea typeface="JetBrains Mono"/>
                <a:cs typeface="JetBrains Mono"/>
              </a:rPr>
              <a:t>"Hello, World!\n"</a:t>
            </a:r>
            <a:r>
              <a:rPr sz="1500" b="0" i="0">
                <a:solidFill>
                  <a:srgbClr val="E8EDF3"/>
                </a:solidFill>
                <a:latin typeface="JetBrains Mono"/>
                <a:ea typeface="JetBrains Mono"/>
                <a:cs typeface="JetBrains Mono"/>
              </a:rPr>
              <a:t>);</a:t>
            </a:r>
          </a:p>
          <a:p>
            <a:pPr algn="l" marL="0" indent="0">
              <a:lnSpc>
                <a:spcPts val="2250"/>
              </a:lnSpc>
              <a:buNone/>
            </a:pPr>
            <a:r>
              <a:rPr sz="1500" b="0" i="0">
                <a:solidFill>
                  <a:srgbClr val="E8EDF3"/>
                </a:solidFill>
                <a:latin typeface="JetBrains Mono"/>
                <a:ea typeface="JetBrains Mono"/>
                <a:cs typeface="JetBrains Mono"/>
              </a:rPr>
              <a:t>    </a:t>
            </a:r>
            <a:r>
              <a:rPr sz="1500" b="0" i="0">
                <a:solidFill>
                  <a:srgbClr val="F2B33D"/>
                </a:solidFill>
                <a:latin typeface="JetBrains Mono"/>
                <a:ea typeface="JetBrains Mono"/>
                <a:cs typeface="JetBrains Mono"/>
              </a:rPr>
              <a:t>return</a:t>
            </a:r>
            <a:r>
              <a:rPr sz="1500" b="0" i="0">
                <a:solidFill>
                  <a:srgbClr val="E8EDF3"/>
                </a:solidFill>
                <a:latin typeface="JetBrains Mono"/>
                <a:ea typeface="JetBrains Mono"/>
                <a:cs typeface="JetBrains Mono"/>
              </a:rPr>
              <a:t> 0;</a:t>
            </a:r>
          </a:p>
          <a:p>
            <a:pPr algn="l" marL="0" indent="0">
              <a:lnSpc>
                <a:spcPts val="2250"/>
              </a:lnSpc>
              <a:buNone/>
            </a:pPr>
            <a:r>
              <a:rPr sz="1500" b="0" i="0">
                <a:solidFill>
                  <a:srgbClr val="E8EDF3"/>
                </a:solidFill>
                <a:latin typeface="JetBrains Mono"/>
                <a:ea typeface="JetBrains Mono"/>
                <a:cs typeface="JetBrains Mono"/>
              </a:rPr>
              <a:t>}</a:t>
            </a:r>
          </a:p>
        </p:txBody>
      </p:sp>
      <p:sp>
        <p:nvSpPr>
          <p:cNvPr id="19" name="TextBox 18"/>
          <p:cNvSpPr txBox="1"/>
          <p:nvPr/>
        </p:nvSpPr>
        <p:spPr>
          <a:xfrm>
            <a:off x="6299200" y="4156571"/>
            <a:ext cx="5232400"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THE SAME JOB IN PYTHON</a:t>
            </a:r>
          </a:p>
        </p:txBody>
      </p:sp>
      <p:sp>
        <p:nvSpPr>
          <p:cNvPr id="20" name="Rounded Rectangle 19"/>
          <p:cNvSpPr/>
          <p:nvPr/>
        </p:nvSpPr>
        <p:spPr>
          <a:xfrm>
            <a:off x="6299200" y="4496891"/>
            <a:ext cx="5080000" cy="641350"/>
          </a:xfrm>
          <a:prstGeom prst="roundRect">
            <a:avLst>
              <a:gd name="adj" fmla="val 19801"/>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53200" y="4674691"/>
            <a:ext cx="4709160" cy="285750"/>
          </a:xfrm>
          <a:prstGeom prst="rect">
            <a:avLst/>
          </a:prstGeom>
          <a:noFill/>
        </p:spPr>
        <p:txBody>
          <a:bodyPr wrap="square" lIns="0" rIns="0" tIns="0" bIns="0" anchor="t">
            <a:normAutofit/>
          </a:bodyPr>
          <a:lstStyle/>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t>
            </a:r>
            <a:r>
              <a:rPr sz="1500" b="0" i="0">
                <a:solidFill>
                  <a:srgbClr val="9FD8A8"/>
                </a:solidFill>
                <a:latin typeface="JetBrains Mono"/>
                <a:ea typeface="JetBrains Mono"/>
                <a:cs typeface="JetBrains Mono"/>
              </a:rPr>
              <a:t>"Hello, World!"</a:t>
            </a:r>
            <a:r>
              <a:rPr sz="1500" b="0" i="0">
                <a:solidFill>
                  <a:srgbClr val="E8EDF3"/>
                </a:solidFill>
                <a:latin typeface="JetBrains Mono"/>
                <a:ea typeface="JetBrains Mono"/>
                <a:cs typeface="JetBrains Mono"/>
              </a:rPr>
              <a:t>)</a:t>
            </a:r>
          </a:p>
        </p:txBody>
      </p:sp>
      <p:sp>
        <p:nvSpPr>
          <p:cNvPr id="22" name="TextBox 21"/>
          <p:cNvSpPr txBox="1"/>
          <p:nvPr/>
        </p:nvSpPr>
        <p:spPr>
          <a:xfrm>
            <a:off x="6299200" y="5265241"/>
            <a:ext cx="5232400"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Rubik"/>
                <a:ea typeface="Rubik"/>
                <a:cs typeface="Rubik"/>
              </a:rPr>
              <a:t>Five lines vs one line. Same output.</a:t>
            </a:r>
          </a:p>
        </p:txBody>
      </p:sp>
      <p:sp>
        <p:nvSpPr>
          <p:cNvPr id="23" name="TextBox 22"/>
          <p:cNvSpPr txBox="1"/>
          <p:nvPr/>
        </p:nvSpPr>
        <p:spPr>
          <a:xfrm>
            <a:off x="812800" y="6238280"/>
            <a:ext cx="10883392" cy="213320"/>
          </a:xfrm>
          <a:prstGeom prst="rect">
            <a:avLst/>
          </a:prstGeom>
          <a:noFill/>
        </p:spPr>
        <p:txBody>
          <a:bodyPr wrap="square" lIns="0" rIns="0" tIns="0" bIns="0" anchor="t">
            <a:normAutofit/>
          </a:bodyPr>
          <a:lstStyle/>
          <a:p>
            <a:pPr algn="l" marL="0" indent="0">
              <a:lnSpc>
                <a:spcPts val="1680"/>
              </a:lnSpc>
              <a:buNone/>
            </a:pPr>
            <a:r>
              <a:rPr sz="1200" b="0" i="0">
                <a:solidFill>
                  <a:srgbClr val="5F6B7A"/>
                </a:solidFill>
                <a:latin typeface="Rubik"/>
                <a:ea typeface="Rubik"/>
                <a:cs typeface="Rubik"/>
              </a:rPr>
              <a:t>Python Programming · Week 1 · Class 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3" name="TextBox 2"/>
          <p:cNvSpPr txBox="1"/>
          <p:nvPr/>
        </p:nvSpPr>
        <p:spPr>
          <a:xfrm>
            <a:off x="812800" y="812800"/>
            <a:ext cx="10883392"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CLASS 1 · BEHIND THE SCENES</a:t>
            </a:r>
          </a:p>
        </p:txBody>
      </p:sp>
      <p:sp>
        <p:nvSpPr>
          <p:cNvPr id="2" name="Title 1"/>
          <p:cNvSpPr>
            <a:spLocks noGrp="1"/>
          </p:cNvSpPr>
          <p:nvPr>
            <p:ph type="title"/>
          </p:nvPr>
        </p:nvSpPr>
        <p:spPr>
          <a:xfrm>
            <a:off x="812800" y="1102320"/>
            <a:ext cx="10883392" cy="446980"/>
          </a:xfrm>
        </p:spPr>
        <p:txBody>
          <a:bodyPr wrap="square" lIns="0" rIns="0" tIns="0" bIns="0" anchor="t">
            <a:normAutofit/>
          </a:bodyPr>
          <a:lstStyle/>
          <a:p>
            <a:pPr algn="l" marL="0" indent="0">
              <a:lnSpc>
                <a:spcPts val="3520"/>
              </a:lnSpc>
              <a:buNone/>
            </a:pPr>
            <a:r>
              <a:rPr sz="3200" b="1" i="0">
                <a:solidFill>
                  <a:srgbClr val="1B2A41"/>
                </a:solidFill>
                <a:latin typeface="Rubik"/>
                <a:ea typeface="Rubik"/>
                <a:cs typeface="Rubik"/>
              </a:rPr>
              <a:t>How Python runs your code</a:t>
            </a:r>
          </a:p>
        </p:txBody>
      </p:sp>
      <p:sp>
        <p:nvSpPr>
          <p:cNvPr id="4" name="Rounded Rectangle 3"/>
          <p:cNvSpPr/>
          <p:nvPr/>
        </p:nvSpPr>
        <p:spPr>
          <a:xfrm>
            <a:off x="819150" y="1860451"/>
            <a:ext cx="3035300" cy="2255441"/>
          </a:xfrm>
          <a:prstGeom prst="roundRect">
            <a:avLst>
              <a:gd name="adj" fmla="val 5630"/>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de"/>
          <p:cNvPicPr>
            <a:picLocks noChangeAspect="1"/>
          </p:cNvPicPr>
          <p:nvPr/>
        </p:nvPicPr>
        <p:blipFill>
          <a:blip r:embed="rId2"/>
          <a:stretch>
            <a:fillRect/>
          </a:stretch>
        </p:blipFill>
        <p:spPr>
          <a:xfrm>
            <a:off x="1079500" y="2120801"/>
            <a:ext cx="406400" cy="406400"/>
          </a:xfrm>
          <a:prstGeom prst="rect">
            <a:avLst/>
          </a:prstGeom>
        </p:spPr>
      </p:pic>
      <p:sp>
        <p:nvSpPr>
          <p:cNvPr id="6" name="TextBox 5"/>
          <p:cNvSpPr txBox="1"/>
          <p:nvPr/>
        </p:nvSpPr>
        <p:spPr>
          <a:xfrm>
            <a:off x="1079500" y="2654201"/>
            <a:ext cx="2590038"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1. You write</a:t>
            </a:r>
          </a:p>
        </p:txBody>
      </p:sp>
      <p:sp>
        <p:nvSpPr>
          <p:cNvPr id="7" name="TextBox 6"/>
          <p:cNvSpPr txBox="1"/>
          <p:nvPr/>
        </p:nvSpPr>
        <p:spPr>
          <a:xfrm>
            <a:off x="1079500" y="3055441"/>
            <a:ext cx="2590038" cy="5334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Instructions saved in a file, for example hello.py</a:t>
            </a:r>
          </a:p>
        </p:txBody>
      </p:sp>
      <p:sp>
        <p:nvSpPr>
          <p:cNvPr id="8" name="Right Arrow 7"/>
          <p:cNvSpPr/>
          <p:nvPr/>
        </p:nvSpPr>
        <p:spPr>
          <a:xfrm>
            <a:off x="4013200" y="2886571"/>
            <a:ext cx="406400" cy="203200"/>
          </a:xfrm>
          <a:prstGeom prst="rightArrow">
            <a:avLst/>
          </a:prstGeom>
          <a:solidFill>
            <a:srgbClr val="2A64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8350" y="1860451"/>
            <a:ext cx="3035300" cy="2255441"/>
          </a:xfrm>
          <a:prstGeom prst="roundRect">
            <a:avLst>
              <a:gd name="adj" fmla="val 5630"/>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ettings"/>
          <p:cNvPicPr>
            <a:picLocks noChangeAspect="1"/>
          </p:cNvPicPr>
          <p:nvPr/>
        </p:nvPicPr>
        <p:blipFill>
          <a:blip r:embed="rId3"/>
          <a:stretch>
            <a:fillRect/>
          </a:stretch>
        </p:blipFill>
        <p:spPr>
          <a:xfrm>
            <a:off x="4838700" y="2120801"/>
            <a:ext cx="406400" cy="406400"/>
          </a:xfrm>
          <a:prstGeom prst="rect">
            <a:avLst/>
          </a:prstGeom>
        </p:spPr>
      </p:pic>
      <p:sp>
        <p:nvSpPr>
          <p:cNvPr id="11" name="TextBox 10"/>
          <p:cNvSpPr txBox="1"/>
          <p:nvPr/>
        </p:nvSpPr>
        <p:spPr>
          <a:xfrm>
            <a:off x="4838700" y="2654201"/>
            <a:ext cx="2590038"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2. Python reads</a:t>
            </a:r>
          </a:p>
        </p:txBody>
      </p:sp>
      <p:sp>
        <p:nvSpPr>
          <p:cNvPr id="12" name="TextBox 11"/>
          <p:cNvSpPr txBox="1"/>
          <p:nvPr/>
        </p:nvSpPr>
        <p:spPr>
          <a:xfrm>
            <a:off x="4838700" y="3055441"/>
            <a:ext cx="2590038" cy="8001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The interpreter reads your file line by line, top to bottom</a:t>
            </a:r>
          </a:p>
        </p:txBody>
      </p:sp>
      <p:sp>
        <p:nvSpPr>
          <p:cNvPr id="13" name="Right Arrow 12"/>
          <p:cNvSpPr/>
          <p:nvPr/>
        </p:nvSpPr>
        <p:spPr>
          <a:xfrm>
            <a:off x="7772400" y="2886571"/>
            <a:ext cx="406400" cy="203200"/>
          </a:xfrm>
          <a:prstGeom prst="rightArrow">
            <a:avLst/>
          </a:prstGeom>
          <a:solidFill>
            <a:srgbClr val="2A64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37550" y="1860451"/>
            <a:ext cx="3035300" cy="2255441"/>
          </a:xfrm>
          <a:prstGeom prst="roundRect">
            <a:avLst>
              <a:gd name="adj" fmla="val 5630"/>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heckCircle"/>
          <p:cNvPicPr>
            <a:picLocks noChangeAspect="1"/>
          </p:cNvPicPr>
          <p:nvPr/>
        </p:nvPicPr>
        <p:blipFill>
          <a:blip r:embed="rId4"/>
          <a:stretch>
            <a:fillRect/>
          </a:stretch>
        </p:blipFill>
        <p:spPr>
          <a:xfrm>
            <a:off x="8597900" y="2120801"/>
            <a:ext cx="406400" cy="406400"/>
          </a:xfrm>
          <a:prstGeom prst="rect">
            <a:avLst/>
          </a:prstGeom>
        </p:spPr>
      </p:pic>
      <p:sp>
        <p:nvSpPr>
          <p:cNvPr id="16" name="TextBox 15"/>
          <p:cNvSpPr txBox="1"/>
          <p:nvPr/>
        </p:nvSpPr>
        <p:spPr>
          <a:xfrm>
            <a:off x="8597900" y="2654201"/>
            <a:ext cx="2590038"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3. You see output</a:t>
            </a:r>
          </a:p>
        </p:txBody>
      </p:sp>
      <p:sp>
        <p:nvSpPr>
          <p:cNvPr id="17" name="TextBox 16"/>
          <p:cNvSpPr txBox="1"/>
          <p:nvPr/>
        </p:nvSpPr>
        <p:spPr>
          <a:xfrm>
            <a:off x="8597900" y="3055441"/>
            <a:ext cx="2590038" cy="8001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Results on screen, or an error message if something is wrong</a:t>
            </a:r>
          </a:p>
        </p:txBody>
      </p:sp>
      <p:sp>
        <p:nvSpPr>
          <p:cNvPr id="18" name="Rounded Rectangle 17"/>
          <p:cNvSpPr/>
          <p:nvPr/>
        </p:nvSpPr>
        <p:spPr>
          <a:xfrm>
            <a:off x="812800" y="4427041"/>
            <a:ext cx="10566400" cy="1079500"/>
          </a:xfrm>
          <a:prstGeom prst="roundRect">
            <a:avLst>
              <a:gd name="adj" fmla="val 14117"/>
            </a:avLst>
          </a:prstGeom>
          <a:solidFill>
            <a:srgbClr val="FBE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Lightbulb"/>
          <p:cNvPicPr>
            <a:picLocks noChangeAspect="1"/>
          </p:cNvPicPr>
          <p:nvPr/>
        </p:nvPicPr>
        <p:blipFill>
          <a:blip r:embed="rId5"/>
          <a:stretch>
            <a:fillRect/>
          </a:stretch>
        </p:blipFill>
        <p:spPr>
          <a:xfrm>
            <a:off x="1117600" y="4763591"/>
            <a:ext cx="242590" cy="406400"/>
          </a:xfrm>
          <a:prstGeom prst="rect">
            <a:avLst/>
          </a:prstGeom>
        </p:spPr>
      </p:pic>
      <p:sp>
        <p:nvSpPr>
          <p:cNvPr id="20" name="TextBox 19"/>
          <p:cNvSpPr txBox="1"/>
          <p:nvPr/>
        </p:nvSpPr>
        <p:spPr>
          <a:xfrm>
            <a:off x="1563390" y="4681041"/>
            <a:ext cx="9796340" cy="571500"/>
          </a:xfrm>
          <a:prstGeom prst="rect">
            <a:avLst/>
          </a:prstGeom>
          <a:noFill/>
        </p:spPr>
        <p:txBody>
          <a:bodyPr wrap="square" lIns="0" rIns="0" tIns="0" bIns="0" anchor="t">
            <a:normAutofit/>
          </a:bodyPr>
          <a:lstStyle/>
          <a:p>
            <a:pPr algn="l" marL="0" indent="0">
              <a:lnSpc>
                <a:spcPts val="2250"/>
              </a:lnSpc>
              <a:buNone/>
            </a:pPr>
            <a:r>
              <a:rPr sz="1500" b="1" i="0">
                <a:solidFill>
                  <a:srgbClr val="1B2A41"/>
                </a:solidFill>
                <a:latin typeface="Rubik"/>
                <a:ea typeface="Rubik"/>
                <a:cs typeface="Rubik"/>
              </a:rPr>
              <a:t>Analogy:</a:t>
            </a:r>
            <a:r>
              <a:rPr sz="1500" b="0" i="0">
                <a:solidFill>
                  <a:srgbClr val="1B2A41"/>
                </a:solidFill>
                <a:latin typeface="Rubik"/>
                <a:ea typeface="Rubik"/>
                <a:cs typeface="Rubik"/>
              </a:rPr>
              <a:t> the interpreter is a live translator. It translates one sentence at a time. If a sentence makes no sense, it stops right there and tells you why. That message is called an </a:t>
            </a:r>
            <a:r>
              <a:rPr sz="1500" b="1" i="0">
                <a:solidFill>
                  <a:srgbClr val="1B2A41"/>
                </a:solidFill>
                <a:latin typeface="Rubik"/>
                <a:ea typeface="Rubik"/>
                <a:cs typeface="Rubik"/>
              </a:rPr>
              <a:t>error</a:t>
            </a:r>
            <a:r>
              <a:rPr sz="1500" b="0" i="0">
                <a:solidFill>
                  <a:srgbClr val="1B2A41"/>
                </a:solidFill>
                <a:latin typeface="Rubik"/>
                <a:ea typeface="Rubik"/>
                <a:cs typeface="Rubik"/>
              </a:rPr>
              <a:t>.</a:t>
            </a:r>
          </a:p>
        </p:txBody>
      </p:sp>
      <p:sp>
        <p:nvSpPr>
          <p:cNvPr id="21" name="TextBox 20"/>
          <p:cNvSpPr txBox="1"/>
          <p:nvPr/>
        </p:nvSpPr>
        <p:spPr>
          <a:xfrm>
            <a:off x="812800" y="6238280"/>
            <a:ext cx="10883392" cy="213320"/>
          </a:xfrm>
          <a:prstGeom prst="rect">
            <a:avLst/>
          </a:prstGeom>
          <a:noFill/>
        </p:spPr>
        <p:txBody>
          <a:bodyPr wrap="square" lIns="0" rIns="0" tIns="0" bIns="0" anchor="t">
            <a:normAutofit/>
          </a:bodyPr>
          <a:lstStyle/>
          <a:p>
            <a:pPr algn="l" marL="0" indent="0">
              <a:lnSpc>
                <a:spcPts val="1680"/>
              </a:lnSpc>
              <a:buNone/>
            </a:pPr>
            <a:r>
              <a:rPr sz="1200" b="0" i="0">
                <a:solidFill>
                  <a:srgbClr val="5F6B7A"/>
                </a:solidFill>
                <a:latin typeface="Rubik"/>
                <a:ea typeface="Rubik"/>
                <a:cs typeface="Rubik"/>
              </a:rPr>
              <a:t>Python Programming · Week 1 · Class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3" name="TextBox 2"/>
          <p:cNvSpPr txBox="1"/>
          <p:nvPr/>
        </p:nvSpPr>
        <p:spPr>
          <a:xfrm>
            <a:off x="812800" y="812800"/>
            <a:ext cx="10883392"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CLASS 1 · SETUP</a:t>
            </a:r>
          </a:p>
        </p:txBody>
      </p:sp>
      <p:sp>
        <p:nvSpPr>
          <p:cNvPr id="2" name="Title 1"/>
          <p:cNvSpPr>
            <a:spLocks noGrp="1"/>
          </p:cNvSpPr>
          <p:nvPr>
            <p:ph type="title"/>
          </p:nvPr>
        </p:nvSpPr>
        <p:spPr>
          <a:xfrm>
            <a:off x="812800" y="1102320"/>
            <a:ext cx="10883392" cy="446980"/>
          </a:xfrm>
        </p:spPr>
        <p:txBody>
          <a:bodyPr wrap="square" lIns="0" rIns="0" tIns="0" bIns="0" anchor="t">
            <a:normAutofit/>
          </a:bodyPr>
          <a:lstStyle/>
          <a:p>
            <a:pPr algn="l" marL="0" indent="0">
              <a:lnSpc>
                <a:spcPts val="3520"/>
              </a:lnSpc>
              <a:buNone/>
            </a:pPr>
            <a:r>
              <a:rPr sz="3200" b="1" i="0">
                <a:solidFill>
                  <a:srgbClr val="1B2A41"/>
                </a:solidFill>
                <a:latin typeface="Rubik"/>
                <a:ea typeface="Rubik"/>
                <a:cs typeface="Rubik"/>
              </a:rPr>
              <a:t>Set up Python: pick one way</a:t>
            </a:r>
          </a:p>
        </p:txBody>
      </p:sp>
      <p:sp>
        <p:nvSpPr>
          <p:cNvPr id="4" name="Rounded Rectangle 3"/>
          <p:cNvSpPr/>
          <p:nvPr/>
        </p:nvSpPr>
        <p:spPr>
          <a:xfrm>
            <a:off x="819150" y="1809651"/>
            <a:ext cx="3373934" cy="2617986"/>
          </a:xfrm>
          <a:prstGeom prst="roundRect">
            <a:avLst>
              <a:gd name="adj" fmla="val 4851"/>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79500" y="2044601"/>
            <a:ext cx="1504752" cy="28952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93800" y="2082701"/>
            <a:ext cx="1314436" cy="213320"/>
          </a:xfrm>
          <a:prstGeom prst="rect">
            <a:avLst/>
          </a:prstGeom>
          <a:noFill/>
        </p:spPr>
        <p:txBody>
          <a:bodyPr wrap="square" lIns="0" rIns="0" tIns="0" bIns="0" anchor="t">
            <a:normAutofit/>
          </a:bodyPr>
          <a:lstStyle/>
          <a:p>
            <a:pPr algn="l" marL="0" indent="0">
              <a:lnSpc>
                <a:spcPts val="1680"/>
              </a:lnSpc>
              <a:buNone/>
            </a:pPr>
            <a:r>
              <a:rPr sz="1200" b="1" i="0">
                <a:solidFill>
                  <a:srgbClr val="1B2A41"/>
                </a:solidFill>
                <a:latin typeface="Rubik"/>
                <a:ea typeface="Rubik"/>
                <a:cs typeface="Rubik"/>
              </a:rPr>
              <a:t>Best for lab work</a:t>
            </a:r>
          </a:p>
        </p:txBody>
      </p:sp>
      <p:sp>
        <p:nvSpPr>
          <p:cNvPr id="7" name="TextBox 6"/>
          <p:cNvSpPr txBox="1"/>
          <p:nvPr/>
        </p:nvSpPr>
        <p:spPr>
          <a:xfrm>
            <a:off x="1079500" y="2435721"/>
            <a:ext cx="2938831"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On your laptop</a:t>
            </a:r>
          </a:p>
        </p:txBody>
      </p:sp>
      <p:sp>
        <p:nvSpPr>
          <p:cNvPr id="8" name="TextBox 7"/>
          <p:cNvSpPr txBox="1"/>
          <p:nvPr/>
        </p:nvSpPr>
        <p:spPr>
          <a:xfrm>
            <a:off x="1079500" y="2811562"/>
            <a:ext cx="2938831" cy="1381125"/>
          </a:xfrm>
          <a:prstGeom prst="rect">
            <a:avLst/>
          </a:prstGeom>
          <a:noFill/>
        </p:spPr>
        <p:txBody>
          <a:bodyPr wrap="square" lIns="0" rIns="0" tIns="0" bIns="0" anchor="t">
            <a:normAutofit/>
          </a:bodyPr>
          <a:lstStyle/>
          <a:p>
            <a:pPr algn="l" marL="247650" indent="-171450">
              <a:lnSpc>
                <a:spcPts val="2175"/>
              </a:lnSpc>
              <a:buAutoNum type="arabicPeriod"/>
            </a:pPr>
            <a:r>
              <a:rPr sz="1500" b="0" i="0">
                <a:solidFill>
                  <a:srgbClr val="4A5568"/>
                </a:solidFill>
                <a:latin typeface="Rubik"/>
                <a:ea typeface="Rubik"/>
                <a:cs typeface="Rubik"/>
              </a:rPr>
              <a:t>Visit python.org/downloads</a:t>
            </a:r>
          </a:p>
          <a:p>
            <a:pPr algn="l" marL="247650" indent="-171450">
              <a:lnSpc>
                <a:spcPts val="2175"/>
              </a:lnSpc>
              <a:buAutoNum type="arabicPeriod"/>
            </a:pPr>
            <a:r>
              <a:rPr sz="1500" b="0" i="0">
                <a:solidFill>
                  <a:srgbClr val="4A5568"/>
                </a:solidFill>
                <a:latin typeface="Rubik"/>
                <a:ea typeface="Rubik"/>
                <a:cs typeface="Rubik"/>
              </a:rPr>
              <a:t>Download Python 3</a:t>
            </a:r>
          </a:p>
          <a:p>
            <a:pPr algn="l" marL="247650" indent="-171450">
              <a:lnSpc>
                <a:spcPts val="2175"/>
              </a:lnSpc>
              <a:buAutoNum type="arabicPeriod"/>
            </a:pPr>
            <a:r>
              <a:rPr sz="1500" b="0" i="0">
                <a:solidFill>
                  <a:srgbClr val="4A5568"/>
                </a:solidFill>
                <a:latin typeface="Rubik"/>
                <a:ea typeface="Rubik"/>
                <a:cs typeface="Rubik"/>
              </a:rPr>
              <a:t>Tick “Add python.exe to PATH”</a:t>
            </a:r>
          </a:p>
          <a:p>
            <a:pPr algn="l" marL="247650" indent="-171450">
              <a:lnSpc>
                <a:spcPts val="2175"/>
              </a:lnSpc>
              <a:buAutoNum type="arabicPeriod"/>
            </a:pPr>
            <a:r>
              <a:rPr sz="1500" b="0" i="0">
                <a:solidFill>
                  <a:srgbClr val="4A5568"/>
                </a:solidFill>
                <a:latin typeface="Rubik"/>
                <a:ea typeface="Rubik"/>
                <a:cs typeface="Rubik"/>
              </a:rPr>
              <a:t>Code in IDLE or VS Code</a:t>
            </a:r>
          </a:p>
        </p:txBody>
      </p:sp>
      <p:sp>
        <p:nvSpPr>
          <p:cNvPr id="9" name="Rounded Rectangle 8"/>
          <p:cNvSpPr/>
          <p:nvPr/>
        </p:nvSpPr>
        <p:spPr>
          <a:xfrm>
            <a:off x="4408984" y="1809651"/>
            <a:ext cx="3373934" cy="2617986"/>
          </a:xfrm>
          <a:prstGeom prst="roundRect">
            <a:avLst>
              <a:gd name="adj" fmla="val 4851"/>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669334" y="2044601"/>
            <a:ext cx="1084461" cy="289520"/>
          </a:xfrm>
          <a:prstGeom prst="roundRect">
            <a:avLst>
              <a:gd name="adj" fmla="val 50000"/>
            </a:avLst>
          </a:prstGeom>
          <a:solidFill>
            <a:srgbClr val="E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83634" y="2082701"/>
            <a:ext cx="881537" cy="213320"/>
          </a:xfrm>
          <a:prstGeom prst="rect">
            <a:avLst/>
          </a:prstGeom>
          <a:noFill/>
        </p:spPr>
        <p:txBody>
          <a:bodyPr wrap="square" lIns="0" rIns="0" tIns="0" bIns="0" anchor="t">
            <a:normAutofit/>
          </a:bodyPr>
          <a:lstStyle/>
          <a:p>
            <a:pPr algn="l" marL="0" indent="0">
              <a:lnSpc>
                <a:spcPts val="1680"/>
              </a:lnSpc>
              <a:buNone/>
            </a:pPr>
            <a:r>
              <a:rPr sz="1200" b="1" i="0">
                <a:solidFill>
                  <a:srgbClr val="1B2A41"/>
                </a:solidFill>
                <a:latin typeface="Rubik"/>
                <a:ea typeface="Rubik"/>
                <a:cs typeface="Rubik"/>
              </a:rPr>
              <a:t>Zero install</a:t>
            </a:r>
          </a:p>
        </p:txBody>
      </p:sp>
      <p:sp>
        <p:nvSpPr>
          <p:cNvPr id="12" name="TextBox 11"/>
          <p:cNvSpPr txBox="1"/>
          <p:nvPr/>
        </p:nvSpPr>
        <p:spPr>
          <a:xfrm>
            <a:off x="4669334" y="2435721"/>
            <a:ext cx="2938831"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In your browser</a:t>
            </a:r>
          </a:p>
        </p:txBody>
      </p:sp>
      <p:sp>
        <p:nvSpPr>
          <p:cNvPr id="13" name="TextBox 12"/>
          <p:cNvSpPr txBox="1"/>
          <p:nvPr/>
        </p:nvSpPr>
        <p:spPr>
          <a:xfrm>
            <a:off x="4669334" y="2811562"/>
            <a:ext cx="2938831" cy="828675"/>
          </a:xfrm>
          <a:prstGeom prst="rect">
            <a:avLst/>
          </a:prstGeom>
          <a:noFill/>
        </p:spPr>
        <p:txBody>
          <a:bodyPr wrap="square" lIns="0" rIns="0" tIns="0" bIns="0" anchor="t">
            <a:normAutofit/>
          </a:bodyPr>
          <a:lstStyle/>
          <a:p>
            <a:pPr algn="l" marL="247650" indent="-171450">
              <a:lnSpc>
                <a:spcPts val="2175"/>
              </a:lnSpc>
              <a:buFont typeface="Arial"/>
              <a:buChar char="•"/>
            </a:pPr>
            <a:r>
              <a:rPr sz="1500" b="0" i="0">
                <a:solidFill>
                  <a:srgbClr val="4A5568"/>
                </a:solidFill>
                <a:latin typeface="Rubik"/>
                <a:ea typeface="Rubik"/>
                <a:cs typeface="Rubik"/>
              </a:rPr>
              <a:t>W3Schools “Try it Yourself”</a:t>
            </a:r>
          </a:p>
          <a:p>
            <a:pPr algn="l" marL="247650" indent="-171450">
              <a:lnSpc>
                <a:spcPts val="2175"/>
              </a:lnSpc>
              <a:buFont typeface="Arial"/>
              <a:buChar char="•"/>
            </a:pPr>
            <a:r>
              <a:rPr sz="1500" b="0" i="0">
                <a:solidFill>
                  <a:srgbClr val="4A5568"/>
                </a:solidFill>
                <a:latin typeface="Rubik"/>
                <a:ea typeface="Rubik"/>
                <a:cs typeface="Rubik"/>
              </a:rPr>
              <a:t>Google Colab</a:t>
            </a:r>
          </a:p>
          <a:p>
            <a:pPr algn="l" marL="247650" indent="-171450">
              <a:lnSpc>
                <a:spcPts val="2175"/>
              </a:lnSpc>
              <a:buFont typeface="Arial"/>
              <a:buChar char="•"/>
            </a:pPr>
            <a:r>
              <a:rPr sz="1500" b="0" i="0">
                <a:solidFill>
                  <a:srgbClr val="4A5568"/>
                </a:solidFill>
                <a:latin typeface="Rubik"/>
                <a:ea typeface="Rubik"/>
                <a:cs typeface="Rubik"/>
              </a:rPr>
              <a:t>Programiz online compiler</a:t>
            </a:r>
          </a:p>
        </p:txBody>
      </p:sp>
      <p:sp>
        <p:nvSpPr>
          <p:cNvPr id="14" name="Rounded Rectangle 13"/>
          <p:cNvSpPr/>
          <p:nvPr/>
        </p:nvSpPr>
        <p:spPr>
          <a:xfrm>
            <a:off x="7998817" y="1809651"/>
            <a:ext cx="3373934" cy="2617986"/>
          </a:xfrm>
          <a:prstGeom prst="roundRect">
            <a:avLst>
              <a:gd name="adj" fmla="val 4851"/>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59167" y="2044601"/>
            <a:ext cx="1659136" cy="289520"/>
          </a:xfrm>
          <a:prstGeom prst="roundRect">
            <a:avLst>
              <a:gd name="adj" fmla="val 50000"/>
            </a:avLst>
          </a:prstGeom>
          <a:solidFill>
            <a:srgbClr val="E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73467" y="2082701"/>
            <a:ext cx="1473452" cy="213320"/>
          </a:xfrm>
          <a:prstGeom prst="rect">
            <a:avLst/>
          </a:prstGeom>
          <a:noFill/>
        </p:spPr>
        <p:txBody>
          <a:bodyPr wrap="square" lIns="0" rIns="0" tIns="0" bIns="0" anchor="t">
            <a:normAutofit/>
          </a:bodyPr>
          <a:lstStyle/>
          <a:p>
            <a:pPr algn="l" marL="0" indent="0">
              <a:lnSpc>
                <a:spcPts val="1680"/>
              </a:lnSpc>
              <a:buNone/>
            </a:pPr>
            <a:r>
              <a:rPr sz="1200" b="1" i="0">
                <a:solidFill>
                  <a:srgbClr val="1B2A41"/>
                </a:solidFill>
                <a:latin typeface="Rubik"/>
                <a:ea typeface="Rubik"/>
                <a:cs typeface="Rubik"/>
              </a:rPr>
              <a:t>Practice anywhere</a:t>
            </a:r>
          </a:p>
        </p:txBody>
      </p:sp>
      <p:sp>
        <p:nvSpPr>
          <p:cNvPr id="17" name="TextBox 16"/>
          <p:cNvSpPr txBox="1"/>
          <p:nvPr/>
        </p:nvSpPr>
        <p:spPr>
          <a:xfrm>
            <a:off x="8259167" y="2435721"/>
            <a:ext cx="2938831"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On your phone</a:t>
            </a:r>
          </a:p>
        </p:txBody>
      </p:sp>
      <p:sp>
        <p:nvSpPr>
          <p:cNvPr id="18" name="TextBox 17"/>
          <p:cNvSpPr txBox="1"/>
          <p:nvPr/>
        </p:nvSpPr>
        <p:spPr>
          <a:xfrm>
            <a:off x="8259167" y="2811562"/>
            <a:ext cx="2938831" cy="828675"/>
          </a:xfrm>
          <a:prstGeom prst="rect">
            <a:avLst/>
          </a:prstGeom>
          <a:noFill/>
        </p:spPr>
        <p:txBody>
          <a:bodyPr wrap="square" lIns="0" rIns="0" tIns="0" bIns="0" anchor="t">
            <a:normAutofit/>
          </a:bodyPr>
          <a:lstStyle/>
          <a:p>
            <a:pPr algn="l" marL="247650" indent="-171450">
              <a:lnSpc>
                <a:spcPts val="2175"/>
              </a:lnSpc>
              <a:buFont typeface="Arial"/>
              <a:buChar char="•"/>
            </a:pPr>
            <a:r>
              <a:rPr sz="1500" b="0" i="0">
                <a:solidFill>
                  <a:srgbClr val="4A5568"/>
                </a:solidFill>
                <a:latin typeface="Rubik"/>
                <a:ea typeface="Rubik"/>
                <a:cs typeface="Rubik"/>
              </a:rPr>
              <a:t>Pydroid 3 (Android)</a:t>
            </a:r>
          </a:p>
          <a:p>
            <a:pPr algn="l" marL="247650" indent="-171450">
              <a:lnSpc>
                <a:spcPts val="2175"/>
              </a:lnSpc>
              <a:buFont typeface="Arial"/>
              <a:buChar char="•"/>
            </a:pPr>
            <a:r>
              <a:rPr sz="1500" b="0" i="0">
                <a:solidFill>
                  <a:srgbClr val="4A5568"/>
                </a:solidFill>
                <a:latin typeface="Rubik"/>
                <a:ea typeface="Rubik"/>
                <a:cs typeface="Rubik"/>
              </a:rPr>
              <a:t>Great for quick practice in the hostel or on the bus</a:t>
            </a:r>
          </a:p>
        </p:txBody>
      </p:sp>
      <p:sp>
        <p:nvSpPr>
          <p:cNvPr id="19" name="Rounded Rectangle 18"/>
          <p:cNvSpPr/>
          <p:nvPr/>
        </p:nvSpPr>
        <p:spPr>
          <a:xfrm>
            <a:off x="812800" y="4687987"/>
            <a:ext cx="10566400" cy="622300"/>
          </a:xfrm>
          <a:prstGeom prst="roundRect">
            <a:avLst>
              <a:gd name="adj" fmla="val 20408"/>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6800" y="4865787"/>
            <a:ext cx="3170814" cy="266700"/>
          </a:xfrm>
          <a:prstGeom prst="rect">
            <a:avLst/>
          </a:prstGeom>
          <a:noFill/>
        </p:spPr>
        <p:txBody>
          <a:bodyPr wrap="square" lIns="0" rIns="0" tIns="0" bIns="0" anchor="t">
            <a:normAutofit/>
          </a:bodyPr>
          <a:lstStyle/>
          <a:p>
            <a:pPr algn="l" marL="0" indent="0">
              <a:lnSpc>
                <a:spcPts val="2100"/>
              </a:lnSpc>
              <a:buNone/>
            </a:pPr>
            <a:r>
              <a:rPr sz="1500" b="0" i="0">
                <a:solidFill>
                  <a:srgbClr val="F7F5EF"/>
                </a:solidFill>
                <a:latin typeface="Rubik"/>
                <a:ea typeface="Rubik"/>
                <a:cs typeface="Rubik"/>
              </a:rPr>
              <a:t>Check it: in Command Prompt type</a:t>
            </a:r>
          </a:p>
        </p:txBody>
      </p:sp>
      <p:sp>
        <p:nvSpPr>
          <p:cNvPr id="21" name="TextBox 20"/>
          <p:cNvSpPr txBox="1"/>
          <p:nvPr/>
        </p:nvSpPr>
        <p:spPr>
          <a:xfrm>
            <a:off x="4297660" y="4865787"/>
            <a:ext cx="1883664" cy="266700"/>
          </a:xfrm>
          <a:prstGeom prst="rect">
            <a:avLst/>
          </a:prstGeom>
          <a:noFill/>
        </p:spPr>
        <p:txBody>
          <a:bodyPr wrap="square" lIns="0" rIns="0" tIns="0" bIns="0" anchor="t">
            <a:normAutofit/>
          </a:bodyPr>
          <a:lstStyle/>
          <a:p>
            <a:pPr algn="l" marL="0" indent="0">
              <a:lnSpc>
                <a:spcPts val="2100"/>
              </a:lnSpc>
              <a:buNone/>
            </a:pPr>
            <a:r>
              <a:rPr sz="1500" b="0" i="0">
                <a:solidFill>
                  <a:srgbClr val="F2B33D"/>
                </a:solidFill>
                <a:latin typeface="JetBrains Mono"/>
                <a:ea typeface="JetBrains Mono"/>
                <a:cs typeface="JetBrains Mono"/>
              </a:rPr>
              <a:t>python --version</a:t>
            </a:r>
          </a:p>
        </p:txBody>
      </p:sp>
      <p:sp>
        <p:nvSpPr>
          <p:cNvPr id="22" name="TextBox 21"/>
          <p:cNvSpPr txBox="1"/>
          <p:nvPr/>
        </p:nvSpPr>
        <p:spPr>
          <a:xfrm>
            <a:off x="6278860" y="4865787"/>
            <a:ext cx="2939239" cy="266700"/>
          </a:xfrm>
          <a:prstGeom prst="rect">
            <a:avLst/>
          </a:prstGeom>
          <a:noFill/>
        </p:spPr>
        <p:txBody>
          <a:bodyPr wrap="square" lIns="0" rIns="0" tIns="0" bIns="0" anchor="t">
            <a:normAutofit/>
          </a:bodyPr>
          <a:lstStyle/>
          <a:p>
            <a:pPr algn="l" marL="0" indent="0">
              <a:lnSpc>
                <a:spcPts val="2100"/>
              </a:lnSpc>
              <a:buNone/>
            </a:pPr>
            <a:r>
              <a:rPr sz="1500" b="0" i="0">
                <a:solidFill>
                  <a:srgbClr val="C9D4E2"/>
                </a:solidFill>
                <a:latin typeface="Rubik"/>
                <a:ea typeface="Rubik"/>
                <a:cs typeface="Rubik"/>
              </a:rPr>
              <a:t>and you should see Python 3.x.x</a:t>
            </a:r>
          </a:p>
        </p:txBody>
      </p:sp>
      <p:sp>
        <p:nvSpPr>
          <p:cNvPr id="23" name="TextBox 22"/>
          <p:cNvSpPr txBox="1"/>
          <p:nvPr/>
        </p:nvSpPr>
        <p:spPr>
          <a:xfrm>
            <a:off x="812800" y="6238280"/>
            <a:ext cx="10883392" cy="213320"/>
          </a:xfrm>
          <a:prstGeom prst="rect">
            <a:avLst/>
          </a:prstGeom>
          <a:noFill/>
        </p:spPr>
        <p:txBody>
          <a:bodyPr wrap="square" lIns="0" rIns="0" tIns="0" bIns="0" anchor="t">
            <a:normAutofit/>
          </a:bodyPr>
          <a:lstStyle/>
          <a:p>
            <a:pPr algn="l" marL="0" indent="0">
              <a:lnSpc>
                <a:spcPts val="1680"/>
              </a:lnSpc>
              <a:buNone/>
            </a:pPr>
            <a:r>
              <a:rPr sz="1200" b="0" i="0">
                <a:solidFill>
                  <a:srgbClr val="5F6B7A"/>
                </a:solidFill>
                <a:latin typeface="Rubik"/>
                <a:ea typeface="Rubik"/>
                <a:cs typeface="Rubik"/>
              </a:rPr>
              <a:t>Python Programming · Week 1 · Class 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3" name="TextBox 2"/>
          <p:cNvSpPr txBox="1"/>
          <p:nvPr/>
        </p:nvSpPr>
        <p:spPr>
          <a:xfrm>
            <a:off x="812800" y="812800"/>
            <a:ext cx="10883392"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CLASS 1 · YOUR FIRST PROGRAM</a:t>
            </a:r>
          </a:p>
        </p:txBody>
      </p:sp>
      <p:sp>
        <p:nvSpPr>
          <p:cNvPr id="2" name="Title 1"/>
          <p:cNvSpPr>
            <a:spLocks noGrp="1"/>
          </p:cNvSpPr>
          <p:nvPr>
            <p:ph type="title"/>
          </p:nvPr>
        </p:nvSpPr>
        <p:spPr>
          <a:xfrm>
            <a:off x="812800" y="1102320"/>
            <a:ext cx="10883392" cy="446980"/>
          </a:xfrm>
        </p:spPr>
        <p:txBody>
          <a:bodyPr wrap="square" lIns="0" rIns="0" tIns="0" bIns="0" anchor="t">
            <a:normAutofit/>
          </a:bodyPr>
          <a:lstStyle/>
          <a:p>
            <a:pPr algn="l" marL="0" indent="0">
              <a:lnSpc>
                <a:spcPts val="3520"/>
              </a:lnSpc>
              <a:buNone/>
            </a:pPr>
            <a:r>
              <a:rPr sz="3200" b="1" i="0">
                <a:solidFill>
                  <a:srgbClr val="1B2A41"/>
                </a:solidFill>
                <a:latin typeface="Rubik"/>
                <a:ea typeface="Rubik"/>
                <a:cs typeface="Rubik"/>
              </a:rPr>
              <a:t>Hello, World!</a:t>
            </a:r>
          </a:p>
        </p:txBody>
      </p:sp>
      <p:sp>
        <p:nvSpPr>
          <p:cNvPr id="4" name="Rounded Rectangle 3"/>
          <p:cNvSpPr/>
          <p:nvPr/>
        </p:nvSpPr>
        <p:spPr>
          <a:xfrm>
            <a:off x="812800" y="1854101"/>
            <a:ext cx="5700812" cy="2175470"/>
          </a:xfrm>
          <a:prstGeom prst="roundRect">
            <a:avLst>
              <a:gd name="adj" fmla="val 5837"/>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2200" y="2082701"/>
            <a:ext cx="5296272" cy="213320"/>
          </a:xfrm>
          <a:prstGeom prst="rect">
            <a:avLst/>
          </a:prstGeom>
          <a:noFill/>
        </p:spPr>
        <p:txBody>
          <a:bodyPr wrap="square" lIns="0" rIns="0" tIns="0" bIns="0" anchor="t">
            <a:normAutofit/>
          </a:bodyPr>
          <a:lstStyle/>
          <a:p>
            <a:pPr algn="l" marL="0" indent="0">
              <a:lnSpc>
                <a:spcPts val="1680"/>
              </a:lnSpc>
              <a:buNone/>
            </a:pPr>
            <a:r>
              <a:rPr sz="1200" b="0" i="0">
                <a:solidFill>
                  <a:srgbClr val="8FA3B8"/>
                </a:solidFill>
                <a:latin typeface="JetBrains Mono"/>
                <a:ea typeface="JetBrains Mono"/>
                <a:cs typeface="JetBrains Mono"/>
              </a:rPr>
              <a:t>hello.py</a:t>
            </a:r>
          </a:p>
        </p:txBody>
      </p:sp>
      <p:sp>
        <p:nvSpPr>
          <p:cNvPr id="6" name="TextBox 5"/>
          <p:cNvSpPr txBox="1"/>
          <p:nvPr/>
        </p:nvSpPr>
        <p:spPr>
          <a:xfrm>
            <a:off x="1092200" y="2372221"/>
            <a:ext cx="5296272" cy="1428750"/>
          </a:xfrm>
          <a:prstGeom prst="rect">
            <a:avLst/>
          </a:prstGeom>
          <a:noFill/>
        </p:spPr>
        <p:txBody>
          <a:bodyPr wrap="square" lIns="0" rIns="0" tIns="0" bIns="0" anchor="t">
            <a:normAutofit/>
          </a:bodyPr>
          <a:lstStyle/>
          <a:p>
            <a:pPr algn="l" marL="0" indent="0">
              <a:lnSpc>
                <a:spcPts val="2250"/>
              </a:lnSpc>
              <a:buNone/>
            </a:pPr>
            <a:r>
              <a:rPr sz="1500" b="0" i="0">
                <a:solidFill>
                  <a:srgbClr val="8FA3B8"/>
                </a:solidFill>
                <a:latin typeface="JetBrains Mono"/>
                <a:ea typeface="JetBrains Mono"/>
                <a:cs typeface="JetBrains Mono"/>
              </a:rPr>
              <a:t># My first Python program</a:t>
            </a:r>
          </a:p>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t>
            </a:r>
            <a:r>
              <a:rPr sz="1500" b="0" i="0">
                <a:solidFill>
                  <a:srgbClr val="9FD8A8"/>
                </a:solidFill>
                <a:latin typeface="JetBrains Mono"/>
                <a:ea typeface="JetBrains Mono"/>
                <a:cs typeface="JetBrains Mono"/>
              </a:rPr>
              <a:t>"Hello, World!"</a:t>
            </a:r>
            <a:r>
              <a:rPr sz="1500" b="0" i="0">
                <a:solidFill>
                  <a:srgbClr val="E8EDF3"/>
                </a:solidFill>
                <a:latin typeface="JetBrains Mono"/>
                <a:ea typeface="JetBrains Mono"/>
                <a:cs typeface="JetBrains Mono"/>
              </a:rPr>
              <a:t>)</a:t>
            </a:r>
          </a:p>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t>
            </a:r>
            <a:r>
              <a:rPr sz="1500" b="0" i="0">
                <a:solidFill>
                  <a:srgbClr val="9FD8A8"/>
                </a:solidFill>
                <a:latin typeface="JetBrains Mono"/>
                <a:ea typeface="JetBrains Mono"/>
                <a:cs typeface="JetBrains Mono"/>
              </a:rPr>
              <a:t>"Welcome to Bhubaneswar"</a:t>
            </a:r>
            <a:r>
              <a:rPr sz="1500" b="0" i="0">
                <a:solidFill>
                  <a:srgbClr val="E8EDF3"/>
                </a:solidFill>
                <a:latin typeface="JetBrains Mono"/>
                <a:ea typeface="JetBrains Mono"/>
                <a:cs typeface="JetBrains Mono"/>
              </a:rPr>
              <a:t>)</a:t>
            </a:r>
          </a:p>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(10 + 5)</a:t>
            </a:r>
          </a:p>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t>
            </a:r>
            <a:r>
              <a:rPr sz="1500" b="0" i="0">
                <a:solidFill>
                  <a:srgbClr val="9FD8A8"/>
                </a:solidFill>
                <a:latin typeface="JetBrains Mono"/>
                <a:ea typeface="JetBrains Mono"/>
                <a:cs typeface="JetBrains Mono"/>
              </a:rPr>
              <a:t>"Odisha"</a:t>
            </a:r>
            <a:r>
              <a:rPr sz="1500" b="0" i="0">
                <a:solidFill>
                  <a:srgbClr val="E8EDF3"/>
                </a:solidFill>
                <a:latin typeface="JetBrains Mono"/>
                <a:ea typeface="JetBrains Mono"/>
                <a:cs typeface="JetBrains Mono"/>
              </a:rPr>
              <a:t>, </a:t>
            </a:r>
            <a:r>
              <a:rPr sz="1500" b="0" i="0">
                <a:solidFill>
                  <a:srgbClr val="9FD8A8"/>
                </a:solidFill>
                <a:latin typeface="JetBrains Mono"/>
                <a:ea typeface="JetBrains Mono"/>
                <a:cs typeface="JetBrains Mono"/>
              </a:rPr>
              <a:t>"India"</a:t>
            </a:r>
            <a:r>
              <a:rPr sz="1500" b="0" i="0">
                <a:solidFill>
                  <a:srgbClr val="E8EDF3"/>
                </a:solidFill>
                <a:latin typeface="JetBrains Mono"/>
                <a:ea typeface="JetBrains Mono"/>
                <a:cs typeface="JetBrains Mono"/>
              </a:rPr>
              <a:t>, sep=</a:t>
            </a:r>
            <a:r>
              <a:rPr sz="1500" b="0" i="0">
                <a:solidFill>
                  <a:srgbClr val="9FD8A8"/>
                </a:solidFill>
                <a:latin typeface="JetBrains Mono"/>
                <a:ea typeface="JetBrains Mono"/>
                <a:cs typeface="JetBrains Mono"/>
              </a:rPr>
              <a:t>" | "</a:t>
            </a:r>
            <a:r>
              <a:rPr sz="1500" b="0" i="0">
                <a:solidFill>
                  <a:srgbClr val="E8EDF3"/>
                </a:solidFill>
                <a:latin typeface="JetBrains Mono"/>
                <a:ea typeface="JetBrains Mono"/>
                <a:cs typeface="JetBrains Mono"/>
              </a:rPr>
              <a:t>)</a:t>
            </a:r>
          </a:p>
        </p:txBody>
      </p:sp>
      <p:sp>
        <p:nvSpPr>
          <p:cNvPr id="7" name="Rounded Rectangle 6"/>
          <p:cNvSpPr/>
          <p:nvPr/>
        </p:nvSpPr>
        <p:spPr>
          <a:xfrm>
            <a:off x="6824762" y="1860451"/>
            <a:ext cx="4548088" cy="1902420"/>
          </a:xfrm>
          <a:prstGeom prst="roundRect">
            <a:avLst>
              <a:gd name="adj" fmla="val 6675"/>
            </a:avLst>
          </a:prstGeom>
          <a:solidFill>
            <a:srgbClr val="FFFDF8"/>
          </a:solidFill>
          <a:ln w="12700">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10512" y="2095401"/>
            <a:ext cx="4095886"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OUTPUT</a:t>
            </a:r>
          </a:p>
        </p:txBody>
      </p:sp>
      <p:sp>
        <p:nvSpPr>
          <p:cNvPr id="9" name="TextBox 8"/>
          <p:cNvSpPr txBox="1"/>
          <p:nvPr/>
        </p:nvSpPr>
        <p:spPr>
          <a:xfrm>
            <a:off x="7110512" y="2384921"/>
            <a:ext cx="4095886" cy="1143000"/>
          </a:xfrm>
          <a:prstGeom prst="rect">
            <a:avLst/>
          </a:prstGeom>
          <a:noFill/>
        </p:spPr>
        <p:txBody>
          <a:bodyPr wrap="square" lIns="0" rIns="0" tIns="0" bIns="0" anchor="t">
            <a:normAutofit/>
          </a:bodyPr>
          <a:lstStyle/>
          <a:p>
            <a:pPr algn="l" marL="0" indent="0">
              <a:lnSpc>
                <a:spcPts val="2250"/>
              </a:lnSpc>
              <a:buNone/>
            </a:pPr>
            <a:r>
              <a:rPr sz="1500" b="0" i="0">
                <a:solidFill>
                  <a:srgbClr val="1B2A41"/>
                </a:solidFill>
                <a:latin typeface="JetBrains Mono"/>
                <a:ea typeface="JetBrains Mono"/>
                <a:cs typeface="JetBrains Mono"/>
              </a:rPr>
              <a:t>Hello, World!</a:t>
            </a:r>
          </a:p>
          <a:p>
            <a:pPr algn="l" marL="0" indent="0">
              <a:lnSpc>
                <a:spcPts val="2250"/>
              </a:lnSpc>
              <a:buNone/>
            </a:pPr>
            <a:r>
              <a:rPr sz="1500" b="0" i="0">
                <a:solidFill>
                  <a:srgbClr val="1B2A41"/>
                </a:solidFill>
                <a:latin typeface="JetBrains Mono"/>
                <a:ea typeface="JetBrains Mono"/>
                <a:cs typeface="JetBrains Mono"/>
              </a:rPr>
              <a:t>Welcome to Bhubaneswar</a:t>
            </a:r>
          </a:p>
          <a:p>
            <a:pPr algn="l" marL="0" indent="0">
              <a:lnSpc>
                <a:spcPts val="2250"/>
              </a:lnSpc>
              <a:buNone/>
            </a:pPr>
            <a:r>
              <a:rPr sz="1500" b="0" i="0">
                <a:solidFill>
                  <a:srgbClr val="1B2A41"/>
                </a:solidFill>
                <a:latin typeface="JetBrains Mono"/>
                <a:ea typeface="JetBrains Mono"/>
                <a:cs typeface="JetBrains Mono"/>
              </a:rPr>
              <a:t>15</a:t>
            </a:r>
          </a:p>
          <a:p>
            <a:pPr algn="l" marL="0" indent="0">
              <a:lnSpc>
                <a:spcPts val="2250"/>
              </a:lnSpc>
              <a:buNone/>
            </a:pPr>
            <a:r>
              <a:rPr sz="1500" b="0" i="0">
                <a:solidFill>
                  <a:srgbClr val="1B2A41"/>
                </a:solidFill>
                <a:latin typeface="JetBrains Mono"/>
                <a:ea typeface="JetBrains Mono"/>
                <a:cs typeface="JetBrains Mono"/>
              </a:rPr>
              <a:t>Odisha | India</a:t>
            </a:r>
          </a:p>
        </p:txBody>
      </p:sp>
      <p:sp>
        <p:nvSpPr>
          <p:cNvPr id="10" name="Rounded Rectangle 9"/>
          <p:cNvSpPr/>
          <p:nvPr/>
        </p:nvSpPr>
        <p:spPr>
          <a:xfrm>
            <a:off x="819150" y="4340721"/>
            <a:ext cx="2514600" cy="1219200"/>
          </a:xfrm>
          <a:prstGeom prst="roundRect">
            <a:avLst>
              <a:gd name="adj" fmla="val 10416"/>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8700" y="4524871"/>
            <a:ext cx="2158365"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print()</a:t>
            </a:r>
          </a:p>
        </p:txBody>
      </p:sp>
      <p:sp>
        <p:nvSpPr>
          <p:cNvPr id="12" name="TextBox 11"/>
          <p:cNvSpPr txBox="1"/>
          <p:nvPr/>
        </p:nvSpPr>
        <p:spPr>
          <a:xfrm>
            <a:off x="1028700" y="4842371"/>
            <a:ext cx="2158365" cy="5334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Shows output on the screen</a:t>
            </a:r>
          </a:p>
        </p:txBody>
      </p:sp>
      <p:sp>
        <p:nvSpPr>
          <p:cNvPr id="13" name="Rounded Rectangle 12"/>
          <p:cNvSpPr/>
          <p:nvPr/>
        </p:nvSpPr>
        <p:spPr>
          <a:xfrm>
            <a:off x="3498850" y="4340721"/>
            <a:ext cx="2514600" cy="1219200"/>
          </a:xfrm>
          <a:prstGeom prst="roundRect">
            <a:avLst>
              <a:gd name="adj" fmla="val 10416"/>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08400" y="4524871"/>
            <a:ext cx="2158365"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"in quotes"</a:t>
            </a:r>
          </a:p>
        </p:txBody>
      </p:sp>
      <p:sp>
        <p:nvSpPr>
          <p:cNvPr id="15" name="TextBox 14"/>
          <p:cNvSpPr txBox="1"/>
          <p:nvPr/>
        </p:nvSpPr>
        <p:spPr>
          <a:xfrm>
            <a:off x="3708400" y="4842371"/>
            <a:ext cx="2158365" cy="5334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Text, printed exactly as written</a:t>
            </a:r>
          </a:p>
        </p:txBody>
      </p:sp>
      <p:sp>
        <p:nvSpPr>
          <p:cNvPr id="16" name="Rounded Rectangle 15"/>
          <p:cNvSpPr/>
          <p:nvPr/>
        </p:nvSpPr>
        <p:spPr>
          <a:xfrm>
            <a:off x="6178550" y="4340721"/>
            <a:ext cx="2514600" cy="1219200"/>
          </a:xfrm>
          <a:prstGeom prst="roundRect">
            <a:avLst>
              <a:gd name="adj" fmla="val 10416"/>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8100" y="4524871"/>
            <a:ext cx="2158365"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10 + 5</a:t>
            </a:r>
          </a:p>
        </p:txBody>
      </p:sp>
      <p:sp>
        <p:nvSpPr>
          <p:cNvPr id="18" name="TextBox 17"/>
          <p:cNvSpPr txBox="1"/>
          <p:nvPr/>
        </p:nvSpPr>
        <p:spPr>
          <a:xfrm>
            <a:off x="6388100" y="4842371"/>
            <a:ext cx="2158365" cy="5334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No quotes: Python works it out first</a:t>
            </a:r>
          </a:p>
        </p:txBody>
      </p:sp>
      <p:sp>
        <p:nvSpPr>
          <p:cNvPr id="19" name="Rounded Rectangle 18"/>
          <p:cNvSpPr/>
          <p:nvPr/>
        </p:nvSpPr>
        <p:spPr>
          <a:xfrm>
            <a:off x="8858250" y="4340721"/>
            <a:ext cx="2514600" cy="1219200"/>
          </a:xfrm>
          <a:prstGeom prst="roundRect">
            <a:avLst>
              <a:gd name="adj" fmla="val 10416"/>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67800" y="4524871"/>
            <a:ext cx="2158365"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sep=</a:t>
            </a:r>
          </a:p>
        </p:txBody>
      </p:sp>
      <p:sp>
        <p:nvSpPr>
          <p:cNvPr id="21" name="TextBox 20"/>
          <p:cNvSpPr txBox="1"/>
          <p:nvPr/>
        </p:nvSpPr>
        <p:spPr>
          <a:xfrm>
            <a:off x="9067800" y="4842371"/>
            <a:ext cx="2158365" cy="5334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Changes what goes between items</a:t>
            </a:r>
          </a:p>
        </p:txBody>
      </p:sp>
      <p:sp>
        <p:nvSpPr>
          <p:cNvPr id="22" name="TextBox 21"/>
          <p:cNvSpPr txBox="1"/>
          <p:nvPr/>
        </p:nvSpPr>
        <p:spPr>
          <a:xfrm>
            <a:off x="812800" y="6238280"/>
            <a:ext cx="10883392" cy="213320"/>
          </a:xfrm>
          <a:prstGeom prst="rect">
            <a:avLst/>
          </a:prstGeom>
          <a:noFill/>
        </p:spPr>
        <p:txBody>
          <a:bodyPr wrap="square" lIns="0" rIns="0" tIns="0" bIns="0" anchor="t">
            <a:normAutofit/>
          </a:bodyPr>
          <a:lstStyle/>
          <a:p>
            <a:pPr algn="l" marL="0" indent="0">
              <a:lnSpc>
                <a:spcPts val="1680"/>
              </a:lnSpc>
              <a:buNone/>
            </a:pPr>
            <a:r>
              <a:rPr sz="1200" b="0" i="0">
                <a:solidFill>
                  <a:srgbClr val="5F6B7A"/>
                </a:solidFill>
                <a:latin typeface="Rubik"/>
                <a:ea typeface="Rubik"/>
                <a:cs typeface="Rubik"/>
              </a:rPr>
              <a:t>Python Programming · Week 1 · Class 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3" name="TextBox 2"/>
          <p:cNvSpPr txBox="1"/>
          <p:nvPr/>
        </p:nvSpPr>
        <p:spPr>
          <a:xfrm>
            <a:off x="812800" y="812800"/>
            <a:ext cx="10883392"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CLASS 1 · AVOIDING ERRORS</a:t>
            </a:r>
          </a:p>
        </p:txBody>
      </p:sp>
      <p:sp>
        <p:nvSpPr>
          <p:cNvPr id="2" name="Title 1"/>
          <p:cNvSpPr>
            <a:spLocks noGrp="1"/>
          </p:cNvSpPr>
          <p:nvPr>
            <p:ph type="title"/>
          </p:nvPr>
        </p:nvSpPr>
        <p:spPr>
          <a:xfrm>
            <a:off x="812800" y="1102320"/>
            <a:ext cx="10883392" cy="446980"/>
          </a:xfrm>
        </p:spPr>
        <p:txBody>
          <a:bodyPr wrap="square" lIns="0" rIns="0" tIns="0" bIns="0" anchor="t">
            <a:normAutofit/>
          </a:bodyPr>
          <a:lstStyle/>
          <a:p>
            <a:pPr algn="l" marL="0" indent="0">
              <a:lnSpc>
                <a:spcPts val="3520"/>
              </a:lnSpc>
              <a:buNone/>
            </a:pPr>
            <a:r>
              <a:rPr sz="3200" b="1" i="0">
                <a:solidFill>
                  <a:srgbClr val="1B2A41"/>
                </a:solidFill>
                <a:latin typeface="Rubik"/>
                <a:ea typeface="Rubik"/>
                <a:cs typeface="Rubik"/>
              </a:rPr>
              <a:t>Four golden rules of Python</a:t>
            </a:r>
          </a:p>
        </p:txBody>
      </p:sp>
      <p:sp>
        <p:nvSpPr>
          <p:cNvPr id="4" name="Rounded Rectangle 3"/>
          <p:cNvSpPr/>
          <p:nvPr/>
        </p:nvSpPr>
        <p:spPr>
          <a:xfrm>
            <a:off x="819150" y="1860451"/>
            <a:ext cx="5181600" cy="1620441"/>
          </a:xfrm>
          <a:prstGeom prst="roundRect">
            <a:avLst>
              <a:gd name="adj" fmla="val 7837"/>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4100" y="2070001"/>
            <a:ext cx="4853051"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1. Capital letters matter</a:t>
            </a:r>
          </a:p>
        </p:txBody>
      </p:sp>
      <p:sp>
        <p:nvSpPr>
          <p:cNvPr id="6" name="Rounded Rectangle 5"/>
          <p:cNvSpPr/>
          <p:nvPr/>
        </p:nvSpPr>
        <p:spPr>
          <a:xfrm>
            <a:off x="1054100" y="2445841"/>
            <a:ext cx="4711700" cy="825500"/>
          </a:xfrm>
          <a:prstGeom prst="roundRect">
            <a:avLst>
              <a:gd name="adj" fmla="val 10769"/>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1900" y="2572841"/>
            <a:ext cx="4486783" cy="571500"/>
          </a:xfrm>
          <a:prstGeom prst="rect">
            <a:avLst/>
          </a:prstGeom>
          <a:noFill/>
        </p:spPr>
        <p:txBody>
          <a:bodyPr wrap="square" lIns="0" rIns="0" tIns="0" bIns="0" anchor="t">
            <a:normAutofit/>
          </a:bodyPr>
          <a:lstStyle/>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t>
            </a:r>
            <a:r>
              <a:rPr sz="1500" b="0" i="0">
                <a:solidFill>
                  <a:srgbClr val="9FD8A8"/>
                </a:solidFill>
                <a:latin typeface="JetBrains Mono"/>
                <a:ea typeface="JetBrains Mono"/>
                <a:cs typeface="JetBrains Mono"/>
              </a:rPr>
              <a:t>"Hi"</a:t>
            </a:r>
            <a:r>
              <a:rPr sz="1500" b="0" i="0">
                <a:solidFill>
                  <a:srgbClr val="E8EDF3"/>
                </a:solidFill>
                <a:latin typeface="JetBrains Mono"/>
                <a:ea typeface="JetBrains Mono"/>
                <a:cs typeface="JetBrains Mono"/>
              </a:rPr>
              <a:t>)    </a:t>
            </a:r>
            <a:r>
              <a:rPr sz="1500" b="0" i="0">
                <a:solidFill>
                  <a:srgbClr val="8FA3B8"/>
                </a:solidFill>
                <a:latin typeface="JetBrains Mono"/>
                <a:ea typeface="JetBrains Mono"/>
                <a:cs typeface="JetBrains Mono"/>
              </a:rPr>
              <a:t># works</a:t>
            </a:r>
          </a:p>
          <a:p>
            <a:pPr algn="l" marL="0" indent="0">
              <a:lnSpc>
                <a:spcPts val="2250"/>
              </a:lnSpc>
              <a:buNone/>
            </a:pPr>
            <a:r>
              <a:rPr sz="1500" b="0" i="0">
                <a:solidFill>
                  <a:srgbClr val="E8EDF3"/>
                </a:solidFill>
                <a:latin typeface="JetBrains Mono"/>
                <a:ea typeface="JetBrains Mono"/>
                <a:cs typeface="JetBrains Mono"/>
              </a:rPr>
              <a:t>Print(</a:t>
            </a:r>
            <a:r>
              <a:rPr sz="1500" b="0" i="0">
                <a:solidFill>
                  <a:srgbClr val="9FD8A8"/>
                </a:solidFill>
                <a:latin typeface="JetBrains Mono"/>
                <a:ea typeface="JetBrains Mono"/>
                <a:cs typeface="JetBrains Mono"/>
              </a:rPr>
              <a:t>"Hi"</a:t>
            </a:r>
            <a:r>
              <a:rPr sz="1500" b="0" i="0">
                <a:solidFill>
                  <a:srgbClr val="E8EDF3"/>
                </a:solidFill>
                <a:latin typeface="JetBrains Mono"/>
                <a:ea typeface="JetBrains Mono"/>
                <a:cs typeface="JetBrains Mono"/>
              </a:rPr>
              <a:t>)    </a:t>
            </a:r>
            <a:r>
              <a:rPr sz="1500" b="0" i="0">
                <a:solidFill>
                  <a:srgbClr val="8FA3B8"/>
                </a:solidFill>
                <a:latin typeface="JetBrains Mono"/>
                <a:ea typeface="JetBrains Mono"/>
                <a:cs typeface="JetBrains Mono"/>
              </a:rPr>
              <a:t># NameError</a:t>
            </a:r>
          </a:p>
        </p:txBody>
      </p:sp>
      <p:sp>
        <p:nvSpPr>
          <p:cNvPr id="8" name="Rounded Rectangle 7"/>
          <p:cNvSpPr/>
          <p:nvPr/>
        </p:nvSpPr>
        <p:spPr>
          <a:xfrm>
            <a:off x="6191250" y="1860451"/>
            <a:ext cx="5181600" cy="1620441"/>
          </a:xfrm>
          <a:prstGeom prst="roundRect">
            <a:avLst>
              <a:gd name="adj" fmla="val 7837"/>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6200" y="2070001"/>
            <a:ext cx="4853051"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2. Quotes must match</a:t>
            </a:r>
          </a:p>
        </p:txBody>
      </p:sp>
      <p:sp>
        <p:nvSpPr>
          <p:cNvPr id="10" name="Rounded Rectangle 9"/>
          <p:cNvSpPr/>
          <p:nvPr/>
        </p:nvSpPr>
        <p:spPr>
          <a:xfrm>
            <a:off x="6426200" y="2445841"/>
            <a:ext cx="4711700" cy="825500"/>
          </a:xfrm>
          <a:prstGeom prst="roundRect">
            <a:avLst>
              <a:gd name="adj" fmla="val 10769"/>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0" y="2572841"/>
            <a:ext cx="4486783" cy="571500"/>
          </a:xfrm>
          <a:prstGeom prst="rect">
            <a:avLst/>
          </a:prstGeom>
          <a:noFill/>
        </p:spPr>
        <p:txBody>
          <a:bodyPr wrap="square" lIns="0" rIns="0" tIns="0" bIns="0" anchor="t">
            <a:normAutofit/>
          </a:bodyPr>
          <a:lstStyle/>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t>
            </a:r>
            <a:r>
              <a:rPr sz="1500" b="0" i="0">
                <a:solidFill>
                  <a:srgbClr val="9FD8A8"/>
                </a:solidFill>
                <a:latin typeface="JetBrains Mono"/>
                <a:ea typeface="JetBrains Mono"/>
                <a:cs typeface="JetBrains Mono"/>
              </a:rPr>
              <a:t>"Hi"</a:t>
            </a:r>
            <a:r>
              <a:rPr sz="1500" b="0" i="0">
                <a:solidFill>
                  <a:srgbClr val="E8EDF3"/>
                </a:solidFill>
                <a:latin typeface="JetBrains Mono"/>
                <a:ea typeface="JetBrains Mono"/>
                <a:cs typeface="JetBrains Mono"/>
              </a:rPr>
              <a:t>)    </a:t>
            </a:r>
            <a:r>
              <a:rPr sz="1500" b="0" i="0">
                <a:solidFill>
                  <a:srgbClr val="8FA3B8"/>
                </a:solidFill>
                <a:latin typeface="JetBrains Mono"/>
                <a:ea typeface="JetBrains Mono"/>
                <a:cs typeface="JetBrains Mono"/>
              </a:rPr>
              <a:t># works</a:t>
            </a:r>
          </a:p>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t>
            </a:r>
            <a:r>
              <a:rPr sz="1500" b="0" i="0">
                <a:solidFill>
                  <a:srgbClr val="9FD8A8"/>
                </a:solidFill>
                <a:latin typeface="JetBrains Mono"/>
                <a:ea typeface="JetBrains Mono"/>
                <a:cs typeface="JetBrains Mono"/>
              </a:rPr>
              <a:t>"Hi')</a:t>
            </a:r>
            <a:r>
              <a:rPr sz="1500" b="0" i="0">
                <a:solidFill>
                  <a:srgbClr val="E8EDF3"/>
                </a:solidFill>
                <a:latin typeface="JetBrains Mono"/>
                <a:ea typeface="JetBrains Mono"/>
                <a:cs typeface="JetBrains Mono"/>
              </a:rPr>
              <a:t>    </a:t>
            </a:r>
            <a:r>
              <a:rPr sz="1500" b="0" i="0">
                <a:solidFill>
                  <a:srgbClr val="8FA3B8"/>
                </a:solidFill>
                <a:latin typeface="JetBrains Mono"/>
                <a:ea typeface="JetBrains Mono"/>
                <a:cs typeface="JetBrains Mono"/>
              </a:rPr>
              <a:t># SyntaxError</a:t>
            </a:r>
          </a:p>
        </p:txBody>
      </p:sp>
      <p:sp>
        <p:nvSpPr>
          <p:cNvPr id="12" name="Rounded Rectangle 11"/>
          <p:cNvSpPr/>
          <p:nvPr/>
        </p:nvSpPr>
        <p:spPr>
          <a:xfrm>
            <a:off x="819150" y="3671391"/>
            <a:ext cx="5181600" cy="1620441"/>
          </a:xfrm>
          <a:prstGeom prst="roundRect">
            <a:avLst>
              <a:gd name="adj" fmla="val 7837"/>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4100" y="3880941"/>
            <a:ext cx="4853051"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3. No random spaces at the start</a:t>
            </a:r>
          </a:p>
        </p:txBody>
      </p:sp>
      <p:sp>
        <p:nvSpPr>
          <p:cNvPr id="14" name="Rounded Rectangle 13"/>
          <p:cNvSpPr/>
          <p:nvPr/>
        </p:nvSpPr>
        <p:spPr>
          <a:xfrm>
            <a:off x="1054100" y="4256782"/>
            <a:ext cx="4711700" cy="825500"/>
          </a:xfrm>
          <a:prstGeom prst="roundRect">
            <a:avLst>
              <a:gd name="adj" fmla="val 10769"/>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1900" y="4383782"/>
            <a:ext cx="4486783" cy="571500"/>
          </a:xfrm>
          <a:prstGeom prst="rect">
            <a:avLst/>
          </a:prstGeom>
          <a:noFill/>
        </p:spPr>
        <p:txBody>
          <a:bodyPr wrap="square" lIns="0" rIns="0" tIns="0" bIns="0" anchor="t">
            <a:normAutofit/>
          </a:bodyPr>
          <a:lstStyle/>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t>
            </a:r>
            <a:r>
              <a:rPr sz="1500" b="0" i="0">
                <a:solidFill>
                  <a:srgbClr val="9FD8A8"/>
                </a:solidFill>
                <a:latin typeface="JetBrains Mono"/>
                <a:ea typeface="JetBrains Mono"/>
                <a:cs typeface="JetBrains Mono"/>
              </a:rPr>
              <a:t>"Hi"</a:t>
            </a:r>
            <a:r>
              <a:rPr sz="1500" b="0" i="0">
                <a:solidFill>
                  <a:srgbClr val="E8EDF3"/>
                </a:solidFill>
                <a:latin typeface="JetBrains Mono"/>
                <a:ea typeface="JetBrains Mono"/>
                <a:cs typeface="JetBrains Mono"/>
              </a:rPr>
              <a:t>)      </a:t>
            </a:r>
            <a:r>
              <a:rPr sz="1500" b="0" i="0">
                <a:solidFill>
                  <a:srgbClr val="8FA3B8"/>
                </a:solidFill>
                <a:latin typeface="JetBrains Mono"/>
                <a:ea typeface="JetBrains Mono"/>
                <a:cs typeface="JetBrains Mono"/>
              </a:rPr>
              <a:t># works</a:t>
            </a:r>
          </a:p>
          <a:p>
            <a:pPr algn="l" marL="0" indent="0">
              <a:lnSpc>
                <a:spcPts val="2250"/>
              </a:lnSpc>
              <a:buNone/>
            </a:pPr>
            <a:r>
              <a:rPr sz="1500" b="0" i="0">
                <a:solidFill>
                  <a:srgbClr val="E8EDF3"/>
                </a:solidFill>
                <a:latin typeface="JetBrains Mono"/>
                <a:ea typeface="JetBrains Mono"/>
                <a:cs typeface="JetBrains Mono"/>
              </a:rPr>
              <a:t>    </a:t>
            </a: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t>
            </a:r>
            <a:r>
              <a:rPr sz="1500" b="0" i="0">
                <a:solidFill>
                  <a:srgbClr val="9FD8A8"/>
                </a:solidFill>
                <a:latin typeface="JetBrains Mono"/>
                <a:ea typeface="JetBrains Mono"/>
                <a:cs typeface="JetBrains Mono"/>
              </a:rPr>
              <a:t>"Hi"</a:t>
            </a:r>
            <a:r>
              <a:rPr sz="1500" b="0" i="0">
                <a:solidFill>
                  <a:srgbClr val="E8EDF3"/>
                </a:solidFill>
                <a:latin typeface="JetBrains Mono"/>
                <a:ea typeface="JetBrains Mono"/>
                <a:cs typeface="JetBrains Mono"/>
              </a:rPr>
              <a:t>)  </a:t>
            </a:r>
            <a:r>
              <a:rPr sz="1500" b="0" i="0">
                <a:solidFill>
                  <a:srgbClr val="8FA3B8"/>
                </a:solidFill>
                <a:latin typeface="JetBrains Mono"/>
                <a:ea typeface="JetBrains Mono"/>
                <a:cs typeface="JetBrains Mono"/>
              </a:rPr>
              <a:t># IndentationError</a:t>
            </a:r>
          </a:p>
        </p:txBody>
      </p:sp>
      <p:sp>
        <p:nvSpPr>
          <p:cNvPr id="16" name="Rounded Rectangle 15"/>
          <p:cNvSpPr/>
          <p:nvPr/>
        </p:nvSpPr>
        <p:spPr>
          <a:xfrm>
            <a:off x="6191250" y="3671391"/>
            <a:ext cx="5181600" cy="1620441"/>
          </a:xfrm>
          <a:prstGeom prst="roundRect">
            <a:avLst>
              <a:gd name="adj" fmla="val 7837"/>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6200" y="3880941"/>
            <a:ext cx="4853051"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4. # starts a comment</a:t>
            </a:r>
          </a:p>
        </p:txBody>
      </p:sp>
      <p:sp>
        <p:nvSpPr>
          <p:cNvPr id="18" name="Rounded Rectangle 17"/>
          <p:cNvSpPr/>
          <p:nvPr/>
        </p:nvSpPr>
        <p:spPr>
          <a:xfrm>
            <a:off x="6426200" y="4256782"/>
            <a:ext cx="4711700" cy="825500"/>
          </a:xfrm>
          <a:prstGeom prst="roundRect">
            <a:avLst>
              <a:gd name="adj" fmla="val 10769"/>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04000" y="4383782"/>
            <a:ext cx="4486783" cy="571500"/>
          </a:xfrm>
          <a:prstGeom prst="rect">
            <a:avLst/>
          </a:prstGeom>
          <a:noFill/>
        </p:spPr>
        <p:txBody>
          <a:bodyPr wrap="square" lIns="0" rIns="0" tIns="0" bIns="0" anchor="t">
            <a:normAutofit/>
          </a:bodyPr>
          <a:lstStyle/>
          <a:p>
            <a:pPr algn="l" marL="0" indent="0">
              <a:lnSpc>
                <a:spcPts val="2250"/>
              </a:lnSpc>
              <a:buNone/>
            </a:pPr>
            <a:r>
              <a:rPr sz="1500" b="0" i="0">
                <a:solidFill>
                  <a:srgbClr val="8FA3B8"/>
                </a:solidFill>
                <a:latin typeface="JetBrains Mono"/>
                <a:ea typeface="JetBrains Mono"/>
                <a:cs typeface="JetBrains Mono"/>
              </a:rPr>
              <a:t># Python skips this line</a:t>
            </a:r>
          </a:p>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t>
            </a:r>
            <a:r>
              <a:rPr sz="1500" b="0" i="0">
                <a:solidFill>
                  <a:srgbClr val="9FD8A8"/>
                </a:solidFill>
                <a:latin typeface="JetBrains Mono"/>
                <a:ea typeface="JetBrains Mono"/>
                <a:cs typeface="JetBrains Mono"/>
              </a:rPr>
              <a:t>"Hi"</a:t>
            </a:r>
            <a:r>
              <a:rPr sz="1500" b="0" i="0">
                <a:solidFill>
                  <a:srgbClr val="E8EDF3"/>
                </a:solidFill>
                <a:latin typeface="JetBrains Mono"/>
                <a:ea typeface="JetBrains Mono"/>
                <a:cs typeface="JetBrains Mono"/>
              </a:rPr>
              <a:t>)  </a:t>
            </a:r>
            <a:r>
              <a:rPr sz="1500" b="0" i="0">
                <a:solidFill>
                  <a:srgbClr val="8FA3B8"/>
                </a:solidFill>
                <a:latin typeface="JetBrains Mono"/>
                <a:ea typeface="JetBrains Mono"/>
                <a:cs typeface="JetBrains Mono"/>
              </a:rPr>
              <a:t># and this part</a:t>
            </a:r>
          </a:p>
        </p:txBody>
      </p:sp>
      <p:sp>
        <p:nvSpPr>
          <p:cNvPr id="20" name="TextBox 19"/>
          <p:cNvSpPr txBox="1"/>
          <p:nvPr/>
        </p:nvSpPr>
        <p:spPr>
          <a:xfrm>
            <a:off x="812800" y="5602982"/>
            <a:ext cx="10883392" cy="266700"/>
          </a:xfrm>
          <a:prstGeom prst="rect">
            <a:avLst/>
          </a:prstGeom>
          <a:noFill/>
        </p:spPr>
        <p:txBody>
          <a:bodyPr wrap="square" lIns="0" rIns="0" tIns="0" bIns="0" anchor="t">
            <a:normAutofit/>
          </a:bodyPr>
          <a:lstStyle/>
          <a:p>
            <a:pPr algn="l" marL="0" indent="0">
              <a:lnSpc>
                <a:spcPts val="2100"/>
              </a:lnSpc>
              <a:buNone/>
            </a:pPr>
            <a:r>
              <a:rPr sz="1500" b="1" i="0">
                <a:solidFill>
                  <a:srgbClr val="4A5568"/>
                </a:solidFill>
                <a:latin typeface="Rubik"/>
                <a:ea typeface="Rubik"/>
                <a:cs typeface="Rubik"/>
              </a:rPr>
              <a:t>Errors are normal.</a:t>
            </a:r>
            <a:r>
              <a:rPr sz="1500" b="0" i="0">
                <a:solidFill>
                  <a:srgbClr val="4A5568"/>
                </a:solidFill>
                <a:latin typeface="Rubik"/>
                <a:ea typeface="Rubik"/>
                <a:cs typeface="Rubik"/>
              </a:rPr>
              <a:t> Read the last line of the error message: it names the problem and the line number.</a:t>
            </a:r>
          </a:p>
        </p:txBody>
      </p:sp>
      <p:sp>
        <p:nvSpPr>
          <p:cNvPr id="21" name="TextBox 20"/>
          <p:cNvSpPr txBox="1"/>
          <p:nvPr/>
        </p:nvSpPr>
        <p:spPr>
          <a:xfrm>
            <a:off x="812800" y="6238280"/>
            <a:ext cx="10883392" cy="213320"/>
          </a:xfrm>
          <a:prstGeom prst="rect">
            <a:avLst/>
          </a:prstGeom>
          <a:noFill/>
        </p:spPr>
        <p:txBody>
          <a:bodyPr wrap="square" lIns="0" rIns="0" tIns="0" bIns="0" anchor="t">
            <a:normAutofit/>
          </a:bodyPr>
          <a:lstStyle/>
          <a:p>
            <a:pPr algn="l" marL="0" indent="0">
              <a:lnSpc>
                <a:spcPts val="1680"/>
              </a:lnSpc>
              <a:buNone/>
            </a:pPr>
            <a:r>
              <a:rPr sz="1200" b="0" i="0">
                <a:solidFill>
                  <a:srgbClr val="5F6B7A"/>
                </a:solidFill>
                <a:latin typeface="Rubik"/>
                <a:ea typeface="Rubik"/>
                <a:cs typeface="Rubik"/>
              </a:rPr>
              <a:t>Python Programming · Week 1 · Class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6EEF7"/>
        </a:solidFill>
        <a:effectLst/>
      </p:bgPr>
    </p:bg>
    <p:spTree>
      <p:nvGrpSpPr>
        <p:cNvPr id="1" name=""/>
        <p:cNvGrpSpPr/>
        <p:nvPr/>
      </p:nvGrpSpPr>
      <p:grpSpPr/>
      <p:sp>
        <p:nvSpPr>
          <p:cNvPr id="3" name="TextBox 2"/>
          <p:cNvSpPr txBox="1"/>
          <p:nvPr/>
        </p:nvSpPr>
        <p:spPr>
          <a:xfrm>
            <a:off x="812800" y="812800"/>
            <a:ext cx="10883392"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CLASS 1 · PRACTICE</a:t>
            </a:r>
          </a:p>
        </p:txBody>
      </p:sp>
      <p:sp>
        <p:nvSpPr>
          <p:cNvPr id="2" name="Title 1"/>
          <p:cNvSpPr>
            <a:spLocks noGrp="1"/>
          </p:cNvSpPr>
          <p:nvPr>
            <p:ph type="title"/>
          </p:nvPr>
        </p:nvSpPr>
        <p:spPr>
          <a:xfrm>
            <a:off x="812800" y="1102320"/>
            <a:ext cx="10883392" cy="446980"/>
          </a:xfrm>
        </p:spPr>
        <p:txBody>
          <a:bodyPr wrap="square" lIns="0" rIns="0" tIns="0" bIns="0" anchor="t">
            <a:normAutofit/>
          </a:bodyPr>
          <a:lstStyle/>
          <a:p>
            <a:pPr algn="l" marL="0" indent="0">
              <a:lnSpc>
                <a:spcPts val="3520"/>
              </a:lnSpc>
              <a:buNone/>
            </a:pPr>
            <a:r>
              <a:rPr sz="3200" b="1" i="0">
                <a:solidFill>
                  <a:srgbClr val="1B2A41"/>
                </a:solidFill>
                <a:latin typeface="Rubik"/>
                <a:ea typeface="Rubik"/>
                <a:cs typeface="Rubik"/>
              </a:rPr>
              <a:t>Your turn: 10 minutes</a:t>
            </a:r>
          </a:p>
        </p:txBody>
      </p:sp>
      <p:sp>
        <p:nvSpPr>
          <p:cNvPr id="4" name="Rounded Rectangle 3"/>
          <p:cNvSpPr/>
          <p:nvPr/>
        </p:nvSpPr>
        <p:spPr>
          <a:xfrm>
            <a:off x="819150" y="1809651"/>
            <a:ext cx="3373934" cy="2602111"/>
          </a:xfrm>
          <a:prstGeom prst="roundRect">
            <a:avLst>
              <a:gd name="adj" fmla="val 4880"/>
            </a:avLst>
          </a:prstGeom>
          <a:solidFill>
            <a:srgbClr val="FBFCFE"/>
          </a:solidFill>
          <a:ln w="12700">
            <a:solidFill>
              <a:srgbClr val="C9D7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54100" y="2044601"/>
            <a:ext cx="681930" cy="28952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8400" y="2082701"/>
            <a:ext cx="466930" cy="213320"/>
          </a:xfrm>
          <a:prstGeom prst="rect">
            <a:avLst/>
          </a:prstGeom>
          <a:noFill/>
        </p:spPr>
        <p:txBody>
          <a:bodyPr wrap="square" lIns="0" rIns="0" tIns="0" bIns="0" anchor="t">
            <a:normAutofit/>
          </a:bodyPr>
          <a:lstStyle/>
          <a:p>
            <a:pPr algn="l" marL="0" indent="0">
              <a:lnSpc>
                <a:spcPts val="1680"/>
              </a:lnSpc>
              <a:buNone/>
            </a:pPr>
            <a:r>
              <a:rPr sz="1200" b="1" i="0">
                <a:solidFill>
                  <a:srgbClr val="1B2A41"/>
                </a:solidFill>
                <a:latin typeface="Rubik"/>
                <a:ea typeface="Rubik"/>
                <a:cs typeface="Rubik"/>
              </a:rPr>
              <a:t>Task 1</a:t>
            </a:r>
          </a:p>
        </p:txBody>
      </p:sp>
      <p:sp>
        <p:nvSpPr>
          <p:cNvPr id="7" name="TextBox 6"/>
          <p:cNvSpPr txBox="1"/>
          <p:nvPr/>
        </p:nvSpPr>
        <p:spPr>
          <a:xfrm>
            <a:off x="1054100" y="2435721"/>
            <a:ext cx="2991155"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About me</a:t>
            </a:r>
          </a:p>
        </p:txBody>
      </p:sp>
      <p:sp>
        <p:nvSpPr>
          <p:cNvPr id="8" name="TextBox 7"/>
          <p:cNvSpPr txBox="1"/>
          <p:nvPr/>
        </p:nvSpPr>
        <p:spPr>
          <a:xfrm>
            <a:off x="1054100" y="2811562"/>
            <a:ext cx="2991155" cy="5334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Print your name, branch and section on three separate lines.</a:t>
            </a:r>
          </a:p>
        </p:txBody>
      </p:sp>
      <p:sp>
        <p:nvSpPr>
          <p:cNvPr id="9" name="Rounded Rectangle 8"/>
          <p:cNvSpPr/>
          <p:nvPr/>
        </p:nvSpPr>
        <p:spPr>
          <a:xfrm>
            <a:off x="4408984" y="1809651"/>
            <a:ext cx="3373934" cy="2602111"/>
          </a:xfrm>
          <a:prstGeom prst="roundRect">
            <a:avLst>
              <a:gd name="adj" fmla="val 4880"/>
            </a:avLst>
          </a:prstGeom>
          <a:solidFill>
            <a:srgbClr val="FBFCFE"/>
          </a:solidFill>
          <a:ln w="12700">
            <a:solidFill>
              <a:srgbClr val="C9D7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643934" y="2044601"/>
            <a:ext cx="705247" cy="28952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8234" y="2082701"/>
            <a:ext cx="490946" cy="213320"/>
          </a:xfrm>
          <a:prstGeom prst="rect">
            <a:avLst/>
          </a:prstGeom>
          <a:noFill/>
        </p:spPr>
        <p:txBody>
          <a:bodyPr wrap="square" lIns="0" rIns="0" tIns="0" bIns="0" anchor="t">
            <a:normAutofit/>
          </a:bodyPr>
          <a:lstStyle/>
          <a:p>
            <a:pPr algn="l" marL="0" indent="0">
              <a:lnSpc>
                <a:spcPts val="1680"/>
              </a:lnSpc>
              <a:buNone/>
            </a:pPr>
            <a:r>
              <a:rPr sz="1200" b="1" i="0">
                <a:solidFill>
                  <a:srgbClr val="1B2A41"/>
                </a:solidFill>
                <a:latin typeface="Rubik"/>
                <a:ea typeface="Rubik"/>
                <a:cs typeface="Rubik"/>
              </a:rPr>
              <a:t>Task 2</a:t>
            </a:r>
          </a:p>
        </p:txBody>
      </p:sp>
      <p:sp>
        <p:nvSpPr>
          <p:cNvPr id="12" name="TextBox 11"/>
          <p:cNvSpPr txBox="1"/>
          <p:nvPr/>
        </p:nvSpPr>
        <p:spPr>
          <a:xfrm>
            <a:off x="4643934" y="2435721"/>
            <a:ext cx="2991155"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Draw with print</a:t>
            </a:r>
          </a:p>
        </p:txBody>
      </p:sp>
      <p:sp>
        <p:nvSpPr>
          <p:cNvPr id="13" name="TextBox 12"/>
          <p:cNvSpPr txBox="1"/>
          <p:nvPr/>
        </p:nvSpPr>
        <p:spPr>
          <a:xfrm>
            <a:off x="4643934" y="2811562"/>
            <a:ext cx="2991155"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Make this triangle appear:</a:t>
            </a:r>
          </a:p>
        </p:txBody>
      </p:sp>
      <p:sp>
        <p:nvSpPr>
          <p:cNvPr id="14" name="Rounded Rectangle 13"/>
          <p:cNvSpPr/>
          <p:nvPr/>
        </p:nvSpPr>
        <p:spPr>
          <a:xfrm>
            <a:off x="4643934" y="3179862"/>
            <a:ext cx="2904034" cy="996950"/>
          </a:xfrm>
          <a:prstGeom prst="roundRect">
            <a:avLst>
              <a:gd name="adj" fmla="val 8917"/>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21734" y="3306862"/>
            <a:ext cx="2624887" cy="742950"/>
          </a:xfrm>
          <a:prstGeom prst="rect">
            <a:avLst/>
          </a:prstGeom>
          <a:noFill/>
        </p:spPr>
        <p:txBody>
          <a:bodyPr wrap="square" lIns="0" rIns="0" tIns="0" bIns="0" anchor="t">
            <a:normAutofit/>
          </a:bodyPr>
          <a:lstStyle/>
          <a:p>
            <a:pPr algn="l" marL="0" indent="0">
              <a:lnSpc>
                <a:spcPts val="1950"/>
              </a:lnSpc>
              <a:buNone/>
            </a:pPr>
            <a:r>
              <a:rPr sz="1500" b="0" i="0">
                <a:solidFill>
                  <a:srgbClr val="F2B33D"/>
                </a:solidFill>
                <a:latin typeface="JetBrains Mono"/>
                <a:ea typeface="JetBrains Mono"/>
                <a:cs typeface="JetBrains Mono"/>
              </a:rPr>
              <a:t>*</a:t>
            </a:r>
          </a:p>
          <a:p>
            <a:pPr algn="l" marL="0" indent="0">
              <a:lnSpc>
                <a:spcPts val="1950"/>
              </a:lnSpc>
              <a:buNone/>
            </a:pPr>
            <a:r>
              <a:rPr sz="1500" b="0" i="0">
                <a:solidFill>
                  <a:srgbClr val="F2B33D"/>
                </a:solidFill>
                <a:latin typeface="JetBrains Mono"/>
                <a:ea typeface="JetBrains Mono"/>
                <a:cs typeface="JetBrains Mono"/>
              </a:rPr>
              <a:t>* *</a:t>
            </a:r>
          </a:p>
          <a:p>
            <a:pPr algn="l" marL="0" indent="0">
              <a:lnSpc>
                <a:spcPts val="1950"/>
              </a:lnSpc>
              <a:buNone/>
            </a:pPr>
            <a:r>
              <a:rPr sz="1500" b="0" i="0">
                <a:solidFill>
                  <a:srgbClr val="F2B33D"/>
                </a:solidFill>
                <a:latin typeface="JetBrains Mono"/>
                <a:ea typeface="JetBrains Mono"/>
                <a:cs typeface="JetBrains Mono"/>
              </a:rPr>
              <a:t>* * *</a:t>
            </a:r>
          </a:p>
        </p:txBody>
      </p:sp>
      <p:sp>
        <p:nvSpPr>
          <p:cNvPr id="16" name="Rounded Rectangle 15"/>
          <p:cNvSpPr/>
          <p:nvPr/>
        </p:nvSpPr>
        <p:spPr>
          <a:xfrm>
            <a:off x="7998817" y="1809651"/>
            <a:ext cx="3373934" cy="2602111"/>
          </a:xfrm>
          <a:prstGeom prst="roundRect">
            <a:avLst>
              <a:gd name="adj" fmla="val 4880"/>
            </a:avLst>
          </a:prstGeom>
          <a:solidFill>
            <a:srgbClr val="FBFCFE"/>
          </a:solidFill>
          <a:ln w="12700">
            <a:solidFill>
              <a:srgbClr val="C9D7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33767" y="2044601"/>
            <a:ext cx="706636" cy="28952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48067" y="2082701"/>
            <a:ext cx="492377" cy="213320"/>
          </a:xfrm>
          <a:prstGeom prst="rect">
            <a:avLst/>
          </a:prstGeom>
          <a:noFill/>
        </p:spPr>
        <p:txBody>
          <a:bodyPr wrap="square" lIns="0" rIns="0" tIns="0" bIns="0" anchor="t">
            <a:normAutofit/>
          </a:bodyPr>
          <a:lstStyle/>
          <a:p>
            <a:pPr algn="l" marL="0" indent="0">
              <a:lnSpc>
                <a:spcPts val="1680"/>
              </a:lnSpc>
              <a:buNone/>
            </a:pPr>
            <a:r>
              <a:rPr sz="1200" b="1" i="0">
                <a:solidFill>
                  <a:srgbClr val="1B2A41"/>
                </a:solidFill>
                <a:latin typeface="Rubik"/>
                <a:ea typeface="Rubik"/>
                <a:cs typeface="Rubik"/>
              </a:rPr>
              <a:t>Task 3</a:t>
            </a:r>
          </a:p>
        </p:txBody>
      </p:sp>
      <p:sp>
        <p:nvSpPr>
          <p:cNvPr id="19" name="TextBox 18"/>
          <p:cNvSpPr txBox="1"/>
          <p:nvPr/>
        </p:nvSpPr>
        <p:spPr>
          <a:xfrm>
            <a:off x="8233767" y="2435721"/>
            <a:ext cx="2991155"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Bug hunt</a:t>
            </a:r>
          </a:p>
        </p:txBody>
      </p:sp>
      <p:sp>
        <p:nvSpPr>
          <p:cNvPr id="20" name="TextBox 19"/>
          <p:cNvSpPr txBox="1"/>
          <p:nvPr/>
        </p:nvSpPr>
        <p:spPr>
          <a:xfrm>
            <a:off x="8233767" y="2811562"/>
            <a:ext cx="2991155" cy="5334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This line has two mistakes. Find and fix both:</a:t>
            </a:r>
          </a:p>
        </p:txBody>
      </p:sp>
      <p:sp>
        <p:nvSpPr>
          <p:cNvPr id="21" name="Rounded Rectangle 20"/>
          <p:cNvSpPr/>
          <p:nvPr/>
        </p:nvSpPr>
        <p:spPr>
          <a:xfrm>
            <a:off x="8233767" y="3446562"/>
            <a:ext cx="2904034" cy="501650"/>
          </a:xfrm>
          <a:prstGeom prst="roundRect">
            <a:avLst>
              <a:gd name="adj" fmla="val 17721"/>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1567" y="3573562"/>
            <a:ext cx="2624887" cy="247650"/>
          </a:xfrm>
          <a:prstGeom prst="rect">
            <a:avLst/>
          </a:prstGeom>
          <a:noFill/>
        </p:spPr>
        <p:txBody>
          <a:bodyPr wrap="square" lIns="0" rIns="0" tIns="0" bIns="0" anchor="t">
            <a:normAutofit/>
          </a:bodyPr>
          <a:lstStyle/>
          <a:p>
            <a:pPr algn="l" marL="0" indent="0">
              <a:lnSpc>
                <a:spcPts val="1950"/>
              </a:lnSpc>
              <a:buNone/>
            </a:pPr>
            <a:r>
              <a:rPr sz="1500" b="0" i="0">
                <a:solidFill>
                  <a:srgbClr val="E8EDF3"/>
                </a:solidFill>
                <a:latin typeface="JetBrains Mono"/>
                <a:ea typeface="JetBrains Mono"/>
                <a:cs typeface="JetBrains Mono"/>
              </a:rPr>
              <a:t>Print(</a:t>
            </a:r>
            <a:r>
              <a:rPr sz="1500" b="0" i="0">
                <a:solidFill>
                  <a:srgbClr val="9FD8A8"/>
                </a:solidFill>
                <a:latin typeface="JetBrains Mono"/>
                <a:ea typeface="JetBrains Mono"/>
                <a:cs typeface="JetBrains Mono"/>
              </a:rPr>
              <a:t>"Hello World)</a:t>
            </a:r>
          </a:p>
        </p:txBody>
      </p:sp>
      <p:sp>
        <p:nvSpPr>
          <p:cNvPr id="23" name="Rounded Rectangle 22"/>
          <p:cNvSpPr/>
          <p:nvPr/>
        </p:nvSpPr>
        <p:spPr>
          <a:xfrm>
            <a:off x="812800" y="4672112"/>
            <a:ext cx="10566400" cy="622300"/>
          </a:xfrm>
          <a:prstGeom prst="roundRect">
            <a:avLst>
              <a:gd name="adj" fmla="val 20408"/>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6800" y="4876602"/>
            <a:ext cx="1069065" cy="213320"/>
          </a:xfrm>
          <a:prstGeom prst="rect">
            <a:avLst/>
          </a:prstGeom>
          <a:noFill/>
        </p:spPr>
        <p:txBody>
          <a:bodyPr wrap="square" lIns="0" rIns="0" tIns="0" bIns="0" anchor="t">
            <a:normAutofit/>
          </a:bodyPr>
          <a:lstStyle/>
          <a:p>
            <a:pPr algn="l" marL="0" indent="0">
              <a:lnSpc>
                <a:spcPts val="1680"/>
              </a:lnSpc>
              <a:buNone/>
            </a:pPr>
            <a:r>
              <a:rPr sz="1200" b="1" i="0" spc="150">
                <a:solidFill>
                  <a:srgbClr val="F2B33D"/>
                </a:solidFill>
                <a:latin typeface="Rubik"/>
                <a:ea typeface="Rubik"/>
                <a:cs typeface="Rubik"/>
              </a:rPr>
              <a:t>HOMEWORK</a:t>
            </a:r>
          </a:p>
        </p:txBody>
      </p:sp>
      <p:sp>
        <p:nvSpPr>
          <p:cNvPr id="25" name="TextBox 24"/>
          <p:cNvSpPr txBox="1"/>
          <p:nvPr/>
        </p:nvSpPr>
        <p:spPr>
          <a:xfrm>
            <a:off x="2282527" y="4849912"/>
            <a:ext cx="5486458" cy="266700"/>
          </a:xfrm>
          <a:prstGeom prst="rect">
            <a:avLst/>
          </a:prstGeom>
          <a:noFill/>
        </p:spPr>
        <p:txBody>
          <a:bodyPr wrap="square" lIns="0" rIns="0" tIns="0" bIns="0" anchor="t">
            <a:normAutofit/>
          </a:bodyPr>
          <a:lstStyle/>
          <a:p>
            <a:pPr algn="l" marL="0" indent="0">
              <a:lnSpc>
                <a:spcPts val="2100"/>
              </a:lnSpc>
              <a:buNone/>
            </a:pPr>
            <a:r>
              <a:rPr sz="1500" b="0" i="0">
                <a:solidFill>
                  <a:srgbClr val="F7F5EF"/>
                </a:solidFill>
                <a:latin typeface="Rubik"/>
                <a:ea typeface="Rubik"/>
                <a:cs typeface="Rubik"/>
              </a:rPr>
              <a:t>Read on W3Schools: </a:t>
            </a:r>
            <a:r>
              <a:rPr sz="1500" b="0" i="0">
                <a:solidFill>
                  <a:srgbClr val="F2B33D"/>
                </a:solidFill>
                <a:latin typeface="Rubik"/>
                <a:ea typeface="Rubik"/>
                <a:cs typeface="Rubik"/>
                <a:hlinkClick r:id="rId2"/>
              </a:rPr>
              <a:t>Intro</a:t>
            </a:r>
            <a:r>
              <a:rPr sz="1500" b="0" i="0">
                <a:solidFill>
                  <a:srgbClr val="F7F5EF"/>
                </a:solidFill>
                <a:latin typeface="Rubik"/>
                <a:ea typeface="Rubik"/>
                <a:cs typeface="Rubik"/>
              </a:rPr>
              <a:t> · </a:t>
            </a:r>
            <a:r>
              <a:rPr sz="1500" b="0" i="0">
                <a:solidFill>
                  <a:srgbClr val="F2B33D"/>
                </a:solidFill>
                <a:latin typeface="Rubik"/>
                <a:ea typeface="Rubik"/>
                <a:cs typeface="Rubik"/>
                <a:hlinkClick r:id="rId3"/>
              </a:rPr>
              <a:t>Get Started</a:t>
            </a:r>
            <a:r>
              <a:rPr sz="1500" b="0" i="0">
                <a:solidFill>
                  <a:srgbClr val="F7F5EF"/>
                </a:solidFill>
                <a:latin typeface="Rubik"/>
                <a:ea typeface="Rubik"/>
                <a:cs typeface="Rubik"/>
              </a:rPr>
              <a:t> · </a:t>
            </a:r>
            <a:r>
              <a:rPr sz="1500" b="0" i="0">
                <a:solidFill>
                  <a:srgbClr val="F2B33D"/>
                </a:solidFill>
                <a:latin typeface="Rubik"/>
                <a:ea typeface="Rubik"/>
                <a:cs typeface="Rubik"/>
                <a:hlinkClick r:id="rId4"/>
              </a:rPr>
              <a:t>Syntax</a:t>
            </a:r>
            <a:r>
              <a:rPr sz="1500" b="0" i="0">
                <a:solidFill>
                  <a:srgbClr val="F7F5EF"/>
                </a:solidFill>
                <a:latin typeface="Rubik"/>
                <a:ea typeface="Rubik"/>
                <a:cs typeface="Rubik"/>
              </a:rPr>
              <a:t> · </a:t>
            </a:r>
            <a:r>
              <a:rPr sz="1500" b="0" i="0">
                <a:solidFill>
                  <a:srgbClr val="F2B33D"/>
                </a:solidFill>
                <a:latin typeface="Rubik"/>
                <a:ea typeface="Rubik"/>
                <a:cs typeface="Rubik"/>
                <a:hlinkClick r:id="rId5"/>
              </a:rPr>
              <a:t>Comments</a:t>
            </a:r>
          </a:p>
        </p:txBody>
      </p:sp>
      <p:sp>
        <p:nvSpPr>
          <p:cNvPr id="26" name="TextBox 25"/>
          <p:cNvSpPr txBox="1"/>
          <p:nvPr/>
        </p:nvSpPr>
        <p:spPr>
          <a:xfrm>
            <a:off x="812800" y="6238280"/>
            <a:ext cx="10883392" cy="213320"/>
          </a:xfrm>
          <a:prstGeom prst="rect">
            <a:avLst/>
          </a:prstGeom>
          <a:noFill/>
        </p:spPr>
        <p:txBody>
          <a:bodyPr wrap="square" lIns="0" rIns="0" tIns="0" bIns="0" anchor="t">
            <a:normAutofit/>
          </a:bodyPr>
          <a:lstStyle/>
          <a:p>
            <a:pPr algn="l" marL="0" indent="0">
              <a:lnSpc>
                <a:spcPts val="1680"/>
              </a:lnSpc>
              <a:buNone/>
            </a:pPr>
            <a:r>
              <a:rPr sz="1200" b="0" i="0">
                <a:solidFill>
                  <a:srgbClr val="5F6B7A"/>
                </a:solidFill>
                <a:latin typeface="Rubik"/>
                <a:ea typeface="Rubik"/>
                <a:cs typeface="Rubik"/>
              </a:rPr>
              <a:t>Python Programming · Week 1 · Class 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B33D"/>
        </a:solidFill>
        <a:effectLst/>
      </p:bgPr>
    </p:bg>
    <p:spTree>
      <p:nvGrpSpPr>
        <p:cNvPr id="1" name=""/>
        <p:cNvGrpSpPr/>
        <p:nvPr/>
      </p:nvGrpSpPr>
      <p:grpSpPr/>
      <p:sp>
        <p:nvSpPr>
          <p:cNvPr id="3" name="TextBox 2"/>
          <p:cNvSpPr txBox="1"/>
          <p:nvPr/>
        </p:nvSpPr>
        <p:spPr>
          <a:xfrm>
            <a:off x="812800" y="2184499"/>
            <a:ext cx="5127752" cy="213320"/>
          </a:xfrm>
          <a:prstGeom prst="rect">
            <a:avLst/>
          </a:prstGeom>
          <a:noFill/>
        </p:spPr>
        <p:txBody>
          <a:bodyPr wrap="square" lIns="0" rIns="0" tIns="0" bIns="0" anchor="t">
            <a:normAutofit/>
          </a:bodyPr>
          <a:lstStyle/>
          <a:p>
            <a:pPr algn="l" marL="0" indent="0">
              <a:lnSpc>
                <a:spcPts val="1680"/>
              </a:lnSpc>
              <a:buNone/>
            </a:pPr>
            <a:r>
              <a:rPr sz="1200" b="1" i="0" spc="200">
                <a:solidFill>
                  <a:srgbClr val="1B2A41"/>
                </a:solidFill>
                <a:latin typeface="Rubik"/>
                <a:ea typeface="Rubik"/>
                <a:cs typeface="Rubik"/>
              </a:rPr>
              <a:t>CLASS 2 OF 24</a:t>
            </a:r>
          </a:p>
        </p:txBody>
      </p:sp>
      <p:sp>
        <p:nvSpPr>
          <p:cNvPr id="2" name="Title 1"/>
          <p:cNvSpPr>
            <a:spLocks noGrp="1"/>
          </p:cNvSpPr>
          <p:nvPr>
            <p:ph type="title"/>
          </p:nvPr>
        </p:nvSpPr>
        <p:spPr>
          <a:xfrm>
            <a:off x="812800" y="2575620"/>
            <a:ext cx="5127752" cy="1280120"/>
          </a:xfrm>
        </p:spPr>
        <p:txBody>
          <a:bodyPr wrap="square" lIns="0" rIns="0" tIns="0" bIns="0" anchor="t">
            <a:normAutofit/>
          </a:bodyPr>
          <a:lstStyle/>
          <a:p>
            <a:pPr algn="l" marL="0" indent="0">
              <a:lnSpc>
                <a:spcPts val="5040"/>
              </a:lnSpc>
              <a:buNone/>
            </a:pPr>
            <a:r>
              <a:rPr sz="4800" b="1" i="0">
                <a:solidFill>
                  <a:srgbClr val="1B2A41"/>
                </a:solidFill>
                <a:latin typeface="Rubik"/>
                <a:ea typeface="Rubik"/>
                <a:cs typeface="Rubik"/>
              </a:rPr>
              <a:t>Variables &amp; data types</a:t>
            </a:r>
          </a:p>
        </p:txBody>
      </p:sp>
      <p:sp>
        <p:nvSpPr>
          <p:cNvPr id="4" name="TextBox 3"/>
          <p:cNvSpPr txBox="1"/>
          <p:nvPr/>
        </p:nvSpPr>
        <p:spPr>
          <a:xfrm>
            <a:off x="812800" y="4033540"/>
            <a:ext cx="5127752" cy="639961"/>
          </a:xfrm>
          <a:prstGeom prst="rect">
            <a:avLst/>
          </a:prstGeom>
          <a:noFill/>
        </p:spPr>
        <p:txBody>
          <a:bodyPr wrap="square" lIns="0" rIns="0" tIns="0" bIns="0" anchor="t">
            <a:normAutofit/>
          </a:bodyPr>
          <a:lstStyle/>
          <a:p>
            <a:pPr algn="l" marL="0" indent="0">
              <a:lnSpc>
                <a:spcPts val="2520"/>
              </a:lnSpc>
              <a:buNone/>
            </a:pPr>
            <a:r>
              <a:rPr sz="1800" b="0" i="0">
                <a:solidFill>
                  <a:srgbClr val="1B2A41"/>
                </a:solidFill>
                <a:latin typeface="Rubik"/>
                <a:ea typeface="Rubik"/>
                <a:cs typeface="Rubik"/>
              </a:rPr>
              <a:t>How Python remembers things, and how to read input from the keyboard</a:t>
            </a:r>
          </a:p>
        </p:txBody>
      </p:sp>
      <p:sp>
        <p:nvSpPr>
          <p:cNvPr id="5" name="Rounded Rectangle 4"/>
          <p:cNvSpPr/>
          <p:nvPr/>
        </p:nvSpPr>
        <p:spPr>
          <a:xfrm>
            <a:off x="6400800" y="2250480"/>
            <a:ext cx="4978400" cy="2357041"/>
          </a:xfrm>
          <a:prstGeom prst="roundRect">
            <a:avLst>
              <a:gd name="adj" fmla="val 6465"/>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56400" y="2606080"/>
            <a:ext cx="4395216" cy="274241"/>
          </a:xfrm>
          <a:prstGeom prst="rect">
            <a:avLst/>
          </a:prstGeom>
          <a:noFill/>
        </p:spPr>
        <p:txBody>
          <a:bodyPr wrap="square" lIns="0" rIns="0" tIns="0" bIns="0" anchor="t">
            <a:normAutofit/>
          </a:bodyPr>
          <a:lstStyle/>
          <a:p>
            <a:pPr algn="l" marL="0" indent="0">
              <a:lnSpc>
                <a:spcPts val="2160"/>
              </a:lnSpc>
              <a:buNone/>
            </a:pPr>
            <a:r>
              <a:rPr sz="1800" b="1" i="0">
                <a:solidFill>
                  <a:srgbClr val="F2B33D"/>
                </a:solidFill>
                <a:latin typeface="Rubik"/>
                <a:ea typeface="Rubik"/>
                <a:cs typeface="Rubik"/>
              </a:rPr>
              <a:t>By the end of today you can</a:t>
            </a:r>
          </a:p>
        </p:txBody>
      </p:sp>
      <p:sp>
        <p:nvSpPr>
          <p:cNvPr id="7" name="TextBox 6"/>
          <p:cNvSpPr txBox="1"/>
          <p:nvPr/>
        </p:nvSpPr>
        <p:spPr>
          <a:xfrm>
            <a:off x="6756400" y="3032720"/>
            <a:ext cx="4395216" cy="1219200"/>
          </a:xfrm>
          <a:prstGeom prst="rect">
            <a:avLst/>
          </a:prstGeom>
          <a:noFill/>
        </p:spPr>
        <p:txBody>
          <a:bodyPr wrap="square" lIns="0" rIns="0" tIns="0" bIns="0" anchor="t">
            <a:normAutofit/>
          </a:bodyPr>
          <a:lstStyle/>
          <a:p>
            <a:pPr algn="l" marL="247650" indent="-171450">
              <a:lnSpc>
                <a:spcPts val="2400"/>
              </a:lnSpc>
              <a:buFont typeface="Arial"/>
              <a:buChar char="•"/>
            </a:pPr>
            <a:r>
              <a:rPr sz="1500" b="0" i="0">
                <a:solidFill>
                  <a:srgbClr val="F7F5EF"/>
                </a:solidFill>
                <a:latin typeface="Rubik"/>
                <a:ea typeface="Rubik"/>
                <a:cs typeface="Rubik"/>
              </a:rPr>
              <a:t>Store values in variables</a:t>
            </a:r>
          </a:p>
          <a:p>
            <a:pPr algn="l" marL="247650" indent="-171450">
              <a:lnSpc>
                <a:spcPts val="2400"/>
              </a:lnSpc>
              <a:buFont typeface="Arial"/>
              <a:buChar char="•"/>
            </a:pPr>
            <a:r>
              <a:rPr sz="1500" b="0" i="0">
                <a:solidFill>
                  <a:srgbClr val="F7F5EF"/>
                </a:solidFill>
                <a:latin typeface="Rubik"/>
                <a:ea typeface="Rubik"/>
                <a:cs typeface="Rubik"/>
              </a:rPr>
              <a:t>Name variables the right way</a:t>
            </a:r>
          </a:p>
          <a:p>
            <a:pPr algn="l" marL="247650" indent="-171450">
              <a:lnSpc>
                <a:spcPts val="2400"/>
              </a:lnSpc>
              <a:buFont typeface="Arial"/>
              <a:buChar char="•"/>
            </a:pPr>
            <a:r>
              <a:rPr sz="1500" b="0" i="0">
                <a:solidFill>
                  <a:srgbClr val="F7F5EF"/>
                </a:solidFill>
                <a:latin typeface="Rubik"/>
                <a:ea typeface="Rubik"/>
                <a:cs typeface="Rubik"/>
              </a:rPr>
              <a:t>Tell int, float, str and bool apart</a:t>
            </a:r>
          </a:p>
          <a:p>
            <a:pPr algn="l" marL="247650" indent="-171450">
              <a:lnSpc>
                <a:spcPts val="2400"/>
              </a:lnSpc>
              <a:buFont typeface="Arial"/>
              <a:buChar char="•"/>
            </a:pPr>
            <a:r>
              <a:rPr sz="1500" b="0" i="0">
                <a:solidFill>
                  <a:srgbClr val="F7F5EF"/>
                </a:solidFill>
                <a:latin typeface="Rubik"/>
                <a:ea typeface="Rubik"/>
                <a:cs typeface="Rubik"/>
              </a:rPr>
              <a:t>Take input and convert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3" name="TextBox 2"/>
          <p:cNvSpPr txBox="1"/>
          <p:nvPr/>
        </p:nvSpPr>
        <p:spPr>
          <a:xfrm>
            <a:off x="812800" y="812800"/>
            <a:ext cx="10883392"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CLASS 2 · VARIABLES</a:t>
            </a:r>
          </a:p>
        </p:txBody>
      </p:sp>
      <p:sp>
        <p:nvSpPr>
          <p:cNvPr id="2" name="Title 1"/>
          <p:cNvSpPr>
            <a:spLocks noGrp="1"/>
          </p:cNvSpPr>
          <p:nvPr>
            <p:ph type="title"/>
          </p:nvPr>
        </p:nvSpPr>
        <p:spPr>
          <a:xfrm>
            <a:off x="812800" y="1102320"/>
            <a:ext cx="10883392" cy="446980"/>
          </a:xfrm>
        </p:spPr>
        <p:txBody>
          <a:bodyPr wrap="square" lIns="0" rIns="0" tIns="0" bIns="0" anchor="t">
            <a:normAutofit/>
          </a:bodyPr>
          <a:lstStyle/>
          <a:p>
            <a:pPr algn="l" marL="0" indent="0">
              <a:lnSpc>
                <a:spcPts val="3520"/>
              </a:lnSpc>
              <a:buNone/>
            </a:pPr>
            <a:r>
              <a:rPr sz="3200" b="1" i="0">
                <a:solidFill>
                  <a:srgbClr val="1B2A41"/>
                </a:solidFill>
                <a:latin typeface="Rubik"/>
                <a:ea typeface="Rubik"/>
                <a:cs typeface="Rubik"/>
              </a:rPr>
              <a:t>A variable is a labelled box</a:t>
            </a:r>
          </a:p>
        </p:txBody>
      </p:sp>
      <p:sp>
        <p:nvSpPr>
          <p:cNvPr id="4" name="Rounded Rectangle 3"/>
          <p:cNvSpPr/>
          <p:nvPr/>
        </p:nvSpPr>
        <p:spPr>
          <a:xfrm>
            <a:off x="1244600" y="1854101"/>
            <a:ext cx="711200" cy="342900"/>
          </a:xfrm>
          <a:prstGeom prst="roundRect">
            <a:avLst>
              <a:gd name="adj" fmla="val 18518"/>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892201"/>
            <a:ext cx="470916"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JetBrains Mono"/>
                <a:ea typeface="JetBrains Mono"/>
                <a:cs typeface="JetBrains Mono"/>
              </a:rPr>
              <a:t>name</a:t>
            </a:r>
          </a:p>
        </p:txBody>
      </p:sp>
      <p:sp>
        <p:nvSpPr>
          <p:cNvPr id="6" name="Rounded Rectangle 5"/>
          <p:cNvSpPr/>
          <p:nvPr/>
        </p:nvSpPr>
        <p:spPr>
          <a:xfrm>
            <a:off x="825500" y="2285901"/>
            <a:ext cx="1549400" cy="990600"/>
          </a:xfrm>
          <a:prstGeom prst="roundRect">
            <a:avLst>
              <a:gd name="adj" fmla="val 10256"/>
            </a:avLst>
          </a:prstGeom>
          <a:solidFill>
            <a:srgbClr val="FFFDF8"/>
          </a:solidFill>
          <a:ln w="25400">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20" y="2621161"/>
            <a:ext cx="1130280" cy="319980"/>
          </a:xfrm>
          <a:prstGeom prst="rect">
            <a:avLst/>
          </a:prstGeom>
          <a:noFill/>
        </p:spPr>
        <p:txBody>
          <a:bodyPr wrap="square" lIns="0" rIns="0" tIns="0" bIns="0" anchor="t">
            <a:normAutofit/>
          </a:bodyPr>
          <a:lstStyle/>
          <a:p>
            <a:pPr algn="l" marL="0" indent="0">
              <a:lnSpc>
                <a:spcPts val="2520"/>
              </a:lnSpc>
              <a:buNone/>
            </a:pPr>
            <a:r>
              <a:rPr sz="1800" b="0" i="0">
                <a:solidFill>
                  <a:srgbClr val="2A64A3"/>
                </a:solidFill>
                <a:latin typeface="JetBrains Mono"/>
                <a:ea typeface="JetBrains Mono"/>
                <a:cs typeface="JetBrains Mono"/>
              </a:rPr>
              <a:t>"Ananya"</a:t>
            </a:r>
          </a:p>
        </p:txBody>
      </p:sp>
      <p:sp>
        <p:nvSpPr>
          <p:cNvPr id="8" name="Rounded Rectangle 7"/>
          <p:cNvSpPr/>
          <p:nvPr/>
        </p:nvSpPr>
        <p:spPr>
          <a:xfrm>
            <a:off x="3054350" y="1854101"/>
            <a:ext cx="596900" cy="342900"/>
          </a:xfrm>
          <a:prstGeom prst="roundRect">
            <a:avLst>
              <a:gd name="adj" fmla="val 18518"/>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81350" y="1892201"/>
            <a:ext cx="353187"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JetBrains Mono"/>
                <a:ea typeface="JetBrains Mono"/>
                <a:cs typeface="JetBrains Mono"/>
              </a:rPr>
              <a:t>age</a:t>
            </a:r>
          </a:p>
        </p:txBody>
      </p:sp>
      <p:sp>
        <p:nvSpPr>
          <p:cNvPr id="10" name="Rounded Rectangle 9"/>
          <p:cNvSpPr/>
          <p:nvPr/>
        </p:nvSpPr>
        <p:spPr>
          <a:xfrm>
            <a:off x="2578100" y="2285901"/>
            <a:ext cx="1549400" cy="990600"/>
          </a:xfrm>
          <a:prstGeom prst="roundRect">
            <a:avLst>
              <a:gd name="adj" fmla="val 10256"/>
            </a:avLst>
          </a:prstGeom>
          <a:solidFill>
            <a:srgbClr val="FFFDF8"/>
          </a:solidFill>
          <a:ln w="25400">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15580" y="2621161"/>
            <a:ext cx="282570" cy="319980"/>
          </a:xfrm>
          <a:prstGeom prst="rect">
            <a:avLst/>
          </a:prstGeom>
          <a:noFill/>
        </p:spPr>
        <p:txBody>
          <a:bodyPr wrap="square" lIns="0" rIns="0" tIns="0" bIns="0" anchor="t">
            <a:normAutofit/>
          </a:bodyPr>
          <a:lstStyle/>
          <a:p>
            <a:pPr algn="l" marL="0" indent="0">
              <a:lnSpc>
                <a:spcPts val="2520"/>
              </a:lnSpc>
              <a:buNone/>
            </a:pPr>
            <a:r>
              <a:rPr sz="1800" b="0" i="0">
                <a:solidFill>
                  <a:srgbClr val="2A64A3"/>
                </a:solidFill>
                <a:latin typeface="JetBrains Mono"/>
                <a:ea typeface="JetBrains Mono"/>
                <a:cs typeface="JetBrains Mono"/>
              </a:rPr>
              <a:t>18</a:t>
            </a:r>
          </a:p>
        </p:txBody>
      </p:sp>
      <p:sp>
        <p:nvSpPr>
          <p:cNvPr id="12" name="Rounded Rectangle 11"/>
          <p:cNvSpPr/>
          <p:nvPr/>
        </p:nvSpPr>
        <p:spPr>
          <a:xfrm>
            <a:off x="4749800" y="1854101"/>
            <a:ext cx="711200" cy="342900"/>
          </a:xfrm>
          <a:prstGeom prst="roundRect">
            <a:avLst>
              <a:gd name="adj" fmla="val 18518"/>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76800" y="1892201"/>
            <a:ext cx="470916"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JetBrains Mono"/>
                <a:ea typeface="JetBrains Mono"/>
                <a:cs typeface="JetBrains Mono"/>
              </a:rPr>
              <a:t>cgpa</a:t>
            </a:r>
          </a:p>
        </p:txBody>
      </p:sp>
      <p:sp>
        <p:nvSpPr>
          <p:cNvPr id="14" name="Rounded Rectangle 13"/>
          <p:cNvSpPr/>
          <p:nvPr/>
        </p:nvSpPr>
        <p:spPr>
          <a:xfrm>
            <a:off x="4330700" y="2285901"/>
            <a:ext cx="1549400" cy="990600"/>
          </a:xfrm>
          <a:prstGeom prst="roundRect">
            <a:avLst>
              <a:gd name="adj" fmla="val 10256"/>
            </a:avLst>
          </a:prstGeom>
          <a:solidFill>
            <a:srgbClr val="FFFDF8"/>
          </a:solidFill>
          <a:ln w="25400">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99620" y="2621161"/>
            <a:ext cx="423906" cy="319980"/>
          </a:xfrm>
          <a:prstGeom prst="rect">
            <a:avLst/>
          </a:prstGeom>
          <a:noFill/>
        </p:spPr>
        <p:txBody>
          <a:bodyPr wrap="square" lIns="0" rIns="0" tIns="0" bIns="0" anchor="t">
            <a:normAutofit/>
          </a:bodyPr>
          <a:lstStyle/>
          <a:p>
            <a:pPr algn="l" marL="0" indent="0">
              <a:lnSpc>
                <a:spcPts val="2520"/>
              </a:lnSpc>
              <a:buNone/>
            </a:pPr>
            <a:r>
              <a:rPr sz="1800" b="0" i="0">
                <a:solidFill>
                  <a:srgbClr val="2A64A3"/>
                </a:solidFill>
                <a:latin typeface="JetBrains Mono"/>
                <a:ea typeface="JetBrains Mono"/>
                <a:cs typeface="JetBrains Mono"/>
              </a:rPr>
              <a:t>8.7</a:t>
            </a:r>
          </a:p>
        </p:txBody>
      </p:sp>
      <p:sp>
        <p:nvSpPr>
          <p:cNvPr id="16" name="TextBox 15"/>
          <p:cNvSpPr txBox="1"/>
          <p:nvPr/>
        </p:nvSpPr>
        <p:spPr>
          <a:xfrm>
            <a:off x="812800" y="3492401"/>
            <a:ext cx="5232400" cy="571500"/>
          </a:xfrm>
          <a:prstGeom prst="rect">
            <a:avLst/>
          </a:prstGeom>
          <a:noFill/>
        </p:spPr>
        <p:txBody>
          <a:bodyPr wrap="square" lIns="0" rIns="0" tIns="0" bIns="0" anchor="t">
            <a:normAutofit/>
          </a:bodyPr>
          <a:lstStyle/>
          <a:p>
            <a:pPr algn="l" marL="0" indent="0">
              <a:lnSpc>
                <a:spcPts val="2250"/>
              </a:lnSpc>
              <a:buNone/>
            </a:pPr>
            <a:r>
              <a:rPr sz="1500" b="0" i="0">
                <a:solidFill>
                  <a:srgbClr val="4A5568"/>
                </a:solidFill>
                <a:latin typeface="Rubik"/>
                <a:ea typeface="Rubik"/>
                <a:cs typeface="Rubik"/>
              </a:rPr>
              <a:t>Each box has a </a:t>
            </a:r>
            <a:r>
              <a:rPr sz="1500" b="1" i="0">
                <a:solidFill>
                  <a:srgbClr val="4A5568"/>
                </a:solidFill>
                <a:latin typeface="Rubik"/>
                <a:ea typeface="Rubik"/>
                <a:cs typeface="Rubik"/>
              </a:rPr>
              <a:t>name</a:t>
            </a:r>
            <a:r>
              <a:rPr sz="1500" b="0" i="0">
                <a:solidFill>
                  <a:srgbClr val="4A5568"/>
                </a:solidFill>
                <a:latin typeface="Rubik"/>
                <a:ea typeface="Rubik"/>
                <a:cs typeface="Rubik"/>
              </a:rPr>
              <a:t> (the label) and holds a </a:t>
            </a:r>
            <a:r>
              <a:rPr sz="1500" b="1" i="0">
                <a:solidFill>
                  <a:srgbClr val="4A5568"/>
                </a:solidFill>
                <a:latin typeface="Rubik"/>
                <a:ea typeface="Rubik"/>
                <a:cs typeface="Rubik"/>
              </a:rPr>
              <a:t>value</a:t>
            </a:r>
            <a:r>
              <a:rPr sz="1500" b="0" i="0">
                <a:solidFill>
                  <a:srgbClr val="4A5568"/>
                </a:solidFill>
                <a:latin typeface="Rubik"/>
                <a:ea typeface="Rubik"/>
                <a:cs typeface="Rubik"/>
              </a:rPr>
              <a:t>. Use the name to get the value back any time.</a:t>
            </a:r>
          </a:p>
        </p:txBody>
      </p:sp>
      <p:sp>
        <p:nvSpPr>
          <p:cNvPr id="17" name="Rounded Rectangle 16"/>
          <p:cNvSpPr/>
          <p:nvPr/>
        </p:nvSpPr>
        <p:spPr>
          <a:xfrm>
            <a:off x="812800" y="4267101"/>
            <a:ext cx="5080000" cy="977900"/>
          </a:xfrm>
          <a:prstGeom prst="roundRect">
            <a:avLst>
              <a:gd name="adj" fmla="val 12987"/>
            </a:avLst>
          </a:prstGeom>
          <a:solidFill>
            <a:srgbClr val="FBE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6800" y="4470301"/>
            <a:ext cx="4709160" cy="571500"/>
          </a:xfrm>
          <a:prstGeom prst="rect">
            <a:avLst/>
          </a:prstGeom>
          <a:noFill/>
        </p:spPr>
        <p:txBody>
          <a:bodyPr wrap="square" lIns="0" rIns="0" tIns="0" bIns="0" anchor="t">
            <a:normAutofit/>
          </a:bodyPr>
          <a:lstStyle/>
          <a:p>
            <a:pPr algn="l" marL="0" indent="0">
              <a:lnSpc>
                <a:spcPts val="2250"/>
              </a:lnSpc>
              <a:buNone/>
            </a:pPr>
            <a:r>
              <a:rPr sz="1500" b="1" i="0">
                <a:solidFill>
                  <a:srgbClr val="1B2A41"/>
                </a:solidFill>
                <a:latin typeface="Rubik"/>
                <a:ea typeface="Rubik"/>
                <a:cs typeface="Rubik"/>
              </a:rPr>
              <a:t>=</a:t>
            </a:r>
            <a:r>
              <a:rPr sz="1500" b="0" i="0">
                <a:solidFill>
                  <a:srgbClr val="1B2A41"/>
                </a:solidFill>
                <a:latin typeface="Rubik"/>
                <a:ea typeface="Rubik"/>
                <a:cs typeface="Rubik"/>
              </a:rPr>
              <a:t> means “put this value into the box”. It is not the “equals” from maths.</a:t>
            </a:r>
          </a:p>
        </p:txBody>
      </p:sp>
      <p:sp>
        <p:nvSpPr>
          <p:cNvPr id="19" name="Rounded Rectangle 18"/>
          <p:cNvSpPr/>
          <p:nvPr/>
        </p:nvSpPr>
        <p:spPr>
          <a:xfrm>
            <a:off x="6299200" y="1854101"/>
            <a:ext cx="5080000" cy="2359620"/>
          </a:xfrm>
          <a:prstGeom prst="roundRect">
            <a:avLst>
              <a:gd name="adj" fmla="val 5382"/>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78600" y="2031901"/>
            <a:ext cx="4656836" cy="213320"/>
          </a:xfrm>
          <a:prstGeom prst="rect">
            <a:avLst/>
          </a:prstGeom>
          <a:noFill/>
        </p:spPr>
        <p:txBody>
          <a:bodyPr wrap="square" lIns="0" rIns="0" tIns="0" bIns="0" anchor="t">
            <a:normAutofit/>
          </a:bodyPr>
          <a:lstStyle/>
          <a:p>
            <a:pPr algn="l" marL="0" indent="0">
              <a:lnSpc>
                <a:spcPts val="1680"/>
              </a:lnSpc>
              <a:buNone/>
            </a:pPr>
            <a:r>
              <a:rPr sz="1200" b="0" i="0">
                <a:solidFill>
                  <a:srgbClr val="8FA3B8"/>
                </a:solidFill>
                <a:latin typeface="JetBrains Mono"/>
                <a:ea typeface="JetBrains Mono"/>
                <a:cs typeface="JetBrains Mono"/>
              </a:rPr>
              <a:t>variables.py</a:t>
            </a:r>
          </a:p>
        </p:txBody>
      </p:sp>
      <p:sp>
        <p:nvSpPr>
          <p:cNvPr id="21" name="TextBox 20"/>
          <p:cNvSpPr txBox="1"/>
          <p:nvPr/>
        </p:nvSpPr>
        <p:spPr>
          <a:xfrm>
            <a:off x="6578600" y="2321421"/>
            <a:ext cx="4656836" cy="1714500"/>
          </a:xfrm>
          <a:prstGeom prst="rect">
            <a:avLst/>
          </a:prstGeom>
          <a:noFill/>
        </p:spPr>
        <p:txBody>
          <a:bodyPr wrap="square" lIns="0" rIns="0" tIns="0" bIns="0" anchor="t">
            <a:normAutofit/>
          </a:bodyPr>
          <a:lstStyle/>
          <a:p>
            <a:pPr algn="l" marL="0" indent="0">
              <a:lnSpc>
                <a:spcPts val="2250"/>
              </a:lnSpc>
              <a:buNone/>
            </a:pPr>
            <a:r>
              <a:rPr sz="1500" b="0" i="0">
                <a:solidFill>
                  <a:srgbClr val="E8EDF3"/>
                </a:solidFill>
                <a:latin typeface="JetBrains Mono"/>
                <a:ea typeface="JetBrains Mono"/>
                <a:cs typeface="JetBrains Mono"/>
              </a:rPr>
              <a:t>name = </a:t>
            </a:r>
            <a:r>
              <a:rPr sz="1500" b="0" i="0">
                <a:solidFill>
                  <a:srgbClr val="9FD8A8"/>
                </a:solidFill>
                <a:latin typeface="JetBrains Mono"/>
                <a:ea typeface="JetBrains Mono"/>
                <a:cs typeface="JetBrains Mono"/>
              </a:rPr>
              <a:t>"Ananya"</a:t>
            </a:r>
          </a:p>
          <a:p>
            <a:pPr algn="l" marL="0" indent="0">
              <a:lnSpc>
                <a:spcPts val="2250"/>
              </a:lnSpc>
              <a:buNone/>
            </a:pPr>
            <a:r>
              <a:rPr sz="1500" b="0" i="0">
                <a:solidFill>
                  <a:srgbClr val="E8EDF3"/>
                </a:solidFill>
                <a:latin typeface="JetBrains Mono"/>
                <a:ea typeface="JetBrains Mono"/>
                <a:cs typeface="JetBrains Mono"/>
              </a:rPr>
              <a:t>age = 18</a:t>
            </a:r>
          </a:p>
          <a:p>
            <a:pPr algn="l" marL="0" indent="0">
              <a:lnSpc>
                <a:spcPts val="2250"/>
              </a:lnSpc>
              <a:buNone/>
            </a:pPr>
            <a:r>
              <a:rPr sz="1500" b="0" i="0">
                <a:solidFill>
                  <a:srgbClr val="E8EDF3"/>
                </a:solidFill>
                <a:latin typeface="JetBrains Mono"/>
                <a:ea typeface="JetBrains Mono"/>
                <a:cs typeface="JetBrains Mono"/>
              </a:rPr>
              <a:t>cgpa = 8.7</a:t>
            </a:r>
          </a:p>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(name, age, cgpa)</a:t>
            </a:r>
          </a:p>
          <a:p>
            <a:pPr algn="l" marL="0" indent="0">
              <a:lnSpc>
                <a:spcPts val="2250"/>
              </a:lnSpc>
              <a:buNone/>
            </a:pPr>
            <a:r>
              <a:rPr sz="1500" b="0" i="0">
                <a:solidFill>
                  <a:srgbClr val="E8EDF3"/>
                </a:solidFill>
                <a:latin typeface="JetBrains Mono"/>
                <a:ea typeface="JetBrains Mono"/>
                <a:cs typeface="JetBrains Mono"/>
              </a:rPr>
              <a:t>age = 19  </a:t>
            </a:r>
            <a:r>
              <a:rPr sz="1500" b="0" i="0">
                <a:solidFill>
                  <a:srgbClr val="8FA3B8"/>
                </a:solidFill>
                <a:latin typeface="JetBrains Mono"/>
                <a:ea typeface="JetBrains Mono"/>
                <a:cs typeface="JetBrains Mono"/>
              </a:rPr>
              <a:t># box now holds 19</a:t>
            </a:r>
          </a:p>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(age)</a:t>
            </a:r>
          </a:p>
        </p:txBody>
      </p:sp>
      <p:sp>
        <p:nvSpPr>
          <p:cNvPr id="22" name="Rounded Rectangle 21"/>
          <p:cNvSpPr/>
          <p:nvPr/>
        </p:nvSpPr>
        <p:spPr>
          <a:xfrm>
            <a:off x="6305550" y="4347071"/>
            <a:ext cx="5067300" cy="1229320"/>
          </a:xfrm>
          <a:prstGeom prst="roundRect">
            <a:avLst>
              <a:gd name="adj" fmla="val 10330"/>
            </a:avLst>
          </a:prstGeom>
          <a:solidFill>
            <a:srgbClr val="FFFDF8"/>
          </a:solidFill>
          <a:ln w="12700">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1300" y="4531221"/>
            <a:ext cx="4630674"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OUTPUT</a:t>
            </a:r>
          </a:p>
        </p:txBody>
      </p:sp>
      <p:sp>
        <p:nvSpPr>
          <p:cNvPr id="24" name="TextBox 23"/>
          <p:cNvSpPr txBox="1"/>
          <p:nvPr/>
        </p:nvSpPr>
        <p:spPr>
          <a:xfrm>
            <a:off x="6591300" y="4820741"/>
            <a:ext cx="4630674" cy="571500"/>
          </a:xfrm>
          <a:prstGeom prst="rect">
            <a:avLst/>
          </a:prstGeom>
          <a:noFill/>
        </p:spPr>
        <p:txBody>
          <a:bodyPr wrap="square" lIns="0" rIns="0" tIns="0" bIns="0" anchor="t">
            <a:normAutofit/>
          </a:bodyPr>
          <a:lstStyle/>
          <a:p>
            <a:pPr algn="l" marL="0" indent="0">
              <a:lnSpc>
                <a:spcPts val="2250"/>
              </a:lnSpc>
              <a:buNone/>
            </a:pPr>
            <a:r>
              <a:rPr sz="1500" b="0" i="0">
                <a:solidFill>
                  <a:srgbClr val="1B2A41"/>
                </a:solidFill>
                <a:latin typeface="JetBrains Mono"/>
                <a:ea typeface="JetBrains Mono"/>
                <a:cs typeface="JetBrains Mono"/>
              </a:rPr>
              <a:t>Ananya 18 8.7</a:t>
            </a:r>
          </a:p>
          <a:p>
            <a:pPr algn="l" marL="0" indent="0">
              <a:lnSpc>
                <a:spcPts val="2250"/>
              </a:lnSpc>
              <a:buNone/>
            </a:pPr>
            <a:r>
              <a:rPr sz="1500" b="0" i="0">
                <a:solidFill>
                  <a:srgbClr val="1B2A41"/>
                </a:solidFill>
                <a:latin typeface="JetBrains Mono"/>
                <a:ea typeface="JetBrains Mono"/>
                <a:cs typeface="JetBrains Mono"/>
              </a:rPr>
              <a:t>19</a:t>
            </a:r>
          </a:p>
        </p:txBody>
      </p:sp>
      <p:sp>
        <p:nvSpPr>
          <p:cNvPr id="25" name="TextBox 24"/>
          <p:cNvSpPr txBox="1"/>
          <p:nvPr/>
        </p:nvSpPr>
        <p:spPr>
          <a:xfrm>
            <a:off x="812800" y="6238280"/>
            <a:ext cx="10883392" cy="213320"/>
          </a:xfrm>
          <a:prstGeom prst="rect">
            <a:avLst/>
          </a:prstGeom>
          <a:noFill/>
        </p:spPr>
        <p:txBody>
          <a:bodyPr wrap="square" lIns="0" rIns="0" tIns="0" bIns="0" anchor="t">
            <a:normAutofit/>
          </a:bodyPr>
          <a:lstStyle/>
          <a:p>
            <a:pPr algn="l" marL="0" indent="0">
              <a:lnSpc>
                <a:spcPts val="1680"/>
              </a:lnSpc>
              <a:buNone/>
            </a:pPr>
            <a:r>
              <a:rPr sz="1200" b="0" i="0">
                <a:solidFill>
                  <a:srgbClr val="5F6B7A"/>
                </a:solidFill>
                <a:latin typeface="Rubik"/>
                <a:ea typeface="Rubik"/>
                <a:cs typeface="Rubik"/>
              </a:rPr>
              <a:t>Python Programming · Week 1 · Class 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3" name="TextBox 2"/>
          <p:cNvSpPr txBox="1"/>
          <p:nvPr/>
        </p:nvSpPr>
        <p:spPr>
          <a:xfrm>
            <a:off x="812800" y="812800"/>
            <a:ext cx="10883392"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CLASS 2 · NAMING RULES</a:t>
            </a:r>
          </a:p>
        </p:txBody>
      </p:sp>
      <p:sp>
        <p:nvSpPr>
          <p:cNvPr id="2" name="Title 1"/>
          <p:cNvSpPr>
            <a:spLocks noGrp="1"/>
          </p:cNvSpPr>
          <p:nvPr>
            <p:ph type="title"/>
          </p:nvPr>
        </p:nvSpPr>
        <p:spPr>
          <a:xfrm>
            <a:off x="812800" y="1102320"/>
            <a:ext cx="10883392" cy="446980"/>
          </a:xfrm>
        </p:spPr>
        <p:txBody>
          <a:bodyPr wrap="square" lIns="0" rIns="0" tIns="0" bIns="0" anchor="t">
            <a:normAutofit/>
          </a:bodyPr>
          <a:lstStyle/>
          <a:p>
            <a:pPr algn="l" marL="0" indent="0">
              <a:lnSpc>
                <a:spcPts val="3520"/>
              </a:lnSpc>
              <a:buNone/>
            </a:pPr>
            <a:r>
              <a:rPr sz="3200" b="1" i="0">
                <a:solidFill>
                  <a:srgbClr val="1B2A41"/>
                </a:solidFill>
                <a:latin typeface="Rubik"/>
                <a:ea typeface="Rubik"/>
                <a:cs typeface="Rubik"/>
              </a:rPr>
              <a:t>Good names, bad names</a:t>
            </a:r>
          </a:p>
        </p:txBody>
      </p:sp>
      <p:sp>
        <p:nvSpPr>
          <p:cNvPr id="4" name="Rounded Rectangle 3"/>
          <p:cNvSpPr/>
          <p:nvPr/>
        </p:nvSpPr>
        <p:spPr>
          <a:xfrm>
            <a:off x="812800" y="1854101"/>
            <a:ext cx="10566400" cy="416520"/>
          </a:xfrm>
          <a:prstGeom prst="roundRect">
            <a:avLst>
              <a:gd name="adj" fmla="val 21343"/>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 y="1955701"/>
            <a:ext cx="2877820" cy="213320"/>
          </a:xfrm>
          <a:prstGeom prst="rect">
            <a:avLst/>
          </a:prstGeom>
          <a:noFill/>
        </p:spPr>
        <p:txBody>
          <a:bodyPr wrap="square" lIns="0" rIns="0" tIns="0" bIns="0" anchor="t">
            <a:normAutofit/>
          </a:bodyPr>
          <a:lstStyle/>
          <a:p>
            <a:pPr algn="l" marL="0" indent="0">
              <a:lnSpc>
                <a:spcPts val="1680"/>
              </a:lnSpc>
              <a:buNone/>
            </a:pPr>
            <a:r>
              <a:rPr sz="1200" b="1" i="0" spc="150">
                <a:solidFill>
                  <a:srgbClr val="F7F5EF"/>
                </a:solidFill>
                <a:latin typeface="Rubik"/>
                <a:ea typeface="Rubik"/>
                <a:cs typeface="Rubik"/>
              </a:rPr>
              <a:t>NAME</a:t>
            </a:r>
          </a:p>
        </p:txBody>
      </p:sp>
      <p:sp>
        <p:nvSpPr>
          <p:cNvPr id="6" name="TextBox 5"/>
          <p:cNvSpPr txBox="1"/>
          <p:nvPr/>
        </p:nvSpPr>
        <p:spPr>
          <a:xfrm>
            <a:off x="3987800" y="1955701"/>
            <a:ext cx="1700530" cy="213320"/>
          </a:xfrm>
          <a:prstGeom prst="rect">
            <a:avLst/>
          </a:prstGeom>
          <a:noFill/>
        </p:spPr>
        <p:txBody>
          <a:bodyPr wrap="square" lIns="0" rIns="0" tIns="0" bIns="0" anchor="t">
            <a:normAutofit/>
          </a:bodyPr>
          <a:lstStyle/>
          <a:p>
            <a:pPr algn="l" marL="0" indent="0">
              <a:lnSpc>
                <a:spcPts val="1680"/>
              </a:lnSpc>
              <a:buNone/>
            </a:pPr>
            <a:r>
              <a:rPr sz="1200" b="1" i="0" spc="150">
                <a:solidFill>
                  <a:srgbClr val="F7F5EF"/>
                </a:solidFill>
                <a:latin typeface="Rubik"/>
                <a:ea typeface="Rubik"/>
                <a:cs typeface="Rubik"/>
              </a:rPr>
              <a:t>ALLOWED?</a:t>
            </a:r>
          </a:p>
        </p:txBody>
      </p:sp>
      <p:sp>
        <p:nvSpPr>
          <p:cNvPr id="7" name="TextBox 6"/>
          <p:cNvSpPr txBox="1"/>
          <p:nvPr/>
        </p:nvSpPr>
        <p:spPr>
          <a:xfrm>
            <a:off x="5842000" y="1955701"/>
            <a:ext cx="5520182" cy="213320"/>
          </a:xfrm>
          <a:prstGeom prst="rect">
            <a:avLst/>
          </a:prstGeom>
          <a:noFill/>
        </p:spPr>
        <p:txBody>
          <a:bodyPr wrap="square" lIns="0" rIns="0" tIns="0" bIns="0" anchor="t">
            <a:normAutofit/>
          </a:bodyPr>
          <a:lstStyle/>
          <a:p>
            <a:pPr algn="l" marL="0" indent="0">
              <a:lnSpc>
                <a:spcPts val="1680"/>
              </a:lnSpc>
              <a:buNone/>
            </a:pPr>
            <a:r>
              <a:rPr sz="1200" b="1" i="0" spc="150">
                <a:solidFill>
                  <a:srgbClr val="F7F5EF"/>
                </a:solidFill>
                <a:latin typeface="Rubik"/>
                <a:ea typeface="Rubik"/>
                <a:cs typeface="Rubik"/>
              </a:rPr>
              <a:t>WHY</a:t>
            </a:r>
          </a:p>
        </p:txBody>
      </p:sp>
      <p:sp>
        <p:nvSpPr>
          <p:cNvPr id="8" name="TextBox 7"/>
          <p:cNvSpPr txBox="1"/>
          <p:nvPr/>
        </p:nvSpPr>
        <p:spPr>
          <a:xfrm>
            <a:off x="990600" y="2359521"/>
            <a:ext cx="2877820" cy="266700"/>
          </a:xfrm>
          <a:prstGeom prst="rect">
            <a:avLst/>
          </a:prstGeom>
          <a:noFill/>
        </p:spPr>
        <p:txBody>
          <a:bodyPr wrap="square" lIns="0" rIns="0" tIns="0" bIns="0" anchor="t">
            <a:normAutofit/>
          </a:bodyPr>
          <a:lstStyle/>
          <a:p>
            <a:pPr algn="l" marL="0" indent="0">
              <a:lnSpc>
                <a:spcPts val="2100"/>
              </a:lnSpc>
              <a:buNone/>
            </a:pPr>
            <a:r>
              <a:rPr sz="1500" b="0" i="0">
                <a:solidFill>
                  <a:srgbClr val="1B2A41"/>
                </a:solidFill>
                <a:latin typeface="JetBrains Mono"/>
                <a:ea typeface="JetBrains Mono"/>
                <a:cs typeface="JetBrains Mono"/>
              </a:rPr>
              <a:t>student_name</a:t>
            </a:r>
          </a:p>
        </p:txBody>
      </p:sp>
      <p:sp>
        <p:nvSpPr>
          <p:cNvPr id="9" name="TextBox 8"/>
          <p:cNvSpPr txBox="1"/>
          <p:nvPr/>
        </p:nvSpPr>
        <p:spPr>
          <a:xfrm>
            <a:off x="3987800" y="2359521"/>
            <a:ext cx="1700530"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Rubik"/>
                <a:ea typeface="Rubik"/>
                <a:cs typeface="Rubik"/>
              </a:rPr>
              <a:t>Yes</a:t>
            </a:r>
          </a:p>
        </p:txBody>
      </p:sp>
      <p:sp>
        <p:nvSpPr>
          <p:cNvPr id="10" name="TextBox 9"/>
          <p:cNvSpPr txBox="1"/>
          <p:nvPr/>
        </p:nvSpPr>
        <p:spPr>
          <a:xfrm>
            <a:off x="5842000" y="2359521"/>
            <a:ext cx="5520182"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Letters and underscores are fine</a:t>
            </a:r>
          </a:p>
        </p:txBody>
      </p:sp>
      <p:sp>
        <p:nvSpPr>
          <p:cNvPr id="11" name="TextBox 10"/>
          <p:cNvSpPr txBox="1"/>
          <p:nvPr/>
        </p:nvSpPr>
        <p:spPr>
          <a:xfrm>
            <a:off x="990600" y="2816721"/>
            <a:ext cx="2877820" cy="266700"/>
          </a:xfrm>
          <a:prstGeom prst="rect">
            <a:avLst/>
          </a:prstGeom>
          <a:noFill/>
        </p:spPr>
        <p:txBody>
          <a:bodyPr wrap="square" lIns="0" rIns="0" tIns="0" bIns="0" anchor="t">
            <a:normAutofit/>
          </a:bodyPr>
          <a:lstStyle/>
          <a:p>
            <a:pPr algn="l" marL="0" indent="0">
              <a:lnSpc>
                <a:spcPts val="2100"/>
              </a:lnSpc>
              <a:buNone/>
            </a:pPr>
            <a:r>
              <a:rPr sz="1500" b="0" i="0">
                <a:solidFill>
                  <a:srgbClr val="1B2A41"/>
                </a:solidFill>
                <a:latin typeface="JetBrains Mono"/>
                <a:ea typeface="JetBrains Mono"/>
                <a:cs typeface="JetBrains Mono"/>
              </a:rPr>
              <a:t>marks2</a:t>
            </a:r>
          </a:p>
        </p:txBody>
      </p:sp>
      <p:sp>
        <p:nvSpPr>
          <p:cNvPr id="12" name="TextBox 11"/>
          <p:cNvSpPr txBox="1"/>
          <p:nvPr/>
        </p:nvSpPr>
        <p:spPr>
          <a:xfrm>
            <a:off x="3987800" y="2816721"/>
            <a:ext cx="1700530"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Rubik"/>
                <a:ea typeface="Rubik"/>
                <a:cs typeface="Rubik"/>
              </a:rPr>
              <a:t>Yes</a:t>
            </a:r>
          </a:p>
        </p:txBody>
      </p:sp>
      <p:sp>
        <p:nvSpPr>
          <p:cNvPr id="13" name="TextBox 12"/>
          <p:cNvSpPr txBox="1"/>
          <p:nvPr/>
        </p:nvSpPr>
        <p:spPr>
          <a:xfrm>
            <a:off x="5842000" y="2816721"/>
            <a:ext cx="5520182"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Digits are fine, just not first</a:t>
            </a:r>
          </a:p>
        </p:txBody>
      </p:sp>
      <p:sp>
        <p:nvSpPr>
          <p:cNvPr id="14" name="TextBox 13"/>
          <p:cNvSpPr txBox="1"/>
          <p:nvPr/>
        </p:nvSpPr>
        <p:spPr>
          <a:xfrm>
            <a:off x="990600" y="3273921"/>
            <a:ext cx="2877820" cy="266700"/>
          </a:xfrm>
          <a:prstGeom prst="rect">
            <a:avLst/>
          </a:prstGeom>
          <a:noFill/>
        </p:spPr>
        <p:txBody>
          <a:bodyPr wrap="square" lIns="0" rIns="0" tIns="0" bIns="0" anchor="t">
            <a:normAutofit/>
          </a:bodyPr>
          <a:lstStyle/>
          <a:p>
            <a:pPr algn="l" marL="0" indent="0">
              <a:lnSpc>
                <a:spcPts val="2100"/>
              </a:lnSpc>
              <a:buNone/>
            </a:pPr>
            <a:r>
              <a:rPr sz="1500" b="0" i="0">
                <a:solidFill>
                  <a:srgbClr val="1B2A41"/>
                </a:solidFill>
                <a:latin typeface="JetBrains Mono"/>
                <a:ea typeface="JetBrains Mono"/>
                <a:cs typeface="JetBrains Mono"/>
              </a:rPr>
              <a:t>2nd_year</a:t>
            </a:r>
          </a:p>
        </p:txBody>
      </p:sp>
      <p:sp>
        <p:nvSpPr>
          <p:cNvPr id="15" name="TextBox 14"/>
          <p:cNvSpPr txBox="1"/>
          <p:nvPr/>
        </p:nvSpPr>
        <p:spPr>
          <a:xfrm>
            <a:off x="3987800" y="3273921"/>
            <a:ext cx="1700530" cy="266700"/>
          </a:xfrm>
          <a:prstGeom prst="rect">
            <a:avLst/>
          </a:prstGeom>
          <a:noFill/>
        </p:spPr>
        <p:txBody>
          <a:bodyPr wrap="square" lIns="0" rIns="0" tIns="0" bIns="0" anchor="t">
            <a:normAutofit/>
          </a:bodyPr>
          <a:lstStyle/>
          <a:p>
            <a:pPr algn="l" marL="0" indent="0">
              <a:lnSpc>
                <a:spcPts val="2100"/>
              </a:lnSpc>
              <a:buNone/>
            </a:pPr>
            <a:r>
              <a:rPr sz="1500" b="1" i="0">
                <a:solidFill>
                  <a:srgbClr val="B54708"/>
                </a:solidFill>
                <a:latin typeface="Rubik"/>
                <a:ea typeface="Rubik"/>
                <a:cs typeface="Rubik"/>
              </a:rPr>
              <a:t>No</a:t>
            </a:r>
          </a:p>
        </p:txBody>
      </p:sp>
      <p:sp>
        <p:nvSpPr>
          <p:cNvPr id="16" name="TextBox 15"/>
          <p:cNvSpPr txBox="1"/>
          <p:nvPr/>
        </p:nvSpPr>
        <p:spPr>
          <a:xfrm>
            <a:off x="5842000" y="3273921"/>
            <a:ext cx="5520182"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Cannot start with a digit</a:t>
            </a:r>
          </a:p>
        </p:txBody>
      </p:sp>
      <p:sp>
        <p:nvSpPr>
          <p:cNvPr id="17" name="TextBox 16"/>
          <p:cNvSpPr txBox="1"/>
          <p:nvPr/>
        </p:nvSpPr>
        <p:spPr>
          <a:xfrm>
            <a:off x="990600" y="3731121"/>
            <a:ext cx="2877820" cy="266700"/>
          </a:xfrm>
          <a:prstGeom prst="rect">
            <a:avLst/>
          </a:prstGeom>
          <a:noFill/>
        </p:spPr>
        <p:txBody>
          <a:bodyPr wrap="square" lIns="0" rIns="0" tIns="0" bIns="0" anchor="t">
            <a:normAutofit/>
          </a:bodyPr>
          <a:lstStyle/>
          <a:p>
            <a:pPr algn="l" marL="0" indent="0">
              <a:lnSpc>
                <a:spcPts val="2100"/>
              </a:lnSpc>
              <a:buNone/>
            </a:pPr>
            <a:r>
              <a:rPr sz="1500" b="0" i="0">
                <a:solidFill>
                  <a:srgbClr val="1B2A41"/>
                </a:solidFill>
                <a:latin typeface="JetBrains Mono"/>
                <a:ea typeface="JetBrains Mono"/>
                <a:cs typeface="JetBrains Mono"/>
              </a:rPr>
              <a:t>my-name</a:t>
            </a:r>
          </a:p>
        </p:txBody>
      </p:sp>
      <p:sp>
        <p:nvSpPr>
          <p:cNvPr id="18" name="TextBox 17"/>
          <p:cNvSpPr txBox="1"/>
          <p:nvPr/>
        </p:nvSpPr>
        <p:spPr>
          <a:xfrm>
            <a:off x="3987800" y="3731121"/>
            <a:ext cx="1700530" cy="266700"/>
          </a:xfrm>
          <a:prstGeom prst="rect">
            <a:avLst/>
          </a:prstGeom>
          <a:noFill/>
        </p:spPr>
        <p:txBody>
          <a:bodyPr wrap="square" lIns="0" rIns="0" tIns="0" bIns="0" anchor="t">
            <a:normAutofit/>
          </a:bodyPr>
          <a:lstStyle/>
          <a:p>
            <a:pPr algn="l" marL="0" indent="0">
              <a:lnSpc>
                <a:spcPts val="2100"/>
              </a:lnSpc>
              <a:buNone/>
            </a:pPr>
            <a:r>
              <a:rPr sz="1500" b="1" i="0">
                <a:solidFill>
                  <a:srgbClr val="B54708"/>
                </a:solidFill>
                <a:latin typeface="Rubik"/>
                <a:ea typeface="Rubik"/>
                <a:cs typeface="Rubik"/>
              </a:rPr>
              <a:t>No</a:t>
            </a:r>
          </a:p>
        </p:txBody>
      </p:sp>
      <p:sp>
        <p:nvSpPr>
          <p:cNvPr id="19" name="TextBox 18"/>
          <p:cNvSpPr txBox="1"/>
          <p:nvPr/>
        </p:nvSpPr>
        <p:spPr>
          <a:xfrm>
            <a:off x="5842000" y="3731121"/>
            <a:ext cx="5520182"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The hyphen means minus</a:t>
            </a:r>
          </a:p>
        </p:txBody>
      </p:sp>
      <p:sp>
        <p:nvSpPr>
          <p:cNvPr id="20" name="TextBox 19"/>
          <p:cNvSpPr txBox="1"/>
          <p:nvPr/>
        </p:nvSpPr>
        <p:spPr>
          <a:xfrm>
            <a:off x="990600" y="4188321"/>
            <a:ext cx="2877820" cy="266700"/>
          </a:xfrm>
          <a:prstGeom prst="rect">
            <a:avLst/>
          </a:prstGeom>
          <a:noFill/>
        </p:spPr>
        <p:txBody>
          <a:bodyPr wrap="square" lIns="0" rIns="0" tIns="0" bIns="0" anchor="t">
            <a:normAutofit/>
          </a:bodyPr>
          <a:lstStyle/>
          <a:p>
            <a:pPr algn="l" marL="0" indent="0">
              <a:lnSpc>
                <a:spcPts val="2100"/>
              </a:lnSpc>
              <a:buNone/>
            </a:pPr>
            <a:r>
              <a:rPr sz="1500" b="0" i="0">
                <a:solidFill>
                  <a:srgbClr val="1B2A41"/>
                </a:solidFill>
                <a:latin typeface="JetBrains Mono"/>
                <a:ea typeface="JetBrains Mono"/>
                <a:cs typeface="JetBrains Mono"/>
              </a:rPr>
              <a:t>class</a:t>
            </a:r>
          </a:p>
        </p:txBody>
      </p:sp>
      <p:sp>
        <p:nvSpPr>
          <p:cNvPr id="21" name="TextBox 20"/>
          <p:cNvSpPr txBox="1"/>
          <p:nvPr/>
        </p:nvSpPr>
        <p:spPr>
          <a:xfrm>
            <a:off x="3987800" y="4188321"/>
            <a:ext cx="1700530" cy="266700"/>
          </a:xfrm>
          <a:prstGeom prst="rect">
            <a:avLst/>
          </a:prstGeom>
          <a:noFill/>
        </p:spPr>
        <p:txBody>
          <a:bodyPr wrap="square" lIns="0" rIns="0" tIns="0" bIns="0" anchor="t">
            <a:normAutofit/>
          </a:bodyPr>
          <a:lstStyle/>
          <a:p>
            <a:pPr algn="l" marL="0" indent="0">
              <a:lnSpc>
                <a:spcPts val="2100"/>
              </a:lnSpc>
              <a:buNone/>
            </a:pPr>
            <a:r>
              <a:rPr sz="1500" b="1" i="0">
                <a:solidFill>
                  <a:srgbClr val="B54708"/>
                </a:solidFill>
                <a:latin typeface="Rubik"/>
                <a:ea typeface="Rubik"/>
                <a:cs typeface="Rubik"/>
              </a:rPr>
              <a:t>No</a:t>
            </a:r>
          </a:p>
        </p:txBody>
      </p:sp>
      <p:sp>
        <p:nvSpPr>
          <p:cNvPr id="22" name="TextBox 21"/>
          <p:cNvSpPr txBox="1"/>
          <p:nvPr/>
        </p:nvSpPr>
        <p:spPr>
          <a:xfrm>
            <a:off x="5842000" y="4188321"/>
            <a:ext cx="5520182"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A keyword: Python's own reserved word</a:t>
            </a:r>
          </a:p>
        </p:txBody>
      </p:sp>
      <p:sp>
        <p:nvSpPr>
          <p:cNvPr id="23" name="TextBox 22"/>
          <p:cNvSpPr txBox="1"/>
          <p:nvPr/>
        </p:nvSpPr>
        <p:spPr>
          <a:xfrm>
            <a:off x="990600" y="4645521"/>
            <a:ext cx="2877820" cy="266700"/>
          </a:xfrm>
          <a:prstGeom prst="rect">
            <a:avLst/>
          </a:prstGeom>
          <a:noFill/>
        </p:spPr>
        <p:txBody>
          <a:bodyPr wrap="square" lIns="0" rIns="0" tIns="0" bIns="0" anchor="t">
            <a:normAutofit/>
          </a:bodyPr>
          <a:lstStyle/>
          <a:p>
            <a:pPr algn="l" marL="0" indent="0">
              <a:lnSpc>
                <a:spcPts val="2100"/>
              </a:lnSpc>
              <a:buNone/>
            </a:pPr>
            <a:r>
              <a:rPr sz="1500" b="0" i="0">
                <a:solidFill>
                  <a:srgbClr val="1B2A41"/>
                </a:solidFill>
                <a:latin typeface="JetBrains Mono"/>
                <a:ea typeface="JetBrains Mono"/>
                <a:cs typeface="JetBrains Mono"/>
              </a:rPr>
              <a:t>Marks, marks</a:t>
            </a:r>
          </a:p>
        </p:txBody>
      </p:sp>
      <p:sp>
        <p:nvSpPr>
          <p:cNvPr id="24" name="TextBox 23"/>
          <p:cNvSpPr txBox="1"/>
          <p:nvPr/>
        </p:nvSpPr>
        <p:spPr>
          <a:xfrm>
            <a:off x="3987800" y="4645521"/>
            <a:ext cx="1700530"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Rubik"/>
                <a:ea typeface="Rubik"/>
                <a:cs typeface="Rubik"/>
              </a:rPr>
              <a:t>Yes, but</a:t>
            </a:r>
          </a:p>
        </p:txBody>
      </p:sp>
      <p:sp>
        <p:nvSpPr>
          <p:cNvPr id="25" name="TextBox 24"/>
          <p:cNvSpPr txBox="1"/>
          <p:nvPr/>
        </p:nvSpPr>
        <p:spPr>
          <a:xfrm>
            <a:off x="5842000" y="4645521"/>
            <a:ext cx="5520182"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Two different boxes: case matters</a:t>
            </a:r>
          </a:p>
        </p:txBody>
      </p:sp>
      <p:sp>
        <p:nvSpPr>
          <p:cNvPr id="26" name="TextBox 25"/>
          <p:cNvSpPr txBox="1"/>
          <p:nvPr/>
        </p:nvSpPr>
        <p:spPr>
          <a:xfrm>
            <a:off x="812800" y="5318621"/>
            <a:ext cx="10883392" cy="266700"/>
          </a:xfrm>
          <a:prstGeom prst="rect">
            <a:avLst/>
          </a:prstGeom>
          <a:noFill/>
        </p:spPr>
        <p:txBody>
          <a:bodyPr wrap="square" lIns="0" rIns="0" tIns="0" bIns="0" anchor="t">
            <a:normAutofit/>
          </a:bodyPr>
          <a:lstStyle/>
          <a:p>
            <a:pPr algn="l" marL="0" indent="0">
              <a:lnSpc>
                <a:spcPts val="2100"/>
              </a:lnSpc>
              <a:buNone/>
            </a:pPr>
            <a:r>
              <a:rPr sz="1500" b="1" i="0">
                <a:solidFill>
                  <a:srgbClr val="4A5568"/>
                </a:solidFill>
                <a:latin typeface="Rubik"/>
                <a:ea typeface="Rubik"/>
                <a:cs typeface="Rubik"/>
              </a:rPr>
              <a:t>Pro tip:</a:t>
            </a:r>
            <a:r>
              <a:rPr sz="1500" b="0" i="0">
                <a:solidFill>
                  <a:srgbClr val="4A5568"/>
                </a:solidFill>
                <a:latin typeface="Rubik"/>
                <a:ea typeface="Rubik"/>
                <a:cs typeface="Rubik"/>
              </a:rPr>
              <a:t> use meaningful snake_case names like total_marks, not tm or x1.</a:t>
            </a:r>
          </a:p>
        </p:txBody>
      </p:sp>
      <p:sp>
        <p:nvSpPr>
          <p:cNvPr id="27" name="TextBox 26"/>
          <p:cNvSpPr txBox="1"/>
          <p:nvPr/>
        </p:nvSpPr>
        <p:spPr>
          <a:xfrm>
            <a:off x="812800" y="6238280"/>
            <a:ext cx="10883392" cy="213320"/>
          </a:xfrm>
          <a:prstGeom prst="rect">
            <a:avLst/>
          </a:prstGeom>
          <a:noFill/>
        </p:spPr>
        <p:txBody>
          <a:bodyPr wrap="square" lIns="0" rIns="0" tIns="0" bIns="0" anchor="t">
            <a:normAutofit/>
          </a:bodyPr>
          <a:lstStyle/>
          <a:p>
            <a:pPr algn="l" marL="0" indent="0">
              <a:lnSpc>
                <a:spcPts val="1680"/>
              </a:lnSpc>
              <a:buNone/>
            </a:pPr>
            <a:r>
              <a:rPr sz="1200" b="0" i="0">
                <a:solidFill>
                  <a:srgbClr val="5F6B7A"/>
                </a:solidFill>
                <a:latin typeface="Rubik"/>
                <a:ea typeface="Rubik"/>
                <a:cs typeface="Rubik"/>
              </a:rPr>
              <a:t>Python Programming · Week 1 · Class 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3" name="TextBox 2"/>
          <p:cNvSpPr txBox="1"/>
          <p:nvPr/>
        </p:nvSpPr>
        <p:spPr>
          <a:xfrm>
            <a:off x="812800" y="812800"/>
            <a:ext cx="10883392"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CLASS 2 · DATA TYPES</a:t>
            </a:r>
          </a:p>
        </p:txBody>
      </p:sp>
      <p:sp>
        <p:nvSpPr>
          <p:cNvPr id="2" name="Title 1"/>
          <p:cNvSpPr>
            <a:spLocks noGrp="1"/>
          </p:cNvSpPr>
          <p:nvPr>
            <p:ph type="title"/>
          </p:nvPr>
        </p:nvSpPr>
        <p:spPr>
          <a:xfrm>
            <a:off x="812800" y="1102320"/>
            <a:ext cx="10883392" cy="446980"/>
          </a:xfrm>
        </p:spPr>
        <p:txBody>
          <a:bodyPr wrap="square" lIns="0" rIns="0" tIns="0" bIns="0" anchor="t">
            <a:normAutofit/>
          </a:bodyPr>
          <a:lstStyle/>
          <a:p>
            <a:pPr algn="l" marL="0" indent="0">
              <a:lnSpc>
                <a:spcPts val="3520"/>
              </a:lnSpc>
              <a:buNone/>
            </a:pPr>
            <a:r>
              <a:rPr sz="3200" b="1" i="0">
                <a:solidFill>
                  <a:srgbClr val="1B2A41"/>
                </a:solidFill>
                <a:latin typeface="Rubik"/>
                <a:ea typeface="Rubik"/>
                <a:cs typeface="Rubik"/>
              </a:rPr>
              <a:t>Four basic types of data</a:t>
            </a:r>
          </a:p>
        </p:txBody>
      </p:sp>
      <p:sp>
        <p:nvSpPr>
          <p:cNvPr id="4" name="Rounded Rectangle 3"/>
          <p:cNvSpPr/>
          <p:nvPr/>
        </p:nvSpPr>
        <p:spPr>
          <a:xfrm>
            <a:off x="819150" y="1809651"/>
            <a:ext cx="2495550" cy="2143621"/>
          </a:xfrm>
          <a:prstGeom prst="roundRect">
            <a:avLst>
              <a:gd name="adj" fmla="val 5924"/>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4100" y="2044601"/>
            <a:ext cx="2086420" cy="446980"/>
          </a:xfrm>
          <a:prstGeom prst="rect">
            <a:avLst/>
          </a:prstGeom>
          <a:noFill/>
        </p:spPr>
        <p:txBody>
          <a:bodyPr wrap="square" lIns="0" rIns="0" tIns="0" bIns="0" anchor="t">
            <a:normAutofit/>
          </a:bodyPr>
          <a:lstStyle/>
          <a:p>
            <a:pPr algn="l" marL="0" indent="0">
              <a:lnSpc>
                <a:spcPts val="3520"/>
              </a:lnSpc>
              <a:buNone/>
            </a:pPr>
            <a:r>
              <a:rPr sz="3200" b="1" i="0">
                <a:solidFill>
                  <a:srgbClr val="2A64A3"/>
                </a:solidFill>
                <a:latin typeface="JetBrains Mono"/>
                <a:ea typeface="JetBrains Mono"/>
                <a:cs typeface="JetBrains Mono"/>
              </a:rPr>
              <a:t>int</a:t>
            </a:r>
          </a:p>
        </p:txBody>
      </p:sp>
      <p:sp>
        <p:nvSpPr>
          <p:cNvPr id="6" name="TextBox 5"/>
          <p:cNvSpPr txBox="1"/>
          <p:nvPr/>
        </p:nvSpPr>
        <p:spPr>
          <a:xfrm>
            <a:off x="1054100" y="2580481"/>
            <a:ext cx="2086420"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Whole numbers</a:t>
            </a:r>
          </a:p>
        </p:txBody>
      </p:sp>
      <p:sp>
        <p:nvSpPr>
          <p:cNvPr id="7" name="Rounded Rectangle 6"/>
          <p:cNvSpPr/>
          <p:nvPr/>
        </p:nvSpPr>
        <p:spPr>
          <a:xfrm>
            <a:off x="1054100" y="2943622"/>
            <a:ext cx="2025650" cy="419100"/>
          </a:xfrm>
          <a:prstGeom prst="roundRect">
            <a:avLst>
              <a:gd name="adj" fmla="val 18181"/>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1100" y="3019822"/>
            <a:ext cx="1824800" cy="266700"/>
          </a:xfrm>
          <a:prstGeom prst="rect">
            <a:avLst/>
          </a:prstGeom>
          <a:noFill/>
        </p:spPr>
        <p:txBody>
          <a:bodyPr wrap="square" lIns="0" rIns="0" tIns="0" bIns="0" anchor="t">
            <a:normAutofit/>
          </a:bodyPr>
          <a:lstStyle/>
          <a:p>
            <a:pPr algn="l" marL="0" indent="0">
              <a:lnSpc>
                <a:spcPts val="2100"/>
              </a:lnSpc>
              <a:buNone/>
            </a:pPr>
            <a:r>
              <a:rPr sz="1500" b="0" i="0">
                <a:solidFill>
                  <a:srgbClr val="E8EDF3"/>
                </a:solidFill>
                <a:latin typeface="JetBrains Mono"/>
                <a:ea typeface="JetBrains Mono"/>
                <a:cs typeface="JetBrains Mono"/>
              </a:rPr>
              <a:t>18  -5  2026</a:t>
            </a:r>
          </a:p>
        </p:txBody>
      </p:sp>
      <p:sp>
        <p:nvSpPr>
          <p:cNvPr id="9" name="TextBox 8"/>
          <p:cNvSpPr txBox="1"/>
          <p:nvPr/>
        </p:nvSpPr>
        <p:spPr>
          <a:xfrm>
            <a:off x="1054100" y="3451622"/>
            <a:ext cx="2086420"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Age, roll number, year</a:t>
            </a:r>
          </a:p>
        </p:txBody>
      </p:sp>
      <p:sp>
        <p:nvSpPr>
          <p:cNvPr id="10" name="Rounded Rectangle 9"/>
          <p:cNvSpPr/>
          <p:nvPr/>
        </p:nvSpPr>
        <p:spPr>
          <a:xfrm>
            <a:off x="3505200" y="1809651"/>
            <a:ext cx="2495550" cy="2143621"/>
          </a:xfrm>
          <a:prstGeom prst="roundRect">
            <a:avLst>
              <a:gd name="adj" fmla="val 5924"/>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40150" y="2044601"/>
            <a:ext cx="2086420" cy="446980"/>
          </a:xfrm>
          <a:prstGeom prst="rect">
            <a:avLst/>
          </a:prstGeom>
          <a:noFill/>
        </p:spPr>
        <p:txBody>
          <a:bodyPr wrap="square" lIns="0" rIns="0" tIns="0" bIns="0" anchor="t">
            <a:normAutofit/>
          </a:bodyPr>
          <a:lstStyle/>
          <a:p>
            <a:pPr algn="l" marL="0" indent="0">
              <a:lnSpc>
                <a:spcPts val="3520"/>
              </a:lnSpc>
              <a:buNone/>
            </a:pPr>
            <a:r>
              <a:rPr sz="3200" b="1" i="0">
                <a:solidFill>
                  <a:srgbClr val="2A64A3"/>
                </a:solidFill>
                <a:latin typeface="JetBrains Mono"/>
                <a:ea typeface="JetBrains Mono"/>
                <a:cs typeface="JetBrains Mono"/>
              </a:rPr>
              <a:t>float</a:t>
            </a:r>
          </a:p>
        </p:txBody>
      </p:sp>
      <p:sp>
        <p:nvSpPr>
          <p:cNvPr id="12" name="TextBox 11"/>
          <p:cNvSpPr txBox="1"/>
          <p:nvPr/>
        </p:nvSpPr>
        <p:spPr>
          <a:xfrm>
            <a:off x="3740150" y="2580481"/>
            <a:ext cx="2086420"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Decimals</a:t>
            </a:r>
          </a:p>
        </p:txBody>
      </p:sp>
      <p:sp>
        <p:nvSpPr>
          <p:cNvPr id="13" name="Rounded Rectangle 12"/>
          <p:cNvSpPr/>
          <p:nvPr/>
        </p:nvSpPr>
        <p:spPr>
          <a:xfrm>
            <a:off x="3740150" y="2943622"/>
            <a:ext cx="2025650" cy="419100"/>
          </a:xfrm>
          <a:prstGeom prst="roundRect">
            <a:avLst>
              <a:gd name="adj" fmla="val 18181"/>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67150" y="3019822"/>
            <a:ext cx="1824800" cy="266700"/>
          </a:xfrm>
          <a:prstGeom prst="rect">
            <a:avLst/>
          </a:prstGeom>
          <a:noFill/>
        </p:spPr>
        <p:txBody>
          <a:bodyPr wrap="square" lIns="0" rIns="0" tIns="0" bIns="0" anchor="t">
            <a:normAutofit/>
          </a:bodyPr>
          <a:lstStyle/>
          <a:p>
            <a:pPr algn="l" marL="0" indent="0">
              <a:lnSpc>
                <a:spcPts val="2100"/>
              </a:lnSpc>
              <a:buNone/>
            </a:pPr>
            <a:r>
              <a:rPr sz="1500" b="0" i="0">
                <a:solidFill>
                  <a:srgbClr val="E8EDF3"/>
                </a:solidFill>
                <a:latin typeface="JetBrains Mono"/>
                <a:ea typeface="JetBrains Mono"/>
                <a:cs typeface="JetBrains Mono"/>
              </a:rPr>
              <a:t>8.75  3.14</a:t>
            </a:r>
          </a:p>
        </p:txBody>
      </p:sp>
      <p:sp>
        <p:nvSpPr>
          <p:cNvPr id="15" name="TextBox 14"/>
          <p:cNvSpPr txBox="1"/>
          <p:nvPr/>
        </p:nvSpPr>
        <p:spPr>
          <a:xfrm>
            <a:off x="3740150" y="3451622"/>
            <a:ext cx="2086420"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CGPA, price, height</a:t>
            </a:r>
          </a:p>
        </p:txBody>
      </p:sp>
      <p:sp>
        <p:nvSpPr>
          <p:cNvPr id="16" name="Rounded Rectangle 15"/>
          <p:cNvSpPr/>
          <p:nvPr/>
        </p:nvSpPr>
        <p:spPr>
          <a:xfrm>
            <a:off x="6191250" y="1809651"/>
            <a:ext cx="2495550" cy="2143621"/>
          </a:xfrm>
          <a:prstGeom prst="roundRect">
            <a:avLst>
              <a:gd name="adj" fmla="val 5924"/>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6200" y="2044601"/>
            <a:ext cx="2086420" cy="446980"/>
          </a:xfrm>
          <a:prstGeom prst="rect">
            <a:avLst/>
          </a:prstGeom>
          <a:noFill/>
        </p:spPr>
        <p:txBody>
          <a:bodyPr wrap="square" lIns="0" rIns="0" tIns="0" bIns="0" anchor="t">
            <a:normAutofit/>
          </a:bodyPr>
          <a:lstStyle/>
          <a:p>
            <a:pPr algn="l" marL="0" indent="0">
              <a:lnSpc>
                <a:spcPts val="3520"/>
              </a:lnSpc>
              <a:buNone/>
            </a:pPr>
            <a:r>
              <a:rPr sz="3200" b="1" i="0">
                <a:solidFill>
                  <a:srgbClr val="2A64A3"/>
                </a:solidFill>
                <a:latin typeface="JetBrains Mono"/>
                <a:ea typeface="JetBrains Mono"/>
                <a:cs typeface="JetBrains Mono"/>
              </a:rPr>
              <a:t>str</a:t>
            </a:r>
          </a:p>
        </p:txBody>
      </p:sp>
      <p:sp>
        <p:nvSpPr>
          <p:cNvPr id="18" name="TextBox 17"/>
          <p:cNvSpPr txBox="1"/>
          <p:nvPr/>
        </p:nvSpPr>
        <p:spPr>
          <a:xfrm>
            <a:off x="6426200" y="2580481"/>
            <a:ext cx="2086420"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Text in quotes</a:t>
            </a:r>
          </a:p>
        </p:txBody>
      </p:sp>
      <p:sp>
        <p:nvSpPr>
          <p:cNvPr id="19" name="Rounded Rectangle 18"/>
          <p:cNvSpPr/>
          <p:nvPr/>
        </p:nvSpPr>
        <p:spPr>
          <a:xfrm>
            <a:off x="6426200" y="2943622"/>
            <a:ext cx="2025650" cy="419100"/>
          </a:xfrm>
          <a:prstGeom prst="roundRect">
            <a:avLst>
              <a:gd name="adj" fmla="val 18181"/>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53200" y="3019822"/>
            <a:ext cx="1824800" cy="266700"/>
          </a:xfrm>
          <a:prstGeom prst="rect">
            <a:avLst/>
          </a:prstGeom>
          <a:noFill/>
        </p:spPr>
        <p:txBody>
          <a:bodyPr wrap="square" lIns="0" rIns="0" tIns="0" bIns="0" anchor="t">
            <a:normAutofit/>
          </a:bodyPr>
          <a:lstStyle/>
          <a:p>
            <a:pPr algn="l" marL="0" indent="0">
              <a:lnSpc>
                <a:spcPts val="2100"/>
              </a:lnSpc>
              <a:buNone/>
            </a:pPr>
            <a:r>
              <a:rPr sz="1500" b="0" i="0">
                <a:solidFill>
                  <a:srgbClr val="9FD8A8"/>
                </a:solidFill>
                <a:latin typeface="JetBrains Mono"/>
                <a:ea typeface="JetBrains Mono"/>
                <a:cs typeface="JetBrains Mono"/>
              </a:rPr>
              <a:t>"Puri"  'A'</a:t>
            </a:r>
          </a:p>
        </p:txBody>
      </p:sp>
      <p:sp>
        <p:nvSpPr>
          <p:cNvPr id="21" name="TextBox 20"/>
          <p:cNvSpPr txBox="1"/>
          <p:nvPr/>
        </p:nvSpPr>
        <p:spPr>
          <a:xfrm>
            <a:off x="6426200" y="3451622"/>
            <a:ext cx="2086420"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Name, city, branch</a:t>
            </a:r>
          </a:p>
        </p:txBody>
      </p:sp>
      <p:sp>
        <p:nvSpPr>
          <p:cNvPr id="22" name="Rounded Rectangle 21"/>
          <p:cNvSpPr/>
          <p:nvPr/>
        </p:nvSpPr>
        <p:spPr>
          <a:xfrm>
            <a:off x="8877300" y="1809651"/>
            <a:ext cx="2495550" cy="2143621"/>
          </a:xfrm>
          <a:prstGeom prst="roundRect">
            <a:avLst>
              <a:gd name="adj" fmla="val 5924"/>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12250" y="2044601"/>
            <a:ext cx="2086420" cy="446980"/>
          </a:xfrm>
          <a:prstGeom prst="rect">
            <a:avLst/>
          </a:prstGeom>
          <a:noFill/>
        </p:spPr>
        <p:txBody>
          <a:bodyPr wrap="square" lIns="0" rIns="0" tIns="0" bIns="0" anchor="t">
            <a:normAutofit/>
          </a:bodyPr>
          <a:lstStyle/>
          <a:p>
            <a:pPr algn="l" marL="0" indent="0">
              <a:lnSpc>
                <a:spcPts val="3520"/>
              </a:lnSpc>
              <a:buNone/>
            </a:pPr>
            <a:r>
              <a:rPr sz="3200" b="1" i="0">
                <a:solidFill>
                  <a:srgbClr val="2A64A3"/>
                </a:solidFill>
                <a:latin typeface="JetBrains Mono"/>
                <a:ea typeface="JetBrains Mono"/>
                <a:cs typeface="JetBrains Mono"/>
              </a:rPr>
              <a:t>bool</a:t>
            </a:r>
          </a:p>
        </p:txBody>
      </p:sp>
      <p:sp>
        <p:nvSpPr>
          <p:cNvPr id="24" name="TextBox 23"/>
          <p:cNvSpPr txBox="1"/>
          <p:nvPr/>
        </p:nvSpPr>
        <p:spPr>
          <a:xfrm>
            <a:off x="9112250" y="2580481"/>
            <a:ext cx="2086420"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Yes or no</a:t>
            </a:r>
          </a:p>
        </p:txBody>
      </p:sp>
      <p:sp>
        <p:nvSpPr>
          <p:cNvPr id="25" name="Rounded Rectangle 24"/>
          <p:cNvSpPr/>
          <p:nvPr/>
        </p:nvSpPr>
        <p:spPr>
          <a:xfrm>
            <a:off x="9112250" y="2943622"/>
            <a:ext cx="2025650" cy="419100"/>
          </a:xfrm>
          <a:prstGeom prst="roundRect">
            <a:avLst>
              <a:gd name="adj" fmla="val 18181"/>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9250" y="3019822"/>
            <a:ext cx="1824800" cy="266700"/>
          </a:xfrm>
          <a:prstGeom prst="rect">
            <a:avLst/>
          </a:prstGeom>
          <a:noFill/>
        </p:spPr>
        <p:txBody>
          <a:bodyPr wrap="square" lIns="0" rIns="0" tIns="0" bIns="0" anchor="t">
            <a:normAutofit/>
          </a:bodyPr>
          <a:lstStyle/>
          <a:p>
            <a:pPr algn="l" marL="0" indent="0">
              <a:lnSpc>
                <a:spcPts val="2100"/>
              </a:lnSpc>
              <a:buNone/>
            </a:pPr>
            <a:r>
              <a:rPr sz="1500" b="0" i="0">
                <a:solidFill>
                  <a:srgbClr val="F2B33D"/>
                </a:solidFill>
                <a:latin typeface="JetBrains Mono"/>
                <a:ea typeface="JetBrains Mono"/>
                <a:cs typeface="JetBrains Mono"/>
              </a:rPr>
              <a:t>True  False</a:t>
            </a:r>
          </a:p>
        </p:txBody>
      </p:sp>
      <p:sp>
        <p:nvSpPr>
          <p:cNvPr id="27" name="TextBox 26"/>
          <p:cNvSpPr txBox="1"/>
          <p:nvPr/>
        </p:nvSpPr>
        <p:spPr>
          <a:xfrm>
            <a:off x="9112250" y="3451622"/>
            <a:ext cx="2086420"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Hosteller? Passed?</a:t>
            </a:r>
          </a:p>
        </p:txBody>
      </p:sp>
      <p:sp>
        <p:nvSpPr>
          <p:cNvPr id="28" name="Rounded Rectangle 27"/>
          <p:cNvSpPr/>
          <p:nvPr/>
        </p:nvSpPr>
        <p:spPr>
          <a:xfrm>
            <a:off x="812800" y="4213622"/>
            <a:ext cx="5194300" cy="1216620"/>
          </a:xfrm>
          <a:prstGeom prst="roundRect">
            <a:avLst>
              <a:gd name="adj" fmla="val 10438"/>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6800" y="4391422"/>
            <a:ext cx="4826889" cy="213320"/>
          </a:xfrm>
          <a:prstGeom prst="rect">
            <a:avLst/>
          </a:prstGeom>
          <a:noFill/>
        </p:spPr>
        <p:txBody>
          <a:bodyPr wrap="square" lIns="0" rIns="0" tIns="0" bIns="0" anchor="t">
            <a:normAutofit/>
          </a:bodyPr>
          <a:lstStyle/>
          <a:p>
            <a:pPr algn="l" marL="0" indent="0">
              <a:lnSpc>
                <a:spcPts val="1680"/>
              </a:lnSpc>
              <a:buNone/>
            </a:pPr>
            <a:r>
              <a:rPr sz="1200" b="0" i="0">
                <a:solidFill>
                  <a:srgbClr val="8FA3B8"/>
                </a:solidFill>
                <a:latin typeface="JetBrains Mono"/>
                <a:ea typeface="JetBrains Mono"/>
                <a:cs typeface="JetBrains Mono"/>
              </a:rPr>
              <a:t>Ask Python with type()</a:t>
            </a:r>
          </a:p>
        </p:txBody>
      </p:sp>
      <p:sp>
        <p:nvSpPr>
          <p:cNvPr id="30" name="TextBox 29"/>
          <p:cNvSpPr txBox="1"/>
          <p:nvPr/>
        </p:nvSpPr>
        <p:spPr>
          <a:xfrm>
            <a:off x="1066800" y="4655542"/>
            <a:ext cx="4826889" cy="571500"/>
          </a:xfrm>
          <a:prstGeom prst="rect">
            <a:avLst/>
          </a:prstGeom>
          <a:noFill/>
        </p:spPr>
        <p:txBody>
          <a:bodyPr wrap="square" lIns="0" rIns="0" tIns="0" bIns="0" anchor="t">
            <a:normAutofit/>
          </a:bodyPr>
          <a:lstStyle/>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t>
            </a:r>
            <a:r>
              <a:rPr sz="1500" b="0" i="0">
                <a:solidFill>
                  <a:srgbClr val="F2B33D"/>
                </a:solidFill>
                <a:latin typeface="JetBrains Mono"/>
                <a:ea typeface="JetBrains Mono"/>
                <a:cs typeface="JetBrains Mono"/>
              </a:rPr>
              <a:t>type</a:t>
            </a:r>
            <a:r>
              <a:rPr sz="1500" b="0" i="0">
                <a:solidFill>
                  <a:srgbClr val="E8EDF3"/>
                </a:solidFill>
                <a:latin typeface="JetBrains Mono"/>
                <a:ea typeface="JetBrains Mono"/>
                <a:cs typeface="JetBrains Mono"/>
              </a:rPr>
              <a:t>(18))</a:t>
            </a:r>
          </a:p>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t>
            </a:r>
            <a:r>
              <a:rPr sz="1500" b="0" i="0">
                <a:solidFill>
                  <a:srgbClr val="F2B33D"/>
                </a:solidFill>
                <a:latin typeface="JetBrains Mono"/>
                <a:ea typeface="JetBrains Mono"/>
                <a:cs typeface="JetBrains Mono"/>
              </a:rPr>
              <a:t>type</a:t>
            </a:r>
            <a:r>
              <a:rPr sz="1500" b="0" i="0">
                <a:solidFill>
                  <a:srgbClr val="E8EDF3"/>
                </a:solidFill>
                <a:latin typeface="JetBrains Mono"/>
                <a:ea typeface="JetBrains Mono"/>
                <a:cs typeface="JetBrains Mono"/>
              </a:rPr>
              <a:t>(</a:t>
            </a:r>
            <a:r>
              <a:rPr sz="1500" b="0" i="0">
                <a:solidFill>
                  <a:srgbClr val="9FD8A8"/>
                </a:solidFill>
                <a:latin typeface="JetBrains Mono"/>
                <a:ea typeface="JetBrains Mono"/>
                <a:cs typeface="JetBrains Mono"/>
              </a:rPr>
              <a:t>"Puri"</a:t>
            </a:r>
            <a:r>
              <a:rPr sz="1500" b="0" i="0">
                <a:solidFill>
                  <a:srgbClr val="E8EDF3"/>
                </a:solidFill>
                <a:latin typeface="JetBrains Mono"/>
                <a:ea typeface="JetBrains Mono"/>
                <a:cs typeface="JetBrains Mono"/>
              </a:rPr>
              <a:t>))</a:t>
            </a:r>
          </a:p>
        </p:txBody>
      </p:sp>
      <p:sp>
        <p:nvSpPr>
          <p:cNvPr id="31" name="Rounded Rectangle 30"/>
          <p:cNvSpPr/>
          <p:nvPr/>
        </p:nvSpPr>
        <p:spPr>
          <a:xfrm>
            <a:off x="6191250" y="4219972"/>
            <a:ext cx="5181600" cy="1203920"/>
          </a:xfrm>
          <a:prstGeom prst="roundRect">
            <a:avLst>
              <a:gd name="adj" fmla="val 10548"/>
            </a:avLst>
          </a:prstGeom>
          <a:solidFill>
            <a:srgbClr val="FFFDF8"/>
          </a:solidFill>
          <a:ln w="12700">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51600" y="4404122"/>
            <a:ext cx="4800727"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OUTPUT</a:t>
            </a:r>
          </a:p>
        </p:txBody>
      </p:sp>
      <p:sp>
        <p:nvSpPr>
          <p:cNvPr id="33" name="TextBox 32"/>
          <p:cNvSpPr txBox="1"/>
          <p:nvPr/>
        </p:nvSpPr>
        <p:spPr>
          <a:xfrm>
            <a:off x="6451600" y="4668242"/>
            <a:ext cx="4800727" cy="571500"/>
          </a:xfrm>
          <a:prstGeom prst="rect">
            <a:avLst/>
          </a:prstGeom>
          <a:noFill/>
        </p:spPr>
        <p:txBody>
          <a:bodyPr wrap="square" lIns="0" rIns="0" tIns="0" bIns="0" anchor="t">
            <a:normAutofit/>
          </a:bodyPr>
          <a:lstStyle/>
          <a:p>
            <a:pPr algn="l" marL="0" indent="0">
              <a:lnSpc>
                <a:spcPts val="2250"/>
              </a:lnSpc>
              <a:buNone/>
            </a:pPr>
            <a:r>
              <a:rPr sz="1500" b="0" i="0">
                <a:solidFill>
                  <a:srgbClr val="1B2A41"/>
                </a:solidFill>
                <a:latin typeface="JetBrains Mono"/>
                <a:ea typeface="JetBrains Mono"/>
                <a:cs typeface="JetBrains Mono"/>
              </a:rPr>
              <a:t>&lt;class 'int'&gt;</a:t>
            </a:r>
          </a:p>
          <a:p>
            <a:pPr algn="l" marL="0" indent="0">
              <a:lnSpc>
                <a:spcPts val="2250"/>
              </a:lnSpc>
              <a:buNone/>
            </a:pPr>
            <a:r>
              <a:rPr sz="1500" b="0" i="0">
                <a:solidFill>
                  <a:srgbClr val="1B2A41"/>
                </a:solidFill>
                <a:latin typeface="JetBrains Mono"/>
                <a:ea typeface="JetBrains Mono"/>
                <a:cs typeface="JetBrains Mono"/>
              </a:rPr>
              <a:t>&lt;class 'str'&gt;</a:t>
            </a:r>
          </a:p>
        </p:txBody>
      </p:sp>
      <p:sp>
        <p:nvSpPr>
          <p:cNvPr id="34" name="TextBox 33"/>
          <p:cNvSpPr txBox="1"/>
          <p:nvPr/>
        </p:nvSpPr>
        <p:spPr>
          <a:xfrm>
            <a:off x="812800" y="6238280"/>
            <a:ext cx="10883392" cy="213320"/>
          </a:xfrm>
          <a:prstGeom prst="rect">
            <a:avLst/>
          </a:prstGeom>
          <a:noFill/>
        </p:spPr>
        <p:txBody>
          <a:bodyPr wrap="square" lIns="0" rIns="0" tIns="0" bIns="0" anchor="t">
            <a:normAutofit/>
          </a:bodyPr>
          <a:lstStyle/>
          <a:p>
            <a:pPr algn="l" marL="0" indent="0">
              <a:lnSpc>
                <a:spcPts val="1680"/>
              </a:lnSpc>
              <a:buNone/>
            </a:pPr>
            <a:r>
              <a:rPr sz="1200" b="0" i="0">
                <a:solidFill>
                  <a:srgbClr val="5F6B7A"/>
                </a:solidFill>
                <a:latin typeface="Rubik"/>
                <a:ea typeface="Rubik"/>
                <a:cs typeface="Rubik"/>
              </a:rPr>
              <a:t>Python Programming · Week 1 · Class 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3" name="TextBox 2"/>
          <p:cNvSpPr txBox="1"/>
          <p:nvPr/>
        </p:nvSpPr>
        <p:spPr>
          <a:xfrm>
            <a:off x="812800" y="812800"/>
            <a:ext cx="10883392"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CLASS 2 · INPUT</a:t>
            </a:r>
          </a:p>
        </p:txBody>
      </p:sp>
      <p:sp>
        <p:nvSpPr>
          <p:cNvPr id="2" name="Title 1"/>
          <p:cNvSpPr>
            <a:spLocks noGrp="1"/>
          </p:cNvSpPr>
          <p:nvPr>
            <p:ph type="title"/>
          </p:nvPr>
        </p:nvSpPr>
        <p:spPr>
          <a:xfrm>
            <a:off x="812800" y="1102320"/>
            <a:ext cx="10883392" cy="446980"/>
          </a:xfrm>
        </p:spPr>
        <p:txBody>
          <a:bodyPr wrap="square" lIns="0" rIns="0" tIns="0" bIns="0" anchor="t">
            <a:normAutofit/>
          </a:bodyPr>
          <a:lstStyle/>
          <a:p>
            <a:pPr algn="l" marL="0" indent="0">
              <a:lnSpc>
                <a:spcPts val="3520"/>
              </a:lnSpc>
              <a:buNone/>
            </a:pPr>
            <a:r>
              <a:rPr sz="3200" b="1" i="0">
                <a:solidFill>
                  <a:srgbClr val="1B2A41"/>
                </a:solidFill>
                <a:latin typeface="Rubik"/>
                <a:ea typeface="Rubik"/>
                <a:cs typeface="Rubik"/>
              </a:rPr>
              <a:t>Talking to the user with input()</a:t>
            </a:r>
          </a:p>
        </p:txBody>
      </p:sp>
      <p:sp>
        <p:nvSpPr>
          <p:cNvPr id="4" name="Rounded Rectangle 3"/>
          <p:cNvSpPr/>
          <p:nvPr/>
        </p:nvSpPr>
        <p:spPr>
          <a:xfrm>
            <a:off x="812800" y="1854101"/>
            <a:ext cx="5569446" cy="1553170"/>
          </a:xfrm>
          <a:prstGeom prst="roundRect">
            <a:avLst>
              <a:gd name="adj" fmla="val 8176"/>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2200" y="2057301"/>
            <a:ext cx="5160965" cy="213320"/>
          </a:xfrm>
          <a:prstGeom prst="rect">
            <a:avLst/>
          </a:prstGeom>
          <a:noFill/>
        </p:spPr>
        <p:txBody>
          <a:bodyPr wrap="square" lIns="0" rIns="0" tIns="0" bIns="0" anchor="t">
            <a:normAutofit/>
          </a:bodyPr>
          <a:lstStyle/>
          <a:p>
            <a:pPr algn="l" marL="0" indent="0">
              <a:lnSpc>
                <a:spcPts val="1680"/>
              </a:lnSpc>
              <a:buNone/>
            </a:pPr>
            <a:r>
              <a:rPr sz="1200" b="0" i="0">
                <a:solidFill>
                  <a:srgbClr val="8FA3B8"/>
                </a:solidFill>
                <a:latin typeface="JetBrains Mono"/>
                <a:ea typeface="JetBrains Mono"/>
                <a:cs typeface="JetBrains Mono"/>
              </a:rPr>
              <a:t>greet.py</a:t>
            </a:r>
          </a:p>
        </p:txBody>
      </p:sp>
      <p:sp>
        <p:nvSpPr>
          <p:cNvPr id="6" name="TextBox 5"/>
          <p:cNvSpPr txBox="1"/>
          <p:nvPr/>
        </p:nvSpPr>
        <p:spPr>
          <a:xfrm>
            <a:off x="1092200" y="2346821"/>
            <a:ext cx="5160965" cy="857250"/>
          </a:xfrm>
          <a:prstGeom prst="rect">
            <a:avLst/>
          </a:prstGeom>
          <a:noFill/>
        </p:spPr>
        <p:txBody>
          <a:bodyPr wrap="square" lIns="0" rIns="0" tIns="0" bIns="0" anchor="t">
            <a:normAutofit/>
          </a:bodyPr>
          <a:lstStyle/>
          <a:p>
            <a:pPr algn="l" marL="0" indent="0">
              <a:lnSpc>
                <a:spcPts val="2250"/>
              </a:lnSpc>
              <a:buNone/>
            </a:pPr>
            <a:r>
              <a:rPr sz="1500" b="0" i="0">
                <a:solidFill>
                  <a:srgbClr val="E8EDF3"/>
                </a:solidFill>
                <a:latin typeface="JetBrains Mono"/>
                <a:ea typeface="JetBrains Mono"/>
                <a:cs typeface="JetBrains Mono"/>
              </a:rPr>
              <a:t>name = </a:t>
            </a:r>
            <a:r>
              <a:rPr sz="1500" b="0" i="0">
                <a:solidFill>
                  <a:srgbClr val="F2B33D"/>
                </a:solidFill>
                <a:latin typeface="JetBrains Mono"/>
                <a:ea typeface="JetBrains Mono"/>
                <a:cs typeface="JetBrains Mono"/>
              </a:rPr>
              <a:t>input</a:t>
            </a:r>
            <a:r>
              <a:rPr sz="1500" b="0" i="0">
                <a:solidFill>
                  <a:srgbClr val="E8EDF3"/>
                </a:solidFill>
                <a:latin typeface="JetBrains Mono"/>
                <a:ea typeface="JetBrains Mono"/>
                <a:cs typeface="JetBrains Mono"/>
              </a:rPr>
              <a:t>(</a:t>
            </a:r>
            <a:r>
              <a:rPr sz="1500" b="0" i="0">
                <a:solidFill>
                  <a:srgbClr val="9FD8A8"/>
                </a:solidFill>
                <a:latin typeface="JetBrains Mono"/>
                <a:ea typeface="JetBrains Mono"/>
                <a:cs typeface="JetBrains Mono"/>
              </a:rPr>
              <a:t>"Enter your name: "</a:t>
            </a:r>
            <a:r>
              <a:rPr sz="1500" b="0" i="0">
                <a:solidFill>
                  <a:srgbClr val="E8EDF3"/>
                </a:solidFill>
                <a:latin typeface="JetBrains Mono"/>
                <a:ea typeface="JetBrains Mono"/>
                <a:cs typeface="JetBrains Mono"/>
              </a:rPr>
              <a:t>)</a:t>
            </a:r>
          </a:p>
          <a:p>
            <a:pPr algn="l" marL="0" indent="0">
              <a:lnSpc>
                <a:spcPts val="2250"/>
              </a:lnSpc>
              <a:buNone/>
            </a:pPr>
            <a:r>
              <a:rPr sz="1500" b="0" i="0">
                <a:solidFill>
                  <a:srgbClr val="E8EDF3"/>
                </a:solidFill>
                <a:latin typeface="JetBrains Mono"/>
                <a:ea typeface="JetBrains Mono"/>
                <a:cs typeface="JetBrains Mono"/>
              </a:rPr>
              <a:t>city = </a:t>
            </a:r>
            <a:r>
              <a:rPr sz="1500" b="0" i="0">
                <a:solidFill>
                  <a:srgbClr val="F2B33D"/>
                </a:solidFill>
                <a:latin typeface="JetBrains Mono"/>
                <a:ea typeface="JetBrains Mono"/>
                <a:cs typeface="JetBrains Mono"/>
              </a:rPr>
              <a:t>input</a:t>
            </a:r>
            <a:r>
              <a:rPr sz="1500" b="0" i="0">
                <a:solidFill>
                  <a:srgbClr val="E8EDF3"/>
                </a:solidFill>
                <a:latin typeface="JetBrains Mono"/>
                <a:ea typeface="JetBrains Mono"/>
                <a:cs typeface="JetBrains Mono"/>
              </a:rPr>
              <a:t>(</a:t>
            </a:r>
            <a:r>
              <a:rPr sz="1500" b="0" i="0">
                <a:solidFill>
                  <a:srgbClr val="9FD8A8"/>
                </a:solidFill>
                <a:latin typeface="JetBrains Mono"/>
                <a:ea typeface="JetBrains Mono"/>
                <a:cs typeface="JetBrains Mono"/>
              </a:rPr>
              <a:t>"Your city: "</a:t>
            </a:r>
            <a:r>
              <a:rPr sz="1500" b="0" i="0">
                <a:solidFill>
                  <a:srgbClr val="E8EDF3"/>
                </a:solidFill>
                <a:latin typeface="JetBrains Mono"/>
                <a:ea typeface="JetBrains Mono"/>
                <a:cs typeface="JetBrains Mono"/>
              </a:rPr>
              <a:t>)</a:t>
            </a:r>
          </a:p>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t>
            </a:r>
            <a:r>
              <a:rPr sz="1500" b="0" i="0">
                <a:solidFill>
                  <a:srgbClr val="9FD8A8"/>
                </a:solidFill>
                <a:latin typeface="JetBrains Mono"/>
                <a:ea typeface="JetBrains Mono"/>
                <a:cs typeface="JetBrains Mono"/>
              </a:rPr>
              <a:t>"Hello"</a:t>
            </a:r>
            <a:r>
              <a:rPr sz="1500" b="0" i="0">
                <a:solidFill>
                  <a:srgbClr val="E8EDF3"/>
                </a:solidFill>
                <a:latin typeface="JetBrains Mono"/>
                <a:ea typeface="JetBrains Mono"/>
                <a:cs typeface="JetBrains Mono"/>
              </a:rPr>
              <a:t>, name, </a:t>
            </a:r>
            <a:r>
              <a:rPr sz="1500" b="0" i="0">
                <a:solidFill>
                  <a:srgbClr val="9FD8A8"/>
                </a:solidFill>
                <a:latin typeface="JetBrains Mono"/>
                <a:ea typeface="JetBrains Mono"/>
                <a:cs typeface="JetBrains Mono"/>
              </a:rPr>
              <a:t>"from"</a:t>
            </a:r>
            <a:r>
              <a:rPr sz="1500" b="0" i="0">
                <a:solidFill>
                  <a:srgbClr val="E8EDF3"/>
                </a:solidFill>
                <a:latin typeface="JetBrains Mono"/>
                <a:ea typeface="JetBrains Mono"/>
                <a:cs typeface="JetBrains Mono"/>
              </a:rPr>
              <a:t>, city)</a:t>
            </a:r>
          </a:p>
        </p:txBody>
      </p:sp>
      <p:sp>
        <p:nvSpPr>
          <p:cNvPr id="7" name="Rounded Rectangle 6"/>
          <p:cNvSpPr/>
          <p:nvPr/>
        </p:nvSpPr>
        <p:spPr>
          <a:xfrm>
            <a:off x="819150" y="3566021"/>
            <a:ext cx="5556746" cy="1565870"/>
          </a:xfrm>
          <a:prstGeom prst="roundRect">
            <a:avLst>
              <a:gd name="adj" fmla="val 8110"/>
            </a:avLst>
          </a:prstGeom>
          <a:solidFill>
            <a:srgbClr val="FFFDF8"/>
          </a:solidFill>
          <a:ln w="12700">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4900" y="3775571"/>
            <a:ext cx="5134803"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OUTPUT · ORANGE = WHAT THE USER TYPES</a:t>
            </a:r>
          </a:p>
        </p:txBody>
      </p:sp>
      <p:sp>
        <p:nvSpPr>
          <p:cNvPr id="9" name="TextBox 8"/>
          <p:cNvSpPr txBox="1"/>
          <p:nvPr/>
        </p:nvSpPr>
        <p:spPr>
          <a:xfrm>
            <a:off x="1104900" y="4065091"/>
            <a:ext cx="5134803" cy="857250"/>
          </a:xfrm>
          <a:prstGeom prst="rect">
            <a:avLst/>
          </a:prstGeom>
          <a:noFill/>
        </p:spPr>
        <p:txBody>
          <a:bodyPr wrap="square" lIns="0" rIns="0" tIns="0" bIns="0" anchor="t">
            <a:normAutofit/>
          </a:bodyPr>
          <a:lstStyle/>
          <a:p>
            <a:pPr algn="l" marL="0" indent="0">
              <a:lnSpc>
                <a:spcPts val="2250"/>
              </a:lnSpc>
              <a:buNone/>
            </a:pPr>
            <a:r>
              <a:rPr sz="1500" b="0" i="0">
                <a:solidFill>
                  <a:srgbClr val="1B2A41"/>
                </a:solidFill>
                <a:latin typeface="JetBrains Mono"/>
                <a:ea typeface="JetBrains Mono"/>
                <a:cs typeface="JetBrains Mono"/>
              </a:rPr>
              <a:t>Enter your name: </a:t>
            </a:r>
            <a:r>
              <a:rPr sz="1500" b="0" i="0">
                <a:solidFill>
                  <a:srgbClr val="B54708"/>
                </a:solidFill>
                <a:latin typeface="JetBrains Mono"/>
                <a:ea typeface="JetBrains Mono"/>
                <a:cs typeface="JetBrains Mono"/>
              </a:rPr>
              <a:t>Subham</a:t>
            </a:r>
          </a:p>
          <a:p>
            <a:pPr algn="l" marL="0" indent="0">
              <a:lnSpc>
                <a:spcPts val="2250"/>
              </a:lnSpc>
              <a:buNone/>
            </a:pPr>
            <a:r>
              <a:rPr sz="1500" b="0" i="0">
                <a:solidFill>
                  <a:srgbClr val="1B2A41"/>
                </a:solidFill>
                <a:latin typeface="JetBrains Mono"/>
                <a:ea typeface="JetBrains Mono"/>
                <a:cs typeface="JetBrains Mono"/>
              </a:rPr>
              <a:t>Your city: </a:t>
            </a:r>
            <a:r>
              <a:rPr sz="1500" b="0" i="0">
                <a:solidFill>
                  <a:srgbClr val="B54708"/>
                </a:solidFill>
                <a:latin typeface="JetBrains Mono"/>
                <a:ea typeface="JetBrains Mono"/>
                <a:cs typeface="JetBrains Mono"/>
              </a:rPr>
              <a:t>Cuttack</a:t>
            </a:r>
          </a:p>
          <a:p>
            <a:pPr algn="l" marL="0" indent="0">
              <a:lnSpc>
                <a:spcPts val="2250"/>
              </a:lnSpc>
              <a:buNone/>
            </a:pPr>
            <a:r>
              <a:rPr sz="1500" b="0" i="0">
                <a:solidFill>
                  <a:srgbClr val="1B2A41"/>
                </a:solidFill>
                <a:latin typeface="JetBrains Mono"/>
                <a:ea typeface="JetBrains Mono"/>
                <a:cs typeface="JetBrains Mono"/>
              </a:rPr>
              <a:t>Hello Subham from Cuttack</a:t>
            </a:r>
          </a:p>
        </p:txBody>
      </p:sp>
      <p:sp>
        <p:nvSpPr>
          <p:cNvPr id="10" name="Rounded Rectangle 9"/>
          <p:cNvSpPr/>
          <p:nvPr/>
        </p:nvSpPr>
        <p:spPr>
          <a:xfrm>
            <a:off x="6737846" y="1854101"/>
            <a:ext cx="323354" cy="31750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2146" y="1879501"/>
            <a:ext cx="97597"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Rubik"/>
                <a:ea typeface="Rubik"/>
                <a:cs typeface="Rubik"/>
              </a:rPr>
              <a:t>1</a:t>
            </a:r>
          </a:p>
        </p:txBody>
      </p:sp>
      <p:sp>
        <p:nvSpPr>
          <p:cNvPr id="12" name="TextBox 11"/>
          <p:cNvSpPr txBox="1"/>
          <p:nvPr/>
        </p:nvSpPr>
        <p:spPr>
          <a:xfrm>
            <a:off x="7188200" y="1854101"/>
            <a:ext cx="4168138"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Shows the message</a:t>
            </a:r>
          </a:p>
        </p:txBody>
      </p:sp>
      <p:sp>
        <p:nvSpPr>
          <p:cNvPr id="13" name="TextBox 12"/>
          <p:cNvSpPr txBox="1"/>
          <p:nvPr/>
        </p:nvSpPr>
        <p:spPr>
          <a:xfrm>
            <a:off x="7188200" y="2153741"/>
            <a:ext cx="4168138"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The text inside input() is a prompt for the user</a:t>
            </a:r>
          </a:p>
        </p:txBody>
      </p:sp>
      <p:sp>
        <p:nvSpPr>
          <p:cNvPr id="14" name="Rounded Rectangle 13"/>
          <p:cNvSpPr/>
          <p:nvPr/>
        </p:nvSpPr>
        <p:spPr>
          <a:xfrm>
            <a:off x="6737846" y="2572841"/>
            <a:ext cx="352425" cy="31750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2146" y="2598241"/>
            <a:ext cx="127540"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Rubik"/>
                <a:ea typeface="Rubik"/>
                <a:cs typeface="Rubik"/>
              </a:rPr>
              <a:t>2</a:t>
            </a:r>
          </a:p>
        </p:txBody>
      </p:sp>
      <p:sp>
        <p:nvSpPr>
          <p:cNvPr id="16" name="TextBox 15"/>
          <p:cNvSpPr txBox="1"/>
          <p:nvPr/>
        </p:nvSpPr>
        <p:spPr>
          <a:xfrm>
            <a:off x="7217271" y="2572841"/>
            <a:ext cx="4286685"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Waits for Enter</a:t>
            </a:r>
          </a:p>
        </p:txBody>
      </p:sp>
      <p:sp>
        <p:nvSpPr>
          <p:cNvPr id="17" name="TextBox 16"/>
          <p:cNvSpPr txBox="1"/>
          <p:nvPr/>
        </p:nvSpPr>
        <p:spPr>
          <a:xfrm>
            <a:off x="7217271" y="2872482"/>
            <a:ext cx="4286685" cy="5334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The program pauses until the user types and presses Enter</a:t>
            </a:r>
          </a:p>
        </p:txBody>
      </p:sp>
      <p:sp>
        <p:nvSpPr>
          <p:cNvPr id="18" name="Rounded Rectangle 17"/>
          <p:cNvSpPr/>
          <p:nvPr/>
        </p:nvSpPr>
        <p:spPr>
          <a:xfrm>
            <a:off x="6737846" y="3558282"/>
            <a:ext cx="4641255" cy="1137841"/>
          </a:xfrm>
          <a:prstGeom prst="roundRect">
            <a:avLst>
              <a:gd name="adj" fmla="val 11161"/>
            </a:avLst>
          </a:prstGeom>
          <a:solidFill>
            <a:srgbClr val="FBE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915646" y="3710682"/>
            <a:ext cx="354211" cy="31750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29946" y="3736082"/>
            <a:ext cx="129379"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Rubik"/>
                <a:ea typeface="Rubik"/>
                <a:cs typeface="Rubik"/>
              </a:rPr>
              <a:t>3</a:t>
            </a:r>
          </a:p>
        </p:txBody>
      </p:sp>
      <p:sp>
        <p:nvSpPr>
          <p:cNvPr id="21" name="TextBox 20"/>
          <p:cNvSpPr txBox="1"/>
          <p:nvPr/>
        </p:nvSpPr>
        <p:spPr>
          <a:xfrm>
            <a:off x="7396857" y="3710682"/>
            <a:ext cx="3918577"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Always gives text</a:t>
            </a:r>
          </a:p>
        </p:txBody>
      </p:sp>
      <p:sp>
        <p:nvSpPr>
          <p:cNvPr id="22" name="TextBox 21"/>
          <p:cNvSpPr txBox="1"/>
          <p:nvPr/>
        </p:nvSpPr>
        <p:spPr>
          <a:xfrm>
            <a:off x="7396857" y="4010323"/>
            <a:ext cx="3918577" cy="5334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Even if the user types 18, you get "18", a string</a:t>
            </a:r>
          </a:p>
        </p:txBody>
      </p:sp>
      <p:sp>
        <p:nvSpPr>
          <p:cNvPr id="23" name="TextBox 22"/>
          <p:cNvSpPr txBox="1"/>
          <p:nvPr/>
        </p:nvSpPr>
        <p:spPr>
          <a:xfrm>
            <a:off x="812800" y="6238280"/>
            <a:ext cx="10883392" cy="213320"/>
          </a:xfrm>
          <a:prstGeom prst="rect">
            <a:avLst/>
          </a:prstGeom>
          <a:noFill/>
        </p:spPr>
        <p:txBody>
          <a:bodyPr wrap="square" lIns="0" rIns="0" tIns="0" bIns="0" anchor="t">
            <a:normAutofit/>
          </a:bodyPr>
          <a:lstStyle/>
          <a:p>
            <a:pPr algn="l" marL="0" indent="0">
              <a:lnSpc>
                <a:spcPts val="1680"/>
              </a:lnSpc>
              <a:buNone/>
            </a:pPr>
            <a:r>
              <a:rPr sz="1200" b="0" i="0">
                <a:solidFill>
                  <a:srgbClr val="5F6B7A"/>
                </a:solidFill>
                <a:latin typeface="Rubik"/>
                <a:ea typeface="Rubik"/>
                <a:cs typeface="Rubik"/>
              </a:rPr>
              <a:t>Python Programming · Week 1 · Class 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3" name="TextBox 2"/>
          <p:cNvSpPr txBox="1"/>
          <p:nvPr/>
        </p:nvSpPr>
        <p:spPr>
          <a:xfrm>
            <a:off x="812800" y="812800"/>
            <a:ext cx="10883392"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CLASS 2 · TYPE CASTING</a:t>
            </a:r>
          </a:p>
        </p:txBody>
      </p:sp>
      <p:sp>
        <p:nvSpPr>
          <p:cNvPr id="2" name="Title 1"/>
          <p:cNvSpPr>
            <a:spLocks noGrp="1"/>
          </p:cNvSpPr>
          <p:nvPr>
            <p:ph type="title"/>
          </p:nvPr>
        </p:nvSpPr>
        <p:spPr>
          <a:xfrm>
            <a:off x="812800" y="1102320"/>
            <a:ext cx="10883392" cy="446980"/>
          </a:xfrm>
        </p:spPr>
        <p:txBody>
          <a:bodyPr wrap="square" lIns="0" rIns="0" tIns="0" bIns="0" anchor="t">
            <a:normAutofit/>
          </a:bodyPr>
          <a:lstStyle/>
          <a:p>
            <a:pPr algn="l" marL="0" indent="0">
              <a:lnSpc>
                <a:spcPts val="3520"/>
              </a:lnSpc>
              <a:buNone/>
            </a:pPr>
            <a:r>
              <a:rPr sz="3200" b="1" i="0">
                <a:solidFill>
                  <a:srgbClr val="1B2A41"/>
                </a:solidFill>
                <a:latin typeface="Rubik"/>
                <a:ea typeface="Rubik"/>
                <a:cs typeface="Rubik"/>
              </a:rPr>
              <a:t>The input() trap, and the fix</a:t>
            </a:r>
          </a:p>
        </p:txBody>
      </p:sp>
      <p:sp>
        <p:nvSpPr>
          <p:cNvPr id="4" name="TextBox 3"/>
          <p:cNvSpPr txBox="1"/>
          <p:nvPr/>
        </p:nvSpPr>
        <p:spPr>
          <a:xfrm>
            <a:off x="812800" y="1803301"/>
            <a:ext cx="5284724" cy="213320"/>
          </a:xfrm>
          <a:prstGeom prst="rect">
            <a:avLst/>
          </a:prstGeom>
          <a:noFill/>
        </p:spPr>
        <p:txBody>
          <a:bodyPr wrap="square" lIns="0" rIns="0" tIns="0" bIns="0" anchor="t">
            <a:normAutofit/>
          </a:bodyPr>
          <a:lstStyle/>
          <a:p>
            <a:pPr algn="l" marL="0" indent="0">
              <a:lnSpc>
                <a:spcPts val="1680"/>
              </a:lnSpc>
              <a:buNone/>
            </a:pPr>
            <a:r>
              <a:rPr sz="1200" b="1" i="0" spc="150">
                <a:solidFill>
                  <a:srgbClr val="B54708"/>
                </a:solidFill>
                <a:latin typeface="Rubik"/>
                <a:ea typeface="Rubik"/>
                <a:cs typeface="Rubik"/>
              </a:rPr>
              <a:t>THE PROBLEM</a:t>
            </a:r>
          </a:p>
        </p:txBody>
      </p:sp>
      <p:sp>
        <p:nvSpPr>
          <p:cNvPr id="5" name="Rounded Rectangle 4"/>
          <p:cNvSpPr/>
          <p:nvPr/>
        </p:nvSpPr>
        <p:spPr>
          <a:xfrm>
            <a:off x="812800" y="2118221"/>
            <a:ext cx="5130800" cy="927100"/>
          </a:xfrm>
          <a:prstGeom prst="roundRect">
            <a:avLst>
              <a:gd name="adj" fmla="val 13698"/>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800" y="2296021"/>
            <a:ext cx="4761484" cy="571500"/>
          </a:xfrm>
          <a:prstGeom prst="rect">
            <a:avLst/>
          </a:prstGeom>
          <a:noFill/>
        </p:spPr>
        <p:txBody>
          <a:bodyPr wrap="square" lIns="0" rIns="0" tIns="0" bIns="0" anchor="t">
            <a:normAutofit/>
          </a:bodyPr>
          <a:lstStyle/>
          <a:p>
            <a:pPr algn="l" marL="0" indent="0">
              <a:lnSpc>
                <a:spcPts val="2250"/>
              </a:lnSpc>
              <a:buNone/>
            </a:pPr>
            <a:r>
              <a:rPr sz="1500" b="0" i="0">
                <a:solidFill>
                  <a:srgbClr val="E8EDF3"/>
                </a:solidFill>
                <a:latin typeface="JetBrains Mono"/>
                <a:ea typeface="JetBrains Mono"/>
                <a:cs typeface="JetBrains Mono"/>
              </a:rPr>
              <a:t>age = </a:t>
            </a:r>
            <a:r>
              <a:rPr sz="1500" b="0" i="0">
                <a:solidFill>
                  <a:srgbClr val="F2B33D"/>
                </a:solidFill>
                <a:latin typeface="JetBrains Mono"/>
                <a:ea typeface="JetBrains Mono"/>
                <a:cs typeface="JetBrains Mono"/>
              </a:rPr>
              <a:t>input</a:t>
            </a:r>
            <a:r>
              <a:rPr sz="1500" b="0" i="0">
                <a:solidFill>
                  <a:srgbClr val="E8EDF3"/>
                </a:solidFill>
                <a:latin typeface="JetBrains Mono"/>
                <a:ea typeface="JetBrains Mono"/>
                <a:cs typeface="JetBrains Mono"/>
              </a:rPr>
              <a:t>(</a:t>
            </a:r>
            <a:r>
              <a:rPr sz="1500" b="0" i="0">
                <a:solidFill>
                  <a:srgbClr val="9FD8A8"/>
                </a:solidFill>
                <a:latin typeface="JetBrains Mono"/>
                <a:ea typeface="JetBrains Mono"/>
                <a:cs typeface="JetBrains Mono"/>
              </a:rPr>
              <a:t>"Age: "</a:t>
            </a:r>
            <a:r>
              <a:rPr sz="1500" b="0" i="0">
                <a:solidFill>
                  <a:srgbClr val="E8EDF3"/>
                </a:solidFill>
                <a:latin typeface="JetBrains Mono"/>
                <a:ea typeface="JetBrains Mono"/>
                <a:cs typeface="JetBrains Mono"/>
              </a:rPr>
              <a:t>)</a:t>
            </a:r>
          </a:p>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(age + 1)</a:t>
            </a:r>
          </a:p>
        </p:txBody>
      </p:sp>
      <p:sp>
        <p:nvSpPr>
          <p:cNvPr id="7" name="Rounded Rectangle 6"/>
          <p:cNvSpPr/>
          <p:nvPr/>
        </p:nvSpPr>
        <p:spPr>
          <a:xfrm>
            <a:off x="819150" y="3153271"/>
            <a:ext cx="5118100" cy="774700"/>
          </a:xfrm>
          <a:prstGeom prst="roundRect">
            <a:avLst>
              <a:gd name="adj" fmla="val 16393"/>
            </a:avLst>
          </a:prstGeom>
          <a:solidFill>
            <a:srgbClr val="FFFDF8"/>
          </a:solidFill>
          <a:ln w="12700">
            <a:solidFill>
              <a:srgbClr val="B54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9500" y="3312021"/>
            <a:ext cx="4735322" cy="457200"/>
          </a:xfrm>
          <a:prstGeom prst="rect">
            <a:avLst/>
          </a:prstGeom>
          <a:noFill/>
        </p:spPr>
        <p:txBody>
          <a:bodyPr wrap="square" lIns="0" rIns="0" tIns="0" bIns="0" anchor="t">
            <a:normAutofit/>
          </a:bodyPr>
          <a:lstStyle/>
          <a:p>
            <a:pPr algn="l" marL="0" indent="0">
              <a:lnSpc>
                <a:spcPts val="1800"/>
              </a:lnSpc>
              <a:buNone/>
            </a:pPr>
            <a:r>
              <a:rPr sz="1200" b="0" i="0">
                <a:solidFill>
                  <a:srgbClr val="B54708"/>
                </a:solidFill>
                <a:latin typeface="JetBrains Mono"/>
                <a:ea typeface="JetBrains Mono"/>
                <a:cs typeface="JetBrains Mono"/>
              </a:rPr>
              <a:t>TypeError: can only concatenate str (not "int") to str</a:t>
            </a:r>
          </a:p>
        </p:txBody>
      </p:sp>
      <p:sp>
        <p:nvSpPr>
          <p:cNvPr id="9" name="TextBox 8"/>
          <p:cNvSpPr txBox="1"/>
          <p:nvPr/>
        </p:nvSpPr>
        <p:spPr>
          <a:xfrm>
            <a:off x="6248400" y="1803301"/>
            <a:ext cx="5284724"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THE FIX: CONVERT WITH INT()</a:t>
            </a:r>
          </a:p>
        </p:txBody>
      </p:sp>
      <p:sp>
        <p:nvSpPr>
          <p:cNvPr id="10" name="Rounded Rectangle 9"/>
          <p:cNvSpPr/>
          <p:nvPr/>
        </p:nvSpPr>
        <p:spPr>
          <a:xfrm>
            <a:off x="6248400" y="2118221"/>
            <a:ext cx="5130800" cy="927100"/>
          </a:xfrm>
          <a:prstGeom prst="roundRect">
            <a:avLst>
              <a:gd name="adj" fmla="val 13698"/>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02400" y="2296021"/>
            <a:ext cx="4761484" cy="571500"/>
          </a:xfrm>
          <a:prstGeom prst="rect">
            <a:avLst/>
          </a:prstGeom>
          <a:noFill/>
        </p:spPr>
        <p:txBody>
          <a:bodyPr wrap="square" lIns="0" rIns="0" tIns="0" bIns="0" anchor="t">
            <a:normAutofit/>
          </a:bodyPr>
          <a:lstStyle/>
          <a:p>
            <a:pPr algn="l" marL="0" indent="0">
              <a:lnSpc>
                <a:spcPts val="2250"/>
              </a:lnSpc>
              <a:buNone/>
            </a:pPr>
            <a:r>
              <a:rPr sz="1500" b="0" i="0">
                <a:solidFill>
                  <a:srgbClr val="E8EDF3"/>
                </a:solidFill>
                <a:latin typeface="JetBrains Mono"/>
                <a:ea typeface="JetBrains Mono"/>
                <a:cs typeface="JetBrains Mono"/>
              </a:rPr>
              <a:t>age = </a:t>
            </a:r>
            <a:r>
              <a:rPr sz="1500" b="0" i="0">
                <a:solidFill>
                  <a:srgbClr val="F2B33D"/>
                </a:solidFill>
                <a:latin typeface="JetBrains Mono"/>
                <a:ea typeface="JetBrains Mono"/>
                <a:cs typeface="JetBrains Mono"/>
              </a:rPr>
              <a:t>int</a:t>
            </a:r>
            <a:r>
              <a:rPr sz="1500" b="0" i="0">
                <a:solidFill>
                  <a:srgbClr val="E8EDF3"/>
                </a:solidFill>
                <a:latin typeface="JetBrains Mono"/>
                <a:ea typeface="JetBrains Mono"/>
                <a:cs typeface="JetBrains Mono"/>
              </a:rPr>
              <a:t>(</a:t>
            </a:r>
            <a:r>
              <a:rPr sz="1500" b="0" i="0">
                <a:solidFill>
                  <a:srgbClr val="F2B33D"/>
                </a:solidFill>
                <a:latin typeface="JetBrains Mono"/>
                <a:ea typeface="JetBrains Mono"/>
                <a:cs typeface="JetBrains Mono"/>
              </a:rPr>
              <a:t>input</a:t>
            </a:r>
            <a:r>
              <a:rPr sz="1500" b="0" i="0">
                <a:solidFill>
                  <a:srgbClr val="E8EDF3"/>
                </a:solidFill>
                <a:latin typeface="JetBrains Mono"/>
                <a:ea typeface="JetBrains Mono"/>
                <a:cs typeface="JetBrains Mono"/>
              </a:rPr>
              <a:t>(</a:t>
            </a:r>
            <a:r>
              <a:rPr sz="1500" b="0" i="0">
                <a:solidFill>
                  <a:srgbClr val="9FD8A8"/>
                </a:solidFill>
                <a:latin typeface="JetBrains Mono"/>
                <a:ea typeface="JetBrains Mono"/>
                <a:cs typeface="JetBrains Mono"/>
              </a:rPr>
              <a:t>"Age: "</a:t>
            </a:r>
            <a:r>
              <a:rPr sz="1500" b="0" i="0">
                <a:solidFill>
                  <a:srgbClr val="E8EDF3"/>
                </a:solidFill>
                <a:latin typeface="JetBrains Mono"/>
                <a:ea typeface="JetBrains Mono"/>
                <a:cs typeface="JetBrains Mono"/>
              </a:rPr>
              <a:t>))</a:t>
            </a:r>
          </a:p>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(age + 1)</a:t>
            </a:r>
          </a:p>
        </p:txBody>
      </p:sp>
      <p:sp>
        <p:nvSpPr>
          <p:cNvPr id="12" name="Rounded Rectangle 11"/>
          <p:cNvSpPr/>
          <p:nvPr/>
        </p:nvSpPr>
        <p:spPr>
          <a:xfrm>
            <a:off x="6254750" y="3153271"/>
            <a:ext cx="5118100" cy="889000"/>
          </a:xfrm>
          <a:prstGeom prst="roundRect">
            <a:avLst>
              <a:gd name="adj" fmla="val 14285"/>
            </a:avLst>
          </a:prstGeom>
          <a:solidFill>
            <a:srgbClr val="FFFDF8"/>
          </a:solidFill>
          <a:ln w="12700">
            <a:solidFill>
              <a:srgbClr val="2A64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5100" y="3312021"/>
            <a:ext cx="4735322" cy="571500"/>
          </a:xfrm>
          <a:prstGeom prst="rect">
            <a:avLst/>
          </a:prstGeom>
          <a:noFill/>
        </p:spPr>
        <p:txBody>
          <a:bodyPr wrap="square" lIns="0" rIns="0" tIns="0" bIns="0" anchor="t">
            <a:normAutofit/>
          </a:bodyPr>
          <a:lstStyle/>
          <a:p>
            <a:pPr algn="l" marL="0" indent="0">
              <a:lnSpc>
                <a:spcPts val="2250"/>
              </a:lnSpc>
              <a:buNone/>
            </a:pPr>
            <a:r>
              <a:rPr sz="1500" b="0" i="0">
                <a:solidFill>
                  <a:srgbClr val="1B2A41"/>
                </a:solidFill>
                <a:latin typeface="JetBrains Mono"/>
                <a:ea typeface="JetBrains Mono"/>
                <a:cs typeface="JetBrains Mono"/>
              </a:rPr>
              <a:t>Age: </a:t>
            </a:r>
            <a:r>
              <a:rPr sz="1500" b="0" i="0">
                <a:solidFill>
                  <a:srgbClr val="B54708"/>
                </a:solidFill>
                <a:latin typeface="JetBrains Mono"/>
                <a:ea typeface="JetBrains Mono"/>
                <a:cs typeface="JetBrains Mono"/>
              </a:rPr>
              <a:t>18</a:t>
            </a:r>
          </a:p>
          <a:p>
            <a:pPr algn="l" marL="0" indent="0">
              <a:lnSpc>
                <a:spcPts val="2250"/>
              </a:lnSpc>
              <a:buNone/>
            </a:pPr>
            <a:r>
              <a:rPr sz="1500" b="0" i="0">
                <a:solidFill>
                  <a:srgbClr val="1B2A41"/>
                </a:solidFill>
                <a:latin typeface="JetBrains Mono"/>
                <a:ea typeface="JetBrains Mono"/>
                <a:cs typeface="JetBrains Mono"/>
              </a:rPr>
              <a:t>19</a:t>
            </a:r>
          </a:p>
        </p:txBody>
      </p:sp>
      <p:sp>
        <p:nvSpPr>
          <p:cNvPr id="14" name="Rounded Rectangle 13"/>
          <p:cNvSpPr/>
          <p:nvPr/>
        </p:nvSpPr>
        <p:spPr>
          <a:xfrm>
            <a:off x="812800" y="4302621"/>
            <a:ext cx="2527300" cy="1155700"/>
          </a:xfrm>
          <a:prstGeom prst="roundRect">
            <a:avLst>
              <a:gd name="adj" fmla="val 10989"/>
            </a:avLst>
          </a:prstGeom>
          <a:solidFill>
            <a:srgbClr val="E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6000" y="4455021"/>
            <a:ext cx="2184527"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JetBrains Mono"/>
                <a:ea typeface="JetBrains Mono"/>
                <a:cs typeface="JetBrains Mono"/>
              </a:rPr>
              <a:t>int("25")</a:t>
            </a:r>
          </a:p>
        </p:txBody>
      </p:sp>
      <p:sp>
        <p:nvSpPr>
          <p:cNvPr id="16" name="TextBox 15"/>
          <p:cNvSpPr txBox="1"/>
          <p:nvPr/>
        </p:nvSpPr>
        <p:spPr>
          <a:xfrm>
            <a:off x="1016000" y="4772521"/>
            <a:ext cx="2184527"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gives 25</a:t>
            </a:r>
          </a:p>
        </p:txBody>
      </p:sp>
      <p:sp>
        <p:nvSpPr>
          <p:cNvPr id="17" name="Rounded Rectangle 16"/>
          <p:cNvSpPr/>
          <p:nvPr/>
        </p:nvSpPr>
        <p:spPr>
          <a:xfrm>
            <a:off x="3492500" y="4302621"/>
            <a:ext cx="2527300" cy="1155700"/>
          </a:xfrm>
          <a:prstGeom prst="roundRect">
            <a:avLst>
              <a:gd name="adj" fmla="val 10989"/>
            </a:avLst>
          </a:prstGeom>
          <a:solidFill>
            <a:srgbClr val="E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95700" y="4455021"/>
            <a:ext cx="2184527"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JetBrains Mono"/>
                <a:ea typeface="JetBrains Mono"/>
                <a:cs typeface="JetBrains Mono"/>
              </a:rPr>
              <a:t>float("8.5")</a:t>
            </a:r>
          </a:p>
        </p:txBody>
      </p:sp>
      <p:sp>
        <p:nvSpPr>
          <p:cNvPr id="19" name="TextBox 18"/>
          <p:cNvSpPr txBox="1"/>
          <p:nvPr/>
        </p:nvSpPr>
        <p:spPr>
          <a:xfrm>
            <a:off x="3695700" y="4772521"/>
            <a:ext cx="2184527"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gives 8.5</a:t>
            </a:r>
          </a:p>
        </p:txBody>
      </p:sp>
      <p:sp>
        <p:nvSpPr>
          <p:cNvPr id="20" name="Rounded Rectangle 19"/>
          <p:cNvSpPr/>
          <p:nvPr/>
        </p:nvSpPr>
        <p:spPr>
          <a:xfrm>
            <a:off x="6172200" y="4302621"/>
            <a:ext cx="2527300" cy="1155700"/>
          </a:xfrm>
          <a:prstGeom prst="roundRect">
            <a:avLst>
              <a:gd name="adj" fmla="val 10989"/>
            </a:avLst>
          </a:prstGeom>
          <a:solidFill>
            <a:srgbClr val="E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75400" y="4455021"/>
            <a:ext cx="2184527"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JetBrains Mono"/>
                <a:ea typeface="JetBrains Mono"/>
                <a:cs typeface="JetBrains Mono"/>
              </a:rPr>
              <a:t>str(100)</a:t>
            </a:r>
          </a:p>
        </p:txBody>
      </p:sp>
      <p:sp>
        <p:nvSpPr>
          <p:cNvPr id="22" name="TextBox 21"/>
          <p:cNvSpPr txBox="1"/>
          <p:nvPr/>
        </p:nvSpPr>
        <p:spPr>
          <a:xfrm>
            <a:off x="6375400" y="4772521"/>
            <a:ext cx="2184527"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gives "100"</a:t>
            </a:r>
          </a:p>
        </p:txBody>
      </p:sp>
      <p:sp>
        <p:nvSpPr>
          <p:cNvPr id="23" name="Rounded Rectangle 22"/>
          <p:cNvSpPr/>
          <p:nvPr/>
        </p:nvSpPr>
        <p:spPr>
          <a:xfrm>
            <a:off x="8851900" y="4302621"/>
            <a:ext cx="2527300" cy="1155700"/>
          </a:xfrm>
          <a:prstGeom prst="roundRect">
            <a:avLst>
              <a:gd name="adj" fmla="val 10989"/>
            </a:avLst>
          </a:prstGeom>
          <a:solidFill>
            <a:srgbClr val="E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5100" y="4455021"/>
            <a:ext cx="2184527"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JetBrains Mono"/>
                <a:ea typeface="JetBrains Mono"/>
                <a:cs typeface="JetBrains Mono"/>
              </a:rPr>
              <a:t>int(9.99)</a:t>
            </a:r>
          </a:p>
        </p:txBody>
      </p:sp>
      <p:sp>
        <p:nvSpPr>
          <p:cNvPr id="25" name="TextBox 24"/>
          <p:cNvSpPr txBox="1"/>
          <p:nvPr/>
        </p:nvSpPr>
        <p:spPr>
          <a:xfrm>
            <a:off x="9055100" y="4772521"/>
            <a:ext cx="2184527" cy="5334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gives 9 (chops, no rounding)</a:t>
            </a:r>
          </a:p>
        </p:txBody>
      </p:sp>
      <p:sp>
        <p:nvSpPr>
          <p:cNvPr id="26" name="TextBox 25"/>
          <p:cNvSpPr txBox="1"/>
          <p:nvPr/>
        </p:nvSpPr>
        <p:spPr>
          <a:xfrm>
            <a:off x="812800" y="6238280"/>
            <a:ext cx="10883392" cy="213320"/>
          </a:xfrm>
          <a:prstGeom prst="rect">
            <a:avLst/>
          </a:prstGeom>
          <a:noFill/>
        </p:spPr>
        <p:txBody>
          <a:bodyPr wrap="square" lIns="0" rIns="0" tIns="0" bIns="0" anchor="t">
            <a:normAutofit/>
          </a:bodyPr>
          <a:lstStyle/>
          <a:p>
            <a:pPr algn="l" marL="0" indent="0">
              <a:lnSpc>
                <a:spcPts val="1680"/>
              </a:lnSpc>
              <a:buNone/>
            </a:pPr>
            <a:r>
              <a:rPr sz="1200" b="0" i="0">
                <a:solidFill>
                  <a:srgbClr val="5F6B7A"/>
                </a:solidFill>
                <a:latin typeface="Rubik"/>
                <a:ea typeface="Rubik"/>
                <a:cs typeface="Rubik"/>
              </a:rPr>
              <a:t>Python Programming · Week 1 · Class 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6EEF7"/>
        </a:solidFill>
        <a:effectLst/>
      </p:bgPr>
    </p:bg>
    <p:spTree>
      <p:nvGrpSpPr>
        <p:cNvPr id="1" name=""/>
        <p:cNvGrpSpPr/>
        <p:nvPr/>
      </p:nvGrpSpPr>
      <p:grpSpPr/>
      <p:sp>
        <p:nvSpPr>
          <p:cNvPr id="3" name="TextBox 2"/>
          <p:cNvSpPr txBox="1"/>
          <p:nvPr/>
        </p:nvSpPr>
        <p:spPr>
          <a:xfrm>
            <a:off x="812800" y="812800"/>
            <a:ext cx="10883392"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CLASS 2 · PRACTICE</a:t>
            </a:r>
          </a:p>
        </p:txBody>
      </p:sp>
      <p:sp>
        <p:nvSpPr>
          <p:cNvPr id="2" name="Title 1"/>
          <p:cNvSpPr>
            <a:spLocks noGrp="1"/>
          </p:cNvSpPr>
          <p:nvPr>
            <p:ph type="title"/>
          </p:nvPr>
        </p:nvSpPr>
        <p:spPr>
          <a:xfrm>
            <a:off x="812800" y="1102320"/>
            <a:ext cx="10883392" cy="446980"/>
          </a:xfrm>
        </p:spPr>
        <p:txBody>
          <a:bodyPr wrap="square" lIns="0" rIns="0" tIns="0" bIns="0" anchor="t">
            <a:normAutofit/>
          </a:bodyPr>
          <a:lstStyle/>
          <a:p>
            <a:pPr algn="l" marL="0" indent="0">
              <a:lnSpc>
                <a:spcPts val="3520"/>
              </a:lnSpc>
              <a:buNone/>
            </a:pPr>
            <a:r>
              <a:rPr sz="3200" b="1" i="0">
                <a:solidFill>
                  <a:srgbClr val="1B2A41"/>
                </a:solidFill>
                <a:latin typeface="Rubik"/>
                <a:ea typeface="Rubik"/>
                <a:cs typeface="Rubik"/>
              </a:rPr>
              <a:t>Your turn: 15 minutes</a:t>
            </a:r>
          </a:p>
        </p:txBody>
      </p:sp>
      <p:sp>
        <p:nvSpPr>
          <p:cNvPr id="4" name="Rounded Rectangle 3"/>
          <p:cNvSpPr/>
          <p:nvPr/>
        </p:nvSpPr>
        <p:spPr>
          <a:xfrm>
            <a:off x="819150" y="1809651"/>
            <a:ext cx="3373934" cy="2983111"/>
          </a:xfrm>
          <a:prstGeom prst="roundRect">
            <a:avLst>
              <a:gd name="adj" fmla="val 4257"/>
            </a:avLst>
          </a:prstGeom>
          <a:solidFill>
            <a:srgbClr val="FBFCFE"/>
          </a:solidFill>
          <a:ln w="12700">
            <a:solidFill>
              <a:srgbClr val="C9D7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54100" y="2044601"/>
            <a:ext cx="681930" cy="28952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8400" y="2082701"/>
            <a:ext cx="466930" cy="213320"/>
          </a:xfrm>
          <a:prstGeom prst="rect">
            <a:avLst/>
          </a:prstGeom>
          <a:noFill/>
        </p:spPr>
        <p:txBody>
          <a:bodyPr wrap="square" lIns="0" rIns="0" tIns="0" bIns="0" anchor="t">
            <a:normAutofit/>
          </a:bodyPr>
          <a:lstStyle/>
          <a:p>
            <a:pPr algn="l" marL="0" indent="0">
              <a:lnSpc>
                <a:spcPts val="1680"/>
              </a:lnSpc>
              <a:buNone/>
            </a:pPr>
            <a:r>
              <a:rPr sz="1200" b="1" i="0">
                <a:solidFill>
                  <a:srgbClr val="1B2A41"/>
                </a:solidFill>
                <a:latin typeface="Rubik"/>
                <a:ea typeface="Rubik"/>
                <a:cs typeface="Rubik"/>
              </a:rPr>
              <a:t>Task 1</a:t>
            </a:r>
          </a:p>
        </p:txBody>
      </p:sp>
      <p:sp>
        <p:nvSpPr>
          <p:cNvPr id="7" name="TextBox 6"/>
          <p:cNvSpPr txBox="1"/>
          <p:nvPr/>
        </p:nvSpPr>
        <p:spPr>
          <a:xfrm>
            <a:off x="1054100" y="2435721"/>
            <a:ext cx="2991155"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Greeting card</a:t>
            </a:r>
          </a:p>
        </p:txBody>
      </p:sp>
      <p:sp>
        <p:nvSpPr>
          <p:cNvPr id="8" name="TextBox 7"/>
          <p:cNvSpPr txBox="1"/>
          <p:nvPr/>
        </p:nvSpPr>
        <p:spPr>
          <a:xfrm>
            <a:off x="1054100" y="2811562"/>
            <a:ext cx="2991155" cy="8001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Ask for the user's name and college, then print a welcome line like:</a:t>
            </a:r>
          </a:p>
        </p:txBody>
      </p:sp>
      <p:sp>
        <p:nvSpPr>
          <p:cNvPr id="9" name="TextBox 8"/>
          <p:cNvSpPr txBox="1"/>
          <p:nvPr/>
        </p:nvSpPr>
        <p:spPr>
          <a:xfrm>
            <a:off x="1054100" y="3713262"/>
            <a:ext cx="2991155" cy="266700"/>
          </a:xfrm>
          <a:prstGeom prst="rect">
            <a:avLst/>
          </a:prstGeom>
          <a:noFill/>
        </p:spPr>
        <p:txBody>
          <a:bodyPr wrap="square" lIns="0" rIns="0" tIns="0" bIns="0" anchor="t">
            <a:normAutofit/>
          </a:bodyPr>
          <a:lstStyle/>
          <a:p>
            <a:pPr algn="l" marL="0" indent="0">
              <a:lnSpc>
                <a:spcPts val="2100"/>
              </a:lnSpc>
              <a:buNone/>
            </a:pPr>
            <a:r>
              <a:rPr sz="1500" b="0" i="0">
                <a:solidFill>
                  <a:srgbClr val="1B2A41"/>
                </a:solidFill>
                <a:latin typeface="JetBrains Mono"/>
                <a:ea typeface="JetBrains Mono"/>
                <a:cs typeface="JetBrains Mono"/>
              </a:rPr>
              <a:t>Welcome Subham to ITER!</a:t>
            </a:r>
          </a:p>
        </p:txBody>
      </p:sp>
      <p:sp>
        <p:nvSpPr>
          <p:cNvPr id="10" name="Rounded Rectangle 9"/>
          <p:cNvSpPr/>
          <p:nvPr/>
        </p:nvSpPr>
        <p:spPr>
          <a:xfrm>
            <a:off x="4408984" y="1809651"/>
            <a:ext cx="3373934" cy="2983111"/>
          </a:xfrm>
          <a:prstGeom prst="roundRect">
            <a:avLst>
              <a:gd name="adj" fmla="val 4257"/>
            </a:avLst>
          </a:prstGeom>
          <a:solidFill>
            <a:srgbClr val="FBFCFE"/>
          </a:solidFill>
          <a:ln w="12700">
            <a:solidFill>
              <a:srgbClr val="C9D7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43934" y="2044601"/>
            <a:ext cx="705247" cy="28952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8234" y="2082701"/>
            <a:ext cx="490946" cy="213320"/>
          </a:xfrm>
          <a:prstGeom prst="rect">
            <a:avLst/>
          </a:prstGeom>
          <a:noFill/>
        </p:spPr>
        <p:txBody>
          <a:bodyPr wrap="square" lIns="0" rIns="0" tIns="0" bIns="0" anchor="t">
            <a:normAutofit/>
          </a:bodyPr>
          <a:lstStyle/>
          <a:p>
            <a:pPr algn="l" marL="0" indent="0">
              <a:lnSpc>
                <a:spcPts val="1680"/>
              </a:lnSpc>
              <a:buNone/>
            </a:pPr>
            <a:r>
              <a:rPr sz="1200" b="1" i="0">
                <a:solidFill>
                  <a:srgbClr val="1B2A41"/>
                </a:solidFill>
                <a:latin typeface="Rubik"/>
                <a:ea typeface="Rubik"/>
                <a:cs typeface="Rubik"/>
              </a:rPr>
              <a:t>Task 2</a:t>
            </a:r>
          </a:p>
        </p:txBody>
      </p:sp>
      <p:sp>
        <p:nvSpPr>
          <p:cNvPr id="13" name="TextBox 12"/>
          <p:cNvSpPr txBox="1"/>
          <p:nvPr/>
        </p:nvSpPr>
        <p:spPr>
          <a:xfrm>
            <a:off x="4643934" y="2435721"/>
            <a:ext cx="2991155"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Add two numbers</a:t>
            </a:r>
          </a:p>
        </p:txBody>
      </p:sp>
      <p:sp>
        <p:nvSpPr>
          <p:cNvPr id="14" name="TextBox 13"/>
          <p:cNvSpPr txBox="1"/>
          <p:nvPr/>
        </p:nvSpPr>
        <p:spPr>
          <a:xfrm>
            <a:off x="4643934" y="2811562"/>
            <a:ext cx="2991155" cy="5334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Read two numbers from the keyboard and print their sum.</a:t>
            </a:r>
          </a:p>
        </p:txBody>
      </p:sp>
      <p:sp>
        <p:nvSpPr>
          <p:cNvPr id="15" name="TextBox 14"/>
          <p:cNvSpPr txBox="1"/>
          <p:nvPr/>
        </p:nvSpPr>
        <p:spPr>
          <a:xfrm>
            <a:off x="4643934" y="3446562"/>
            <a:ext cx="2991155"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Rubik"/>
                <a:ea typeface="Rubik"/>
                <a:cs typeface="Rubik"/>
              </a:rPr>
              <a:t>Remember: convert first!</a:t>
            </a:r>
          </a:p>
        </p:txBody>
      </p:sp>
      <p:sp>
        <p:nvSpPr>
          <p:cNvPr id="16" name="Rounded Rectangle 15"/>
          <p:cNvSpPr/>
          <p:nvPr/>
        </p:nvSpPr>
        <p:spPr>
          <a:xfrm>
            <a:off x="7998817" y="1809651"/>
            <a:ext cx="3373934" cy="2983111"/>
          </a:xfrm>
          <a:prstGeom prst="roundRect">
            <a:avLst>
              <a:gd name="adj" fmla="val 4257"/>
            </a:avLst>
          </a:prstGeom>
          <a:solidFill>
            <a:srgbClr val="FBFCFE"/>
          </a:solidFill>
          <a:ln w="12700">
            <a:solidFill>
              <a:srgbClr val="C9D7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33767" y="2044601"/>
            <a:ext cx="706636" cy="28952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48067" y="2082701"/>
            <a:ext cx="492377" cy="213320"/>
          </a:xfrm>
          <a:prstGeom prst="rect">
            <a:avLst/>
          </a:prstGeom>
          <a:noFill/>
        </p:spPr>
        <p:txBody>
          <a:bodyPr wrap="square" lIns="0" rIns="0" tIns="0" bIns="0" anchor="t">
            <a:normAutofit/>
          </a:bodyPr>
          <a:lstStyle/>
          <a:p>
            <a:pPr algn="l" marL="0" indent="0">
              <a:lnSpc>
                <a:spcPts val="1680"/>
              </a:lnSpc>
              <a:buNone/>
            </a:pPr>
            <a:r>
              <a:rPr sz="1200" b="1" i="0">
                <a:solidFill>
                  <a:srgbClr val="1B2A41"/>
                </a:solidFill>
                <a:latin typeface="Rubik"/>
                <a:ea typeface="Rubik"/>
                <a:cs typeface="Rubik"/>
              </a:rPr>
              <a:t>Task 3</a:t>
            </a:r>
          </a:p>
        </p:txBody>
      </p:sp>
      <p:sp>
        <p:nvSpPr>
          <p:cNvPr id="19" name="TextBox 18"/>
          <p:cNvSpPr txBox="1"/>
          <p:nvPr/>
        </p:nvSpPr>
        <p:spPr>
          <a:xfrm>
            <a:off x="8233767" y="2435721"/>
            <a:ext cx="2991155"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Predict the output</a:t>
            </a:r>
          </a:p>
        </p:txBody>
      </p:sp>
      <p:sp>
        <p:nvSpPr>
          <p:cNvPr id="20" name="TextBox 19"/>
          <p:cNvSpPr txBox="1"/>
          <p:nvPr/>
        </p:nvSpPr>
        <p:spPr>
          <a:xfrm>
            <a:off x="8233767" y="2811562"/>
            <a:ext cx="2991155" cy="5334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Write your answers first, then run:</a:t>
            </a:r>
          </a:p>
        </p:txBody>
      </p:sp>
      <p:sp>
        <p:nvSpPr>
          <p:cNvPr id="21" name="Rounded Rectangle 20"/>
          <p:cNvSpPr/>
          <p:nvPr/>
        </p:nvSpPr>
        <p:spPr>
          <a:xfrm>
            <a:off x="8233767" y="3446562"/>
            <a:ext cx="2904034" cy="111125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1567" y="3573562"/>
            <a:ext cx="2624887" cy="857250"/>
          </a:xfrm>
          <a:prstGeom prst="rect">
            <a:avLst/>
          </a:prstGeom>
          <a:noFill/>
        </p:spPr>
        <p:txBody>
          <a:bodyPr wrap="square" lIns="0" rIns="0" tIns="0" bIns="0" anchor="t">
            <a:normAutofit/>
          </a:bodyPr>
          <a:lstStyle/>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t>
            </a:r>
            <a:r>
              <a:rPr sz="1500" b="0" i="0">
                <a:solidFill>
                  <a:srgbClr val="F2B33D"/>
                </a:solidFill>
                <a:latin typeface="JetBrains Mono"/>
                <a:ea typeface="JetBrains Mono"/>
                <a:cs typeface="JetBrains Mono"/>
              </a:rPr>
              <a:t>type</a:t>
            </a:r>
            <a:r>
              <a:rPr sz="1500" b="0" i="0">
                <a:solidFill>
                  <a:srgbClr val="E8EDF3"/>
                </a:solidFill>
                <a:latin typeface="JetBrains Mono"/>
                <a:ea typeface="JetBrains Mono"/>
                <a:cs typeface="JetBrains Mono"/>
              </a:rPr>
              <a:t>(7/2))</a:t>
            </a:r>
          </a:p>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t>
            </a:r>
            <a:r>
              <a:rPr sz="1500" b="0" i="0">
                <a:solidFill>
                  <a:srgbClr val="9FD8A8"/>
                </a:solidFill>
                <a:latin typeface="JetBrains Mono"/>
                <a:ea typeface="JetBrains Mono"/>
                <a:cs typeface="JetBrains Mono"/>
              </a:rPr>
              <a:t>"5"</a:t>
            </a:r>
            <a:r>
              <a:rPr sz="1500" b="0" i="0">
                <a:solidFill>
                  <a:srgbClr val="E8EDF3"/>
                </a:solidFill>
                <a:latin typeface="JetBrains Mono"/>
                <a:ea typeface="JetBrains Mono"/>
                <a:cs typeface="JetBrains Mono"/>
              </a:rPr>
              <a:t> + </a:t>
            </a:r>
            <a:r>
              <a:rPr sz="1500" b="0" i="0">
                <a:solidFill>
                  <a:srgbClr val="9FD8A8"/>
                </a:solidFill>
                <a:latin typeface="JetBrains Mono"/>
                <a:ea typeface="JetBrains Mono"/>
                <a:cs typeface="JetBrains Mono"/>
              </a:rPr>
              <a:t>"5"</a:t>
            </a:r>
            <a:r>
              <a:rPr sz="1500" b="0" i="0">
                <a:solidFill>
                  <a:srgbClr val="E8EDF3"/>
                </a:solidFill>
                <a:latin typeface="JetBrains Mono"/>
                <a:ea typeface="JetBrains Mono"/>
                <a:cs typeface="JetBrains Mono"/>
              </a:rPr>
              <a:t>)</a:t>
            </a:r>
          </a:p>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t>
            </a:r>
            <a:r>
              <a:rPr sz="1500" b="0" i="0">
                <a:solidFill>
                  <a:srgbClr val="F2B33D"/>
                </a:solidFill>
                <a:latin typeface="JetBrains Mono"/>
                <a:ea typeface="JetBrains Mono"/>
                <a:cs typeface="JetBrains Mono"/>
              </a:rPr>
              <a:t>int</a:t>
            </a:r>
            <a:r>
              <a:rPr sz="1500" b="0" i="0">
                <a:solidFill>
                  <a:srgbClr val="E8EDF3"/>
                </a:solidFill>
                <a:latin typeface="JetBrains Mono"/>
                <a:ea typeface="JetBrains Mono"/>
                <a:cs typeface="JetBrains Mono"/>
              </a:rPr>
              <a:t>(</a:t>
            </a:r>
            <a:r>
              <a:rPr sz="1500" b="0" i="0">
                <a:solidFill>
                  <a:srgbClr val="9FD8A8"/>
                </a:solidFill>
                <a:latin typeface="JetBrains Mono"/>
                <a:ea typeface="JetBrains Mono"/>
                <a:cs typeface="JetBrains Mono"/>
              </a:rPr>
              <a:t>"7"</a:t>
            </a:r>
            <a:r>
              <a:rPr sz="1500" b="0" i="0">
                <a:solidFill>
                  <a:srgbClr val="E8EDF3"/>
                </a:solidFill>
                <a:latin typeface="JetBrains Mono"/>
                <a:ea typeface="JetBrains Mono"/>
                <a:cs typeface="JetBrains Mono"/>
              </a:rPr>
              <a:t>) + 3)</a:t>
            </a:r>
          </a:p>
        </p:txBody>
      </p:sp>
      <p:sp>
        <p:nvSpPr>
          <p:cNvPr id="23" name="Rounded Rectangle 22"/>
          <p:cNvSpPr/>
          <p:nvPr/>
        </p:nvSpPr>
        <p:spPr>
          <a:xfrm>
            <a:off x="812800" y="5053112"/>
            <a:ext cx="10566400" cy="622300"/>
          </a:xfrm>
          <a:prstGeom prst="roundRect">
            <a:avLst>
              <a:gd name="adj" fmla="val 20408"/>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6800" y="5257602"/>
            <a:ext cx="1069065" cy="213320"/>
          </a:xfrm>
          <a:prstGeom prst="rect">
            <a:avLst/>
          </a:prstGeom>
          <a:noFill/>
        </p:spPr>
        <p:txBody>
          <a:bodyPr wrap="square" lIns="0" rIns="0" tIns="0" bIns="0" anchor="t">
            <a:normAutofit/>
          </a:bodyPr>
          <a:lstStyle/>
          <a:p>
            <a:pPr algn="l" marL="0" indent="0">
              <a:lnSpc>
                <a:spcPts val="1680"/>
              </a:lnSpc>
              <a:buNone/>
            </a:pPr>
            <a:r>
              <a:rPr sz="1200" b="1" i="0" spc="150">
                <a:solidFill>
                  <a:srgbClr val="F2B33D"/>
                </a:solidFill>
                <a:latin typeface="Rubik"/>
                <a:ea typeface="Rubik"/>
                <a:cs typeface="Rubik"/>
              </a:rPr>
              <a:t>HOMEWORK</a:t>
            </a:r>
          </a:p>
        </p:txBody>
      </p:sp>
      <p:sp>
        <p:nvSpPr>
          <p:cNvPr id="25" name="TextBox 24"/>
          <p:cNvSpPr txBox="1"/>
          <p:nvPr/>
        </p:nvSpPr>
        <p:spPr>
          <a:xfrm>
            <a:off x="2282527" y="5230912"/>
            <a:ext cx="5842813" cy="266700"/>
          </a:xfrm>
          <a:prstGeom prst="rect">
            <a:avLst/>
          </a:prstGeom>
          <a:noFill/>
        </p:spPr>
        <p:txBody>
          <a:bodyPr wrap="square" lIns="0" rIns="0" tIns="0" bIns="0" anchor="t">
            <a:normAutofit/>
          </a:bodyPr>
          <a:lstStyle/>
          <a:p>
            <a:pPr algn="l" marL="0" indent="0">
              <a:lnSpc>
                <a:spcPts val="2100"/>
              </a:lnSpc>
              <a:buNone/>
            </a:pPr>
            <a:r>
              <a:rPr sz="1500" b="0" i="0">
                <a:solidFill>
                  <a:srgbClr val="F7F5EF"/>
                </a:solidFill>
                <a:latin typeface="Rubik"/>
                <a:ea typeface="Rubik"/>
                <a:cs typeface="Rubik"/>
              </a:rPr>
              <a:t>Read on W3Schools: </a:t>
            </a:r>
            <a:r>
              <a:rPr sz="1500" b="0" i="0">
                <a:solidFill>
                  <a:srgbClr val="F2B33D"/>
                </a:solidFill>
                <a:latin typeface="Rubik"/>
                <a:ea typeface="Rubik"/>
                <a:cs typeface="Rubik"/>
                <a:hlinkClick r:id="rId2"/>
              </a:rPr>
              <a:t>Variables</a:t>
            </a:r>
            <a:r>
              <a:rPr sz="1500" b="0" i="0">
                <a:solidFill>
                  <a:srgbClr val="F7F5EF"/>
                </a:solidFill>
                <a:latin typeface="Rubik"/>
                <a:ea typeface="Rubik"/>
                <a:cs typeface="Rubik"/>
              </a:rPr>
              <a:t> · </a:t>
            </a:r>
            <a:r>
              <a:rPr sz="1500" b="0" i="0">
                <a:solidFill>
                  <a:srgbClr val="F2B33D"/>
                </a:solidFill>
                <a:latin typeface="Rubik"/>
                <a:ea typeface="Rubik"/>
                <a:cs typeface="Rubik"/>
                <a:hlinkClick r:id="rId3"/>
              </a:rPr>
              <a:t>Data Types</a:t>
            </a:r>
            <a:r>
              <a:rPr sz="1500" b="0" i="0">
                <a:solidFill>
                  <a:srgbClr val="F7F5EF"/>
                </a:solidFill>
                <a:latin typeface="Rubik"/>
                <a:ea typeface="Rubik"/>
                <a:cs typeface="Rubik"/>
              </a:rPr>
              <a:t> · </a:t>
            </a:r>
            <a:r>
              <a:rPr sz="1500" b="0" i="0">
                <a:solidFill>
                  <a:srgbClr val="F2B33D"/>
                </a:solidFill>
                <a:latin typeface="Rubik"/>
                <a:ea typeface="Rubik"/>
                <a:cs typeface="Rubik"/>
                <a:hlinkClick r:id="rId4"/>
              </a:rPr>
              <a:t>Casting</a:t>
            </a:r>
            <a:r>
              <a:rPr sz="1500" b="0" i="0">
                <a:solidFill>
                  <a:srgbClr val="F7F5EF"/>
                </a:solidFill>
                <a:latin typeface="Rubik"/>
                <a:ea typeface="Rubik"/>
                <a:cs typeface="Rubik"/>
              </a:rPr>
              <a:t> · </a:t>
            </a:r>
            <a:r>
              <a:rPr sz="1500" b="0" i="0">
                <a:solidFill>
                  <a:srgbClr val="F2B33D"/>
                </a:solidFill>
                <a:latin typeface="Rubik"/>
                <a:ea typeface="Rubik"/>
                <a:cs typeface="Rubik"/>
                <a:hlinkClick r:id="rId5"/>
              </a:rPr>
              <a:t>User Input</a:t>
            </a:r>
          </a:p>
        </p:txBody>
      </p:sp>
      <p:sp>
        <p:nvSpPr>
          <p:cNvPr id="26" name="TextBox 25"/>
          <p:cNvSpPr txBox="1"/>
          <p:nvPr/>
        </p:nvSpPr>
        <p:spPr>
          <a:xfrm>
            <a:off x="812800" y="6238280"/>
            <a:ext cx="10883392" cy="213320"/>
          </a:xfrm>
          <a:prstGeom prst="rect">
            <a:avLst/>
          </a:prstGeom>
          <a:noFill/>
        </p:spPr>
        <p:txBody>
          <a:bodyPr wrap="square" lIns="0" rIns="0" tIns="0" bIns="0" anchor="t">
            <a:normAutofit/>
          </a:bodyPr>
          <a:lstStyle/>
          <a:p>
            <a:pPr algn="l" marL="0" indent="0">
              <a:lnSpc>
                <a:spcPts val="1680"/>
              </a:lnSpc>
              <a:buNone/>
            </a:pPr>
            <a:r>
              <a:rPr sz="1200" b="0" i="0">
                <a:solidFill>
                  <a:srgbClr val="5F6B7A"/>
                </a:solidFill>
                <a:latin typeface="Rubik"/>
                <a:ea typeface="Rubik"/>
                <a:cs typeface="Rubik"/>
              </a:rPr>
              <a:t>Python Programming · Week 1 · Class 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2B33D"/>
        </a:solidFill>
        <a:effectLst/>
      </p:bgPr>
    </p:bg>
    <p:spTree>
      <p:nvGrpSpPr>
        <p:cNvPr id="1" name=""/>
        <p:cNvGrpSpPr/>
        <p:nvPr/>
      </p:nvGrpSpPr>
      <p:grpSpPr/>
      <p:sp>
        <p:nvSpPr>
          <p:cNvPr id="3" name="TextBox 2"/>
          <p:cNvSpPr txBox="1"/>
          <p:nvPr/>
        </p:nvSpPr>
        <p:spPr>
          <a:xfrm>
            <a:off x="812800" y="2184499"/>
            <a:ext cx="5127752" cy="213320"/>
          </a:xfrm>
          <a:prstGeom prst="rect">
            <a:avLst/>
          </a:prstGeom>
          <a:noFill/>
        </p:spPr>
        <p:txBody>
          <a:bodyPr wrap="square" lIns="0" rIns="0" tIns="0" bIns="0" anchor="t">
            <a:normAutofit/>
          </a:bodyPr>
          <a:lstStyle/>
          <a:p>
            <a:pPr algn="l" marL="0" indent="0">
              <a:lnSpc>
                <a:spcPts val="1680"/>
              </a:lnSpc>
              <a:buNone/>
            </a:pPr>
            <a:r>
              <a:rPr sz="1200" b="1" i="0" spc="200">
                <a:solidFill>
                  <a:srgbClr val="1B2A41"/>
                </a:solidFill>
                <a:latin typeface="Rubik"/>
                <a:ea typeface="Rubik"/>
                <a:cs typeface="Rubik"/>
              </a:rPr>
              <a:t>CLASS 3 OF 24</a:t>
            </a:r>
          </a:p>
        </p:txBody>
      </p:sp>
      <p:sp>
        <p:nvSpPr>
          <p:cNvPr id="2" name="Title 1"/>
          <p:cNvSpPr>
            <a:spLocks noGrp="1"/>
          </p:cNvSpPr>
          <p:nvPr>
            <p:ph type="title"/>
          </p:nvPr>
        </p:nvSpPr>
        <p:spPr>
          <a:xfrm>
            <a:off x="812800" y="2575620"/>
            <a:ext cx="5127752" cy="1280120"/>
          </a:xfrm>
        </p:spPr>
        <p:txBody>
          <a:bodyPr wrap="square" lIns="0" rIns="0" tIns="0" bIns="0" anchor="t">
            <a:normAutofit/>
          </a:bodyPr>
          <a:lstStyle/>
          <a:p>
            <a:pPr algn="l" marL="0" indent="0">
              <a:lnSpc>
                <a:spcPts val="5040"/>
              </a:lnSpc>
              <a:buNone/>
            </a:pPr>
            <a:r>
              <a:rPr sz="4800" b="1" i="0">
                <a:solidFill>
                  <a:srgbClr val="1B2A41"/>
                </a:solidFill>
                <a:latin typeface="Rubik"/>
                <a:ea typeface="Rubik"/>
                <a:cs typeface="Rubik"/>
              </a:rPr>
              <a:t>Operators &amp; expressions</a:t>
            </a:r>
          </a:p>
        </p:txBody>
      </p:sp>
      <p:sp>
        <p:nvSpPr>
          <p:cNvPr id="4" name="TextBox 3"/>
          <p:cNvSpPr txBox="1"/>
          <p:nvPr/>
        </p:nvSpPr>
        <p:spPr>
          <a:xfrm>
            <a:off x="812800" y="4033540"/>
            <a:ext cx="5127752" cy="639961"/>
          </a:xfrm>
          <a:prstGeom prst="rect">
            <a:avLst/>
          </a:prstGeom>
          <a:noFill/>
        </p:spPr>
        <p:txBody>
          <a:bodyPr wrap="square" lIns="0" rIns="0" tIns="0" bIns="0" anchor="t">
            <a:normAutofit/>
          </a:bodyPr>
          <a:lstStyle/>
          <a:p>
            <a:pPr algn="l" marL="0" indent="0">
              <a:lnSpc>
                <a:spcPts val="2520"/>
              </a:lnSpc>
              <a:buNone/>
            </a:pPr>
            <a:r>
              <a:rPr sz="1800" b="0" i="0">
                <a:solidFill>
                  <a:srgbClr val="1B2A41"/>
                </a:solidFill>
                <a:latin typeface="Rubik"/>
                <a:ea typeface="Rubik"/>
                <a:cs typeface="Rubik"/>
              </a:rPr>
              <a:t>Making Python do the maths, and decide what is true</a:t>
            </a:r>
          </a:p>
        </p:txBody>
      </p:sp>
      <p:sp>
        <p:nvSpPr>
          <p:cNvPr id="5" name="Rounded Rectangle 4"/>
          <p:cNvSpPr/>
          <p:nvPr/>
        </p:nvSpPr>
        <p:spPr>
          <a:xfrm>
            <a:off x="6400800" y="2250480"/>
            <a:ext cx="4978400" cy="2357041"/>
          </a:xfrm>
          <a:prstGeom prst="roundRect">
            <a:avLst>
              <a:gd name="adj" fmla="val 6465"/>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56400" y="2606080"/>
            <a:ext cx="4395216" cy="274241"/>
          </a:xfrm>
          <a:prstGeom prst="rect">
            <a:avLst/>
          </a:prstGeom>
          <a:noFill/>
        </p:spPr>
        <p:txBody>
          <a:bodyPr wrap="square" lIns="0" rIns="0" tIns="0" bIns="0" anchor="t">
            <a:normAutofit/>
          </a:bodyPr>
          <a:lstStyle/>
          <a:p>
            <a:pPr algn="l" marL="0" indent="0">
              <a:lnSpc>
                <a:spcPts val="2160"/>
              </a:lnSpc>
              <a:buNone/>
            </a:pPr>
            <a:r>
              <a:rPr sz="1800" b="1" i="0">
                <a:solidFill>
                  <a:srgbClr val="F2B33D"/>
                </a:solidFill>
                <a:latin typeface="Rubik"/>
                <a:ea typeface="Rubik"/>
                <a:cs typeface="Rubik"/>
              </a:rPr>
              <a:t>By the end of today you can</a:t>
            </a:r>
          </a:p>
        </p:txBody>
      </p:sp>
      <p:sp>
        <p:nvSpPr>
          <p:cNvPr id="7" name="TextBox 6"/>
          <p:cNvSpPr txBox="1"/>
          <p:nvPr/>
        </p:nvSpPr>
        <p:spPr>
          <a:xfrm>
            <a:off x="6756400" y="3032720"/>
            <a:ext cx="4395216" cy="1219200"/>
          </a:xfrm>
          <a:prstGeom prst="rect">
            <a:avLst/>
          </a:prstGeom>
          <a:noFill/>
        </p:spPr>
        <p:txBody>
          <a:bodyPr wrap="square" lIns="0" rIns="0" tIns="0" bIns="0" anchor="t">
            <a:normAutofit/>
          </a:bodyPr>
          <a:lstStyle/>
          <a:p>
            <a:pPr algn="l" marL="247650" indent="-171450">
              <a:lnSpc>
                <a:spcPts val="2400"/>
              </a:lnSpc>
              <a:buFont typeface="Arial"/>
              <a:buChar char="•"/>
            </a:pPr>
            <a:r>
              <a:rPr sz="1500" b="0" i="0">
                <a:solidFill>
                  <a:srgbClr val="F7F5EF"/>
                </a:solidFill>
                <a:latin typeface="Rubik"/>
                <a:ea typeface="Rubik"/>
                <a:cs typeface="Rubik"/>
              </a:rPr>
              <a:t>Use all 7 arithmetic operators</a:t>
            </a:r>
          </a:p>
          <a:p>
            <a:pPr algn="l" marL="247650" indent="-171450">
              <a:lnSpc>
                <a:spcPts val="2400"/>
              </a:lnSpc>
              <a:buFont typeface="Arial"/>
              <a:buChar char="•"/>
            </a:pPr>
            <a:r>
              <a:rPr sz="1500" b="0" i="0">
                <a:solidFill>
                  <a:srgbClr val="F7F5EF"/>
                </a:solidFill>
                <a:latin typeface="Rubik"/>
                <a:ea typeface="Rubik"/>
                <a:cs typeface="Rubik"/>
              </a:rPr>
              <a:t>Solve real problems with // and %</a:t>
            </a:r>
          </a:p>
          <a:p>
            <a:pPr algn="l" marL="247650" indent="-171450">
              <a:lnSpc>
                <a:spcPts val="2400"/>
              </a:lnSpc>
              <a:buFont typeface="Arial"/>
              <a:buChar char="•"/>
            </a:pPr>
            <a:r>
              <a:rPr sz="1500" b="0" i="0">
                <a:solidFill>
                  <a:srgbClr val="F7F5EF"/>
                </a:solidFill>
                <a:latin typeface="Rubik"/>
                <a:ea typeface="Rubik"/>
                <a:cs typeface="Rubik"/>
              </a:rPr>
              <a:t>Compare values and combine conditions</a:t>
            </a:r>
          </a:p>
          <a:p>
            <a:pPr algn="l" marL="247650" indent="-171450">
              <a:lnSpc>
                <a:spcPts val="2400"/>
              </a:lnSpc>
              <a:buFont typeface="Arial"/>
              <a:buChar char="•"/>
            </a:pPr>
            <a:r>
              <a:rPr sz="1500" b="0" i="0">
                <a:solidFill>
                  <a:srgbClr val="F7F5EF"/>
                </a:solidFill>
                <a:latin typeface="Rubik"/>
                <a:ea typeface="Rubik"/>
                <a:cs typeface="Rubik"/>
              </a:rPr>
              <a:t>Print neat results with f-strings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3" name="TextBox 2"/>
          <p:cNvSpPr txBox="1"/>
          <p:nvPr/>
        </p:nvSpPr>
        <p:spPr>
          <a:xfrm>
            <a:off x="812800" y="812800"/>
            <a:ext cx="10883392"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CLASS 3 · ARITHMETIC</a:t>
            </a:r>
          </a:p>
        </p:txBody>
      </p:sp>
      <p:sp>
        <p:nvSpPr>
          <p:cNvPr id="2" name="Title 1"/>
          <p:cNvSpPr>
            <a:spLocks noGrp="1"/>
          </p:cNvSpPr>
          <p:nvPr>
            <p:ph type="title"/>
          </p:nvPr>
        </p:nvSpPr>
        <p:spPr>
          <a:xfrm>
            <a:off x="812800" y="1102320"/>
            <a:ext cx="10883392" cy="446980"/>
          </a:xfrm>
        </p:spPr>
        <p:txBody>
          <a:bodyPr wrap="square" lIns="0" rIns="0" tIns="0" bIns="0" anchor="t">
            <a:normAutofit/>
          </a:bodyPr>
          <a:lstStyle/>
          <a:p>
            <a:pPr algn="l" marL="0" indent="0">
              <a:lnSpc>
                <a:spcPts val="3520"/>
              </a:lnSpc>
              <a:buNone/>
            </a:pPr>
            <a:r>
              <a:rPr sz="3200" b="1" i="0">
                <a:solidFill>
                  <a:srgbClr val="1B2A41"/>
                </a:solidFill>
                <a:latin typeface="Rubik"/>
                <a:ea typeface="Rubik"/>
                <a:cs typeface="Rubik"/>
              </a:rPr>
              <a:t>Python as a calculator</a:t>
            </a:r>
          </a:p>
        </p:txBody>
      </p:sp>
      <p:sp>
        <p:nvSpPr>
          <p:cNvPr id="4" name="Rounded Rectangle 3"/>
          <p:cNvSpPr/>
          <p:nvPr/>
        </p:nvSpPr>
        <p:spPr>
          <a:xfrm>
            <a:off x="812800" y="1854101"/>
            <a:ext cx="7086600" cy="391120"/>
          </a:xfrm>
          <a:prstGeom prst="roundRect">
            <a:avLst>
              <a:gd name="adj" fmla="val 22729"/>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 y="1943001"/>
            <a:ext cx="850265" cy="213320"/>
          </a:xfrm>
          <a:prstGeom prst="rect">
            <a:avLst/>
          </a:prstGeom>
          <a:noFill/>
        </p:spPr>
        <p:txBody>
          <a:bodyPr wrap="square" lIns="0" rIns="0" tIns="0" bIns="0" anchor="t">
            <a:normAutofit/>
          </a:bodyPr>
          <a:lstStyle/>
          <a:p>
            <a:pPr algn="l" marL="0" indent="0">
              <a:lnSpc>
                <a:spcPts val="1680"/>
              </a:lnSpc>
              <a:buNone/>
            </a:pPr>
            <a:r>
              <a:rPr sz="1200" b="1" i="0" spc="100">
                <a:solidFill>
                  <a:srgbClr val="F7F5EF"/>
                </a:solidFill>
                <a:latin typeface="Rubik"/>
                <a:ea typeface="Rubik"/>
                <a:cs typeface="Rubik"/>
              </a:rPr>
              <a:t>OP</a:t>
            </a:r>
          </a:p>
        </p:txBody>
      </p:sp>
      <p:sp>
        <p:nvSpPr>
          <p:cNvPr id="6" name="TextBox 5"/>
          <p:cNvSpPr txBox="1"/>
          <p:nvPr/>
        </p:nvSpPr>
        <p:spPr>
          <a:xfrm>
            <a:off x="1993900" y="1943001"/>
            <a:ext cx="1962150" cy="213320"/>
          </a:xfrm>
          <a:prstGeom prst="rect">
            <a:avLst/>
          </a:prstGeom>
          <a:noFill/>
        </p:spPr>
        <p:txBody>
          <a:bodyPr wrap="square" lIns="0" rIns="0" tIns="0" bIns="0" anchor="t">
            <a:normAutofit/>
          </a:bodyPr>
          <a:lstStyle/>
          <a:p>
            <a:pPr algn="l" marL="0" indent="0">
              <a:lnSpc>
                <a:spcPts val="1680"/>
              </a:lnSpc>
              <a:buNone/>
            </a:pPr>
            <a:r>
              <a:rPr sz="1200" b="1" i="0" spc="100">
                <a:solidFill>
                  <a:srgbClr val="F7F5EF"/>
                </a:solidFill>
                <a:latin typeface="Rubik"/>
                <a:ea typeface="Rubik"/>
                <a:cs typeface="Rubik"/>
              </a:rPr>
              <a:t>MEANING</a:t>
            </a:r>
          </a:p>
        </p:txBody>
      </p:sp>
      <p:sp>
        <p:nvSpPr>
          <p:cNvPr id="7" name="TextBox 6"/>
          <p:cNvSpPr txBox="1"/>
          <p:nvPr/>
        </p:nvSpPr>
        <p:spPr>
          <a:xfrm>
            <a:off x="4076700" y="1943001"/>
            <a:ext cx="1962150" cy="213320"/>
          </a:xfrm>
          <a:prstGeom prst="rect">
            <a:avLst/>
          </a:prstGeom>
          <a:noFill/>
        </p:spPr>
        <p:txBody>
          <a:bodyPr wrap="square" lIns="0" rIns="0" tIns="0" bIns="0" anchor="t">
            <a:normAutofit/>
          </a:bodyPr>
          <a:lstStyle/>
          <a:p>
            <a:pPr algn="l" marL="0" indent="0">
              <a:lnSpc>
                <a:spcPts val="1680"/>
              </a:lnSpc>
              <a:buNone/>
            </a:pPr>
            <a:r>
              <a:rPr sz="1200" b="1" i="0" spc="100">
                <a:solidFill>
                  <a:srgbClr val="F7F5EF"/>
                </a:solidFill>
                <a:latin typeface="Rubik"/>
                <a:ea typeface="Rubik"/>
                <a:cs typeface="Rubik"/>
              </a:rPr>
              <a:t>EXAMPLE</a:t>
            </a:r>
          </a:p>
        </p:txBody>
      </p:sp>
      <p:sp>
        <p:nvSpPr>
          <p:cNvPr id="8" name="TextBox 7"/>
          <p:cNvSpPr txBox="1"/>
          <p:nvPr/>
        </p:nvSpPr>
        <p:spPr>
          <a:xfrm>
            <a:off x="6159500" y="1943001"/>
            <a:ext cx="1608963" cy="213320"/>
          </a:xfrm>
          <a:prstGeom prst="rect">
            <a:avLst/>
          </a:prstGeom>
          <a:noFill/>
        </p:spPr>
        <p:txBody>
          <a:bodyPr wrap="square" lIns="0" rIns="0" tIns="0" bIns="0" anchor="t">
            <a:normAutofit/>
          </a:bodyPr>
          <a:lstStyle/>
          <a:p>
            <a:pPr algn="l" marL="0" indent="0">
              <a:lnSpc>
                <a:spcPts val="1680"/>
              </a:lnSpc>
              <a:buNone/>
            </a:pPr>
            <a:r>
              <a:rPr sz="1200" b="1" i="0" spc="100">
                <a:solidFill>
                  <a:srgbClr val="F7F5EF"/>
                </a:solidFill>
                <a:latin typeface="Rubik"/>
                <a:ea typeface="Rubik"/>
                <a:cs typeface="Rubik"/>
              </a:rPr>
              <a:t>RESULT</a:t>
            </a:r>
          </a:p>
        </p:txBody>
      </p:sp>
      <p:sp>
        <p:nvSpPr>
          <p:cNvPr id="9" name="TextBox 8"/>
          <p:cNvSpPr txBox="1"/>
          <p:nvPr/>
        </p:nvSpPr>
        <p:spPr>
          <a:xfrm>
            <a:off x="990600" y="2321421"/>
            <a:ext cx="850265"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a:t>
            </a:r>
          </a:p>
        </p:txBody>
      </p:sp>
      <p:sp>
        <p:nvSpPr>
          <p:cNvPr id="10" name="TextBox 9"/>
          <p:cNvSpPr txBox="1"/>
          <p:nvPr/>
        </p:nvSpPr>
        <p:spPr>
          <a:xfrm>
            <a:off x="1993900" y="2321421"/>
            <a:ext cx="1962150"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Add</a:t>
            </a:r>
          </a:p>
        </p:txBody>
      </p:sp>
      <p:sp>
        <p:nvSpPr>
          <p:cNvPr id="11" name="TextBox 10"/>
          <p:cNvSpPr txBox="1"/>
          <p:nvPr/>
        </p:nvSpPr>
        <p:spPr>
          <a:xfrm>
            <a:off x="4076700" y="2321421"/>
            <a:ext cx="1962150" cy="266700"/>
          </a:xfrm>
          <a:prstGeom prst="rect">
            <a:avLst/>
          </a:prstGeom>
          <a:noFill/>
        </p:spPr>
        <p:txBody>
          <a:bodyPr wrap="square" lIns="0" rIns="0" tIns="0" bIns="0" anchor="t">
            <a:normAutofit/>
          </a:bodyPr>
          <a:lstStyle/>
          <a:p>
            <a:pPr algn="l" marL="0" indent="0">
              <a:lnSpc>
                <a:spcPts val="2100"/>
              </a:lnSpc>
              <a:buNone/>
            </a:pPr>
            <a:r>
              <a:rPr sz="1500" b="0" i="0">
                <a:solidFill>
                  <a:srgbClr val="1B2A41"/>
                </a:solidFill>
                <a:latin typeface="JetBrains Mono"/>
                <a:ea typeface="JetBrains Mono"/>
                <a:cs typeface="JetBrains Mono"/>
              </a:rPr>
              <a:t>17 + 5</a:t>
            </a:r>
          </a:p>
        </p:txBody>
      </p:sp>
      <p:sp>
        <p:nvSpPr>
          <p:cNvPr id="12" name="TextBox 11"/>
          <p:cNvSpPr txBox="1"/>
          <p:nvPr/>
        </p:nvSpPr>
        <p:spPr>
          <a:xfrm>
            <a:off x="6159500" y="2321421"/>
            <a:ext cx="1608963"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JetBrains Mono"/>
                <a:ea typeface="JetBrains Mono"/>
                <a:cs typeface="JetBrains Mono"/>
              </a:rPr>
              <a:t>22</a:t>
            </a:r>
          </a:p>
        </p:txBody>
      </p:sp>
      <p:sp>
        <p:nvSpPr>
          <p:cNvPr id="13" name="TextBox 12"/>
          <p:cNvSpPr txBox="1"/>
          <p:nvPr/>
        </p:nvSpPr>
        <p:spPr>
          <a:xfrm>
            <a:off x="990600" y="2753221"/>
            <a:ext cx="850265"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a:t>
            </a:r>
          </a:p>
        </p:txBody>
      </p:sp>
      <p:sp>
        <p:nvSpPr>
          <p:cNvPr id="14" name="TextBox 13"/>
          <p:cNvSpPr txBox="1"/>
          <p:nvPr/>
        </p:nvSpPr>
        <p:spPr>
          <a:xfrm>
            <a:off x="1993900" y="2753221"/>
            <a:ext cx="1962150"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Subtract</a:t>
            </a:r>
          </a:p>
        </p:txBody>
      </p:sp>
      <p:sp>
        <p:nvSpPr>
          <p:cNvPr id="15" name="TextBox 14"/>
          <p:cNvSpPr txBox="1"/>
          <p:nvPr/>
        </p:nvSpPr>
        <p:spPr>
          <a:xfrm>
            <a:off x="4076700" y="2753221"/>
            <a:ext cx="1962150" cy="266700"/>
          </a:xfrm>
          <a:prstGeom prst="rect">
            <a:avLst/>
          </a:prstGeom>
          <a:noFill/>
        </p:spPr>
        <p:txBody>
          <a:bodyPr wrap="square" lIns="0" rIns="0" tIns="0" bIns="0" anchor="t">
            <a:normAutofit/>
          </a:bodyPr>
          <a:lstStyle/>
          <a:p>
            <a:pPr algn="l" marL="0" indent="0">
              <a:lnSpc>
                <a:spcPts val="2100"/>
              </a:lnSpc>
              <a:buNone/>
            </a:pPr>
            <a:r>
              <a:rPr sz="1500" b="0" i="0">
                <a:solidFill>
                  <a:srgbClr val="1B2A41"/>
                </a:solidFill>
                <a:latin typeface="JetBrains Mono"/>
                <a:ea typeface="JetBrains Mono"/>
                <a:cs typeface="JetBrains Mono"/>
              </a:rPr>
              <a:t>17 - 5</a:t>
            </a:r>
          </a:p>
        </p:txBody>
      </p:sp>
      <p:sp>
        <p:nvSpPr>
          <p:cNvPr id="16" name="TextBox 15"/>
          <p:cNvSpPr txBox="1"/>
          <p:nvPr/>
        </p:nvSpPr>
        <p:spPr>
          <a:xfrm>
            <a:off x="6159500" y="2753221"/>
            <a:ext cx="1608963"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JetBrains Mono"/>
                <a:ea typeface="JetBrains Mono"/>
                <a:cs typeface="JetBrains Mono"/>
              </a:rPr>
              <a:t>12</a:t>
            </a:r>
          </a:p>
        </p:txBody>
      </p:sp>
      <p:sp>
        <p:nvSpPr>
          <p:cNvPr id="17" name="TextBox 16"/>
          <p:cNvSpPr txBox="1"/>
          <p:nvPr/>
        </p:nvSpPr>
        <p:spPr>
          <a:xfrm>
            <a:off x="990600" y="3185021"/>
            <a:ext cx="850265"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a:t>
            </a:r>
          </a:p>
        </p:txBody>
      </p:sp>
      <p:sp>
        <p:nvSpPr>
          <p:cNvPr id="18" name="TextBox 17"/>
          <p:cNvSpPr txBox="1"/>
          <p:nvPr/>
        </p:nvSpPr>
        <p:spPr>
          <a:xfrm>
            <a:off x="1993900" y="3185021"/>
            <a:ext cx="1962150"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Multiply</a:t>
            </a:r>
          </a:p>
        </p:txBody>
      </p:sp>
      <p:sp>
        <p:nvSpPr>
          <p:cNvPr id="19" name="TextBox 18"/>
          <p:cNvSpPr txBox="1"/>
          <p:nvPr/>
        </p:nvSpPr>
        <p:spPr>
          <a:xfrm>
            <a:off x="4076700" y="3185021"/>
            <a:ext cx="1962150" cy="266700"/>
          </a:xfrm>
          <a:prstGeom prst="rect">
            <a:avLst/>
          </a:prstGeom>
          <a:noFill/>
        </p:spPr>
        <p:txBody>
          <a:bodyPr wrap="square" lIns="0" rIns="0" tIns="0" bIns="0" anchor="t">
            <a:normAutofit/>
          </a:bodyPr>
          <a:lstStyle/>
          <a:p>
            <a:pPr algn="l" marL="0" indent="0">
              <a:lnSpc>
                <a:spcPts val="2100"/>
              </a:lnSpc>
              <a:buNone/>
            </a:pPr>
            <a:r>
              <a:rPr sz="1500" b="0" i="0">
                <a:solidFill>
                  <a:srgbClr val="1B2A41"/>
                </a:solidFill>
                <a:latin typeface="JetBrains Mono"/>
                <a:ea typeface="JetBrains Mono"/>
                <a:cs typeface="JetBrains Mono"/>
              </a:rPr>
              <a:t>17 * 5</a:t>
            </a:r>
          </a:p>
        </p:txBody>
      </p:sp>
      <p:sp>
        <p:nvSpPr>
          <p:cNvPr id="20" name="TextBox 19"/>
          <p:cNvSpPr txBox="1"/>
          <p:nvPr/>
        </p:nvSpPr>
        <p:spPr>
          <a:xfrm>
            <a:off x="6159500" y="3185021"/>
            <a:ext cx="1608963"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JetBrains Mono"/>
                <a:ea typeface="JetBrains Mono"/>
                <a:cs typeface="JetBrains Mono"/>
              </a:rPr>
              <a:t>85</a:t>
            </a:r>
          </a:p>
        </p:txBody>
      </p:sp>
      <p:sp>
        <p:nvSpPr>
          <p:cNvPr id="21" name="TextBox 20"/>
          <p:cNvSpPr txBox="1"/>
          <p:nvPr/>
        </p:nvSpPr>
        <p:spPr>
          <a:xfrm>
            <a:off x="990600" y="3616821"/>
            <a:ext cx="850265"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a:t>
            </a:r>
          </a:p>
        </p:txBody>
      </p:sp>
      <p:sp>
        <p:nvSpPr>
          <p:cNvPr id="22" name="TextBox 21"/>
          <p:cNvSpPr txBox="1"/>
          <p:nvPr/>
        </p:nvSpPr>
        <p:spPr>
          <a:xfrm>
            <a:off x="1993900" y="3616821"/>
            <a:ext cx="1962150"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Divide</a:t>
            </a:r>
          </a:p>
        </p:txBody>
      </p:sp>
      <p:sp>
        <p:nvSpPr>
          <p:cNvPr id="23" name="TextBox 22"/>
          <p:cNvSpPr txBox="1"/>
          <p:nvPr/>
        </p:nvSpPr>
        <p:spPr>
          <a:xfrm>
            <a:off x="4076700" y="3616821"/>
            <a:ext cx="1962150" cy="266700"/>
          </a:xfrm>
          <a:prstGeom prst="rect">
            <a:avLst/>
          </a:prstGeom>
          <a:noFill/>
        </p:spPr>
        <p:txBody>
          <a:bodyPr wrap="square" lIns="0" rIns="0" tIns="0" bIns="0" anchor="t">
            <a:normAutofit/>
          </a:bodyPr>
          <a:lstStyle/>
          <a:p>
            <a:pPr algn="l" marL="0" indent="0">
              <a:lnSpc>
                <a:spcPts val="2100"/>
              </a:lnSpc>
              <a:buNone/>
            </a:pPr>
            <a:r>
              <a:rPr sz="1500" b="0" i="0">
                <a:solidFill>
                  <a:srgbClr val="1B2A41"/>
                </a:solidFill>
                <a:latin typeface="JetBrains Mono"/>
                <a:ea typeface="JetBrains Mono"/>
                <a:cs typeface="JetBrains Mono"/>
              </a:rPr>
              <a:t>17 / 5</a:t>
            </a:r>
          </a:p>
        </p:txBody>
      </p:sp>
      <p:sp>
        <p:nvSpPr>
          <p:cNvPr id="24" name="TextBox 23"/>
          <p:cNvSpPr txBox="1"/>
          <p:nvPr/>
        </p:nvSpPr>
        <p:spPr>
          <a:xfrm>
            <a:off x="6159500" y="3616821"/>
            <a:ext cx="1608963"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JetBrains Mono"/>
                <a:ea typeface="JetBrains Mono"/>
                <a:cs typeface="JetBrains Mono"/>
              </a:rPr>
              <a:t>3.4</a:t>
            </a:r>
          </a:p>
        </p:txBody>
      </p:sp>
      <p:sp>
        <p:nvSpPr>
          <p:cNvPr id="25" name="TextBox 24"/>
          <p:cNvSpPr txBox="1"/>
          <p:nvPr/>
        </p:nvSpPr>
        <p:spPr>
          <a:xfrm>
            <a:off x="990600" y="4048621"/>
            <a:ext cx="850265"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a:t>
            </a:r>
          </a:p>
        </p:txBody>
      </p:sp>
      <p:sp>
        <p:nvSpPr>
          <p:cNvPr id="26" name="TextBox 25"/>
          <p:cNvSpPr txBox="1"/>
          <p:nvPr/>
        </p:nvSpPr>
        <p:spPr>
          <a:xfrm>
            <a:off x="1993900" y="4048621"/>
            <a:ext cx="1962150"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Floor divide</a:t>
            </a:r>
          </a:p>
        </p:txBody>
      </p:sp>
      <p:sp>
        <p:nvSpPr>
          <p:cNvPr id="27" name="TextBox 26"/>
          <p:cNvSpPr txBox="1"/>
          <p:nvPr/>
        </p:nvSpPr>
        <p:spPr>
          <a:xfrm>
            <a:off x="4076700" y="4048621"/>
            <a:ext cx="1962150" cy="266700"/>
          </a:xfrm>
          <a:prstGeom prst="rect">
            <a:avLst/>
          </a:prstGeom>
          <a:noFill/>
        </p:spPr>
        <p:txBody>
          <a:bodyPr wrap="square" lIns="0" rIns="0" tIns="0" bIns="0" anchor="t">
            <a:normAutofit/>
          </a:bodyPr>
          <a:lstStyle/>
          <a:p>
            <a:pPr algn="l" marL="0" indent="0">
              <a:lnSpc>
                <a:spcPts val="2100"/>
              </a:lnSpc>
              <a:buNone/>
            </a:pPr>
            <a:r>
              <a:rPr sz="1500" b="0" i="0">
                <a:solidFill>
                  <a:srgbClr val="1B2A41"/>
                </a:solidFill>
                <a:latin typeface="JetBrains Mono"/>
                <a:ea typeface="JetBrains Mono"/>
                <a:cs typeface="JetBrains Mono"/>
              </a:rPr>
              <a:t>17 // 5</a:t>
            </a:r>
          </a:p>
        </p:txBody>
      </p:sp>
      <p:sp>
        <p:nvSpPr>
          <p:cNvPr id="28" name="TextBox 27"/>
          <p:cNvSpPr txBox="1"/>
          <p:nvPr/>
        </p:nvSpPr>
        <p:spPr>
          <a:xfrm>
            <a:off x="6159500" y="4048621"/>
            <a:ext cx="1608963"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JetBrains Mono"/>
                <a:ea typeface="JetBrains Mono"/>
                <a:cs typeface="JetBrains Mono"/>
              </a:rPr>
              <a:t>3</a:t>
            </a:r>
          </a:p>
        </p:txBody>
      </p:sp>
      <p:sp>
        <p:nvSpPr>
          <p:cNvPr id="29" name="TextBox 28"/>
          <p:cNvSpPr txBox="1"/>
          <p:nvPr/>
        </p:nvSpPr>
        <p:spPr>
          <a:xfrm>
            <a:off x="990600" y="4480421"/>
            <a:ext cx="850265"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a:t>
            </a:r>
          </a:p>
        </p:txBody>
      </p:sp>
      <p:sp>
        <p:nvSpPr>
          <p:cNvPr id="30" name="TextBox 29"/>
          <p:cNvSpPr txBox="1"/>
          <p:nvPr/>
        </p:nvSpPr>
        <p:spPr>
          <a:xfrm>
            <a:off x="1993900" y="4480421"/>
            <a:ext cx="1962150"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Remainder</a:t>
            </a:r>
          </a:p>
        </p:txBody>
      </p:sp>
      <p:sp>
        <p:nvSpPr>
          <p:cNvPr id="31" name="TextBox 30"/>
          <p:cNvSpPr txBox="1"/>
          <p:nvPr/>
        </p:nvSpPr>
        <p:spPr>
          <a:xfrm>
            <a:off x="4076700" y="4480421"/>
            <a:ext cx="1962150" cy="266700"/>
          </a:xfrm>
          <a:prstGeom prst="rect">
            <a:avLst/>
          </a:prstGeom>
          <a:noFill/>
        </p:spPr>
        <p:txBody>
          <a:bodyPr wrap="square" lIns="0" rIns="0" tIns="0" bIns="0" anchor="t">
            <a:normAutofit/>
          </a:bodyPr>
          <a:lstStyle/>
          <a:p>
            <a:pPr algn="l" marL="0" indent="0">
              <a:lnSpc>
                <a:spcPts val="2100"/>
              </a:lnSpc>
              <a:buNone/>
            </a:pPr>
            <a:r>
              <a:rPr sz="1500" b="0" i="0">
                <a:solidFill>
                  <a:srgbClr val="1B2A41"/>
                </a:solidFill>
                <a:latin typeface="JetBrains Mono"/>
                <a:ea typeface="JetBrains Mono"/>
                <a:cs typeface="JetBrains Mono"/>
              </a:rPr>
              <a:t>17 % 5</a:t>
            </a:r>
          </a:p>
        </p:txBody>
      </p:sp>
      <p:sp>
        <p:nvSpPr>
          <p:cNvPr id="32" name="TextBox 31"/>
          <p:cNvSpPr txBox="1"/>
          <p:nvPr/>
        </p:nvSpPr>
        <p:spPr>
          <a:xfrm>
            <a:off x="6159500" y="4480421"/>
            <a:ext cx="1608963"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JetBrains Mono"/>
                <a:ea typeface="JetBrains Mono"/>
                <a:cs typeface="JetBrains Mono"/>
              </a:rPr>
              <a:t>2</a:t>
            </a:r>
          </a:p>
        </p:txBody>
      </p:sp>
      <p:sp>
        <p:nvSpPr>
          <p:cNvPr id="33" name="TextBox 32"/>
          <p:cNvSpPr txBox="1"/>
          <p:nvPr/>
        </p:nvSpPr>
        <p:spPr>
          <a:xfrm>
            <a:off x="990600" y="4912221"/>
            <a:ext cx="850265"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a:t>
            </a:r>
          </a:p>
        </p:txBody>
      </p:sp>
      <p:sp>
        <p:nvSpPr>
          <p:cNvPr id="34" name="TextBox 33"/>
          <p:cNvSpPr txBox="1"/>
          <p:nvPr/>
        </p:nvSpPr>
        <p:spPr>
          <a:xfrm>
            <a:off x="1993900" y="4912221"/>
            <a:ext cx="1962150"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Power</a:t>
            </a:r>
          </a:p>
        </p:txBody>
      </p:sp>
      <p:sp>
        <p:nvSpPr>
          <p:cNvPr id="35" name="TextBox 34"/>
          <p:cNvSpPr txBox="1"/>
          <p:nvPr/>
        </p:nvSpPr>
        <p:spPr>
          <a:xfrm>
            <a:off x="4076700" y="4912221"/>
            <a:ext cx="1962150" cy="266700"/>
          </a:xfrm>
          <a:prstGeom prst="rect">
            <a:avLst/>
          </a:prstGeom>
          <a:noFill/>
        </p:spPr>
        <p:txBody>
          <a:bodyPr wrap="square" lIns="0" rIns="0" tIns="0" bIns="0" anchor="t">
            <a:normAutofit/>
          </a:bodyPr>
          <a:lstStyle/>
          <a:p>
            <a:pPr algn="l" marL="0" indent="0">
              <a:lnSpc>
                <a:spcPts val="2100"/>
              </a:lnSpc>
              <a:buNone/>
            </a:pPr>
            <a:r>
              <a:rPr sz="1500" b="0" i="0">
                <a:solidFill>
                  <a:srgbClr val="1B2A41"/>
                </a:solidFill>
                <a:latin typeface="JetBrains Mono"/>
                <a:ea typeface="JetBrains Mono"/>
                <a:cs typeface="JetBrains Mono"/>
              </a:rPr>
              <a:t>2 ** 5</a:t>
            </a:r>
          </a:p>
        </p:txBody>
      </p:sp>
      <p:sp>
        <p:nvSpPr>
          <p:cNvPr id="36" name="TextBox 35"/>
          <p:cNvSpPr txBox="1"/>
          <p:nvPr/>
        </p:nvSpPr>
        <p:spPr>
          <a:xfrm>
            <a:off x="6159500" y="4912221"/>
            <a:ext cx="1608963"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JetBrains Mono"/>
                <a:ea typeface="JetBrains Mono"/>
                <a:cs typeface="JetBrains Mono"/>
              </a:rPr>
              <a:t>32</a:t>
            </a:r>
          </a:p>
        </p:txBody>
      </p:sp>
      <p:sp>
        <p:nvSpPr>
          <p:cNvPr id="37" name="Rounded Rectangle 36"/>
          <p:cNvSpPr/>
          <p:nvPr/>
        </p:nvSpPr>
        <p:spPr>
          <a:xfrm>
            <a:off x="8204200" y="1854101"/>
            <a:ext cx="3175000" cy="1465461"/>
          </a:xfrm>
          <a:prstGeom prst="roundRect">
            <a:avLst>
              <a:gd name="adj" fmla="val 8666"/>
            </a:avLst>
          </a:prstGeom>
          <a:solidFill>
            <a:srgbClr val="FBE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07400" y="2057301"/>
            <a:ext cx="2851658" cy="213320"/>
          </a:xfrm>
          <a:prstGeom prst="rect">
            <a:avLst/>
          </a:prstGeom>
          <a:noFill/>
        </p:spPr>
        <p:txBody>
          <a:bodyPr wrap="square" lIns="0" rIns="0" tIns="0" bIns="0" anchor="t">
            <a:normAutofit/>
          </a:bodyPr>
          <a:lstStyle/>
          <a:p>
            <a:pPr algn="l" marL="0" indent="0">
              <a:lnSpc>
                <a:spcPts val="1680"/>
              </a:lnSpc>
              <a:buNone/>
            </a:pPr>
            <a:r>
              <a:rPr sz="1200" b="1" i="0" spc="150">
                <a:solidFill>
                  <a:srgbClr val="8A5A00"/>
                </a:solidFill>
                <a:latin typeface="Rubik"/>
                <a:ea typeface="Rubik"/>
                <a:cs typeface="Rubik"/>
              </a:rPr>
              <a:t>WATCH OUT</a:t>
            </a:r>
          </a:p>
        </p:txBody>
      </p:sp>
      <p:sp>
        <p:nvSpPr>
          <p:cNvPr id="39" name="TextBox 38"/>
          <p:cNvSpPr txBox="1"/>
          <p:nvPr/>
        </p:nvSpPr>
        <p:spPr>
          <a:xfrm>
            <a:off x="8407400" y="2346821"/>
            <a:ext cx="2851658"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 always gives a float</a:t>
            </a:r>
          </a:p>
        </p:txBody>
      </p:sp>
      <p:sp>
        <p:nvSpPr>
          <p:cNvPr id="40" name="Rounded Rectangle 39"/>
          <p:cNvSpPr/>
          <p:nvPr/>
        </p:nvSpPr>
        <p:spPr>
          <a:xfrm>
            <a:off x="8407400" y="2697262"/>
            <a:ext cx="2768600" cy="419100"/>
          </a:xfrm>
          <a:prstGeom prst="roundRect">
            <a:avLst>
              <a:gd name="adj" fmla="val 18181"/>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34400" y="2773462"/>
            <a:ext cx="2590038" cy="266700"/>
          </a:xfrm>
          <a:prstGeom prst="rect">
            <a:avLst/>
          </a:prstGeom>
          <a:noFill/>
        </p:spPr>
        <p:txBody>
          <a:bodyPr wrap="square" lIns="0" rIns="0" tIns="0" bIns="0" anchor="t">
            <a:normAutofit/>
          </a:bodyPr>
          <a:lstStyle/>
          <a:p>
            <a:pPr algn="l" marL="0" indent="0">
              <a:lnSpc>
                <a:spcPts val="2100"/>
              </a:lnSpc>
              <a:buNone/>
            </a:pPr>
            <a:r>
              <a:rPr sz="1500" b="0" i="0">
                <a:solidFill>
                  <a:srgbClr val="E8EDF3"/>
                </a:solidFill>
                <a:latin typeface="JetBrains Mono"/>
                <a:ea typeface="JetBrains Mono"/>
                <a:cs typeface="JetBrains Mono"/>
              </a:rPr>
              <a:t>10 / 2  gives 5.0</a:t>
            </a:r>
          </a:p>
        </p:txBody>
      </p:sp>
      <p:sp>
        <p:nvSpPr>
          <p:cNvPr id="42" name="Rounded Rectangle 41"/>
          <p:cNvSpPr/>
          <p:nvPr/>
        </p:nvSpPr>
        <p:spPr>
          <a:xfrm>
            <a:off x="8210550" y="3478312"/>
            <a:ext cx="3162300" cy="1478161"/>
          </a:xfrm>
          <a:prstGeom prst="roundRect">
            <a:avLst>
              <a:gd name="adj" fmla="val 8591"/>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20100" y="3687862"/>
            <a:ext cx="2825496"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REMEMBER</a:t>
            </a:r>
          </a:p>
        </p:txBody>
      </p:sp>
      <p:sp>
        <p:nvSpPr>
          <p:cNvPr id="44" name="TextBox 43"/>
          <p:cNvSpPr txBox="1"/>
          <p:nvPr/>
        </p:nvSpPr>
        <p:spPr>
          <a:xfrm>
            <a:off x="8420100" y="3977382"/>
            <a:ext cx="2825496"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Power is **, not ^</a:t>
            </a:r>
          </a:p>
        </p:txBody>
      </p:sp>
      <p:sp>
        <p:nvSpPr>
          <p:cNvPr id="45" name="Rounded Rectangle 44"/>
          <p:cNvSpPr/>
          <p:nvPr/>
        </p:nvSpPr>
        <p:spPr>
          <a:xfrm>
            <a:off x="8420100" y="4327823"/>
            <a:ext cx="2743200" cy="419100"/>
          </a:xfrm>
          <a:prstGeom prst="roundRect">
            <a:avLst>
              <a:gd name="adj" fmla="val 18181"/>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47100" y="4404023"/>
            <a:ext cx="2563876" cy="266700"/>
          </a:xfrm>
          <a:prstGeom prst="rect">
            <a:avLst/>
          </a:prstGeom>
          <a:noFill/>
        </p:spPr>
        <p:txBody>
          <a:bodyPr wrap="square" lIns="0" rIns="0" tIns="0" bIns="0" anchor="t">
            <a:normAutofit/>
          </a:bodyPr>
          <a:lstStyle/>
          <a:p>
            <a:pPr algn="l" marL="0" indent="0">
              <a:lnSpc>
                <a:spcPts val="2100"/>
              </a:lnSpc>
              <a:buNone/>
            </a:pPr>
            <a:r>
              <a:rPr sz="1500" b="0" i="0">
                <a:solidFill>
                  <a:srgbClr val="E8EDF3"/>
                </a:solidFill>
                <a:latin typeface="JetBrains Mono"/>
                <a:ea typeface="JetBrains Mono"/>
                <a:cs typeface="JetBrains Mono"/>
              </a:rPr>
              <a:t>2 ** 10  gives 1024</a:t>
            </a:r>
          </a:p>
        </p:txBody>
      </p:sp>
      <p:sp>
        <p:nvSpPr>
          <p:cNvPr id="47" name="TextBox 46"/>
          <p:cNvSpPr txBox="1"/>
          <p:nvPr/>
        </p:nvSpPr>
        <p:spPr>
          <a:xfrm>
            <a:off x="812800" y="6238280"/>
            <a:ext cx="10883392" cy="213320"/>
          </a:xfrm>
          <a:prstGeom prst="rect">
            <a:avLst/>
          </a:prstGeom>
          <a:noFill/>
        </p:spPr>
        <p:txBody>
          <a:bodyPr wrap="square" lIns="0" rIns="0" tIns="0" bIns="0" anchor="t">
            <a:normAutofit/>
          </a:bodyPr>
          <a:lstStyle/>
          <a:p>
            <a:pPr algn="l" marL="0" indent="0">
              <a:lnSpc>
                <a:spcPts val="1680"/>
              </a:lnSpc>
              <a:buNone/>
            </a:pPr>
            <a:r>
              <a:rPr sz="1200" b="0" i="0">
                <a:solidFill>
                  <a:srgbClr val="5F6B7A"/>
                </a:solidFill>
                <a:latin typeface="Rubik"/>
                <a:ea typeface="Rubik"/>
                <a:cs typeface="Rubik"/>
              </a:rPr>
              <a:t>Python Programming · Week 1 · Class 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3" name="TextBox 2"/>
          <p:cNvSpPr txBox="1"/>
          <p:nvPr/>
        </p:nvSpPr>
        <p:spPr>
          <a:xfrm>
            <a:off x="812800" y="812800"/>
            <a:ext cx="10883392"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CLASS 3 · // AND %</a:t>
            </a:r>
          </a:p>
        </p:txBody>
      </p:sp>
      <p:sp>
        <p:nvSpPr>
          <p:cNvPr id="2" name="Title 1"/>
          <p:cNvSpPr>
            <a:spLocks noGrp="1"/>
          </p:cNvSpPr>
          <p:nvPr>
            <p:ph type="title"/>
          </p:nvPr>
        </p:nvSpPr>
        <p:spPr>
          <a:xfrm>
            <a:off x="812800" y="1102320"/>
            <a:ext cx="10883392" cy="446980"/>
          </a:xfrm>
        </p:spPr>
        <p:txBody>
          <a:bodyPr wrap="square" lIns="0" rIns="0" tIns="0" bIns="0" anchor="t">
            <a:normAutofit/>
          </a:bodyPr>
          <a:lstStyle/>
          <a:p>
            <a:pPr algn="l" marL="0" indent="0">
              <a:lnSpc>
                <a:spcPts val="3520"/>
              </a:lnSpc>
              <a:buNone/>
            </a:pPr>
            <a:r>
              <a:rPr sz="3200" b="1" i="0">
                <a:solidFill>
                  <a:srgbClr val="1B2A41"/>
                </a:solidFill>
                <a:latin typeface="Rubik"/>
                <a:ea typeface="Rubik"/>
                <a:cs typeface="Rubik"/>
              </a:rPr>
              <a:t>// and % in real life</a:t>
            </a:r>
          </a:p>
        </p:txBody>
      </p:sp>
      <p:sp>
        <p:nvSpPr>
          <p:cNvPr id="4" name="Rounded Rectangle 3"/>
          <p:cNvSpPr/>
          <p:nvPr/>
        </p:nvSpPr>
        <p:spPr>
          <a:xfrm>
            <a:off x="819150" y="1860451"/>
            <a:ext cx="3373934" cy="2255441"/>
          </a:xfrm>
          <a:prstGeom prst="roundRect">
            <a:avLst>
              <a:gd name="adj" fmla="val 5630"/>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8700" y="2070001"/>
            <a:ext cx="3043479"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Packing rasagolas</a:t>
            </a:r>
          </a:p>
        </p:txBody>
      </p:sp>
      <p:sp>
        <p:nvSpPr>
          <p:cNvPr id="6" name="TextBox 5"/>
          <p:cNvSpPr txBox="1"/>
          <p:nvPr/>
        </p:nvSpPr>
        <p:spPr>
          <a:xfrm>
            <a:off x="1028700" y="2445841"/>
            <a:ext cx="3043479"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47 rasagolas, and 6 fit in one box</a:t>
            </a:r>
          </a:p>
        </p:txBody>
      </p:sp>
      <p:sp>
        <p:nvSpPr>
          <p:cNvPr id="7" name="Rounded Rectangle 6"/>
          <p:cNvSpPr/>
          <p:nvPr/>
        </p:nvSpPr>
        <p:spPr>
          <a:xfrm>
            <a:off x="1028700" y="2814141"/>
            <a:ext cx="2954834" cy="825500"/>
          </a:xfrm>
          <a:prstGeom prst="roundRect">
            <a:avLst>
              <a:gd name="adj" fmla="val 10769"/>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1100" y="2941141"/>
            <a:ext cx="2729535" cy="571500"/>
          </a:xfrm>
          <a:prstGeom prst="rect">
            <a:avLst/>
          </a:prstGeom>
          <a:noFill/>
        </p:spPr>
        <p:txBody>
          <a:bodyPr wrap="square" lIns="0" rIns="0" tIns="0" bIns="0" anchor="t">
            <a:normAutofit/>
          </a:bodyPr>
          <a:lstStyle/>
          <a:p>
            <a:pPr algn="l" marL="0" indent="0">
              <a:lnSpc>
                <a:spcPts val="2250"/>
              </a:lnSpc>
              <a:buNone/>
            </a:pPr>
            <a:r>
              <a:rPr sz="1500" b="0" i="0">
                <a:solidFill>
                  <a:srgbClr val="E8EDF3"/>
                </a:solidFill>
                <a:latin typeface="JetBrains Mono"/>
                <a:ea typeface="JetBrains Mono"/>
                <a:cs typeface="JetBrains Mono"/>
              </a:rPr>
              <a:t>47 // 6  </a:t>
            </a:r>
            <a:r>
              <a:rPr sz="1500" b="0" i="0">
                <a:solidFill>
                  <a:srgbClr val="8FA3B8"/>
                </a:solidFill>
                <a:latin typeface="JetBrains Mono"/>
                <a:ea typeface="JetBrains Mono"/>
                <a:cs typeface="JetBrains Mono"/>
              </a:rPr>
              <a:t># 7 boxes</a:t>
            </a:r>
          </a:p>
          <a:p>
            <a:pPr algn="l" marL="0" indent="0">
              <a:lnSpc>
                <a:spcPts val="2250"/>
              </a:lnSpc>
              <a:buNone/>
            </a:pPr>
            <a:r>
              <a:rPr sz="1500" b="0" i="0">
                <a:solidFill>
                  <a:srgbClr val="E8EDF3"/>
                </a:solidFill>
                <a:latin typeface="JetBrains Mono"/>
                <a:ea typeface="JetBrains Mono"/>
                <a:cs typeface="JetBrains Mono"/>
              </a:rPr>
              <a:t>47 % 6   </a:t>
            </a:r>
            <a:r>
              <a:rPr sz="1500" b="0" i="0">
                <a:solidFill>
                  <a:srgbClr val="8FA3B8"/>
                </a:solidFill>
                <a:latin typeface="JetBrains Mono"/>
                <a:ea typeface="JetBrains Mono"/>
                <a:cs typeface="JetBrains Mono"/>
              </a:rPr>
              <a:t># 5 left</a:t>
            </a:r>
          </a:p>
        </p:txBody>
      </p:sp>
      <p:sp>
        <p:nvSpPr>
          <p:cNvPr id="9" name="Rounded Rectangle 8"/>
          <p:cNvSpPr/>
          <p:nvPr/>
        </p:nvSpPr>
        <p:spPr>
          <a:xfrm>
            <a:off x="4408984" y="1860451"/>
            <a:ext cx="3373934" cy="2255441"/>
          </a:xfrm>
          <a:prstGeom prst="roundRect">
            <a:avLst>
              <a:gd name="adj" fmla="val 5630"/>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8534" y="2070001"/>
            <a:ext cx="3043479"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Minutes to hours</a:t>
            </a:r>
          </a:p>
        </p:txBody>
      </p:sp>
      <p:sp>
        <p:nvSpPr>
          <p:cNvPr id="11" name="TextBox 10"/>
          <p:cNvSpPr txBox="1"/>
          <p:nvPr/>
        </p:nvSpPr>
        <p:spPr>
          <a:xfrm>
            <a:off x="4618534" y="2445841"/>
            <a:ext cx="3043479"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A movie that runs 130 minutes</a:t>
            </a:r>
          </a:p>
        </p:txBody>
      </p:sp>
      <p:sp>
        <p:nvSpPr>
          <p:cNvPr id="12" name="Rounded Rectangle 11"/>
          <p:cNvSpPr/>
          <p:nvPr/>
        </p:nvSpPr>
        <p:spPr>
          <a:xfrm>
            <a:off x="4618534" y="2814141"/>
            <a:ext cx="2954834" cy="825500"/>
          </a:xfrm>
          <a:prstGeom prst="roundRect">
            <a:avLst>
              <a:gd name="adj" fmla="val 10769"/>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70934" y="2941141"/>
            <a:ext cx="2729535" cy="571500"/>
          </a:xfrm>
          <a:prstGeom prst="rect">
            <a:avLst/>
          </a:prstGeom>
          <a:noFill/>
        </p:spPr>
        <p:txBody>
          <a:bodyPr wrap="square" lIns="0" rIns="0" tIns="0" bIns="0" anchor="t">
            <a:normAutofit/>
          </a:bodyPr>
          <a:lstStyle/>
          <a:p>
            <a:pPr algn="l" marL="0" indent="0">
              <a:lnSpc>
                <a:spcPts val="2250"/>
              </a:lnSpc>
              <a:buNone/>
            </a:pPr>
            <a:r>
              <a:rPr sz="1500" b="0" i="0">
                <a:solidFill>
                  <a:srgbClr val="E8EDF3"/>
                </a:solidFill>
                <a:latin typeface="JetBrains Mono"/>
                <a:ea typeface="JetBrains Mono"/>
                <a:cs typeface="JetBrains Mono"/>
              </a:rPr>
              <a:t>130 // 60  </a:t>
            </a:r>
            <a:r>
              <a:rPr sz="1500" b="0" i="0">
                <a:solidFill>
                  <a:srgbClr val="8FA3B8"/>
                </a:solidFill>
                <a:latin typeface="JetBrains Mono"/>
                <a:ea typeface="JetBrains Mono"/>
                <a:cs typeface="JetBrains Mono"/>
              </a:rPr>
              <a:t># 2 hrs</a:t>
            </a:r>
          </a:p>
          <a:p>
            <a:pPr algn="l" marL="0" indent="0">
              <a:lnSpc>
                <a:spcPts val="2250"/>
              </a:lnSpc>
              <a:buNone/>
            </a:pPr>
            <a:r>
              <a:rPr sz="1500" b="0" i="0">
                <a:solidFill>
                  <a:srgbClr val="E8EDF3"/>
                </a:solidFill>
                <a:latin typeface="JetBrains Mono"/>
                <a:ea typeface="JetBrains Mono"/>
                <a:cs typeface="JetBrains Mono"/>
              </a:rPr>
              <a:t>130 % 60   </a:t>
            </a:r>
            <a:r>
              <a:rPr sz="1500" b="0" i="0">
                <a:solidFill>
                  <a:srgbClr val="8FA3B8"/>
                </a:solidFill>
                <a:latin typeface="JetBrains Mono"/>
                <a:ea typeface="JetBrains Mono"/>
                <a:cs typeface="JetBrains Mono"/>
              </a:rPr>
              <a:t># 10 min</a:t>
            </a:r>
          </a:p>
        </p:txBody>
      </p:sp>
      <p:sp>
        <p:nvSpPr>
          <p:cNvPr id="14" name="Rounded Rectangle 13"/>
          <p:cNvSpPr/>
          <p:nvPr/>
        </p:nvSpPr>
        <p:spPr>
          <a:xfrm>
            <a:off x="7998817" y="1860451"/>
            <a:ext cx="3373934" cy="2255441"/>
          </a:xfrm>
          <a:prstGeom prst="roundRect">
            <a:avLst>
              <a:gd name="adj" fmla="val 5630"/>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08367" y="2070001"/>
            <a:ext cx="3043479"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Even or odd?</a:t>
            </a:r>
          </a:p>
        </p:txBody>
      </p:sp>
      <p:sp>
        <p:nvSpPr>
          <p:cNvPr id="16" name="TextBox 15"/>
          <p:cNvSpPr txBox="1"/>
          <p:nvPr/>
        </p:nvSpPr>
        <p:spPr>
          <a:xfrm>
            <a:off x="8208367" y="2445841"/>
            <a:ext cx="3043479" cy="5334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Even means nothing is left after dividing by 2</a:t>
            </a:r>
          </a:p>
        </p:txBody>
      </p:sp>
      <p:sp>
        <p:nvSpPr>
          <p:cNvPr id="17" name="Rounded Rectangle 16"/>
          <p:cNvSpPr/>
          <p:nvPr/>
        </p:nvSpPr>
        <p:spPr>
          <a:xfrm>
            <a:off x="8208367" y="3080841"/>
            <a:ext cx="2954834" cy="825500"/>
          </a:xfrm>
          <a:prstGeom prst="roundRect">
            <a:avLst>
              <a:gd name="adj" fmla="val 10769"/>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60767" y="3207841"/>
            <a:ext cx="2729535" cy="571500"/>
          </a:xfrm>
          <a:prstGeom prst="rect">
            <a:avLst/>
          </a:prstGeom>
          <a:noFill/>
        </p:spPr>
        <p:txBody>
          <a:bodyPr wrap="square" lIns="0" rIns="0" tIns="0" bIns="0" anchor="t">
            <a:normAutofit/>
          </a:bodyPr>
          <a:lstStyle/>
          <a:p>
            <a:pPr algn="l" marL="0" indent="0">
              <a:lnSpc>
                <a:spcPts val="2250"/>
              </a:lnSpc>
              <a:buNone/>
            </a:pPr>
            <a:r>
              <a:rPr sz="1500" b="0" i="0">
                <a:solidFill>
                  <a:srgbClr val="E8EDF3"/>
                </a:solidFill>
                <a:latin typeface="JetBrains Mono"/>
                <a:ea typeface="JetBrains Mono"/>
                <a:cs typeface="JetBrains Mono"/>
              </a:rPr>
              <a:t>14 % 2  </a:t>
            </a:r>
            <a:r>
              <a:rPr sz="1500" b="0" i="0">
                <a:solidFill>
                  <a:srgbClr val="8FA3B8"/>
                </a:solidFill>
                <a:latin typeface="JetBrains Mono"/>
                <a:ea typeface="JetBrains Mono"/>
                <a:cs typeface="JetBrains Mono"/>
              </a:rPr>
              <a:t># 0: even</a:t>
            </a:r>
          </a:p>
          <a:p>
            <a:pPr algn="l" marL="0" indent="0">
              <a:lnSpc>
                <a:spcPts val="2250"/>
              </a:lnSpc>
              <a:buNone/>
            </a:pPr>
            <a:r>
              <a:rPr sz="1500" b="0" i="0">
                <a:solidFill>
                  <a:srgbClr val="E8EDF3"/>
                </a:solidFill>
                <a:latin typeface="JetBrains Mono"/>
                <a:ea typeface="JetBrains Mono"/>
                <a:cs typeface="JetBrains Mono"/>
              </a:rPr>
              <a:t>15 % 2  </a:t>
            </a:r>
            <a:r>
              <a:rPr sz="1500" b="0" i="0">
                <a:solidFill>
                  <a:srgbClr val="8FA3B8"/>
                </a:solidFill>
                <a:latin typeface="JetBrains Mono"/>
                <a:ea typeface="JetBrains Mono"/>
                <a:cs typeface="JetBrains Mono"/>
              </a:rPr>
              <a:t># 1: odd</a:t>
            </a:r>
          </a:p>
        </p:txBody>
      </p:sp>
      <p:sp>
        <p:nvSpPr>
          <p:cNvPr id="19" name="Rounded Rectangle 18"/>
          <p:cNvSpPr/>
          <p:nvPr/>
        </p:nvSpPr>
        <p:spPr>
          <a:xfrm>
            <a:off x="812800" y="4427041"/>
            <a:ext cx="10566400" cy="762000"/>
          </a:xfrm>
          <a:prstGeom prst="roundRect">
            <a:avLst>
              <a:gd name="adj" fmla="val 20000"/>
            </a:avLst>
          </a:prstGeom>
          <a:solidFill>
            <a:srgbClr val="FBE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ightbulb"/>
          <p:cNvPicPr>
            <a:picLocks noChangeAspect="1"/>
          </p:cNvPicPr>
          <p:nvPr/>
        </p:nvPicPr>
        <p:blipFill>
          <a:blip r:embed="rId2"/>
          <a:stretch>
            <a:fillRect/>
          </a:stretch>
        </p:blipFill>
        <p:spPr>
          <a:xfrm>
            <a:off x="1117600" y="4630241"/>
            <a:ext cx="355600" cy="355600"/>
          </a:xfrm>
          <a:prstGeom prst="rect">
            <a:avLst/>
          </a:prstGeom>
        </p:spPr>
      </p:pic>
      <p:sp>
        <p:nvSpPr>
          <p:cNvPr id="21" name="TextBox 20"/>
          <p:cNvSpPr txBox="1"/>
          <p:nvPr/>
        </p:nvSpPr>
        <p:spPr>
          <a:xfrm>
            <a:off x="1676400" y="4665166"/>
            <a:ext cx="8466882" cy="285750"/>
          </a:xfrm>
          <a:prstGeom prst="rect">
            <a:avLst/>
          </a:prstGeom>
          <a:noFill/>
        </p:spPr>
        <p:txBody>
          <a:bodyPr wrap="square" lIns="0" rIns="0" tIns="0" bIns="0" anchor="t">
            <a:normAutofit/>
          </a:bodyPr>
          <a:lstStyle/>
          <a:p>
            <a:pPr algn="l" marL="0" indent="0">
              <a:lnSpc>
                <a:spcPts val="2250"/>
              </a:lnSpc>
              <a:buNone/>
            </a:pPr>
            <a:r>
              <a:rPr sz="1500" b="1" i="0">
                <a:solidFill>
                  <a:srgbClr val="1B2A41"/>
                </a:solidFill>
                <a:latin typeface="Rubik"/>
                <a:ea typeface="Rubik"/>
                <a:cs typeface="Rubik"/>
              </a:rPr>
              <a:t>Rule of thumb:</a:t>
            </a:r>
            <a:r>
              <a:rPr sz="1500" b="0" i="0">
                <a:solidFill>
                  <a:srgbClr val="1B2A41"/>
                </a:solidFill>
                <a:latin typeface="Rubik"/>
                <a:ea typeface="Rubik"/>
                <a:cs typeface="Rubik"/>
              </a:rPr>
              <a:t> // answers “how many full groups?” and % answers “how many are left over?”</a:t>
            </a:r>
          </a:p>
        </p:txBody>
      </p:sp>
      <p:sp>
        <p:nvSpPr>
          <p:cNvPr id="22" name="TextBox 21"/>
          <p:cNvSpPr txBox="1"/>
          <p:nvPr/>
        </p:nvSpPr>
        <p:spPr>
          <a:xfrm>
            <a:off x="812800" y="6238280"/>
            <a:ext cx="10883392" cy="213320"/>
          </a:xfrm>
          <a:prstGeom prst="rect">
            <a:avLst/>
          </a:prstGeom>
          <a:noFill/>
        </p:spPr>
        <p:txBody>
          <a:bodyPr wrap="square" lIns="0" rIns="0" tIns="0" bIns="0" anchor="t">
            <a:normAutofit/>
          </a:bodyPr>
          <a:lstStyle/>
          <a:p>
            <a:pPr algn="l" marL="0" indent="0">
              <a:lnSpc>
                <a:spcPts val="1680"/>
              </a:lnSpc>
              <a:buNone/>
            </a:pPr>
            <a:r>
              <a:rPr sz="1200" b="0" i="0">
                <a:solidFill>
                  <a:srgbClr val="5F6B7A"/>
                </a:solidFill>
                <a:latin typeface="Rubik"/>
                <a:ea typeface="Rubik"/>
                <a:cs typeface="Rubik"/>
              </a:rPr>
              <a:t>Python Programming · Week 1 · Class 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3" name="TextBox 2"/>
          <p:cNvSpPr txBox="1"/>
          <p:nvPr/>
        </p:nvSpPr>
        <p:spPr>
          <a:xfrm>
            <a:off x="812800" y="812800"/>
            <a:ext cx="10883392"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CLASS 3 · TRUE OR FALSE</a:t>
            </a:r>
          </a:p>
        </p:txBody>
      </p:sp>
      <p:sp>
        <p:nvSpPr>
          <p:cNvPr id="2" name="Title 1"/>
          <p:cNvSpPr>
            <a:spLocks noGrp="1"/>
          </p:cNvSpPr>
          <p:nvPr>
            <p:ph type="title"/>
          </p:nvPr>
        </p:nvSpPr>
        <p:spPr>
          <a:xfrm>
            <a:off x="812800" y="1102320"/>
            <a:ext cx="10883392" cy="446980"/>
          </a:xfrm>
        </p:spPr>
        <p:txBody>
          <a:bodyPr wrap="square" lIns="0" rIns="0" tIns="0" bIns="0" anchor="t">
            <a:normAutofit/>
          </a:bodyPr>
          <a:lstStyle/>
          <a:p>
            <a:pPr algn="l" marL="0" indent="0">
              <a:lnSpc>
                <a:spcPts val="3520"/>
              </a:lnSpc>
              <a:buNone/>
            </a:pPr>
            <a:r>
              <a:rPr sz="3200" b="1" i="0">
                <a:solidFill>
                  <a:srgbClr val="1B2A41"/>
                </a:solidFill>
                <a:latin typeface="Rubik"/>
                <a:ea typeface="Rubik"/>
                <a:cs typeface="Rubik"/>
              </a:rPr>
              <a:t>Comparing and combining</a:t>
            </a:r>
          </a:p>
        </p:txBody>
      </p:sp>
      <p:sp>
        <p:nvSpPr>
          <p:cNvPr id="4" name="Rounded Rectangle 3"/>
          <p:cNvSpPr/>
          <p:nvPr/>
        </p:nvSpPr>
        <p:spPr>
          <a:xfrm>
            <a:off x="819150" y="1809651"/>
            <a:ext cx="5118100" cy="3240881"/>
          </a:xfrm>
          <a:prstGeom prst="roundRect">
            <a:avLst>
              <a:gd name="adj" fmla="val 3918"/>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4100" y="2019201"/>
            <a:ext cx="4787646"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Compare</a:t>
            </a:r>
          </a:p>
        </p:txBody>
      </p:sp>
      <p:sp>
        <p:nvSpPr>
          <p:cNvPr id="6" name="TextBox 5"/>
          <p:cNvSpPr txBox="1"/>
          <p:nvPr/>
        </p:nvSpPr>
        <p:spPr>
          <a:xfrm>
            <a:off x="1054100" y="2395041"/>
            <a:ext cx="418592"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a:t>
            </a:r>
          </a:p>
        </p:txBody>
      </p:sp>
      <p:sp>
        <p:nvSpPr>
          <p:cNvPr id="7" name="TextBox 6"/>
          <p:cNvSpPr txBox="1"/>
          <p:nvPr/>
        </p:nvSpPr>
        <p:spPr>
          <a:xfrm>
            <a:off x="1562100" y="2395041"/>
            <a:ext cx="734273"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equal to</a:t>
            </a:r>
          </a:p>
        </p:txBody>
      </p:sp>
      <p:sp>
        <p:nvSpPr>
          <p:cNvPr id="8" name="TextBox 7"/>
          <p:cNvSpPr txBox="1"/>
          <p:nvPr/>
        </p:nvSpPr>
        <p:spPr>
          <a:xfrm>
            <a:off x="3416300" y="2395041"/>
            <a:ext cx="418592"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a:t>
            </a:r>
          </a:p>
        </p:txBody>
      </p:sp>
      <p:sp>
        <p:nvSpPr>
          <p:cNvPr id="9" name="TextBox 8"/>
          <p:cNvSpPr txBox="1"/>
          <p:nvPr/>
        </p:nvSpPr>
        <p:spPr>
          <a:xfrm>
            <a:off x="3924300" y="2395041"/>
            <a:ext cx="856397"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not equal</a:t>
            </a:r>
          </a:p>
        </p:txBody>
      </p:sp>
      <p:sp>
        <p:nvSpPr>
          <p:cNvPr id="10" name="TextBox 9"/>
          <p:cNvSpPr txBox="1"/>
          <p:nvPr/>
        </p:nvSpPr>
        <p:spPr>
          <a:xfrm>
            <a:off x="1054100" y="2737941"/>
            <a:ext cx="418592"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&gt;</a:t>
            </a:r>
          </a:p>
        </p:txBody>
      </p:sp>
      <p:sp>
        <p:nvSpPr>
          <p:cNvPr id="11" name="TextBox 10"/>
          <p:cNvSpPr txBox="1"/>
          <p:nvPr/>
        </p:nvSpPr>
        <p:spPr>
          <a:xfrm>
            <a:off x="1562100" y="2737941"/>
            <a:ext cx="1131098"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greater than</a:t>
            </a:r>
          </a:p>
        </p:txBody>
      </p:sp>
      <p:sp>
        <p:nvSpPr>
          <p:cNvPr id="12" name="TextBox 11"/>
          <p:cNvSpPr txBox="1"/>
          <p:nvPr/>
        </p:nvSpPr>
        <p:spPr>
          <a:xfrm>
            <a:off x="3416300" y="2737941"/>
            <a:ext cx="418592"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&lt;</a:t>
            </a:r>
          </a:p>
        </p:txBody>
      </p:sp>
      <p:sp>
        <p:nvSpPr>
          <p:cNvPr id="13" name="TextBox 12"/>
          <p:cNvSpPr txBox="1"/>
          <p:nvPr/>
        </p:nvSpPr>
        <p:spPr>
          <a:xfrm>
            <a:off x="3924300" y="2737941"/>
            <a:ext cx="825125"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less than</a:t>
            </a:r>
          </a:p>
        </p:txBody>
      </p:sp>
      <p:sp>
        <p:nvSpPr>
          <p:cNvPr id="14" name="TextBox 13"/>
          <p:cNvSpPr txBox="1"/>
          <p:nvPr/>
        </p:nvSpPr>
        <p:spPr>
          <a:xfrm>
            <a:off x="1054100" y="3080841"/>
            <a:ext cx="418592"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&gt;=</a:t>
            </a:r>
          </a:p>
        </p:txBody>
      </p:sp>
      <p:sp>
        <p:nvSpPr>
          <p:cNvPr id="15" name="TextBox 14"/>
          <p:cNvSpPr txBox="1"/>
          <p:nvPr/>
        </p:nvSpPr>
        <p:spPr>
          <a:xfrm>
            <a:off x="1562100" y="3080841"/>
            <a:ext cx="674693"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at least</a:t>
            </a:r>
          </a:p>
        </p:txBody>
      </p:sp>
      <p:sp>
        <p:nvSpPr>
          <p:cNvPr id="16" name="TextBox 15"/>
          <p:cNvSpPr txBox="1"/>
          <p:nvPr/>
        </p:nvSpPr>
        <p:spPr>
          <a:xfrm>
            <a:off x="3416300" y="3080841"/>
            <a:ext cx="418592"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&lt;=</a:t>
            </a:r>
          </a:p>
        </p:txBody>
      </p:sp>
      <p:sp>
        <p:nvSpPr>
          <p:cNvPr id="17" name="TextBox 16"/>
          <p:cNvSpPr txBox="1"/>
          <p:nvPr/>
        </p:nvSpPr>
        <p:spPr>
          <a:xfrm>
            <a:off x="3924300" y="3080841"/>
            <a:ext cx="695950"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at most</a:t>
            </a:r>
          </a:p>
        </p:txBody>
      </p:sp>
      <p:cxnSp>
        <p:nvCxnSpPr>
          <p:cNvPr id="18" name="Connector 17"/>
          <p:cNvCxnSpPr/>
          <p:nvPr/>
        </p:nvCxnSpPr>
        <p:spPr>
          <a:xfrm>
            <a:off x="1054100" y="3449141"/>
            <a:ext cx="4648200" cy="0"/>
          </a:xfrm>
          <a:prstGeom prst="line">
            <a:avLst/>
          </a:prstGeom>
          <a:ln w="12700">
            <a:solidFill>
              <a:srgbClr val="E2DED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54100" y="3563441"/>
            <a:ext cx="4787646"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Combine</a:t>
            </a:r>
          </a:p>
        </p:txBody>
      </p:sp>
      <p:sp>
        <p:nvSpPr>
          <p:cNvPr id="20" name="TextBox 19"/>
          <p:cNvSpPr txBox="1"/>
          <p:nvPr/>
        </p:nvSpPr>
        <p:spPr>
          <a:xfrm>
            <a:off x="1054100" y="3939282"/>
            <a:ext cx="523240"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and</a:t>
            </a:r>
          </a:p>
        </p:txBody>
      </p:sp>
      <p:sp>
        <p:nvSpPr>
          <p:cNvPr id="21" name="TextBox 20"/>
          <p:cNvSpPr txBox="1"/>
          <p:nvPr/>
        </p:nvSpPr>
        <p:spPr>
          <a:xfrm>
            <a:off x="1663700" y="3939282"/>
            <a:ext cx="2182279"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both sides must be True</a:t>
            </a:r>
          </a:p>
        </p:txBody>
      </p:sp>
      <p:sp>
        <p:nvSpPr>
          <p:cNvPr id="22" name="TextBox 21"/>
          <p:cNvSpPr txBox="1"/>
          <p:nvPr/>
        </p:nvSpPr>
        <p:spPr>
          <a:xfrm>
            <a:off x="1054100" y="4256782"/>
            <a:ext cx="523240"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or</a:t>
            </a:r>
          </a:p>
        </p:txBody>
      </p:sp>
      <p:sp>
        <p:nvSpPr>
          <p:cNvPr id="23" name="TextBox 22"/>
          <p:cNvSpPr txBox="1"/>
          <p:nvPr/>
        </p:nvSpPr>
        <p:spPr>
          <a:xfrm>
            <a:off x="1663700" y="4256782"/>
            <a:ext cx="2125458"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at least one side is True</a:t>
            </a:r>
          </a:p>
        </p:txBody>
      </p:sp>
      <p:sp>
        <p:nvSpPr>
          <p:cNvPr id="24" name="TextBox 23"/>
          <p:cNvSpPr txBox="1"/>
          <p:nvPr/>
        </p:nvSpPr>
        <p:spPr>
          <a:xfrm>
            <a:off x="1054100" y="4574282"/>
            <a:ext cx="523240"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not</a:t>
            </a:r>
          </a:p>
        </p:txBody>
      </p:sp>
      <p:sp>
        <p:nvSpPr>
          <p:cNvPr id="25" name="TextBox 24"/>
          <p:cNvSpPr txBox="1"/>
          <p:nvPr/>
        </p:nvSpPr>
        <p:spPr>
          <a:xfrm>
            <a:off x="1663700" y="4574282"/>
            <a:ext cx="1740693"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flips True and False</a:t>
            </a:r>
          </a:p>
        </p:txBody>
      </p:sp>
      <p:sp>
        <p:nvSpPr>
          <p:cNvPr id="26" name="Rounded Rectangle 25"/>
          <p:cNvSpPr/>
          <p:nvPr/>
        </p:nvSpPr>
        <p:spPr>
          <a:xfrm>
            <a:off x="812800" y="5209282"/>
            <a:ext cx="5130800" cy="571500"/>
          </a:xfrm>
          <a:prstGeom prst="roundRect">
            <a:avLst>
              <a:gd name="adj" fmla="val 22222"/>
            </a:avLst>
          </a:prstGeom>
          <a:solidFill>
            <a:srgbClr val="FBE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1400" y="5361682"/>
            <a:ext cx="4813808"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Rubik"/>
                <a:ea typeface="Rubik"/>
                <a:cs typeface="Rubik"/>
              </a:rPr>
              <a:t>=</a:t>
            </a:r>
            <a:r>
              <a:rPr sz="1500" b="0" i="0">
                <a:solidFill>
                  <a:srgbClr val="1B2A41"/>
                </a:solidFill>
                <a:latin typeface="Rubik"/>
                <a:ea typeface="Rubik"/>
                <a:cs typeface="Rubik"/>
              </a:rPr>
              <a:t> stores a value. </a:t>
            </a:r>
            <a:r>
              <a:rPr sz="1500" b="1" i="0">
                <a:solidFill>
                  <a:srgbClr val="1B2A41"/>
                </a:solidFill>
                <a:latin typeface="Rubik"/>
                <a:ea typeface="Rubik"/>
                <a:cs typeface="Rubik"/>
              </a:rPr>
              <a:t>==</a:t>
            </a:r>
            <a:r>
              <a:rPr sz="1500" b="0" i="0">
                <a:solidFill>
                  <a:srgbClr val="1B2A41"/>
                </a:solidFill>
                <a:latin typeface="Rubik"/>
                <a:ea typeface="Rubik"/>
                <a:cs typeface="Rubik"/>
              </a:rPr>
              <a:t> asks a question.</a:t>
            </a:r>
          </a:p>
        </p:txBody>
      </p:sp>
      <p:sp>
        <p:nvSpPr>
          <p:cNvPr id="28" name="Rounded Rectangle 27"/>
          <p:cNvSpPr/>
          <p:nvPr/>
        </p:nvSpPr>
        <p:spPr>
          <a:xfrm>
            <a:off x="6248400" y="1803301"/>
            <a:ext cx="5130800" cy="2073870"/>
          </a:xfrm>
          <a:prstGeom prst="roundRect">
            <a:avLst>
              <a:gd name="adj" fmla="val 6123"/>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02400" y="1981101"/>
            <a:ext cx="4761484" cy="213320"/>
          </a:xfrm>
          <a:prstGeom prst="rect">
            <a:avLst/>
          </a:prstGeom>
          <a:noFill/>
        </p:spPr>
        <p:txBody>
          <a:bodyPr wrap="square" lIns="0" rIns="0" tIns="0" bIns="0" anchor="t">
            <a:normAutofit/>
          </a:bodyPr>
          <a:lstStyle/>
          <a:p>
            <a:pPr algn="l" marL="0" indent="0">
              <a:lnSpc>
                <a:spcPts val="1680"/>
              </a:lnSpc>
              <a:buNone/>
            </a:pPr>
            <a:r>
              <a:rPr sz="1200" b="0" i="0">
                <a:solidFill>
                  <a:srgbClr val="8FA3B8"/>
                </a:solidFill>
                <a:latin typeface="JetBrains Mono"/>
                <a:ea typeface="JetBrains Mono"/>
                <a:cs typeface="JetBrains Mono"/>
              </a:rPr>
              <a:t>Am I allowed to sit the exam?</a:t>
            </a:r>
          </a:p>
        </p:txBody>
      </p:sp>
      <p:sp>
        <p:nvSpPr>
          <p:cNvPr id="30" name="TextBox 29"/>
          <p:cNvSpPr txBox="1"/>
          <p:nvPr/>
        </p:nvSpPr>
        <p:spPr>
          <a:xfrm>
            <a:off x="6502400" y="2270621"/>
            <a:ext cx="4761484" cy="1428750"/>
          </a:xfrm>
          <a:prstGeom prst="rect">
            <a:avLst/>
          </a:prstGeom>
          <a:noFill/>
        </p:spPr>
        <p:txBody>
          <a:bodyPr wrap="square" lIns="0" rIns="0" tIns="0" bIns="0" anchor="t">
            <a:normAutofit/>
          </a:bodyPr>
          <a:lstStyle/>
          <a:p>
            <a:pPr algn="l" marL="0" indent="0">
              <a:lnSpc>
                <a:spcPts val="2250"/>
              </a:lnSpc>
              <a:buNone/>
            </a:pPr>
            <a:r>
              <a:rPr sz="1500" b="0" i="0">
                <a:solidFill>
                  <a:srgbClr val="E8EDF3"/>
                </a:solidFill>
                <a:latin typeface="JetBrains Mono"/>
                <a:ea typeface="JetBrains Mono"/>
                <a:cs typeface="JetBrains Mono"/>
              </a:rPr>
              <a:t>attendance = 80</a:t>
            </a:r>
          </a:p>
          <a:p>
            <a:pPr algn="l" marL="0" indent="0">
              <a:lnSpc>
                <a:spcPts val="2250"/>
              </a:lnSpc>
              <a:buNone/>
            </a:pPr>
            <a:r>
              <a:rPr sz="1500" b="0" i="0">
                <a:solidFill>
                  <a:srgbClr val="E8EDF3"/>
                </a:solidFill>
                <a:latin typeface="JetBrains Mono"/>
                <a:ea typeface="JetBrains Mono"/>
                <a:cs typeface="JetBrains Mono"/>
              </a:rPr>
              <a:t>marks = 35</a:t>
            </a:r>
          </a:p>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(attendance &gt;= 75)</a:t>
            </a:r>
          </a:p>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(attendance &gt;= 75 </a:t>
            </a:r>
            <a:r>
              <a:rPr sz="1500" b="0" i="0">
                <a:solidFill>
                  <a:srgbClr val="F2B33D"/>
                </a:solidFill>
                <a:latin typeface="JetBrains Mono"/>
                <a:ea typeface="JetBrains Mono"/>
                <a:cs typeface="JetBrains Mono"/>
              </a:rPr>
              <a:t>and</a:t>
            </a:r>
            <a:r>
              <a:rPr sz="1500" b="0" i="0">
                <a:solidFill>
                  <a:srgbClr val="E8EDF3"/>
                </a:solidFill>
                <a:latin typeface="JetBrains Mono"/>
                <a:ea typeface="JetBrains Mono"/>
                <a:cs typeface="JetBrains Mono"/>
              </a:rPr>
              <a:t> marks &gt;= 40)</a:t>
            </a:r>
          </a:p>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(attendance &gt;= 75 </a:t>
            </a:r>
            <a:r>
              <a:rPr sz="1500" b="0" i="0">
                <a:solidFill>
                  <a:srgbClr val="F2B33D"/>
                </a:solidFill>
                <a:latin typeface="JetBrains Mono"/>
                <a:ea typeface="JetBrains Mono"/>
                <a:cs typeface="JetBrains Mono"/>
              </a:rPr>
              <a:t>or</a:t>
            </a:r>
            <a:r>
              <a:rPr sz="1500" b="0" i="0">
                <a:solidFill>
                  <a:srgbClr val="E8EDF3"/>
                </a:solidFill>
                <a:latin typeface="JetBrains Mono"/>
                <a:ea typeface="JetBrains Mono"/>
                <a:cs typeface="JetBrains Mono"/>
              </a:rPr>
              <a:t> marks &gt;= 40)</a:t>
            </a:r>
          </a:p>
        </p:txBody>
      </p:sp>
      <p:sp>
        <p:nvSpPr>
          <p:cNvPr id="31" name="Rounded Rectangle 30"/>
          <p:cNvSpPr/>
          <p:nvPr/>
        </p:nvSpPr>
        <p:spPr>
          <a:xfrm>
            <a:off x="6254750" y="4010521"/>
            <a:ext cx="5118100" cy="1515070"/>
          </a:xfrm>
          <a:prstGeom prst="roundRect">
            <a:avLst>
              <a:gd name="adj" fmla="val 8382"/>
            </a:avLst>
          </a:prstGeom>
          <a:solidFill>
            <a:srgbClr val="FFFDF8"/>
          </a:solidFill>
          <a:ln w="12700">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15100" y="4194671"/>
            <a:ext cx="4735322"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OUTPUT</a:t>
            </a:r>
          </a:p>
        </p:txBody>
      </p:sp>
      <p:sp>
        <p:nvSpPr>
          <p:cNvPr id="33" name="TextBox 32"/>
          <p:cNvSpPr txBox="1"/>
          <p:nvPr/>
        </p:nvSpPr>
        <p:spPr>
          <a:xfrm>
            <a:off x="6515100" y="4484191"/>
            <a:ext cx="4735322" cy="857250"/>
          </a:xfrm>
          <a:prstGeom prst="rect">
            <a:avLst/>
          </a:prstGeom>
          <a:noFill/>
        </p:spPr>
        <p:txBody>
          <a:bodyPr wrap="square" lIns="0" rIns="0" tIns="0" bIns="0" anchor="t">
            <a:normAutofit/>
          </a:bodyPr>
          <a:lstStyle/>
          <a:p>
            <a:pPr algn="l" marL="0" indent="0">
              <a:lnSpc>
                <a:spcPts val="2250"/>
              </a:lnSpc>
              <a:buNone/>
            </a:pPr>
            <a:r>
              <a:rPr sz="1500" b="0" i="0">
                <a:solidFill>
                  <a:srgbClr val="1B2A41"/>
                </a:solidFill>
                <a:latin typeface="JetBrains Mono"/>
                <a:ea typeface="JetBrains Mono"/>
                <a:cs typeface="JetBrains Mono"/>
              </a:rPr>
              <a:t>True</a:t>
            </a:r>
          </a:p>
          <a:p>
            <a:pPr algn="l" marL="0" indent="0">
              <a:lnSpc>
                <a:spcPts val="2250"/>
              </a:lnSpc>
              <a:buNone/>
            </a:pPr>
            <a:r>
              <a:rPr sz="1500" b="0" i="0">
                <a:solidFill>
                  <a:srgbClr val="1B2A41"/>
                </a:solidFill>
                <a:latin typeface="JetBrains Mono"/>
                <a:ea typeface="JetBrains Mono"/>
                <a:cs typeface="JetBrains Mono"/>
              </a:rPr>
              <a:t>False</a:t>
            </a:r>
          </a:p>
          <a:p>
            <a:pPr algn="l" marL="0" indent="0">
              <a:lnSpc>
                <a:spcPts val="2250"/>
              </a:lnSpc>
              <a:buNone/>
            </a:pPr>
            <a:r>
              <a:rPr sz="1500" b="0" i="0">
                <a:solidFill>
                  <a:srgbClr val="1B2A41"/>
                </a:solidFill>
                <a:latin typeface="JetBrains Mono"/>
                <a:ea typeface="JetBrains Mono"/>
                <a:cs typeface="JetBrains Mono"/>
              </a:rPr>
              <a:t>True</a:t>
            </a:r>
          </a:p>
        </p:txBody>
      </p:sp>
      <p:sp>
        <p:nvSpPr>
          <p:cNvPr id="34" name="TextBox 33"/>
          <p:cNvSpPr txBox="1"/>
          <p:nvPr/>
        </p:nvSpPr>
        <p:spPr>
          <a:xfrm>
            <a:off x="812800" y="6238280"/>
            <a:ext cx="10883392" cy="213320"/>
          </a:xfrm>
          <a:prstGeom prst="rect">
            <a:avLst/>
          </a:prstGeom>
          <a:noFill/>
        </p:spPr>
        <p:txBody>
          <a:bodyPr wrap="square" lIns="0" rIns="0" tIns="0" bIns="0" anchor="t">
            <a:normAutofit/>
          </a:bodyPr>
          <a:lstStyle/>
          <a:p>
            <a:pPr algn="l" marL="0" indent="0">
              <a:lnSpc>
                <a:spcPts val="1680"/>
              </a:lnSpc>
              <a:buNone/>
            </a:pPr>
            <a:r>
              <a:rPr sz="1200" b="0" i="0">
                <a:solidFill>
                  <a:srgbClr val="5F6B7A"/>
                </a:solidFill>
                <a:latin typeface="Rubik"/>
                <a:ea typeface="Rubik"/>
                <a:cs typeface="Rubik"/>
              </a:rPr>
              <a:t>Python Programming · Week 1 · Class 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3" name="TextBox 2"/>
          <p:cNvSpPr txBox="1"/>
          <p:nvPr/>
        </p:nvSpPr>
        <p:spPr>
          <a:xfrm>
            <a:off x="812800" y="812800"/>
            <a:ext cx="10883392"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CLASS 3 · ORDER OF OPERATIONS</a:t>
            </a:r>
          </a:p>
        </p:txBody>
      </p:sp>
      <p:sp>
        <p:nvSpPr>
          <p:cNvPr id="2" name="Title 1"/>
          <p:cNvSpPr>
            <a:spLocks noGrp="1"/>
          </p:cNvSpPr>
          <p:nvPr>
            <p:ph type="title"/>
          </p:nvPr>
        </p:nvSpPr>
        <p:spPr>
          <a:xfrm>
            <a:off x="812800" y="1102320"/>
            <a:ext cx="10883392" cy="446980"/>
          </a:xfrm>
        </p:spPr>
        <p:txBody>
          <a:bodyPr wrap="square" lIns="0" rIns="0" tIns="0" bIns="0" anchor="t">
            <a:normAutofit/>
          </a:bodyPr>
          <a:lstStyle/>
          <a:p>
            <a:pPr algn="l" marL="0" indent="0">
              <a:lnSpc>
                <a:spcPts val="3520"/>
              </a:lnSpc>
              <a:buNone/>
            </a:pPr>
            <a:r>
              <a:rPr sz="3200" b="1" i="0">
                <a:solidFill>
                  <a:srgbClr val="1B2A41"/>
                </a:solidFill>
                <a:latin typeface="Rubik"/>
                <a:ea typeface="Rubik"/>
                <a:cs typeface="Rubik"/>
              </a:rPr>
              <a:t>Python follows BODMAS too</a:t>
            </a:r>
          </a:p>
        </p:txBody>
      </p:sp>
      <p:sp>
        <p:nvSpPr>
          <p:cNvPr id="4" name="Rounded Rectangle 3"/>
          <p:cNvSpPr/>
          <p:nvPr/>
        </p:nvSpPr>
        <p:spPr>
          <a:xfrm>
            <a:off x="819150" y="1860451"/>
            <a:ext cx="5092700" cy="431800"/>
          </a:xfrm>
          <a:prstGeom prst="roundRect">
            <a:avLst>
              <a:gd name="adj" fmla="val 20588"/>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77900" y="1943001"/>
            <a:ext cx="330200" cy="26670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2947" y="1943001"/>
            <a:ext cx="340106" cy="266700"/>
          </a:xfrm>
          <a:prstGeom prst="rect">
            <a:avLst/>
          </a:prstGeom>
          <a:noFill/>
        </p:spPr>
        <p:txBody>
          <a:bodyPr wrap="square" lIns="0" rIns="0" tIns="0" bIns="0" anchor="t">
            <a:normAutofit/>
          </a:bodyPr>
          <a:lstStyle/>
          <a:p>
            <a:pPr algn="ctr" marL="0" indent="0">
              <a:lnSpc>
                <a:spcPts val="2100"/>
              </a:lnSpc>
              <a:buNone/>
            </a:pPr>
            <a:r>
              <a:rPr sz="1500" b="1" i="0">
                <a:solidFill>
                  <a:srgbClr val="1B2A41"/>
                </a:solidFill>
                <a:latin typeface="Rubik"/>
                <a:ea typeface="Rubik"/>
                <a:cs typeface="Rubik"/>
              </a:rPr>
              <a:t>1</a:t>
            </a:r>
          </a:p>
        </p:txBody>
      </p:sp>
      <p:sp>
        <p:nvSpPr>
          <p:cNvPr id="7" name="TextBox 6"/>
          <p:cNvSpPr txBox="1"/>
          <p:nvPr/>
        </p:nvSpPr>
        <p:spPr>
          <a:xfrm>
            <a:off x="1460500" y="1943001"/>
            <a:ext cx="1438910"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 )</a:t>
            </a:r>
          </a:p>
        </p:txBody>
      </p:sp>
      <p:sp>
        <p:nvSpPr>
          <p:cNvPr id="8" name="TextBox 7"/>
          <p:cNvSpPr txBox="1"/>
          <p:nvPr/>
        </p:nvSpPr>
        <p:spPr>
          <a:xfrm>
            <a:off x="3009900" y="1943001"/>
            <a:ext cx="1206416"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Brackets first</a:t>
            </a:r>
          </a:p>
        </p:txBody>
      </p:sp>
      <p:sp>
        <p:nvSpPr>
          <p:cNvPr id="9" name="Rounded Rectangle 8"/>
          <p:cNvSpPr/>
          <p:nvPr/>
        </p:nvSpPr>
        <p:spPr>
          <a:xfrm>
            <a:off x="819150" y="2381151"/>
            <a:ext cx="5092700" cy="431800"/>
          </a:xfrm>
          <a:prstGeom prst="roundRect">
            <a:avLst>
              <a:gd name="adj" fmla="val 20588"/>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77900" y="2463701"/>
            <a:ext cx="330200" cy="26670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2947" y="2463701"/>
            <a:ext cx="340106" cy="266700"/>
          </a:xfrm>
          <a:prstGeom prst="rect">
            <a:avLst/>
          </a:prstGeom>
          <a:noFill/>
        </p:spPr>
        <p:txBody>
          <a:bodyPr wrap="square" lIns="0" rIns="0" tIns="0" bIns="0" anchor="t">
            <a:normAutofit/>
          </a:bodyPr>
          <a:lstStyle/>
          <a:p>
            <a:pPr algn="ctr" marL="0" indent="0">
              <a:lnSpc>
                <a:spcPts val="2100"/>
              </a:lnSpc>
              <a:buNone/>
            </a:pPr>
            <a:r>
              <a:rPr sz="1500" b="1" i="0">
                <a:solidFill>
                  <a:srgbClr val="1B2A41"/>
                </a:solidFill>
                <a:latin typeface="Rubik"/>
                <a:ea typeface="Rubik"/>
                <a:cs typeface="Rubik"/>
              </a:rPr>
              <a:t>2</a:t>
            </a:r>
          </a:p>
        </p:txBody>
      </p:sp>
      <p:sp>
        <p:nvSpPr>
          <p:cNvPr id="12" name="TextBox 11"/>
          <p:cNvSpPr txBox="1"/>
          <p:nvPr/>
        </p:nvSpPr>
        <p:spPr>
          <a:xfrm>
            <a:off x="1460500" y="2463701"/>
            <a:ext cx="1438910"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a:t>
            </a:r>
          </a:p>
        </p:txBody>
      </p:sp>
      <p:sp>
        <p:nvSpPr>
          <p:cNvPr id="13" name="TextBox 12"/>
          <p:cNvSpPr txBox="1"/>
          <p:nvPr/>
        </p:nvSpPr>
        <p:spPr>
          <a:xfrm>
            <a:off x="3009900" y="2463701"/>
            <a:ext cx="573724"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Power</a:t>
            </a:r>
          </a:p>
        </p:txBody>
      </p:sp>
      <p:sp>
        <p:nvSpPr>
          <p:cNvPr id="14" name="Rounded Rectangle 13"/>
          <p:cNvSpPr/>
          <p:nvPr/>
        </p:nvSpPr>
        <p:spPr>
          <a:xfrm>
            <a:off x="819150" y="2901851"/>
            <a:ext cx="5092700" cy="431800"/>
          </a:xfrm>
          <a:prstGeom prst="roundRect">
            <a:avLst>
              <a:gd name="adj" fmla="val 20588"/>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77900" y="2984401"/>
            <a:ext cx="330200" cy="26670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2947" y="2984401"/>
            <a:ext cx="340106" cy="266700"/>
          </a:xfrm>
          <a:prstGeom prst="rect">
            <a:avLst/>
          </a:prstGeom>
          <a:noFill/>
        </p:spPr>
        <p:txBody>
          <a:bodyPr wrap="square" lIns="0" rIns="0" tIns="0" bIns="0" anchor="t">
            <a:normAutofit/>
          </a:bodyPr>
          <a:lstStyle/>
          <a:p>
            <a:pPr algn="ctr" marL="0" indent="0">
              <a:lnSpc>
                <a:spcPts val="2100"/>
              </a:lnSpc>
              <a:buNone/>
            </a:pPr>
            <a:r>
              <a:rPr sz="1500" b="1" i="0">
                <a:solidFill>
                  <a:srgbClr val="1B2A41"/>
                </a:solidFill>
                <a:latin typeface="Rubik"/>
                <a:ea typeface="Rubik"/>
                <a:cs typeface="Rubik"/>
              </a:rPr>
              <a:t>3</a:t>
            </a:r>
          </a:p>
        </p:txBody>
      </p:sp>
      <p:sp>
        <p:nvSpPr>
          <p:cNvPr id="17" name="TextBox 16"/>
          <p:cNvSpPr txBox="1"/>
          <p:nvPr/>
        </p:nvSpPr>
        <p:spPr>
          <a:xfrm>
            <a:off x="1460500" y="2984401"/>
            <a:ext cx="1438910"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 / // %</a:t>
            </a:r>
          </a:p>
        </p:txBody>
      </p:sp>
      <p:sp>
        <p:nvSpPr>
          <p:cNvPr id="18" name="TextBox 17"/>
          <p:cNvSpPr txBox="1"/>
          <p:nvPr/>
        </p:nvSpPr>
        <p:spPr>
          <a:xfrm>
            <a:off x="3009900" y="2984401"/>
            <a:ext cx="1700530"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Multiply and divide</a:t>
            </a:r>
          </a:p>
        </p:txBody>
      </p:sp>
      <p:sp>
        <p:nvSpPr>
          <p:cNvPr id="19" name="Rounded Rectangle 18"/>
          <p:cNvSpPr/>
          <p:nvPr/>
        </p:nvSpPr>
        <p:spPr>
          <a:xfrm>
            <a:off x="819150" y="3422551"/>
            <a:ext cx="5092700" cy="431800"/>
          </a:xfrm>
          <a:prstGeom prst="roundRect">
            <a:avLst>
              <a:gd name="adj" fmla="val 20588"/>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77900" y="3505101"/>
            <a:ext cx="330200" cy="26670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2947" y="3505101"/>
            <a:ext cx="340106" cy="266700"/>
          </a:xfrm>
          <a:prstGeom prst="rect">
            <a:avLst/>
          </a:prstGeom>
          <a:noFill/>
        </p:spPr>
        <p:txBody>
          <a:bodyPr wrap="square" lIns="0" rIns="0" tIns="0" bIns="0" anchor="t">
            <a:normAutofit/>
          </a:bodyPr>
          <a:lstStyle/>
          <a:p>
            <a:pPr algn="ctr" marL="0" indent="0">
              <a:lnSpc>
                <a:spcPts val="2100"/>
              </a:lnSpc>
              <a:buNone/>
            </a:pPr>
            <a:r>
              <a:rPr sz="1500" b="1" i="0">
                <a:solidFill>
                  <a:srgbClr val="1B2A41"/>
                </a:solidFill>
                <a:latin typeface="Rubik"/>
                <a:ea typeface="Rubik"/>
                <a:cs typeface="Rubik"/>
              </a:rPr>
              <a:t>4</a:t>
            </a:r>
          </a:p>
        </p:txBody>
      </p:sp>
      <p:sp>
        <p:nvSpPr>
          <p:cNvPr id="22" name="TextBox 21"/>
          <p:cNvSpPr txBox="1"/>
          <p:nvPr/>
        </p:nvSpPr>
        <p:spPr>
          <a:xfrm>
            <a:off x="1460500" y="3505101"/>
            <a:ext cx="1438910"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 -</a:t>
            </a:r>
          </a:p>
        </p:txBody>
      </p:sp>
      <p:sp>
        <p:nvSpPr>
          <p:cNvPr id="23" name="TextBox 22"/>
          <p:cNvSpPr txBox="1"/>
          <p:nvPr/>
        </p:nvSpPr>
        <p:spPr>
          <a:xfrm>
            <a:off x="3009900" y="3505101"/>
            <a:ext cx="1580757"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Add and subtract</a:t>
            </a:r>
          </a:p>
        </p:txBody>
      </p:sp>
      <p:sp>
        <p:nvSpPr>
          <p:cNvPr id="24" name="Rounded Rectangle 23"/>
          <p:cNvSpPr/>
          <p:nvPr/>
        </p:nvSpPr>
        <p:spPr>
          <a:xfrm>
            <a:off x="819150" y="3943251"/>
            <a:ext cx="5092700" cy="431800"/>
          </a:xfrm>
          <a:prstGeom prst="roundRect">
            <a:avLst>
              <a:gd name="adj" fmla="val 20588"/>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77900" y="4025801"/>
            <a:ext cx="330200" cy="26670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2947" y="4025801"/>
            <a:ext cx="340106" cy="266700"/>
          </a:xfrm>
          <a:prstGeom prst="rect">
            <a:avLst/>
          </a:prstGeom>
          <a:noFill/>
        </p:spPr>
        <p:txBody>
          <a:bodyPr wrap="square" lIns="0" rIns="0" tIns="0" bIns="0" anchor="t">
            <a:normAutofit/>
          </a:bodyPr>
          <a:lstStyle/>
          <a:p>
            <a:pPr algn="ctr" marL="0" indent="0">
              <a:lnSpc>
                <a:spcPts val="2100"/>
              </a:lnSpc>
              <a:buNone/>
            </a:pPr>
            <a:r>
              <a:rPr sz="1500" b="1" i="0">
                <a:solidFill>
                  <a:srgbClr val="1B2A41"/>
                </a:solidFill>
                <a:latin typeface="Rubik"/>
                <a:ea typeface="Rubik"/>
                <a:cs typeface="Rubik"/>
              </a:rPr>
              <a:t>5</a:t>
            </a:r>
          </a:p>
        </p:txBody>
      </p:sp>
      <p:sp>
        <p:nvSpPr>
          <p:cNvPr id="27" name="TextBox 26"/>
          <p:cNvSpPr txBox="1"/>
          <p:nvPr/>
        </p:nvSpPr>
        <p:spPr>
          <a:xfrm>
            <a:off x="1460500" y="4025801"/>
            <a:ext cx="1438910"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 &lt; &gt;</a:t>
            </a:r>
          </a:p>
        </p:txBody>
      </p:sp>
      <p:sp>
        <p:nvSpPr>
          <p:cNvPr id="28" name="TextBox 27"/>
          <p:cNvSpPr txBox="1"/>
          <p:nvPr/>
        </p:nvSpPr>
        <p:spPr>
          <a:xfrm>
            <a:off x="3009900" y="4025801"/>
            <a:ext cx="1196809"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Comparisons</a:t>
            </a:r>
          </a:p>
        </p:txBody>
      </p:sp>
      <p:sp>
        <p:nvSpPr>
          <p:cNvPr id="29" name="Rounded Rectangle 28"/>
          <p:cNvSpPr/>
          <p:nvPr/>
        </p:nvSpPr>
        <p:spPr>
          <a:xfrm>
            <a:off x="819150" y="4463951"/>
            <a:ext cx="5092700" cy="431800"/>
          </a:xfrm>
          <a:prstGeom prst="roundRect">
            <a:avLst>
              <a:gd name="adj" fmla="val 20588"/>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77900" y="4546501"/>
            <a:ext cx="330200" cy="26670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2947" y="4546501"/>
            <a:ext cx="340106" cy="266700"/>
          </a:xfrm>
          <a:prstGeom prst="rect">
            <a:avLst/>
          </a:prstGeom>
          <a:noFill/>
        </p:spPr>
        <p:txBody>
          <a:bodyPr wrap="square" lIns="0" rIns="0" tIns="0" bIns="0" anchor="t">
            <a:normAutofit/>
          </a:bodyPr>
          <a:lstStyle/>
          <a:p>
            <a:pPr algn="ctr" marL="0" indent="0">
              <a:lnSpc>
                <a:spcPts val="2100"/>
              </a:lnSpc>
              <a:buNone/>
            </a:pPr>
            <a:r>
              <a:rPr sz="1500" b="1" i="0">
                <a:solidFill>
                  <a:srgbClr val="1B2A41"/>
                </a:solidFill>
                <a:latin typeface="Rubik"/>
                <a:ea typeface="Rubik"/>
                <a:cs typeface="Rubik"/>
              </a:rPr>
              <a:t>6</a:t>
            </a:r>
          </a:p>
        </p:txBody>
      </p:sp>
      <p:sp>
        <p:nvSpPr>
          <p:cNvPr id="32" name="TextBox 31"/>
          <p:cNvSpPr txBox="1"/>
          <p:nvPr/>
        </p:nvSpPr>
        <p:spPr>
          <a:xfrm>
            <a:off x="1460500" y="4546501"/>
            <a:ext cx="1438910"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not and or</a:t>
            </a:r>
          </a:p>
        </p:txBody>
      </p:sp>
      <p:sp>
        <p:nvSpPr>
          <p:cNvPr id="33" name="TextBox 32"/>
          <p:cNvSpPr txBox="1"/>
          <p:nvPr/>
        </p:nvSpPr>
        <p:spPr>
          <a:xfrm>
            <a:off x="3009900" y="4546501"/>
            <a:ext cx="1528127"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Logic comes last</a:t>
            </a:r>
          </a:p>
        </p:txBody>
      </p:sp>
      <p:sp>
        <p:nvSpPr>
          <p:cNvPr id="34" name="Rounded Rectangle 33"/>
          <p:cNvSpPr/>
          <p:nvPr/>
        </p:nvSpPr>
        <p:spPr>
          <a:xfrm>
            <a:off x="6273800" y="1854101"/>
            <a:ext cx="5105400" cy="2016720"/>
          </a:xfrm>
          <a:prstGeom prst="roundRect">
            <a:avLst>
              <a:gd name="adj" fmla="val 6297"/>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27800" y="2057301"/>
            <a:ext cx="4735322" cy="213320"/>
          </a:xfrm>
          <a:prstGeom prst="rect">
            <a:avLst/>
          </a:prstGeom>
          <a:noFill/>
        </p:spPr>
        <p:txBody>
          <a:bodyPr wrap="square" lIns="0" rIns="0" tIns="0" bIns="0" anchor="t">
            <a:normAutofit/>
          </a:bodyPr>
          <a:lstStyle/>
          <a:p>
            <a:pPr algn="l" marL="0" indent="0">
              <a:lnSpc>
                <a:spcPts val="1680"/>
              </a:lnSpc>
              <a:buNone/>
            </a:pPr>
            <a:r>
              <a:rPr sz="1200" b="1" i="0" spc="150">
                <a:solidFill>
                  <a:srgbClr val="F2B33D"/>
                </a:solidFill>
                <a:latin typeface="Rubik"/>
                <a:ea typeface="Rubik"/>
                <a:cs typeface="Rubik"/>
              </a:rPr>
              <a:t>PREDICT, THEN CHECK</a:t>
            </a:r>
          </a:p>
        </p:txBody>
      </p:sp>
      <p:sp>
        <p:nvSpPr>
          <p:cNvPr id="36" name="TextBox 35"/>
          <p:cNvSpPr txBox="1"/>
          <p:nvPr/>
        </p:nvSpPr>
        <p:spPr>
          <a:xfrm>
            <a:off x="6527800" y="2372221"/>
            <a:ext cx="3610356" cy="266700"/>
          </a:xfrm>
          <a:prstGeom prst="rect">
            <a:avLst/>
          </a:prstGeom>
          <a:noFill/>
        </p:spPr>
        <p:txBody>
          <a:bodyPr wrap="square" lIns="0" rIns="0" tIns="0" bIns="0" anchor="t">
            <a:normAutofit/>
          </a:bodyPr>
          <a:lstStyle/>
          <a:p>
            <a:pPr algn="l" marL="0" indent="0">
              <a:lnSpc>
                <a:spcPts val="2100"/>
              </a:lnSpc>
              <a:buNone/>
            </a:pPr>
            <a:r>
              <a:rPr sz="1500" b="0" i="0">
                <a:solidFill>
                  <a:srgbClr val="E8EDF3"/>
                </a:solidFill>
                <a:latin typeface="JetBrains Mono"/>
                <a:ea typeface="JetBrains Mono"/>
                <a:cs typeface="JetBrains Mono"/>
              </a:rPr>
              <a:t>2 + 3 * 4</a:t>
            </a:r>
          </a:p>
        </p:txBody>
      </p:sp>
      <p:sp>
        <p:nvSpPr>
          <p:cNvPr id="37" name="TextBox 36"/>
          <p:cNvSpPr txBox="1"/>
          <p:nvPr/>
        </p:nvSpPr>
        <p:spPr>
          <a:xfrm>
            <a:off x="10109200" y="2372221"/>
            <a:ext cx="1046480" cy="266700"/>
          </a:xfrm>
          <a:prstGeom prst="rect">
            <a:avLst/>
          </a:prstGeom>
          <a:noFill/>
        </p:spPr>
        <p:txBody>
          <a:bodyPr wrap="square" lIns="0" rIns="0" tIns="0" bIns="0" anchor="t">
            <a:normAutofit/>
          </a:bodyPr>
          <a:lstStyle/>
          <a:p>
            <a:pPr algn="l" marL="0" indent="0">
              <a:lnSpc>
                <a:spcPts val="2100"/>
              </a:lnSpc>
              <a:buNone/>
            </a:pPr>
            <a:r>
              <a:rPr sz="1500" b="1" i="0">
                <a:solidFill>
                  <a:srgbClr val="9FD8A8"/>
                </a:solidFill>
                <a:latin typeface="JetBrains Mono"/>
                <a:ea typeface="JetBrains Mono"/>
                <a:cs typeface="JetBrains Mono"/>
              </a:rPr>
              <a:t>14</a:t>
            </a:r>
          </a:p>
        </p:txBody>
      </p:sp>
      <p:sp>
        <p:nvSpPr>
          <p:cNvPr id="38" name="TextBox 37"/>
          <p:cNvSpPr txBox="1"/>
          <p:nvPr/>
        </p:nvSpPr>
        <p:spPr>
          <a:xfrm>
            <a:off x="6527800" y="2715121"/>
            <a:ext cx="3610356" cy="266700"/>
          </a:xfrm>
          <a:prstGeom prst="rect">
            <a:avLst/>
          </a:prstGeom>
          <a:noFill/>
        </p:spPr>
        <p:txBody>
          <a:bodyPr wrap="square" lIns="0" rIns="0" tIns="0" bIns="0" anchor="t">
            <a:normAutofit/>
          </a:bodyPr>
          <a:lstStyle/>
          <a:p>
            <a:pPr algn="l" marL="0" indent="0">
              <a:lnSpc>
                <a:spcPts val="2100"/>
              </a:lnSpc>
              <a:buNone/>
            </a:pPr>
            <a:r>
              <a:rPr sz="1500" b="0" i="0">
                <a:solidFill>
                  <a:srgbClr val="E8EDF3"/>
                </a:solidFill>
                <a:latin typeface="JetBrains Mono"/>
                <a:ea typeface="JetBrains Mono"/>
                <a:cs typeface="JetBrains Mono"/>
              </a:rPr>
              <a:t>(2 + 3) * 4</a:t>
            </a:r>
          </a:p>
        </p:txBody>
      </p:sp>
      <p:sp>
        <p:nvSpPr>
          <p:cNvPr id="39" name="TextBox 38"/>
          <p:cNvSpPr txBox="1"/>
          <p:nvPr/>
        </p:nvSpPr>
        <p:spPr>
          <a:xfrm>
            <a:off x="10109200" y="2715121"/>
            <a:ext cx="1046480" cy="266700"/>
          </a:xfrm>
          <a:prstGeom prst="rect">
            <a:avLst/>
          </a:prstGeom>
          <a:noFill/>
        </p:spPr>
        <p:txBody>
          <a:bodyPr wrap="square" lIns="0" rIns="0" tIns="0" bIns="0" anchor="t">
            <a:normAutofit/>
          </a:bodyPr>
          <a:lstStyle/>
          <a:p>
            <a:pPr algn="l" marL="0" indent="0">
              <a:lnSpc>
                <a:spcPts val="2100"/>
              </a:lnSpc>
              <a:buNone/>
            </a:pPr>
            <a:r>
              <a:rPr sz="1500" b="1" i="0">
                <a:solidFill>
                  <a:srgbClr val="9FD8A8"/>
                </a:solidFill>
                <a:latin typeface="JetBrains Mono"/>
                <a:ea typeface="JetBrains Mono"/>
                <a:cs typeface="JetBrains Mono"/>
              </a:rPr>
              <a:t>20</a:t>
            </a:r>
          </a:p>
        </p:txBody>
      </p:sp>
      <p:sp>
        <p:nvSpPr>
          <p:cNvPr id="40" name="TextBox 39"/>
          <p:cNvSpPr txBox="1"/>
          <p:nvPr/>
        </p:nvSpPr>
        <p:spPr>
          <a:xfrm>
            <a:off x="6527800" y="3058021"/>
            <a:ext cx="3610356" cy="266700"/>
          </a:xfrm>
          <a:prstGeom prst="rect">
            <a:avLst/>
          </a:prstGeom>
          <a:noFill/>
        </p:spPr>
        <p:txBody>
          <a:bodyPr wrap="square" lIns="0" rIns="0" tIns="0" bIns="0" anchor="t">
            <a:normAutofit/>
          </a:bodyPr>
          <a:lstStyle/>
          <a:p>
            <a:pPr algn="l" marL="0" indent="0">
              <a:lnSpc>
                <a:spcPts val="2100"/>
              </a:lnSpc>
              <a:buNone/>
            </a:pPr>
            <a:r>
              <a:rPr sz="1500" b="0" i="0">
                <a:solidFill>
                  <a:srgbClr val="E8EDF3"/>
                </a:solidFill>
                <a:latin typeface="JetBrains Mono"/>
                <a:ea typeface="JetBrains Mono"/>
                <a:cs typeface="JetBrains Mono"/>
              </a:rPr>
              <a:t>10 - 4 / 2</a:t>
            </a:r>
          </a:p>
        </p:txBody>
      </p:sp>
      <p:sp>
        <p:nvSpPr>
          <p:cNvPr id="41" name="TextBox 40"/>
          <p:cNvSpPr txBox="1"/>
          <p:nvPr/>
        </p:nvSpPr>
        <p:spPr>
          <a:xfrm>
            <a:off x="10109200" y="3058021"/>
            <a:ext cx="1046480" cy="266700"/>
          </a:xfrm>
          <a:prstGeom prst="rect">
            <a:avLst/>
          </a:prstGeom>
          <a:noFill/>
        </p:spPr>
        <p:txBody>
          <a:bodyPr wrap="square" lIns="0" rIns="0" tIns="0" bIns="0" anchor="t">
            <a:normAutofit/>
          </a:bodyPr>
          <a:lstStyle/>
          <a:p>
            <a:pPr algn="l" marL="0" indent="0">
              <a:lnSpc>
                <a:spcPts val="2100"/>
              </a:lnSpc>
              <a:buNone/>
            </a:pPr>
            <a:r>
              <a:rPr sz="1500" b="1" i="0">
                <a:solidFill>
                  <a:srgbClr val="9FD8A8"/>
                </a:solidFill>
                <a:latin typeface="JetBrains Mono"/>
                <a:ea typeface="JetBrains Mono"/>
                <a:cs typeface="JetBrains Mono"/>
              </a:rPr>
              <a:t>8.0</a:t>
            </a:r>
          </a:p>
        </p:txBody>
      </p:sp>
      <p:sp>
        <p:nvSpPr>
          <p:cNvPr id="42" name="TextBox 41"/>
          <p:cNvSpPr txBox="1"/>
          <p:nvPr/>
        </p:nvSpPr>
        <p:spPr>
          <a:xfrm>
            <a:off x="6527800" y="3400921"/>
            <a:ext cx="3610356" cy="266700"/>
          </a:xfrm>
          <a:prstGeom prst="rect">
            <a:avLst/>
          </a:prstGeom>
          <a:noFill/>
        </p:spPr>
        <p:txBody>
          <a:bodyPr wrap="square" lIns="0" rIns="0" tIns="0" bIns="0" anchor="t">
            <a:normAutofit/>
          </a:bodyPr>
          <a:lstStyle/>
          <a:p>
            <a:pPr algn="l" marL="0" indent="0">
              <a:lnSpc>
                <a:spcPts val="2100"/>
              </a:lnSpc>
              <a:buNone/>
            </a:pPr>
            <a:r>
              <a:rPr sz="1500" b="0" i="0">
                <a:solidFill>
                  <a:srgbClr val="E8EDF3"/>
                </a:solidFill>
                <a:latin typeface="JetBrains Mono"/>
                <a:ea typeface="JetBrains Mono"/>
                <a:cs typeface="JetBrains Mono"/>
              </a:rPr>
              <a:t>2 ** 3 * 2</a:t>
            </a:r>
          </a:p>
        </p:txBody>
      </p:sp>
      <p:sp>
        <p:nvSpPr>
          <p:cNvPr id="43" name="TextBox 42"/>
          <p:cNvSpPr txBox="1"/>
          <p:nvPr/>
        </p:nvSpPr>
        <p:spPr>
          <a:xfrm>
            <a:off x="10109200" y="3400921"/>
            <a:ext cx="1046480" cy="266700"/>
          </a:xfrm>
          <a:prstGeom prst="rect">
            <a:avLst/>
          </a:prstGeom>
          <a:noFill/>
        </p:spPr>
        <p:txBody>
          <a:bodyPr wrap="square" lIns="0" rIns="0" tIns="0" bIns="0" anchor="t">
            <a:normAutofit/>
          </a:bodyPr>
          <a:lstStyle/>
          <a:p>
            <a:pPr algn="l" marL="0" indent="0">
              <a:lnSpc>
                <a:spcPts val="2100"/>
              </a:lnSpc>
              <a:buNone/>
            </a:pPr>
            <a:r>
              <a:rPr sz="1500" b="1" i="0">
                <a:solidFill>
                  <a:srgbClr val="9FD8A8"/>
                </a:solidFill>
                <a:latin typeface="JetBrains Mono"/>
                <a:ea typeface="JetBrains Mono"/>
                <a:cs typeface="JetBrains Mono"/>
              </a:rPr>
              <a:t>16</a:t>
            </a:r>
          </a:p>
        </p:txBody>
      </p:sp>
      <p:sp>
        <p:nvSpPr>
          <p:cNvPr id="44" name="Rounded Rectangle 43"/>
          <p:cNvSpPr/>
          <p:nvPr/>
        </p:nvSpPr>
        <p:spPr>
          <a:xfrm>
            <a:off x="6280150" y="4029571"/>
            <a:ext cx="5092700" cy="1620441"/>
          </a:xfrm>
          <a:prstGeom prst="roundRect">
            <a:avLst>
              <a:gd name="adj" fmla="val 7837"/>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40500" y="4239121"/>
            <a:ext cx="4709160"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Shortcut operators</a:t>
            </a:r>
          </a:p>
        </p:txBody>
      </p:sp>
      <p:sp>
        <p:nvSpPr>
          <p:cNvPr id="46" name="Rounded Rectangle 45"/>
          <p:cNvSpPr/>
          <p:nvPr/>
        </p:nvSpPr>
        <p:spPr>
          <a:xfrm>
            <a:off x="6540500" y="4614962"/>
            <a:ext cx="4572000" cy="825500"/>
          </a:xfrm>
          <a:prstGeom prst="roundRect">
            <a:avLst>
              <a:gd name="adj" fmla="val 10769"/>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718300" y="4741962"/>
            <a:ext cx="4342892" cy="571500"/>
          </a:xfrm>
          <a:prstGeom prst="rect">
            <a:avLst/>
          </a:prstGeom>
          <a:noFill/>
        </p:spPr>
        <p:txBody>
          <a:bodyPr wrap="square" lIns="0" rIns="0" tIns="0" bIns="0" anchor="t">
            <a:normAutofit/>
          </a:bodyPr>
          <a:lstStyle/>
          <a:p>
            <a:pPr algn="l" marL="0" indent="0">
              <a:lnSpc>
                <a:spcPts val="2250"/>
              </a:lnSpc>
              <a:buNone/>
            </a:pPr>
            <a:r>
              <a:rPr sz="1500" b="0" i="0">
                <a:solidFill>
                  <a:srgbClr val="E8EDF3"/>
                </a:solidFill>
                <a:latin typeface="JetBrains Mono"/>
                <a:ea typeface="JetBrains Mono"/>
                <a:cs typeface="JetBrains Mono"/>
              </a:rPr>
              <a:t>x += 5  </a:t>
            </a:r>
            <a:r>
              <a:rPr sz="1500" b="0" i="0">
                <a:solidFill>
                  <a:srgbClr val="8FA3B8"/>
                </a:solidFill>
                <a:latin typeface="JetBrains Mono"/>
                <a:ea typeface="JetBrains Mono"/>
                <a:cs typeface="JetBrains Mono"/>
              </a:rPr>
              <a:t># same as x = x + 5</a:t>
            </a:r>
          </a:p>
          <a:p>
            <a:pPr algn="l" marL="0" indent="0">
              <a:lnSpc>
                <a:spcPts val="2250"/>
              </a:lnSpc>
              <a:buNone/>
            </a:pPr>
            <a:r>
              <a:rPr sz="1500" b="0" i="0">
                <a:solidFill>
                  <a:srgbClr val="E8EDF3"/>
                </a:solidFill>
                <a:latin typeface="JetBrains Mono"/>
                <a:ea typeface="JetBrains Mono"/>
                <a:cs typeface="JetBrains Mono"/>
              </a:rPr>
              <a:t>x *= 2  </a:t>
            </a:r>
            <a:r>
              <a:rPr sz="1500" b="0" i="0">
                <a:solidFill>
                  <a:srgbClr val="8FA3B8"/>
                </a:solidFill>
                <a:latin typeface="JetBrains Mono"/>
                <a:ea typeface="JetBrains Mono"/>
                <a:cs typeface="JetBrains Mono"/>
              </a:rPr>
              <a:t># same as x = x * 2</a:t>
            </a:r>
          </a:p>
        </p:txBody>
      </p:sp>
      <p:sp>
        <p:nvSpPr>
          <p:cNvPr id="48" name="TextBox 47"/>
          <p:cNvSpPr txBox="1"/>
          <p:nvPr/>
        </p:nvSpPr>
        <p:spPr>
          <a:xfrm>
            <a:off x="812800" y="6238280"/>
            <a:ext cx="10883392" cy="213320"/>
          </a:xfrm>
          <a:prstGeom prst="rect">
            <a:avLst/>
          </a:prstGeom>
          <a:noFill/>
        </p:spPr>
        <p:txBody>
          <a:bodyPr wrap="square" lIns="0" rIns="0" tIns="0" bIns="0" anchor="t">
            <a:normAutofit/>
          </a:bodyPr>
          <a:lstStyle/>
          <a:p>
            <a:pPr algn="l" marL="0" indent="0">
              <a:lnSpc>
                <a:spcPts val="1680"/>
              </a:lnSpc>
              <a:buNone/>
            </a:pPr>
            <a:r>
              <a:rPr sz="1200" b="0" i="0">
                <a:solidFill>
                  <a:srgbClr val="5F6B7A"/>
                </a:solidFill>
                <a:latin typeface="Rubik"/>
                <a:ea typeface="Rubik"/>
                <a:cs typeface="Rubik"/>
              </a:rPr>
              <a:t>Python Programming · Week 1 · Class 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3" name="TextBox 2"/>
          <p:cNvSpPr txBox="1"/>
          <p:nvPr/>
        </p:nvSpPr>
        <p:spPr>
          <a:xfrm>
            <a:off x="812800" y="812800"/>
            <a:ext cx="10883392"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CLASS 3 · NEAT OUTPUT</a:t>
            </a:r>
          </a:p>
        </p:txBody>
      </p:sp>
      <p:sp>
        <p:nvSpPr>
          <p:cNvPr id="2" name="Title 1"/>
          <p:cNvSpPr>
            <a:spLocks noGrp="1"/>
          </p:cNvSpPr>
          <p:nvPr>
            <p:ph type="title"/>
          </p:nvPr>
        </p:nvSpPr>
        <p:spPr>
          <a:xfrm>
            <a:off x="812800" y="1102320"/>
            <a:ext cx="10883392" cy="446980"/>
          </a:xfrm>
        </p:spPr>
        <p:txBody>
          <a:bodyPr wrap="square" lIns="0" rIns="0" tIns="0" bIns="0" anchor="t">
            <a:normAutofit/>
          </a:bodyPr>
          <a:lstStyle/>
          <a:p>
            <a:pPr algn="l" marL="0" indent="0">
              <a:lnSpc>
                <a:spcPts val="3520"/>
              </a:lnSpc>
              <a:buNone/>
            </a:pPr>
            <a:r>
              <a:rPr sz="3200" b="1" i="0">
                <a:solidFill>
                  <a:srgbClr val="1B2A41"/>
                </a:solidFill>
                <a:latin typeface="Rubik"/>
                <a:ea typeface="Rubik"/>
                <a:cs typeface="Rubik"/>
              </a:rPr>
              <a:t>f-strings: fill in the blanks</a:t>
            </a:r>
          </a:p>
        </p:txBody>
      </p:sp>
      <p:sp>
        <p:nvSpPr>
          <p:cNvPr id="4" name="Rounded Rectangle 3"/>
          <p:cNvSpPr/>
          <p:nvPr/>
        </p:nvSpPr>
        <p:spPr>
          <a:xfrm>
            <a:off x="812800" y="1854101"/>
            <a:ext cx="5597227" cy="2073870"/>
          </a:xfrm>
          <a:prstGeom prst="roundRect">
            <a:avLst>
              <a:gd name="adj" fmla="val 6123"/>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2200" y="2031901"/>
            <a:ext cx="5189580" cy="213320"/>
          </a:xfrm>
          <a:prstGeom prst="rect">
            <a:avLst/>
          </a:prstGeom>
          <a:noFill/>
        </p:spPr>
        <p:txBody>
          <a:bodyPr wrap="square" lIns="0" rIns="0" tIns="0" bIns="0" anchor="t">
            <a:normAutofit/>
          </a:bodyPr>
          <a:lstStyle/>
          <a:p>
            <a:pPr algn="l" marL="0" indent="0">
              <a:lnSpc>
                <a:spcPts val="1680"/>
              </a:lnSpc>
              <a:buNone/>
            </a:pPr>
            <a:r>
              <a:rPr sz="1200" b="0" i="0">
                <a:solidFill>
                  <a:srgbClr val="8FA3B8"/>
                </a:solidFill>
                <a:latin typeface="JetBrains Mono"/>
                <a:ea typeface="JetBrains Mono"/>
                <a:cs typeface="JetBrains Mono"/>
              </a:rPr>
              <a:t>report.py</a:t>
            </a:r>
          </a:p>
        </p:txBody>
      </p:sp>
      <p:sp>
        <p:nvSpPr>
          <p:cNvPr id="6" name="TextBox 5"/>
          <p:cNvSpPr txBox="1"/>
          <p:nvPr/>
        </p:nvSpPr>
        <p:spPr>
          <a:xfrm>
            <a:off x="1092200" y="2321421"/>
            <a:ext cx="5189580" cy="1428750"/>
          </a:xfrm>
          <a:prstGeom prst="rect">
            <a:avLst/>
          </a:prstGeom>
          <a:noFill/>
        </p:spPr>
        <p:txBody>
          <a:bodyPr wrap="square" lIns="0" rIns="0" tIns="0" bIns="0" anchor="t">
            <a:normAutofit/>
          </a:bodyPr>
          <a:lstStyle/>
          <a:p>
            <a:pPr algn="l" marL="0" indent="0">
              <a:lnSpc>
                <a:spcPts val="2250"/>
              </a:lnSpc>
              <a:buNone/>
            </a:pPr>
            <a:r>
              <a:rPr sz="1500" b="0" i="0">
                <a:solidFill>
                  <a:srgbClr val="E8EDF3"/>
                </a:solidFill>
                <a:latin typeface="JetBrains Mono"/>
                <a:ea typeface="JetBrains Mono"/>
                <a:cs typeface="JetBrains Mono"/>
              </a:rPr>
              <a:t>name = </a:t>
            </a:r>
            <a:r>
              <a:rPr sz="1500" b="0" i="0">
                <a:solidFill>
                  <a:srgbClr val="9FD8A8"/>
                </a:solidFill>
                <a:latin typeface="JetBrains Mono"/>
                <a:ea typeface="JetBrains Mono"/>
                <a:cs typeface="JetBrains Mono"/>
              </a:rPr>
              <a:t>"Priyanka"</a:t>
            </a:r>
          </a:p>
          <a:p>
            <a:pPr algn="l" marL="0" indent="0">
              <a:lnSpc>
                <a:spcPts val="2250"/>
              </a:lnSpc>
              <a:buNone/>
            </a:pPr>
            <a:r>
              <a:rPr sz="1500" b="0" i="0">
                <a:solidFill>
                  <a:srgbClr val="E8EDF3"/>
                </a:solidFill>
                <a:latin typeface="JetBrains Mono"/>
                <a:ea typeface="JetBrains Mono"/>
                <a:cs typeface="JetBrains Mono"/>
              </a:rPr>
              <a:t>marks = 437</a:t>
            </a:r>
          </a:p>
          <a:p>
            <a:pPr algn="l" marL="0" indent="0">
              <a:lnSpc>
                <a:spcPts val="2250"/>
              </a:lnSpc>
              <a:buNone/>
            </a:pPr>
            <a:r>
              <a:rPr sz="1500" b="0" i="0">
                <a:solidFill>
                  <a:srgbClr val="E8EDF3"/>
                </a:solidFill>
                <a:latin typeface="JetBrains Mono"/>
                <a:ea typeface="JetBrains Mono"/>
                <a:cs typeface="JetBrains Mono"/>
              </a:rPr>
              <a:t>total = 500</a:t>
            </a:r>
          </a:p>
          <a:p>
            <a:pPr algn="l" marL="0" indent="0">
              <a:lnSpc>
                <a:spcPts val="2250"/>
              </a:lnSpc>
              <a:buNone/>
            </a:pPr>
            <a:r>
              <a:rPr sz="1500" b="0" i="0">
                <a:solidFill>
                  <a:srgbClr val="E8EDF3"/>
                </a:solidFill>
                <a:latin typeface="JetBrains Mono"/>
                <a:ea typeface="JetBrains Mono"/>
                <a:cs typeface="JetBrains Mono"/>
              </a:rPr>
              <a:t>pct = marks / total * 100</a:t>
            </a:r>
          </a:p>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t>
            </a:r>
            <a:r>
              <a:rPr sz="1500" b="0" i="0">
                <a:solidFill>
                  <a:srgbClr val="9FD8A8"/>
                </a:solidFill>
                <a:latin typeface="JetBrains Mono"/>
                <a:ea typeface="JetBrains Mono"/>
                <a:cs typeface="JetBrains Mono"/>
              </a:rPr>
              <a:t>f"{name} scored {pct:.2f}%"</a:t>
            </a:r>
            <a:r>
              <a:rPr sz="1500" b="0" i="0">
                <a:solidFill>
                  <a:srgbClr val="E8EDF3"/>
                </a:solidFill>
                <a:latin typeface="JetBrains Mono"/>
                <a:ea typeface="JetBrains Mono"/>
                <a:cs typeface="JetBrains Mono"/>
              </a:rPr>
              <a:t>)</a:t>
            </a:r>
          </a:p>
        </p:txBody>
      </p:sp>
      <p:sp>
        <p:nvSpPr>
          <p:cNvPr id="7" name="Rounded Rectangle 6"/>
          <p:cNvSpPr/>
          <p:nvPr/>
        </p:nvSpPr>
        <p:spPr>
          <a:xfrm>
            <a:off x="819150" y="4061321"/>
            <a:ext cx="5584527" cy="943570"/>
          </a:xfrm>
          <a:prstGeom prst="roundRect">
            <a:avLst>
              <a:gd name="adj" fmla="val 13459"/>
            </a:avLst>
          </a:prstGeom>
          <a:solidFill>
            <a:srgbClr val="FFFDF8"/>
          </a:solidFill>
          <a:ln w="12700">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4900" y="4245471"/>
            <a:ext cx="5163418"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OUTPUT</a:t>
            </a:r>
          </a:p>
        </p:txBody>
      </p:sp>
      <p:sp>
        <p:nvSpPr>
          <p:cNvPr id="9" name="TextBox 8"/>
          <p:cNvSpPr txBox="1"/>
          <p:nvPr/>
        </p:nvSpPr>
        <p:spPr>
          <a:xfrm>
            <a:off x="1104900" y="4534991"/>
            <a:ext cx="5163418" cy="285750"/>
          </a:xfrm>
          <a:prstGeom prst="rect">
            <a:avLst/>
          </a:prstGeom>
          <a:noFill/>
        </p:spPr>
        <p:txBody>
          <a:bodyPr wrap="square" lIns="0" rIns="0" tIns="0" bIns="0" anchor="t">
            <a:normAutofit/>
          </a:bodyPr>
          <a:lstStyle/>
          <a:p>
            <a:pPr algn="l" marL="0" indent="0">
              <a:lnSpc>
                <a:spcPts val="2250"/>
              </a:lnSpc>
              <a:buNone/>
            </a:pPr>
            <a:r>
              <a:rPr sz="1500" b="0" i="0">
                <a:solidFill>
                  <a:srgbClr val="1B2A41"/>
                </a:solidFill>
                <a:latin typeface="JetBrains Mono"/>
                <a:ea typeface="JetBrains Mono"/>
                <a:cs typeface="JetBrains Mono"/>
              </a:rPr>
              <a:t>Priyanka scored 87.40%</a:t>
            </a:r>
          </a:p>
        </p:txBody>
      </p:sp>
      <p:sp>
        <p:nvSpPr>
          <p:cNvPr id="10" name="Rounded Rectangle 9"/>
          <p:cNvSpPr/>
          <p:nvPr/>
        </p:nvSpPr>
        <p:spPr>
          <a:xfrm>
            <a:off x="6721177" y="1860451"/>
            <a:ext cx="4651573" cy="1168400"/>
          </a:xfrm>
          <a:prstGeom prst="roundRect">
            <a:avLst>
              <a:gd name="adj" fmla="val 10869"/>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30727" y="2019201"/>
            <a:ext cx="4359448"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f"..."</a:t>
            </a:r>
          </a:p>
        </p:txBody>
      </p:sp>
      <p:sp>
        <p:nvSpPr>
          <p:cNvPr id="12" name="TextBox 11"/>
          <p:cNvSpPr txBox="1"/>
          <p:nvPr/>
        </p:nvSpPr>
        <p:spPr>
          <a:xfrm>
            <a:off x="6930727" y="2336701"/>
            <a:ext cx="4359448" cy="5334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An f before the quote means: this text has blanks to fill</a:t>
            </a:r>
          </a:p>
        </p:txBody>
      </p:sp>
      <p:sp>
        <p:nvSpPr>
          <p:cNvPr id="13" name="Rounded Rectangle 12"/>
          <p:cNvSpPr/>
          <p:nvPr/>
        </p:nvSpPr>
        <p:spPr>
          <a:xfrm>
            <a:off x="6721177" y="3168551"/>
            <a:ext cx="4651573" cy="1168400"/>
          </a:xfrm>
          <a:prstGeom prst="roundRect">
            <a:avLst>
              <a:gd name="adj" fmla="val 10869"/>
            </a:avLst>
          </a:prstGeom>
          <a:solidFill>
            <a:srgbClr val="FFFDF8"/>
          </a:solidFill>
          <a:ln w="12700">
            <a:solidFill>
              <a:srgbClr val="E2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30727" y="3327301"/>
            <a:ext cx="4359448" cy="266700"/>
          </a:xfrm>
          <a:prstGeom prst="rect">
            <a:avLst/>
          </a:prstGeom>
          <a:noFill/>
        </p:spPr>
        <p:txBody>
          <a:bodyPr wrap="square" lIns="0" rIns="0" tIns="0" bIns="0" anchor="t">
            <a:normAutofit/>
          </a:bodyPr>
          <a:lstStyle/>
          <a:p>
            <a:pPr algn="l" marL="0" indent="0">
              <a:lnSpc>
                <a:spcPts val="2100"/>
              </a:lnSpc>
              <a:buNone/>
            </a:pPr>
            <a:r>
              <a:rPr sz="1500" b="1" i="0">
                <a:solidFill>
                  <a:srgbClr val="2A64A3"/>
                </a:solidFill>
                <a:latin typeface="JetBrains Mono"/>
                <a:ea typeface="JetBrains Mono"/>
                <a:cs typeface="JetBrains Mono"/>
              </a:rPr>
              <a:t>{name}</a:t>
            </a:r>
          </a:p>
        </p:txBody>
      </p:sp>
      <p:sp>
        <p:nvSpPr>
          <p:cNvPr id="15" name="TextBox 14"/>
          <p:cNvSpPr txBox="1"/>
          <p:nvPr/>
        </p:nvSpPr>
        <p:spPr>
          <a:xfrm>
            <a:off x="6930727" y="3644801"/>
            <a:ext cx="4359448" cy="5334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Curly braces are the blanks. Put a variable or a sum inside</a:t>
            </a:r>
          </a:p>
        </p:txBody>
      </p:sp>
      <p:sp>
        <p:nvSpPr>
          <p:cNvPr id="16" name="Rounded Rectangle 15"/>
          <p:cNvSpPr/>
          <p:nvPr/>
        </p:nvSpPr>
        <p:spPr>
          <a:xfrm>
            <a:off x="6714827" y="4470301"/>
            <a:ext cx="4664273" cy="889000"/>
          </a:xfrm>
          <a:prstGeom prst="roundRect">
            <a:avLst>
              <a:gd name="adj" fmla="val 14285"/>
            </a:avLst>
          </a:prstGeom>
          <a:solidFill>
            <a:srgbClr val="FBE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18027" y="4622701"/>
            <a:ext cx="4385610" cy="266700"/>
          </a:xfrm>
          <a:prstGeom prst="rect">
            <a:avLst/>
          </a:prstGeom>
          <a:noFill/>
        </p:spPr>
        <p:txBody>
          <a:bodyPr wrap="square" lIns="0" rIns="0" tIns="0" bIns="0" anchor="t">
            <a:normAutofit/>
          </a:bodyPr>
          <a:lstStyle/>
          <a:p>
            <a:pPr algn="l" marL="0" indent="0">
              <a:lnSpc>
                <a:spcPts val="2100"/>
              </a:lnSpc>
              <a:buNone/>
            </a:pPr>
            <a:r>
              <a:rPr sz="1500" b="1" i="0">
                <a:solidFill>
                  <a:srgbClr val="8A5A00"/>
                </a:solidFill>
                <a:latin typeface="JetBrains Mono"/>
                <a:ea typeface="JetBrains Mono"/>
                <a:cs typeface="JetBrains Mono"/>
              </a:rPr>
              <a:t>{pct:.2f}</a:t>
            </a:r>
          </a:p>
        </p:txBody>
      </p:sp>
      <p:sp>
        <p:nvSpPr>
          <p:cNvPr id="18" name="TextBox 17"/>
          <p:cNvSpPr txBox="1"/>
          <p:nvPr/>
        </p:nvSpPr>
        <p:spPr>
          <a:xfrm>
            <a:off x="6918027" y="4940201"/>
            <a:ext cx="4385610" cy="266700"/>
          </a:xfrm>
          <a:prstGeom prst="rect">
            <a:avLst/>
          </a:prstGeom>
          <a:noFill/>
        </p:spPr>
        <p:txBody>
          <a:bodyPr wrap="square" lIns="0" rIns="0" tIns="0" bIns="0" anchor="t">
            <a:normAutofit/>
          </a:bodyPr>
          <a:lstStyle/>
          <a:p>
            <a:pPr algn="l" marL="0" indent="0">
              <a:lnSpc>
                <a:spcPts val="2100"/>
              </a:lnSpc>
              <a:buNone/>
            </a:pPr>
            <a:r>
              <a:rPr sz="1500" b="0" i="0">
                <a:solidFill>
                  <a:srgbClr val="1B2A41"/>
                </a:solidFill>
                <a:latin typeface="Rubik"/>
                <a:ea typeface="Rubik"/>
                <a:cs typeface="Rubik"/>
              </a:rPr>
              <a:t>Show exactly 2 digits after the decimal point</a:t>
            </a:r>
          </a:p>
        </p:txBody>
      </p:sp>
      <p:sp>
        <p:nvSpPr>
          <p:cNvPr id="19" name="TextBox 18"/>
          <p:cNvSpPr txBox="1"/>
          <p:nvPr/>
        </p:nvSpPr>
        <p:spPr>
          <a:xfrm>
            <a:off x="812800" y="6238280"/>
            <a:ext cx="10883392" cy="213320"/>
          </a:xfrm>
          <a:prstGeom prst="rect">
            <a:avLst/>
          </a:prstGeom>
          <a:noFill/>
        </p:spPr>
        <p:txBody>
          <a:bodyPr wrap="square" lIns="0" rIns="0" tIns="0" bIns="0" anchor="t">
            <a:normAutofit/>
          </a:bodyPr>
          <a:lstStyle/>
          <a:p>
            <a:pPr algn="l" marL="0" indent="0">
              <a:lnSpc>
                <a:spcPts val="1680"/>
              </a:lnSpc>
              <a:buNone/>
            </a:pPr>
            <a:r>
              <a:rPr sz="1200" b="0" i="0">
                <a:solidFill>
                  <a:srgbClr val="5F6B7A"/>
                </a:solidFill>
                <a:latin typeface="Rubik"/>
                <a:ea typeface="Rubik"/>
                <a:cs typeface="Rubik"/>
              </a:rPr>
              <a:t>Python Programming · Week 1 · Class 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3" name="TextBox 2"/>
          <p:cNvSpPr txBox="1"/>
          <p:nvPr/>
        </p:nvSpPr>
        <p:spPr>
          <a:xfrm>
            <a:off x="812800" y="812800"/>
            <a:ext cx="10883392"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CLASS 3 · PUTTING IT TOGETHER</a:t>
            </a:r>
          </a:p>
        </p:txBody>
      </p:sp>
      <p:sp>
        <p:nvSpPr>
          <p:cNvPr id="2" name="Title 1"/>
          <p:cNvSpPr>
            <a:spLocks noGrp="1"/>
          </p:cNvSpPr>
          <p:nvPr>
            <p:ph type="title"/>
          </p:nvPr>
        </p:nvSpPr>
        <p:spPr>
          <a:xfrm>
            <a:off x="812800" y="1102320"/>
            <a:ext cx="10883392" cy="446980"/>
          </a:xfrm>
        </p:spPr>
        <p:txBody>
          <a:bodyPr wrap="square" lIns="0" rIns="0" tIns="0" bIns="0" anchor="t">
            <a:normAutofit/>
          </a:bodyPr>
          <a:lstStyle/>
          <a:p>
            <a:pPr algn="l" marL="0" indent="0">
              <a:lnSpc>
                <a:spcPts val="3520"/>
              </a:lnSpc>
              <a:buNone/>
            </a:pPr>
            <a:r>
              <a:rPr sz="3200" b="1" i="0">
                <a:solidFill>
                  <a:srgbClr val="1B2A41"/>
                </a:solidFill>
                <a:latin typeface="Rubik"/>
                <a:ea typeface="Rubik"/>
                <a:cs typeface="Rubik"/>
              </a:rPr>
              <a:t>Program: simple interest calculator</a:t>
            </a:r>
          </a:p>
        </p:txBody>
      </p:sp>
      <p:sp>
        <p:nvSpPr>
          <p:cNvPr id="4" name="Rounded Rectangle 3"/>
          <p:cNvSpPr/>
          <p:nvPr/>
        </p:nvSpPr>
        <p:spPr>
          <a:xfrm>
            <a:off x="812800" y="1854101"/>
            <a:ext cx="5894884" cy="2696170"/>
          </a:xfrm>
          <a:prstGeom prst="roundRect">
            <a:avLst>
              <a:gd name="adj" fmla="val 471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2200" y="2057301"/>
            <a:ext cx="5496166" cy="213320"/>
          </a:xfrm>
          <a:prstGeom prst="rect">
            <a:avLst/>
          </a:prstGeom>
          <a:noFill/>
        </p:spPr>
        <p:txBody>
          <a:bodyPr wrap="square" lIns="0" rIns="0" tIns="0" bIns="0" anchor="t">
            <a:normAutofit/>
          </a:bodyPr>
          <a:lstStyle/>
          <a:p>
            <a:pPr algn="l" marL="0" indent="0">
              <a:lnSpc>
                <a:spcPts val="1680"/>
              </a:lnSpc>
              <a:buNone/>
            </a:pPr>
            <a:r>
              <a:rPr sz="1200" b="0" i="0">
                <a:solidFill>
                  <a:srgbClr val="8FA3B8"/>
                </a:solidFill>
                <a:latin typeface="JetBrains Mono"/>
                <a:ea typeface="JetBrains Mono"/>
                <a:cs typeface="JetBrains Mono"/>
              </a:rPr>
              <a:t>interest.py</a:t>
            </a:r>
          </a:p>
        </p:txBody>
      </p:sp>
      <p:sp>
        <p:nvSpPr>
          <p:cNvPr id="6" name="TextBox 5"/>
          <p:cNvSpPr txBox="1"/>
          <p:nvPr/>
        </p:nvSpPr>
        <p:spPr>
          <a:xfrm>
            <a:off x="1092200" y="2346821"/>
            <a:ext cx="5496166" cy="2000250"/>
          </a:xfrm>
          <a:prstGeom prst="rect">
            <a:avLst/>
          </a:prstGeom>
          <a:noFill/>
        </p:spPr>
        <p:txBody>
          <a:bodyPr wrap="square" lIns="0" rIns="0" tIns="0" bIns="0" anchor="t">
            <a:normAutofit/>
          </a:bodyPr>
          <a:lstStyle/>
          <a:p>
            <a:pPr algn="l" marL="0" indent="0">
              <a:lnSpc>
                <a:spcPts val="2250"/>
              </a:lnSpc>
              <a:buNone/>
            </a:pPr>
            <a:r>
              <a:rPr sz="1500" b="0" i="0">
                <a:solidFill>
                  <a:srgbClr val="8FA3B8"/>
                </a:solidFill>
                <a:latin typeface="JetBrains Mono"/>
                <a:ea typeface="JetBrains Mono"/>
                <a:cs typeface="JetBrains Mono"/>
              </a:rPr>
              <a:t># Simple interest calculator</a:t>
            </a:r>
          </a:p>
          <a:p>
            <a:pPr algn="l" marL="0" indent="0">
              <a:lnSpc>
                <a:spcPts val="2250"/>
              </a:lnSpc>
              <a:buNone/>
            </a:pPr>
            <a:r>
              <a:rPr sz="1500" b="0" i="0">
                <a:solidFill>
                  <a:srgbClr val="E8EDF3"/>
                </a:solidFill>
                <a:latin typeface="JetBrains Mono"/>
                <a:ea typeface="JetBrains Mono"/>
                <a:cs typeface="JetBrains Mono"/>
              </a:rPr>
              <a:t>p = </a:t>
            </a:r>
            <a:r>
              <a:rPr sz="1500" b="0" i="0">
                <a:solidFill>
                  <a:srgbClr val="F2B33D"/>
                </a:solidFill>
                <a:latin typeface="JetBrains Mono"/>
                <a:ea typeface="JetBrains Mono"/>
                <a:cs typeface="JetBrains Mono"/>
              </a:rPr>
              <a:t>float</a:t>
            </a:r>
            <a:r>
              <a:rPr sz="1500" b="0" i="0">
                <a:solidFill>
                  <a:srgbClr val="E8EDF3"/>
                </a:solidFill>
                <a:latin typeface="JetBrains Mono"/>
                <a:ea typeface="JetBrains Mono"/>
                <a:cs typeface="JetBrains Mono"/>
              </a:rPr>
              <a:t>(</a:t>
            </a:r>
            <a:r>
              <a:rPr sz="1500" b="0" i="0">
                <a:solidFill>
                  <a:srgbClr val="F2B33D"/>
                </a:solidFill>
                <a:latin typeface="JetBrains Mono"/>
                <a:ea typeface="JetBrains Mono"/>
                <a:cs typeface="JetBrains Mono"/>
              </a:rPr>
              <a:t>input</a:t>
            </a:r>
            <a:r>
              <a:rPr sz="1500" b="0" i="0">
                <a:solidFill>
                  <a:srgbClr val="E8EDF3"/>
                </a:solidFill>
                <a:latin typeface="JetBrains Mono"/>
                <a:ea typeface="JetBrains Mono"/>
                <a:cs typeface="JetBrains Mono"/>
              </a:rPr>
              <a:t>(</a:t>
            </a:r>
            <a:r>
              <a:rPr sz="1500" b="0" i="0">
                <a:solidFill>
                  <a:srgbClr val="9FD8A8"/>
                </a:solidFill>
                <a:latin typeface="JetBrains Mono"/>
                <a:ea typeface="JetBrains Mono"/>
                <a:cs typeface="JetBrains Mono"/>
              </a:rPr>
              <a:t>"Principal (Rs.): "</a:t>
            </a:r>
            <a:r>
              <a:rPr sz="1500" b="0" i="0">
                <a:solidFill>
                  <a:srgbClr val="E8EDF3"/>
                </a:solidFill>
                <a:latin typeface="JetBrains Mono"/>
                <a:ea typeface="JetBrains Mono"/>
                <a:cs typeface="JetBrains Mono"/>
              </a:rPr>
              <a:t>))</a:t>
            </a:r>
          </a:p>
          <a:p>
            <a:pPr algn="l" marL="0" indent="0">
              <a:lnSpc>
                <a:spcPts val="2250"/>
              </a:lnSpc>
              <a:buNone/>
            </a:pPr>
            <a:r>
              <a:rPr sz="1500" b="0" i="0">
                <a:solidFill>
                  <a:srgbClr val="E8EDF3"/>
                </a:solidFill>
                <a:latin typeface="JetBrains Mono"/>
                <a:ea typeface="JetBrains Mono"/>
                <a:cs typeface="JetBrains Mono"/>
              </a:rPr>
              <a:t>r = </a:t>
            </a:r>
            <a:r>
              <a:rPr sz="1500" b="0" i="0">
                <a:solidFill>
                  <a:srgbClr val="F2B33D"/>
                </a:solidFill>
                <a:latin typeface="JetBrains Mono"/>
                <a:ea typeface="JetBrains Mono"/>
                <a:cs typeface="JetBrains Mono"/>
              </a:rPr>
              <a:t>float</a:t>
            </a:r>
            <a:r>
              <a:rPr sz="1500" b="0" i="0">
                <a:solidFill>
                  <a:srgbClr val="E8EDF3"/>
                </a:solidFill>
                <a:latin typeface="JetBrains Mono"/>
                <a:ea typeface="JetBrains Mono"/>
                <a:cs typeface="JetBrains Mono"/>
              </a:rPr>
              <a:t>(</a:t>
            </a:r>
            <a:r>
              <a:rPr sz="1500" b="0" i="0">
                <a:solidFill>
                  <a:srgbClr val="F2B33D"/>
                </a:solidFill>
                <a:latin typeface="JetBrains Mono"/>
                <a:ea typeface="JetBrains Mono"/>
                <a:cs typeface="JetBrains Mono"/>
              </a:rPr>
              <a:t>input</a:t>
            </a:r>
            <a:r>
              <a:rPr sz="1500" b="0" i="0">
                <a:solidFill>
                  <a:srgbClr val="E8EDF3"/>
                </a:solidFill>
                <a:latin typeface="JetBrains Mono"/>
                <a:ea typeface="JetBrains Mono"/>
                <a:cs typeface="JetBrains Mono"/>
              </a:rPr>
              <a:t>(</a:t>
            </a:r>
            <a:r>
              <a:rPr sz="1500" b="0" i="0">
                <a:solidFill>
                  <a:srgbClr val="9FD8A8"/>
                </a:solidFill>
                <a:latin typeface="JetBrains Mono"/>
                <a:ea typeface="JetBrains Mono"/>
                <a:cs typeface="JetBrains Mono"/>
              </a:rPr>
              <a:t>"Rate (% per year): "</a:t>
            </a:r>
            <a:r>
              <a:rPr sz="1500" b="0" i="0">
                <a:solidFill>
                  <a:srgbClr val="E8EDF3"/>
                </a:solidFill>
                <a:latin typeface="JetBrains Mono"/>
                <a:ea typeface="JetBrains Mono"/>
                <a:cs typeface="JetBrains Mono"/>
              </a:rPr>
              <a:t>))</a:t>
            </a:r>
          </a:p>
          <a:p>
            <a:pPr algn="l" marL="0" indent="0">
              <a:lnSpc>
                <a:spcPts val="2250"/>
              </a:lnSpc>
              <a:buNone/>
            </a:pPr>
            <a:r>
              <a:rPr sz="1500" b="0" i="0">
                <a:solidFill>
                  <a:srgbClr val="E8EDF3"/>
                </a:solidFill>
                <a:latin typeface="JetBrains Mono"/>
                <a:ea typeface="JetBrains Mono"/>
                <a:cs typeface="JetBrains Mono"/>
              </a:rPr>
              <a:t>t = </a:t>
            </a:r>
            <a:r>
              <a:rPr sz="1500" b="0" i="0">
                <a:solidFill>
                  <a:srgbClr val="F2B33D"/>
                </a:solidFill>
                <a:latin typeface="JetBrains Mono"/>
                <a:ea typeface="JetBrains Mono"/>
                <a:cs typeface="JetBrains Mono"/>
              </a:rPr>
              <a:t>float</a:t>
            </a:r>
            <a:r>
              <a:rPr sz="1500" b="0" i="0">
                <a:solidFill>
                  <a:srgbClr val="E8EDF3"/>
                </a:solidFill>
                <a:latin typeface="JetBrains Mono"/>
                <a:ea typeface="JetBrains Mono"/>
                <a:cs typeface="JetBrains Mono"/>
              </a:rPr>
              <a:t>(</a:t>
            </a:r>
            <a:r>
              <a:rPr sz="1500" b="0" i="0">
                <a:solidFill>
                  <a:srgbClr val="F2B33D"/>
                </a:solidFill>
                <a:latin typeface="JetBrains Mono"/>
                <a:ea typeface="JetBrains Mono"/>
                <a:cs typeface="JetBrains Mono"/>
              </a:rPr>
              <a:t>input</a:t>
            </a:r>
            <a:r>
              <a:rPr sz="1500" b="0" i="0">
                <a:solidFill>
                  <a:srgbClr val="E8EDF3"/>
                </a:solidFill>
                <a:latin typeface="JetBrains Mono"/>
                <a:ea typeface="JetBrains Mono"/>
                <a:cs typeface="JetBrains Mono"/>
              </a:rPr>
              <a:t>(</a:t>
            </a:r>
            <a:r>
              <a:rPr sz="1500" b="0" i="0">
                <a:solidFill>
                  <a:srgbClr val="9FD8A8"/>
                </a:solidFill>
                <a:latin typeface="JetBrains Mono"/>
                <a:ea typeface="JetBrains Mono"/>
                <a:cs typeface="JetBrains Mono"/>
              </a:rPr>
              <a:t>"Time (years): "</a:t>
            </a:r>
            <a:r>
              <a:rPr sz="1500" b="0" i="0">
                <a:solidFill>
                  <a:srgbClr val="E8EDF3"/>
                </a:solidFill>
                <a:latin typeface="JetBrains Mono"/>
                <a:ea typeface="JetBrains Mono"/>
                <a:cs typeface="JetBrains Mono"/>
              </a:rPr>
              <a:t>))</a:t>
            </a:r>
          </a:p>
          <a:p>
            <a:pPr algn="l" marL="0" indent="0">
              <a:lnSpc>
                <a:spcPts val="2250"/>
              </a:lnSpc>
              <a:buNone/>
            </a:pPr>
            <a:r>
              <a:rPr sz="1500" b="0" i="0">
                <a:solidFill>
                  <a:srgbClr val="E8EDF3"/>
                </a:solidFill>
                <a:latin typeface="JetBrains Mono"/>
                <a:ea typeface="JetBrains Mono"/>
                <a:cs typeface="JetBrains Mono"/>
              </a:rPr>
              <a:t>si = p * r * t / 100</a:t>
            </a:r>
          </a:p>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t>
            </a:r>
            <a:r>
              <a:rPr sz="1500" b="0" i="0">
                <a:solidFill>
                  <a:srgbClr val="9FD8A8"/>
                </a:solidFill>
                <a:latin typeface="JetBrains Mono"/>
                <a:ea typeface="JetBrains Mono"/>
                <a:cs typeface="JetBrains Mono"/>
              </a:rPr>
              <a:t>f"Simple interest = Rs. {si:.2f}"</a:t>
            </a:r>
            <a:r>
              <a:rPr sz="1500" b="0" i="0">
                <a:solidFill>
                  <a:srgbClr val="E8EDF3"/>
                </a:solidFill>
                <a:latin typeface="JetBrains Mono"/>
                <a:ea typeface="JetBrains Mono"/>
                <a:cs typeface="JetBrains Mono"/>
              </a:rPr>
              <a:t>)</a:t>
            </a:r>
          </a:p>
          <a:p>
            <a:pPr algn="l" marL="0" indent="0">
              <a:lnSpc>
                <a:spcPts val="2250"/>
              </a:lnSpc>
              <a:buNone/>
            </a:pPr>
            <a:r>
              <a:rPr sz="1500" b="0" i="0">
                <a:solidFill>
                  <a:srgbClr val="F2B33D"/>
                </a:solidFill>
                <a:latin typeface="JetBrains Mono"/>
                <a:ea typeface="JetBrains Mono"/>
                <a:cs typeface="JetBrains Mono"/>
              </a:rPr>
              <a:t>print</a:t>
            </a:r>
            <a:r>
              <a:rPr sz="1500" b="0" i="0">
                <a:solidFill>
                  <a:srgbClr val="E8EDF3"/>
                </a:solidFill>
                <a:latin typeface="JetBrains Mono"/>
                <a:ea typeface="JetBrains Mono"/>
                <a:cs typeface="JetBrains Mono"/>
              </a:rPr>
              <a:t>(</a:t>
            </a:r>
            <a:r>
              <a:rPr sz="1500" b="0" i="0">
                <a:solidFill>
                  <a:srgbClr val="9FD8A8"/>
                </a:solidFill>
                <a:latin typeface="JetBrains Mono"/>
                <a:ea typeface="JetBrains Mono"/>
                <a:cs typeface="JetBrains Mono"/>
              </a:rPr>
              <a:t>f"Total amount = Rs. {p + si:.2f}"</a:t>
            </a:r>
            <a:r>
              <a:rPr sz="1500" b="0" i="0">
                <a:solidFill>
                  <a:srgbClr val="E8EDF3"/>
                </a:solidFill>
                <a:latin typeface="JetBrains Mono"/>
                <a:ea typeface="JetBrains Mono"/>
                <a:cs typeface="JetBrains Mono"/>
              </a:rPr>
              <a:t>)</a:t>
            </a:r>
          </a:p>
        </p:txBody>
      </p:sp>
      <p:sp>
        <p:nvSpPr>
          <p:cNvPr id="7" name="Rounded Rectangle 6"/>
          <p:cNvSpPr/>
          <p:nvPr/>
        </p:nvSpPr>
        <p:spPr>
          <a:xfrm>
            <a:off x="7018834" y="1860451"/>
            <a:ext cx="4354016" cy="2137370"/>
          </a:xfrm>
          <a:prstGeom prst="roundRect">
            <a:avLst>
              <a:gd name="adj" fmla="val 5941"/>
            </a:avLst>
          </a:prstGeom>
          <a:solidFill>
            <a:srgbClr val="FFFDF8"/>
          </a:solidFill>
          <a:ln w="12700">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04584" y="2070001"/>
            <a:ext cx="3895992"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OUTPUT · ORANGE = TYPED</a:t>
            </a:r>
          </a:p>
        </p:txBody>
      </p:sp>
      <p:sp>
        <p:nvSpPr>
          <p:cNvPr id="9" name="TextBox 8"/>
          <p:cNvSpPr txBox="1"/>
          <p:nvPr/>
        </p:nvSpPr>
        <p:spPr>
          <a:xfrm>
            <a:off x="7304584" y="2359521"/>
            <a:ext cx="3895992" cy="1428750"/>
          </a:xfrm>
          <a:prstGeom prst="rect">
            <a:avLst/>
          </a:prstGeom>
          <a:noFill/>
        </p:spPr>
        <p:txBody>
          <a:bodyPr wrap="square" lIns="0" rIns="0" tIns="0" bIns="0" anchor="t">
            <a:normAutofit/>
          </a:bodyPr>
          <a:lstStyle/>
          <a:p>
            <a:pPr algn="l" marL="0" indent="0">
              <a:lnSpc>
                <a:spcPts val="2250"/>
              </a:lnSpc>
              <a:buNone/>
            </a:pPr>
            <a:r>
              <a:rPr sz="1500" b="0" i="0">
                <a:solidFill>
                  <a:srgbClr val="1B2A41"/>
                </a:solidFill>
                <a:latin typeface="JetBrains Mono"/>
                <a:ea typeface="JetBrains Mono"/>
                <a:cs typeface="JetBrains Mono"/>
              </a:rPr>
              <a:t>Principal (Rs.): </a:t>
            </a:r>
            <a:r>
              <a:rPr sz="1500" b="0" i="0">
                <a:solidFill>
                  <a:srgbClr val="B54708"/>
                </a:solidFill>
                <a:latin typeface="JetBrains Mono"/>
                <a:ea typeface="JetBrains Mono"/>
                <a:cs typeface="JetBrains Mono"/>
              </a:rPr>
              <a:t>50000</a:t>
            </a:r>
          </a:p>
          <a:p>
            <a:pPr algn="l" marL="0" indent="0">
              <a:lnSpc>
                <a:spcPts val="2250"/>
              </a:lnSpc>
              <a:buNone/>
            </a:pPr>
            <a:r>
              <a:rPr sz="1500" b="0" i="0">
                <a:solidFill>
                  <a:srgbClr val="1B2A41"/>
                </a:solidFill>
                <a:latin typeface="JetBrains Mono"/>
                <a:ea typeface="JetBrains Mono"/>
                <a:cs typeface="JetBrains Mono"/>
              </a:rPr>
              <a:t>Rate (% per year): </a:t>
            </a:r>
            <a:r>
              <a:rPr sz="1500" b="0" i="0">
                <a:solidFill>
                  <a:srgbClr val="B54708"/>
                </a:solidFill>
                <a:latin typeface="JetBrains Mono"/>
                <a:ea typeface="JetBrains Mono"/>
                <a:cs typeface="JetBrains Mono"/>
              </a:rPr>
              <a:t>7.5</a:t>
            </a:r>
          </a:p>
          <a:p>
            <a:pPr algn="l" marL="0" indent="0">
              <a:lnSpc>
                <a:spcPts val="2250"/>
              </a:lnSpc>
              <a:buNone/>
            </a:pPr>
            <a:r>
              <a:rPr sz="1500" b="0" i="0">
                <a:solidFill>
                  <a:srgbClr val="1B2A41"/>
                </a:solidFill>
                <a:latin typeface="JetBrains Mono"/>
                <a:ea typeface="JetBrains Mono"/>
                <a:cs typeface="JetBrains Mono"/>
              </a:rPr>
              <a:t>Time (years): </a:t>
            </a:r>
            <a:r>
              <a:rPr sz="1500" b="0" i="0">
                <a:solidFill>
                  <a:srgbClr val="B54708"/>
                </a:solidFill>
                <a:latin typeface="JetBrains Mono"/>
                <a:ea typeface="JetBrains Mono"/>
                <a:cs typeface="JetBrains Mono"/>
              </a:rPr>
              <a:t>2</a:t>
            </a:r>
          </a:p>
          <a:p>
            <a:pPr algn="l" marL="0" indent="0">
              <a:lnSpc>
                <a:spcPts val="2250"/>
              </a:lnSpc>
              <a:buNone/>
            </a:pPr>
            <a:r>
              <a:rPr sz="1500" b="0" i="0">
                <a:solidFill>
                  <a:srgbClr val="1B2A41"/>
                </a:solidFill>
                <a:latin typeface="JetBrains Mono"/>
                <a:ea typeface="JetBrains Mono"/>
                <a:cs typeface="JetBrains Mono"/>
              </a:rPr>
              <a:t>Simple interest = Rs. 7500.00</a:t>
            </a:r>
          </a:p>
          <a:p>
            <a:pPr algn="l" marL="0" indent="0">
              <a:lnSpc>
                <a:spcPts val="2250"/>
              </a:lnSpc>
              <a:buNone/>
            </a:pPr>
            <a:r>
              <a:rPr sz="1500" b="0" i="0">
                <a:solidFill>
                  <a:srgbClr val="1B2A41"/>
                </a:solidFill>
                <a:latin typeface="JetBrains Mono"/>
                <a:ea typeface="JetBrains Mono"/>
                <a:cs typeface="JetBrains Mono"/>
              </a:rPr>
              <a:t>Total amount = Rs. 57500.00</a:t>
            </a:r>
          </a:p>
        </p:txBody>
      </p:sp>
      <p:sp>
        <p:nvSpPr>
          <p:cNvPr id="10" name="Rounded Rectangle 9"/>
          <p:cNvSpPr/>
          <p:nvPr/>
        </p:nvSpPr>
        <p:spPr>
          <a:xfrm>
            <a:off x="7012484" y="4156571"/>
            <a:ext cx="4366716" cy="1066800"/>
          </a:xfrm>
          <a:prstGeom prst="roundRect">
            <a:avLst>
              <a:gd name="adj" fmla="val 11904"/>
            </a:avLst>
          </a:prstGeom>
          <a:solidFill>
            <a:srgbClr val="E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215684" y="4334371"/>
            <a:ext cx="769342" cy="34290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42684" y="4372471"/>
            <a:ext cx="530802"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Rubik"/>
                <a:ea typeface="Rubik"/>
                <a:cs typeface="Rubik"/>
              </a:rPr>
              <a:t>Input</a:t>
            </a:r>
          </a:p>
        </p:txBody>
      </p:sp>
      <p:sp>
        <p:nvSpPr>
          <p:cNvPr id="13" name="Right Arrow 12"/>
          <p:cNvSpPr/>
          <p:nvPr/>
        </p:nvSpPr>
        <p:spPr>
          <a:xfrm>
            <a:off x="8061226" y="4442321"/>
            <a:ext cx="254000" cy="127000"/>
          </a:xfrm>
          <a:prstGeom prst="rightArrow">
            <a:avLst/>
          </a:prstGeom>
          <a:solidFill>
            <a:srgbClr val="2A64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91426" y="4334371"/>
            <a:ext cx="1020862" cy="34290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18426" y="4372471"/>
            <a:ext cx="789868"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Rubik"/>
                <a:ea typeface="Rubik"/>
                <a:cs typeface="Rubik"/>
              </a:rPr>
              <a:t>Process</a:t>
            </a:r>
          </a:p>
        </p:txBody>
      </p:sp>
      <p:sp>
        <p:nvSpPr>
          <p:cNvPr id="16" name="Right Arrow 15"/>
          <p:cNvSpPr/>
          <p:nvPr/>
        </p:nvSpPr>
        <p:spPr>
          <a:xfrm>
            <a:off x="9488488" y="4442321"/>
            <a:ext cx="254000" cy="127000"/>
          </a:xfrm>
          <a:prstGeom prst="rightArrow">
            <a:avLst/>
          </a:prstGeom>
          <a:solidFill>
            <a:srgbClr val="2A64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818688" y="4334371"/>
            <a:ext cx="932061" cy="34290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45688" y="4372471"/>
            <a:ext cx="698403" cy="266700"/>
          </a:xfrm>
          <a:prstGeom prst="rect">
            <a:avLst/>
          </a:prstGeom>
          <a:noFill/>
        </p:spPr>
        <p:txBody>
          <a:bodyPr wrap="square" lIns="0" rIns="0" tIns="0" bIns="0" anchor="t">
            <a:normAutofit/>
          </a:bodyPr>
          <a:lstStyle/>
          <a:p>
            <a:pPr algn="l" marL="0" indent="0">
              <a:lnSpc>
                <a:spcPts val="2100"/>
              </a:lnSpc>
              <a:buNone/>
            </a:pPr>
            <a:r>
              <a:rPr sz="1500" b="1" i="0">
                <a:solidFill>
                  <a:srgbClr val="1B2A41"/>
                </a:solidFill>
                <a:latin typeface="Rubik"/>
                <a:ea typeface="Rubik"/>
                <a:cs typeface="Rubik"/>
              </a:rPr>
              <a:t>Output</a:t>
            </a:r>
          </a:p>
        </p:txBody>
      </p:sp>
      <p:sp>
        <p:nvSpPr>
          <p:cNvPr id="19" name="TextBox 18"/>
          <p:cNvSpPr txBox="1"/>
          <p:nvPr/>
        </p:nvSpPr>
        <p:spPr>
          <a:xfrm>
            <a:off x="7215684" y="4778871"/>
            <a:ext cx="4079126" cy="2667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Almost every program follows this pattern</a:t>
            </a:r>
          </a:p>
        </p:txBody>
      </p:sp>
      <p:sp>
        <p:nvSpPr>
          <p:cNvPr id="20" name="TextBox 19"/>
          <p:cNvSpPr txBox="1"/>
          <p:nvPr/>
        </p:nvSpPr>
        <p:spPr>
          <a:xfrm>
            <a:off x="812800" y="6238280"/>
            <a:ext cx="10883392" cy="213320"/>
          </a:xfrm>
          <a:prstGeom prst="rect">
            <a:avLst/>
          </a:prstGeom>
          <a:noFill/>
        </p:spPr>
        <p:txBody>
          <a:bodyPr wrap="square" lIns="0" rIns="0" tIns="0" bIns="0" anchor="t">
            <a:normAutofit/>
          </a:bodyPr>
          <a:lstStyle/>
          <a:p>
            <a:pPr algn="l" marL="0" indent="0">
              <a:lnSpc>
                <a:spcPts val="1680"/>
              </a:lnSpc>
              <a:buNone/>
            </a:pPr>
            <a:r>
              <a:rPr sz="1200" b="0" i="0">
                <a:solidFill>
                  <a:srgbClr val="5F6B7A"/>
                </a:solidFill>
                <a:latin typeface="Rubik"/>
                <a:ea typeface="Rubik"/>
                <a:cs typeface="Rubik"/>
              </a:rPr>
              <a:t>Python Programming · Week 1 · Class 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6EEF7"/>
        </a:solidFill>
        <a:effectLst/>
      </p:bgPr>
    </p:bg>
    <p:spTree>
      <p:nvGrpSpPr>
        <p:cNvPr id="1" name=""/>
        <p:cNvGrpSpPr/>
        <p:nvPr/>
      </p:nvGrpSpPr>
      <p:grpSpPr/>
      <p:sp>
        <p:nvSpPr>
          <p:cNvPr id="3" name="TextBox 2"/>
          <p:cNvSpPr txBox="1"/>
          <p:nvPr/>
        </p:nvSpPr>
        <p:spPr>
          <a:xfrm>
            <a:off x="812800" y="812800"/>
            <a:ext cx="10883392" cy="213320"/>
          </a:xfrm>
          <a:prstGeom prst="rect">
            <a:avLst/>
          </a:prstGeom>
          <a:noFill/>
        </p:spPr>
        <p:txBody>
          <a:bodyPr wrap="square" lIns="0" rIns="0" tIns="0" bIns="0" anchor="t">
            <a:normAutofit/>
          </a:bodyPr>
          <a:lstStyle/>
          <a:p>
            <a:pPr algn="l" marL="0" indent="0">
              <a:lnSpc>
                <a:spcPts val="1680"/>
              </a:lnSpc>
              <a:buNone/>
            </a:pPr>
            <a:r>
              <a:rPr sz="1200" b="1" i="0" spc="150">
                <a:solidFill>
                  <a:srgbClr val="2A64A3"/>
                </a:solidFill>
                <a:latin typeface="Rubik"/>
                <a:ea typeface="Rubik"/>
                <a:cs typeface="Rubik"/>
              </a:rPr>
              <a:t>CLASS 3 · PRACTICE</a:t>
            </a:r>
          </a:p>
        </p:txBody>
      </p:sp>
      <p:sp>
        <p:nvSpPr>
          <p:cNvPr id="2" name="Title 1"/>
          <p:cNvSpPr>
            <a:spLocks noGrp="1"/>
          </p:cNvSpPr>
          <p:nvPr>
            <p:ph type="title"/>
          </p:nvPr>
        </p:nvSpPr>
        <p:spPr>
          <a:xfrm>
            <a:off x="812800" y="1102320"/>
            <a:ext cx="10883392" cy="446980"/>
          </a:xfrm>
        </p:spPr>
        <p:txBody>
          <a:bodyPr wrap="square" lIns="0" rIns="0" tIns="0" bIns="0" anchor="t">
            <a:normAutofit/>
          </a:bodyPr>
          <a:lstStyle/>
          <a:p>
            <a:pPr algn="l" marL="0" indent="0">
              <a:lnSpc>
                <a:spcPts val="3520"/>
              </a:lnSpc>
              <a:buNone/>
            </a:pPr>
            <a:r>
              <a:rPr sz="3200" b="1" i="0">
                <a:solidFill>
                  <a:srgbClr val="1B2A41"/>
                </a:solidFill>
                <a:latin typeface="Rubik"/>
                <a:ea typeface="Rubik"/>
                <a:cs typeface="Rubik"/>
              </a:rPr>
              <a:t>Your turn: four lab-style programs</a:t>
            </a:r>
          </a:p>
        </p:txBody>
      </p:sp>
      <p:sp>
        <p:nvSpPr>
          <p:cNvPr id="4" name="Rounded Rectangle 3"/>
          <p:cNvSpPr/>
          <p:nvPr/>
        </p:nvSpPr>
        <p:spPr>
          <a:xfrm>
            <a:off x="819150" y="1809651"/>
            <a:ext cx="2476500" cy="2252861"/>
          </a:xfrm>
          <a:prstGeom prst="roundRect">
            <a:avLst>
              <a:gd name="adj" fmla="val 5637"/>
            </a:avLst>
          </a:prstGeom>
          <a:solidFill>
            <a:srgbClr val="FBFCFE"/>
          </a:solidFill>
          <a:ln w="12700">
            <a:solidFill>
              <a:srgbClr val="C9D7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8700" y="2019201"/>
            <a:ext cx="681930" cy="28952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057301"/>
            <a:ext cx="466930" cy="213320"/>
          </a:xfrm>
          <a:prstGeom prst="rect">
            <a:avLst/>
          </a:prstGeom>
          <a:noFill/>
        </p:spPr>
        <p:txBody>
          <a:bodyPr wrap="square" lIns="0" rIns="0" tIns="0" bIns="0" anchor="t">
            <a:normAutofit/>
          </a:bodyPr>
          <a:lstStyle/>
          <a:p>
            <a:pPr algn="l" marL="0" indent="0">
              <a:lnSpc>
                <a:spcPts val="1680"/>
              </a:lnSpc>
              <a:buNone/>
            </a:pPr>
            <a:r>
              <a:rPr sz="1200" b="1" i="0">
                <a:solidFill>
                  <a:srgbClr val="1B2A41"/>
                </a:solidFill>
                <a:latin typeface="Rubik"/>
                <a:ea typeface="Rubik"/>
                <a:cs typeface="Rubik"/>
              </a:rPr>
              <a:t>Task 1</a:t>
            </a:r>
          </a:p>
        </p:txBody>
      </p:sp>
      <p:sp>
        <p:nvSpPr>
          <p:cNvPr id="7" name="TextBox 6"/>
          <p:cNvSpPr txBox="1"/>
          <p:nvPr/>
        </p:nvSpPr>
        <p:spPr>
          <a:xfrm>
            <a:off x="1028700" y="2410321"/>
            <a:ext cx="2119122"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Circle</a:t>
            </a:r>
          </a:p>
        </p:txBody>
      </p:sp>
      <p:sp>
        <p:nvSpPr>
          <p:cNvPr id="8" name="TextBox 7"/>
          <p:cNvSpPr txBox="1"/>
          <p:nvPr/>
        </p:nvSpPr>
        <p:spPr>
          <a:xfrm>
            <a:off x="1028700" y="2786162"/>
            <a:ext cx="2119122" cy="10668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Read the radius. Print the area (pi * r * r) and circumference (2 * pi * r). Use pi = 3.14159</a:t>
            </a:r>
          </a:p>
        </p:txBody>
      </p:sp>
      <p:sp>
        <p:nvSpPr>
          <p:cNvPr id="9" name="Rounded Rectangle 8"/>
          <p:cNvSpPr/>
          <p:nvPr/>
        </p:nvSpPr>
        <p:spPr>
          <a:xfrm>
            <a:off x="3511550" y="1809651"/>
            <a:ext cx="2476500" cy="2252861"/>
          </a:xfrm>
          <a:prstGeom prst="roundRect">
            <a:avLst>
              <a:gd name="adj" fmla="val 5637"/>
            </a:avLst>
          </a:prstGeom>
          <a:solidFill>
            <a:srgbClr val="FBFCFE"/>
          </a:solidFill>
          <a:ln w="12700">
            <a:solidFill>
              <a:srgbClr val="C9D7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721100" y="2019201"/>
            <a:ext cx="705247" cy="28952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35400" y="2057301"/>
            <a:ext cx="490946" cy="213320"/>
          </a:xfrm>
          <a:prstGeom prst="rect">
            <a:avLst/>
          </a:prstGeom>
          <a:noFill/>
        </p:spPr>
        <p:txBody>
          <a:bodyPr wrap="square" lIns="0" rIns="0" tIns="0" bIns="0" anchor="t">
            <a:normAutofit/>
          </a:bodyPr>
          <a:lstStyle/>
          <a:p>
            <a:pPr algn="l" marL="0" indent="0">
              <a:lnSpc>
                <a:spcPts val="1680"/>
              </a:lnSpc>
              <a:buNone/>
            </a:pPr>
            <a:r>
              <a:rPr sz="1200" b="1" i="0">
                <a:solidFill>
                  <a:srgbClr val="1B2A41"/>
                </a:solidFill>
                <a:latin typeface="Rubik"/>
                <a:ea typeface="Rubik"/>
                <a:cs typeface="Rubik"/>
              </a:rPr>
              <a:t>Task 2</a:t>
            </a:r>
          </a:p>
        </p:txBody>
      </p:sp>
      <p:sp>
        <p:nvSpPr>
          <p:cNvPr id="12" name="TextBox 11"/>
          <p:cNvSpPr txBox="1"/>
          <p:nvPr/>
        </p:nvSpPr>
        <p:spPr>
          <a:xfrm>
            <a:off x="3721100" y="2410321"/>
            <a:ext cx="2119122"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Temperature</a:t>
            </a:r>
          </a:p>
        </p:txBody>
      </p:sp>
      <p:sp>
        <p:nvSpPr>
          <p:cNvPr id="13" name="TextBox 12"/>
          <p:cNvSpPr txBox="1"/>
          <p:nvPr/>
        </p:nvSpPr>
        <p:spPr>
          <a:xfrm>
            <a:off x="3721100" y="2786162"/>
            <a:ext cx="2119122" cy="10668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Read Celsius, print Fahrenheit. F = C * 9 / 5 + 32. Test: 37 gives 98.6</a:t>
            </a:r>
          </a:p>
        </p:txBody>
      </p:sp>
      <p:sp>
        <p:nvSpPr>
          <p:cNvPr id="14" name="Rounded Rectangle 13"/>
          <p:cNvSpPr/>
          <p:nvPr/>
        </p:nvSpPr>
        <p:spPr>
          <a:xfrm>
            <a:off x="6203950" y="1809651"/>
            <a:ext cx="2476500" cy="2252861"/>
          </a:xfrm>
          <a:prstGeom prst="roundRect">
            <a:avLst>
              <a:gd name="adj" fmla="val 5637"/>
            </a:avLst>
          </a:prstGeom>
          <a:solidFill>
            <a:srgbClr val="FBFCFE"/>
          </a:solidFill>
          <a:ln w="12700">
            <a:solidFill>
              <a:srgbClr val="C9D7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13500" y="2019201"/>
            <a:ext cx="706636" cy="28952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27800" y="2057301"/>
            <a:ext cx="492377" cy="213320"/>
          </a:xfrm>
          <a:prstGeom prst="rect">
            <a:avLst/>
          </a:prstGeom>
          <a:noFill/>
        </p:spPr>
        <p:txBody>
          <a:bodyPr wrap="square" lIns="0" rIns="0" tIns="0" bIns="0" anchor="t">
            <a:normAutofit/>
          </a:bodyPr>
          <a:lstStyle/>
          <a:p>
            <a:pPr algn="l" marL="0" indent="0">
              <a:lnSpc>
                <a:spcPts val="1680"/>
              </a:lnSpc>
              <a:buNone/>
            </a:pPr>
            <a:r>
              <a:rPr sz="1200" b="1" i="0">
                <a:solidFill>
                  <a:srgbClr val="1B2A41"/>
                </a:solidFill>
                <a:latin typeface="Rubik"/>
                <a:ea typeface="Rubik"/>
                <a:cs typeface="Rubik"/>
              </a:rPr>
              <a:t>Task 3</a:t>
            </a:r>
          </a:p>
        </p:txBody>
      </p:sp>
      <p:sp>
        <p:nvSpPr>
          <p:cNvPr id="17" name="TextBox 16"/>
          <p:cNvSpPr txBox="1"/>
          <p:nvPr/>
        </p:nvSpPr>
        <p:spPr>
          <a:xfrm>
            <a:off x="6413500" y="2410321"/>
            <a:ext cx="2119122"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Swap</a:t>
            </a:r>
          </a:p>
        </p:txBody>
      </p:sp>
      <p:sp>
        <p:nvSpPr>
          <p:cNvPr id="18" name="TextBox 17"/>
          <p:cNvSpPr txBox="1"/>
          <p:nvPr/>
        </p:nvSpPr>
        <p:spPr>
          <a:xfrm>
            <a:off x="6413500" y="2786162"/>
            <a:ext cx="2119122" cy="10668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Read a and b, swap their values and print both. Python trick: a, b = b, a</a:t>
            </a:r>
          </a:p>
        </p:txBody>
      </p:sp>
      <p:sp>
        <p:nvSpPr>
          <p:cNvPr id="19" name="Rounded Rectangle 18"/>
          <p:cNvSpPr/>
          <p:nvPr/>
        </p:nvSpPr>
        <p:spPr>
          <a:xfrm>
            <a:off x="8896350" y="1809651"/>
            <a:ext cx="2476500" cy="2252861"/>
          </a:xfrm>
          <a:prstGeom prst="roundRect">
            <a:avLst>
              <a:gd name="adj" fmla="val 5637"/>
            </a:avLst>
          </a:prstGeom>
          <a:solidFill>
            <a:srgbClr val="FBFCFE"/>
          </a:solidFill>
          <a:ln w="12700">
            <a:solidFill>
              <a:srgbClr val="C9D7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05900" y="2019201"/>
            <a:ext cx="710109" cy="289520"/>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20200" y="2057301"/>
            <a:ext cx="495954" cy="213320"/>
          </a:xfrm>
          <a:prstGeom prst="rect">
            <a:avLst/>
          </a:prstGeom>
          <a:noFill/>
        </p:spPr>
        <p:txBody>
          <a:bodyPr wrap="square" lIns="0" rIns="0" tIns="0" bIns="0" anchor="t">
            <a:normAutofit/>
          </a:bodyPr>
          <a:lstStyle/>
          <a:p>
            <a:pPr algn="l" marL="0" indent="0">
              <a:lnSpc>
                <a:spcPts val="1680"/>
              </a:lnSpc>
              <a:buNone/>
            </a:pPr>
            <a:r>
              <a:rPr sz="1200" b="1" i="0">
                <a:solidFill>
                  <a:srgbClr val="1B2A41"/>
                </a:solidFill>
                <a:latin typeface="Rubik"/>
                <a:ea typeface="Rubik"/>
                <a:cs typeface="Rubik"/>
              </a:rPr>
              <a:t>Task 4</a:t>
            </a:r>
          </a:p>
        </p:txBody>
      </p:sp>
      <p:sp>
        <p:nvSpPr>
          <p:cNvPr id="22" name="TextBox 21"/>
          <p:cNvSpPr txBox="1"/>
          <p:nvPr/>
        </p:nvSpPr>
        <p:spPr>
          <a:xfrm>
            <a:off x="9105900" y="2410321"/>
            <a:ext cx="2119122" cy="274241"/>
          </a:xfrm>
          <a:prstGeom prst="rect">
            <a:avLst/>
          </a:prstGeom>
          <a:noFill/>
        </p:spPr>
        <p:txBody>
          <a:bodyPr wrap="square" lIns="0" rIns="0" tIns="0" bIns="0" anchor="t">
            <a:normAutofit/>
          </a:bodyPr>
          <a:lstStyle/>
          <a:p>
            <a:pPr algn="l" marL="0" indent="0">
              <a:lnSpc>
                <a:spcPts val="2160"/>
              </a:lnSpc>
              <a:buNone/>
            </a:pPr>
            <a:r>
              <a:rPr sz="1800" b="1" i="0">
                <a:solidFill>
                  <a:srgbClr val="1B2A41"/>
                </a:solidFill>
                <a:latin typeface="Rubik"/>
                <a:ea typeface="Rubik"/>
                <a:cs typeface="Rubik"/>
              </a:rPr>
              <a:t>Time breaker</a:t>
            </a:r>
          </a:p>
        </p:txBody>
      </p:sp>
      <p:sp>
        <p:nvSpPr>
          <p:cNvPr id="23" name="TextBox 22"/>
          <p:cNvSpPr txBox="1"/>
          <p:nvPr/>
        </p:nvSpPr>
        <p:spPr>
          <a:xfrm>
            <a:off x="9105900" y="2786162"/>
            <a:ext cx="2119122" cy="1066800"/>
          </a:xfrm>
          <a:prstGeom prst="rect">
            <a:avLst/>
          </a:prstGeom>
          <a:noFill/>
        </p:spPr>
        <p:txBody>
          <a:bodyPr wrap="square" lIns="0" rIns="0" tIns="0" bIns="0" anchor="t">
            <a:normAutofit/>
          </a:bodyPr>
          <a:lstStyle/>
          <a:p>
            <a:pPr algn="l" marL="0" indent="0">
              <a:lnSpc>
                <a:spcPts val="2100"/>
              </a:lnSpc>
              <a:buNone/>
            </a:pPr>
            <a:r>
              <a:rPr sz="1500" b="0" i="0">
                <a:solidFill>
                  <a:srgbClr val="4A5568"/>
                </a:solidFill>
                <a:latin typeface="Rubik"/>
                <a:ea typeface="Rubik"/>
                <a:cs typeface="Rubik"/>
              </a:rPr>
              <a:t>Turn seconds into h, m, s. Test: 3725 gives 1 h 2 m 5 s. Hint: use // and %</a:t>
            </a:r>
          </a:p>
        </p:txBody>
      </p:sp>
      <p:sp>
        <p:nvSpPr>
          <p:cNvPr id="24" name="Rounded Rectangle 23"/>
          <p:cNvSpPr/>
          <p:nvPr/>
        </p:nvSpPr>
        <p:spPr>
          <a:xfrm>
            <a:off x="812800" y="4322862"/>
            <a:ext cx="10566400" cy="622300"/>
          </a:xfrm>
          <a:prstGeom prst="roundRect">
            <a:avLst>
              <a:gd name="adj" fmla="val 20408"/>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6800" y="4527352"/>
            <a:ext cx="1069065" cy="213320"/>
          </a:xfrm>
          <a:prstGeom prst="rect">
            <a:avLst/>
          </a:prstGeom>
          <a:noFill/>
        </p:spPr>
        <p:txBody>
          <a:bodyPr wrap="square" lIns="0" rIns="0" tIns="0" bIns="0" anchor="t">
            <a:normAutofit/>
          </a:bodyPr>
          <a:lstStyle/>
          <a:p>
            <a:pPr algn="l" marL="0" indent="0">
              <a:lnSpc>
                <a:spcPts val="1680"/>
              </a:lnSpc>
              <a:buNone/>
            </a:pPr>
            <a:r>
              <a:rPr sz="1200" b="1" i="0" spc="150">
                <a:solidFill>
                  <a:srgbClr val="F2B33D"/>
                </a:solidFill>
                <a:latin typeface="Rubik"/>
                <a:ea typeface="Rubik"/>
                <a:cs typeface="Rubik"/>
              </a:rPr>
              <a:t>HOMEWORK</a:t>
            </a:r>
          </a:p>
        </p:txBody>
      </p:sp>
      <p:sp>
        <p:nvSpPr>
          <p:cNvPr id="26" name="TextBox 25"/>
          <p:cNvSpPr txBox="1"/>
          <p:nvPr/>
        </p:nvSpPr>
        <p:spPr>
          <a:xfrm>
            <a:off x="2282527" y="4500662"/>
            <a:ext cx="7221223" cy="266700"/>
          </a:xfrm>
          <a:prstGeom prst="rect">
            <a:avLst/>
          </a:prstGeom>
          <a:noFill/>
        </p:spPr>
        <p:txBody>
          <a:bodyPr wrap="square" lIns="0" rIns="0" tIns="0" bIns="0" anchor="t">
            <a:normAutofit/>
          </a:bodyPr>
          <a:lstStyle/>
          <a:p>
            <a:pPr algn="l" marL="0" indent="0">
              <a:lnSpc>
                <a:spcPts val="2100"/>
              </a:lnSpc>
              <a:buNone/>
            </a:pPr>
            <a:r>
              <a:rPr sz="1500" b="0" i="0">
                <a:solidFill>
                  <a:srgbClr val="F7F5EF"/>
                </a:solidFill>
                <a:latin typeface="Rubik"/>
                <a:ea typeface="Rubik"/>
                <a:cs typeface="Rubik"/>
              </a:rPr>
              <a:t>Read on W3Schools: </a:t>
            </a:r>
            <a:r>
              <a:rPr sz="1500" b="0" i="0">
                <a:solidFill>
                  <a:srgbClr val="F2B33D"/>
                </a:solidFill>
                <a:latin typeface="Rubik"/>
                <a:ea typeface="Rubik"/>
                <a:cs typeface="Rubik"/>
                <a:hlinkClick r:id="rId2"/>
              </a:rPr>
              <a:t>Operators</a:t>
            </a:r>
            <a:r>
              <a:rPr sz="1500" b="0" i="0">
                <a:solidFill>
                  <a:srgbClr val="F7F5EF"/>
                </a:solidFill>
                <a:latin typeface="Rubik"/>
                <a:ea typeface="Rubik"/>
                <a:cs typeface="Rubik"/>
              </a:rPr>
              <a:t> · </a:t>
            </a:r>
            <a:r>
              <a:rPr sz="1500" b="0" i="0">
                <a:solidFill>
                  <a:srgbClr val="F2B33D"/>
                </a:solidFill>
                <a:latin typeface="Rubik"/>
                <a:ea typeface="Rubik"/>
                <a:cs typeface="Rubik"/>
                <a:hlinkClick r:id="rId3"/>
              </a:rPr>
              <a:t>String Formatting</a:t>
            </a:r>
            <a:r>
              <a:rPr sz="1500" b="0" i="0">
                <a:solidFill>
                  <a:srgbClr val="F7F5EF"/>
                </a:solidFill>
                <a:latin typeface="Rubik"/>
                <a:ea typeface="Rubik"/>
                <a:cs typeface="Rubik"/>
              </a:rPr>
              <a:t> · and finish any task left over</a:t>
            </a:r>
          </a:p>
        </p:txBody>
      </p:sp>
      <p:sp>
        <p:nvSpPr>
          <p:cNvPr id="27" name="TextBox 26"/>
          <p:cNvSpPr txBox="1"/>
          <p:nvPr/>
        </p:nvSpPr>
        <p:spPr>
          <a:xfrm>
            <a:off x="812800" y="6238280"/>
            <a:ext cx="10883392" cy="213320"/>
          </a:xfrm>
          <a:prstGeom prst="rect">
            <a:avLst/>
          </a:prstGeom>
          <a:noFill/>
        </p:spPr>
        <p:txBody>
          <a:bodyPr wrap="square" lIns="0" rIns="0" tIns="0" bIns="0" anchor="t">
            <a:normAutofit/>
          </a:bodyPr>
          <a:lstStyle/>
          <a:p>
            <a:pPr algn="l" marL="0" indent="0">
              <a:lnSpc>
                <a:spcPts val="1680"/>
              </a:lnSpc>
              <a:buNone/>
            </a:pPr>
            <a:r>
              <a:rPr sz="1200" b="0" i="0">
                <a:solidFill>
                  <a:srgbClr val="5F6B7A"/>
                </a:solidFill>
                <a:latin typeface="Rubik"/>
                <a:ea typeface="Rubik"/>
                <a:cs typeface="Rubik"/>
              </a:rPr>
              <a:t>Python Programming · Week 1 · Class 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3" name="TextBox 2"/>
          <p:cNvSpPr txBox="1"/>
          <p:nvPr/>
        </p:nvSpPr>
        <p:spPr>
          <a:xfrm>
            <a:off x="812800" y="812800"/>
            <a:ext cx="10883392" cy="213320"/>
          </a:xfrm>
          <a:prstGeom prst="rect">
            <a:avLst/>
          </a:prstGeom>
          <a:noFill/>
        </p:spPr>
        <p:txBody>
          <a:bodyPr wrap="square" lIns="0" rIns="0" tIns="0" bIns="0" anchor="t">
            <a:normAutofit/>
          </a:bodyPr>
          <a:lstStyle/>
          <a:p>
            <a:pPr algn="l" marL="0" indent="0">
              <a:lnSpc>
                <a:spcPts val="1680"/>
              </a:lnSpc>
              <a:buNone/>
            </a:pPr>
            <a:r>
              <a:rPr sz="1200" b="1" i="0" spc="150">
                <a:solidFill>
                  <a:srgbClr val="F2B33D"/>
                </a:solidFill>
                <a:latin typeface="Rubik"/>
                <a:ea typeface="Rubik"/>
                <a:cs typeface="Rubik"/>
              </a:rPr>
              <a:t>WEEK 1 RECAP</a:t>
            </a:r>
          </a:p>
        </p:txBody>
      </p:sp>
      <p:sp>
        <p:nvSpPr>
          <p:cNvPr id="2" name="Title 1"/>
          <p:cNvSpPr>
            <a:spLocks noGrp="1"/>
          </p:cNvSpPr>
          <p:nvPr>
            <p:ph type="title"/>
          </p:nvPr>
        </p:nvSpPr>
        <p:spPr>
          <a:xfrm>
            <a:off x="812800" y="1102320"/>
            <a:ext cx="10883392" cy="446980"/>
          </a:xfrm>
        </p:spPr>
        <p:txBody>
          <a:bodyPr wrap="square" lIns="0" rIns="0" tIns="0" bIns="0" anchor="t">
            <a:normAutofit/>
          </a:bodyPr>
          <a:lstStyle/>
          <a:p>
            <a:pPr algn="l" marL="0" indent="0">
              <a:lnSpc>
                <a:spcPts val="3520"/>
              </a:lnSpc>
              <a:buNone/>
            </a:pPr>
            <a:r>
              <a:rPr sz="3200" b="1" i="0">
                <a:solidFill>
                  <a:srgbClr val="F7F5EF"/>
                </a:solidFill>
                <a:latin typeface="Rubik"/>
                <a:ea typeface="Rubik"/>
                <a:cs typeface="Rubik"/>
              </a:rPr>
              <a:t>What you can do now</a:t>
            </a:r>
          </a:p>
        </p:txBody>
      </p:sp>
      <p:sp>
        <p:nvSpPr>
          <p:cNvPr id="4" name="Rounded Rectangle 3"/>
          <p:cNvSpPr/>
          <p:nvPr/>
        </p:nvSpPr>
        <p:spPr>
          <a:xfrm>
            <a:off x="812800" y="1854101"/>
            <a:ext cx="2527300" cy="1282700"/>
          </a:xfrm>
          <a:prstGeom prst="roundRect">
            <a:avLst>
              <a:gd name="adj" fmla="val 9900"/>
            </a:avLst>
          </a:prstGeom>
          <a:solidFill>
            <a:srgbClr val="2436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057301"/>
            <a:ext cx="2184527" cy="266700"/>
          </a:xfrm>
          <a:prstGeom prst="rect">
            <a:avLst/>
          </a:prstGeom>
          <a:noFill/>
        </p:spPr>
        <p:txBody>
          <a:bodyPr wrap="square" lIns="0" rIns="0" tIns="0" bIns="0" anchor="t">
            <a:normAutofit/>
          </a:bodyPr>
          <a:lstStyle/>
          <a:p>
            <a:pPr algn="l" marL="0" indent="0">
              <a:lnSpc>
                <a:spcPts val="2100"/>
              </a:lnSpc>
              <a:buNone/>
            </a:pPr>
            <a:r>
              <a:rPr sz="1500" b="1" i="0">
                <a:solidFill>
                  <a:srgbClr val="F2B33D"/>
                </a:solidFill>
                <a:latin typeface="JetBrains Mono"/>
                <a:ea typeface="JetBrains Mono"/>
                <a:cs typeface="JetBrains Mono"/>
              </a:rPr>
              <a:t>print()</a:t>
            </a:r>
          </a:p>
        </p:txBody>
      </p:sp>
      <p:sp>
        <p:nvSpPr>
          <p:cNvPr id="6" name="TextBox 5"/>
          <p:cNvSpPr txBox="1"/>
          <p:nvPr/>
        </p:nvSpPr>
        <p:spPr>
          <a:xfrm>
            <a:off x="1016000" y="2400201"/>
            <a:ext cx="2184527" cy="533400"/>
          </a:xfrm>
          <a:prstGeom prst="rect">
            <a:avLst/>
          </a:prstGeom>
          <a:noFill/>
        </p:spPr>
        <p:txBody>
          <a:bodyPr wrap="square" lIns="0" rIns="0" tIns="0" bIns="0" anchor="t">
            <a:normAutofit/>
          </a:bodyPr>
          <a:lstStyle/>
          <a:p>
            <a:pPr algn="l" marL="0" indent="0">
              <a:lnSpc>
                <a:spcPts val="2100"/>
              </a:lnSpc>
              <a:buNone/>
            </a:pPr>
            <a:r>
              <a:rPr sz="1500" b="0" i="0">
                <a:solidFill>
                  <a:srgbClr val="E8EDF3"/>
                </a:solidFill>
                <a:latin typeface="Rubik"/>
                <a:ea typeface="Rubik"/>
                <a:cs typeface="Rubik"/>
              </a:rPr>
              <a:t>Show text and numbers on the screen</a:t>
            </a:r>
          </a:p>
        </p:txBody>
      </p:sp>
      <p:sp>
        <p:nvSpPr>
          <p:cNvPr id="7" name="Rounded Rectangle 6"/>
          <p:cNvSpPr/>
          <p:nvPr/>
        </p:nvSpPr>
        <p:spPr>
          <a:xfrm>
            <a:off x="3492500" y="1854101"/>
            <a:ext cx="2527300" cy="1282700"/>
          </a:xfrm>
          <a:prstGeom prst="roundRect">
            <a:avLst>
              <a:gd name="adj" fmla="val 9900"/>
            </a:avLst>
          </a:prstGeom>
          <a:solidFill>
            <a:srgbClr val="2436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95700" y="2057301"/>
            <a:ext cx="2184527" cy="266700"/>
          </a:xfrm>
          <a:prstGeom prst="rect">
            <a:avLst/>
          </a:prstGeom>
          <a:noFill/>
        </p:spPr>
        <p:txBody>
          <a:bodyPr wrap="square" lIns="0" rIns="0" tIns="0" bIns="0" anchor="t">
            <a:normAutofit/>
          </a:bodyPr>
          <a:lstStyle/>
          <a:p>
            <a:pPr algn="l" marL="0" indent="0">
              <a:lnSpc>
                <a:spcPts val="2100"/>
              </a:lnSpc>
              <a:buNone/>
            </a:pPr>
            <a:r>
              <a:rPr sz="1500" b="1" i="0">
                <a:solidFill>
                  <a:srgbClr val="F2B33D"/>
                </a:solidFill>
                <a:latin typeface="JetBrains Mono"/>
                <a:ea typeface="JetBrains Mono"/>
                <a:cs typeface="JetBrains Mono"/>
              </a:rPr>
              <a:t>x = value</a:t>
            </a:r>
          </a:p>
        </p:txBody>
      </p:sp>
      <p:sp>
        <p:nvSpPr>
          <p:cNvPr id="9" name="TextBox 8"/>
          <p:cNvSpPr txBox="1"/>
          <p:nvPr/>
        </p:nvSpPr>
        <p:spPr>
          <a:xfrm>
            <a:off x="3695700" y="2400201"/>
            <a:ext cx="2184527" cy="533400"/>
          </a:xfrm>
          <a:prstGeom prst="rect">
            <a:avLst/>
          </a:prstGeom>
          <a:noFill/>
        </p:spPr>
        <p:txBody>
          <a:bodyPr wrap="square" lIns="0" rIns="0" tIns="0" bIns="0" anchor="t">
            <a:normAutofit/>
          </a:bodyPr>
          <a:lstStyle/>
          <a:p>
            <a:pPr algn="l" marL="0" indent="0">
              <a:lnSpc>
                <a:spcPts val="2100"/>
              </a:lnSpc>
              <a:buNone/>
            </a:pPr>
            <a:r>
              <a:rPr sz="1500" b="0" i="0">
                <a:solidFill>
                  <a:srgbClr val="E8EDF3"/>
                </a:solidFill>
                <a:latin typeface="Rubik"/>
                <a:ea typeface="Rubik"/>
                <a:cs typeface="Rubik"/>
              </a:rPr>
              <a:t>Store data in variables of 4 types</a:t>
            </a:r>
          </a:p>
        </p:txBody>
      </p:sp>
      <p:sp>
        <p:nvSpPr>
          <p:cNvPr id="10" name="Rounded Rectangle 9"/>
          <p:cNvSpPr/>
          <p:nvPr/>
        </p:nvSpPr>
        <p:spPr>
          <a:xfrm>
            <a:off x="6172200" y="1854101"/>
            <a:ext cx="2527300" cy="1282700"/>
          </a:xfrm>
          <a:prstGeom prst="roundRect">
            <a:avLst>
              <a:gd name="adj" fmla="val 9900"/>
            </a:avLst>
          </a:prstGeom>
          <a:solidFill>
            <a:srgbClr val="2436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5400" y="2057301"/>
            <a:ext cx="2184527" cy="266700"/>
          </a:xfrm>
          <a:prstGeom prst="rect">
            <a:avLst/>
          </a:prstGeom>
          <a:noFill/>
        </p:spPr>
        <p:txBody>
          <a:bodyPr wrap="square" lIns="0" rIns="0" tIns="0" bIns="0" anchor="t">
            <a:normAutofit/>
          </a:bodyPr>
          <a:lstStyle/>
          <a:p>
            <a:pPr algn="l" marL="0" indent="0">
              <a:lnSpc>
                <a:spcPts val="2100"/>
              </a:lnSpc>
              <a:buNone/>
            </a:pPr>
            <a:r>
              <a:rPr sz="1500" b="1" i="0">
                <a:solidFill>
                  <a:srgbClr val="F2B33D"/>
                </a:solidFill>
                <a:latin typeface="JetBrains Mono"/>
                <a:ea typeface="JetBrains Mono"/>
                <a:cs typeface="JetBrains Mono"/>
              </a:rPr>
              <a:t>int(input())</a:t>
            </a:r>
          </a:p>
        </p:txBody>
      </p:sp>
      <p:sp>
        <p:nvSpPr>
          <p:cNvPr id="12" name="TextBox 11"/>
          <p:cNvSpPr txBox="1"/>
          <p:nvPr/>
        </p:nvSpPr>
        <p:spPr>
          <a:xfrm>
            <a:off x="6375400" y="2400201"/>
            <a:ext cx="2184527" cy="533400"/>
          </a:xfrm>
          <a:prstGeom prst="rect">
            <a:avLst/>
          </a:prstGeom>
          <a:noFill/>
        </p:spPr>
        <p:txBody>
          <a:bodyPr wrap="square" lIns="0" rIns="0" tIns="0" bIns="0" anchor="t">
            <a:normAutofit/>
          </a:bodyPr>
          <a:lstStyle/>
          <a:p>
            <a:pPr algn="l" marL="0" indent="0">
              <a:lnSpc>
                <a:spcPts val="2100"/>
              </a:lnSpc>
              <a:buNone/>
            </a:pPr>
            <a:r>
              <a:rPr sz="1500" b="0" i="0">
                <a:solidFill>
                  <a:srgbClr val="E8EDF3"/>
                </a:solidFill>
                <a:latin typeface="Rubik"/>
                <a:ea typeface="Rubik"/>
                <a:cs typeface="Rubik"/>
              </a:rPr>
              <a:t>Read numbers from the keyboard</a:t>
            </a:r>
          </a:p>
        </p:txBody>
      </p:sp>
      <p:sp>
        <p:nvSpPr>
          <p:cNvPr id="13" name="Rounded Rectangle 12"/>
          <p:cNvSpPr/>
          <p:nvPr/>
        </p:nvSpPr>
        <p:spPr>
          <a:xfrm>
            <a:off x="8851900" y="1854101"/>
            <a:ext cx="2527300" cy="1282700"/>
          </a:xfrm>
          <a:prstGeom prst="roundRect">
            <a:avLst>
              <a:gd name="adj" fmla="val 9900"/>
            </a:avLst>
          </a:prstGeom>
          <a:solidFill>
            <a:srgbClr val="2436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5100" y="2057301"/>
            <a:ext cx="2184527" cy="266700"/>
          </a:xfrm>
          <a:prstGeom prst="rect">
            <a:avLst/>
          </a:prstGeom>
          <a:noFill/>
        </p:spPr>
        <p:txBody>
          <a:bodyPr wrap="square" lIns="0" rIns="0" tIns="0" bIns="0" anchor="t">
            <a:normAutofit/>
          </a:bodyPr>
          <a:lstStyle/>
          <a:p>
            <a:pPr algn="l" marL="0" indent="0">
              <a:lnSpc>
                <a:spcPts val="2100"/>
              </a:lnSpc>
              <a:buNone/>
            </a:pPr>
            <a:r>
              <a:rPr sz="1500" b="1" i="0">
                <a:solidFill>
                  <a:srgbClr val="F2B33D"/>
                </a:solidFill>
                <a:latin typeface="JetBrains Mono"/>
                <a:ea typeface="JetBrains Mono"/>
                <a:cs typeface="JetBrains Mono"/>
              </a:rPr>
              <a:t>// % == and</a:t>
            </a:r>
          </a:p>
        </p:txBody>
      </p:sp>
      <p:sp>
        <p:nvSpPr>
          <p:cNvPr id="15" name="TextBox 14"/>
          <p:cNvSpPr txBox="1"/>
          <p:nvPr/>
        </p:nvSpPr>
        <p:spPr>
          <a:xfrm>
            <a:off x="9055100" y="2400201"/>
            <a:ext cx="2184527" cy="533400"/>
          </a:xfrm>
          <a:prstGeom prst="rect">
            <a:avLst/>
          </a:prstGeom>
          <a:noFill/>
        </p:spPr>
        <p:txBody>
          <a:bodyPr wrap="square" lIns="0" rIns="0" tIns="0" bIns="0" anchor="t">
            <a:normAutofit/>
          </a:bodyPr>
          <a:lstStyle/>
          <a:p>
            <a:pPr algn="l" marL="0" indent="0">
              <a:lnSpc>
                <a:spcPts val="2100"/>
              </a:lnSpc>
              <a:buNone/>
            </a:pPr>
            <a:r>
              <a:rPr sz="1500" b="0" i="0">
                <a:solidFill>
                  <a:srgbClr val="E8EDF3"/>
                </a:solidFill>
                <a:latin typeface="Rubik"/>
                <a:ea typeface="Rubik"/>
                <a:cs typeface="Rubik"/>
              </a:rPr>
              <a:t>Calculate, compare and combine</a:t>
            </a:r>
          </a:p>
        </p:txBody>
      </p:sp>
      <p:sp>
        <p:nvSpPr>
          <p:cNvPr id="16" name="Rounded Rectangle 15"/>
          <p:cNvSpPr/>
          <p:nvPr/>
        </p:nvSpPr>
        <p:spPr>
          <a:xfrm>
            <a:off x="812800" y="3441601"/>
            <a:ext cx="10566400" cy="967680"/>
          </a:xfrm>
          <a:prstGeom prst="roundRect">
            <a:avLst>
              <a:gd name="adj" fmla="val 13124"/>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6800" y="3644801"/>
            <a:ext cx="10360152" cy="213320"/>
          </a:xfrm>
          <a:prstGeom prst="rect">
            <a:avLst/>
          </a:prstGeom>
          <a:noFill/>
        </p:spPr>
        <p:txBody>
          <a:bodyPr wrap="square" lIns="0" rIns="0" tIns="0" bIns="0" anchor="t">
            <a:normAutofit/>
          </a:bodyPr>
          <a:lstStyle/>
          <a:p>
            <a:pPr algn="l" marL="0" indent="0">
              <a:lnSpc>
                <a:spcPts val="1680"/>
              </a:lnSpc>
              <a:buNone/>
            </a:pPr>
            <a:r>
              <a:rPr sz="1200" b="1" i="0" spc="150">
                <a:solidFill>
                  <a:srgbClr val="1B2A41"/>
                </a:solidFill>
                <a:latin typeface="Rubik"/>
                <a:ea typeface="Rubik"/>
                <a:cs typeface="Rubik"/>
              </a:rPr>
              <a:t>NEXT WEEK</a:t>
            </a:r>
          </a:p>
        </p:txBody>
      </p:sp>
      <p:sp>
        <p:nvSpPr>
          <p:cNvPr id="18" name="TextBox 17"/>
          <p:cNvSpPr txBox="1"/>
          <p:nvPr/>
        </p:nvSpPr>
        <p:spPr>
          <a:xfrm>
            <a:off x="1066800" y="3908921"/>
            <a:ext cx="10360152" cy="297160"/>
          </a:xfrm>
          <a:prstGeom prst="rect">
            <a:avLst/>
          </a:prstGeom>
          <a:noFill/>
        </p:spPr>
        <p:txBody>
          <a:bodyPr wrap="square" lIns="0" rIns="0" tIns="0" bIns="0" anchor="t">
            <a:normAutofit/>
          </a:bodyPr>
          <a:lstStyle/>
          <a:p>
            <a:pPr algn="l" marL="0" indent="0">
              <a:lnSpc>
                <a:spcPts val="2340"/>
              </a:lnSpc>
              <a:buNone/>
            </a:pPr>
            <a:r>
              <a:rPr sz="1800" b="1" i="0">
                <a:solidFill>
                  <a:srgbClr val="1B2A41"/>
                </a:solidFill>
                <a:latin typeface="Rubik"/>
                <a:ea typeface="Rubik"/>
                <a:cs typeface="Rubik"/>
              </a:rPr>
              <a:t>Decisions with if / else, and repeating work with loops</a:t>
            </a:r>
          </a:p>
        </p:txBody>
      </p:sp>
      <p:sp>
        <p:nvSpPr>
          <p:cNvPr id="19" name="TextBox 18"/>
          <p:cNvSpPr txBox="1"/>
          <p:nvPr/>
        </p:nvSpPr>
        <p:spPr>
          <a:xfrm>
            <a:off x="812800" y="4714081"/>
            <a:ext cx="10883392" cy="266700"/>
          </a:xfrm>
          <a:prstGeom prst="rect">
            <a:avLst/>
          </a:prstGeom>
          <a:noFill/>
        </p:spPr>
        <p:txBody>
          <a:bodyPr wrap="square" lIns="0" rIns="0" tIns="0" bIns="0" anchor="t">
            <a:normAutofit/>
          </a:bodyPr>
          <a:lstStyle/>
          <a:p>
            <a:pPr algn="l" marL="0" indent="0">
              <a:lnSpc>
                <a:spcPts val="2100"/>
              </a:lnSpc>
              <a:buNone/>
            </a:pPr>
            <a:r>
              <a:rPr sz="1500" b="1" i="0">
                <a:solidFill>
                  <a:srgbClr val="C9D4E2"/>
                </a:solidFill>
                <a:latin typeface="Rubik"/>
                <a:ea typeface="Rubik"/>
                <a:cs typeface="Rubik"/>
              </a:rPr>
              <a:t>Lab habit:</a:t>
            </a:r>
            <a:r>
              <a:rPr sz="1500" b="0" i="0">
                <a:solidFill>
                  <a:srgbClr val="C9D4E2"/>
                </a:solidFill>
                <a:latin typeface="Rubik"/>
                <a:ea typeface="Rubik"/>
                <a:cs typeface="Rubik"/>
              </a:rPr>
              <a:t> save every program in a folder like python-lab/week-1/ with a clear file name.</a:t>
            </a:r>
          </a:p>
        </p:txBody>
      </p:sp>
      <p:sp>
        <p:nvSpPr>
          <p:cNvPr id="20" name="TextBox 19"/>
          <p:cNvSpPr txBox="1"/>
          <p:nvPr/>
        </p:nvSpPr>
        <p:spPr>
          <a:xfrm>
            <a:off x="812800" y="6238280"/>
            <a:ext cx="10883392" cy="213320"/>
          </a:xfrm>
          <a:prstGeom prst="rect">
            <a:avLst/>
          </a:prstGeom>
          <a:noFill/>
        </p:spPr>
        <p:txBody>
          <a:bodyPr wrap="square" lIns="0" rIns="0" tIns="0" bIns="0" anchor="t">
            <a:normAutofit/>
          </a:bodyPr>
          <a:lstStyle/>
          <a:p>
            <a:pPr algn="l" marL="0" indent="0">
              <a:lnSpc>
                <a:spcPts val="1680"/>
              </a:lnSpc>
              <a:buNone/>
            </a:pPr>
            <a:r>
              <a:rPr sz="1200" b="0" i="0">
                <a:solidFill>
                  <a:srgbClr val="9FB0C6"/>
                </a:solidFill>
                <a:latin typeface="Rubik"/>
                <a:ea typeface="Rubik"/>
                <a:cs typeface="Rubik"/>
              </a:rPr>
              <a:t>Python Programming · Week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Week 1 – Getting Started</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