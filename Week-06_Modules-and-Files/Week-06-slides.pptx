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6 connects programs to the outside world. Classes: (16) modules: math, random, datetime and your own; (17) reading and writing text files and CSV files; (18) Mini-project 2, an expense tracker that saves to a CSV file. Until now every program forgot everything when it closed; this week the data stays. Check the Week 5 recursion homework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write a function that returns the square root of a number without using ** 0.5. Hard! Someone already wrote it, in the math module. A module is just a Python file full of useful functions. Python comes with hundreds of them (the "standard library"), and millions more can be installed with pip. Knowing what exists saves enormous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Style 1 is the clearest: math.sqrt tells the reader where sqrt comes from. Style 2 is handy for one or two names. Style 3 is common for long names (import numpy as np is famous). Avoid from math import *: it dumps every name in and can hide your own variables. Show dir(math) in the shell for a list of names. Viva: what is a module? (A .py file with functions and variables you can import.) What is a package? (A folder of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each line in the shell. Real use for ceil: 47 students, 6 per bench: math.ceil(47 / 6) = 8 benches needed. Compare with 47 // 6 = 7, which forgets the leftover students. Mention math.sin, math.cos and math.radians for students who like trigonometry, and math.log10. Note sqrt and pow always return floats.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three times: the output changes every time, so the numbers on the slide are just one example. Note randint includes both ends, unlike range. Mini-game for the student (good practice of loops and if): the computer picks a number from 1 to 50 and the user guesses, with "too high" or "too low" hints, counting the tries. The answer is in solutions/class16_practice.py. random.seed(1) makes the results repeatable, which helps when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depends on the day you run it; the slide shows 6 October 2026. Ask the student to put their real end-semester exam date in the date(...) line. %d is day, %m month, %Y four-digit year, %B the full month name. Age calculator challenge: read a birth year and print the age this year (today.year - birth_year). For times as well as dates, use datetime.now().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create two files in the same folder. This is how big programs are organised: the record manager could keep its functions in records_lib.py. If the import fails, the files are not in the same folder. Mention pip install for third-party modules (for example pip install requests), but we will not need any this course. The if __name__ == "__main__": line, which runs code only when the file is run directly, is an advanced topic: mention it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solutions/class16_practice.py. Hints. Task 1: secret = random.randint(1, 50), a while True loop with a tries counter and break when correct. Task 2: math.ceil(students / per_bench). Task 3: date.today().year - birth_year. Task 4: random.randint(100000, 999999), then compare input() with str(otp).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run the Week 4 record manager, add a student, close it, run it again. The student is gone! Variables live in memory (RAM), which is wiped when the program ends. Files live on disk. Today we learn to save and load. Keep a file browser open next to the editor so the student can watch files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dangerous beginner mistake: opening an existing file with "w" wipes its contents immediately, before anything is written. Use "a" to add. The with block is the modern, safe way: older code uses f = open(...) and f.close(), and forgetting close can lose data. The file is created in the folder the program runs from; if the student cannot find it, print os.getcwd(). Viva: difference between w and a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running, open cities.txt in Notepad or VS Code so the student sees real data on disk. Run the program a second time and look again: the first block rewrites the file, then Konark is appended once more, so there is still only one Konark. Change the second "a" to "w" and ask what will be left (only Konark). f.write only accepts strings: to save a number use str(n) or an f-string.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what happens without strip(): blank lines between cities, because the line already ends with \n and print adds another. Three ways to read: read() gives one big string, readlines() a list of lines, and the for loop goes line by line (best for big files). Reading a file that does not exist gives FileNotFoundError; next week we learn to catch it. Quick check: use os.path.exists("cities.txt") before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chars counts the \n at the end of each line too: Bhubaneswar 11 + Cuttack 7 + Puri 4 + Konark 6 = 28 letters, plus 4 new-line characters = 32. Variations for practice: count how many lines contain a given word, find the longest line, or copy one file to another with every line in capital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CSV means comma-separated values: each line is a row, commas separate the columns. Open marks.csv in Excel or Google Sheets to show it becomes a table. newline="" stops blank rows appearing on Windows. When reading, every value comes back as a string ('92'), just like input(), so use int(row[1]) for maths. Skip the header row with next(reader) before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solutions/class17_practice.py. Hints. Task 1: open with "a" and write f"{date.today()}: {text}\n". Task 2: if word.lower() in line.lower(). Task 3: next(reader) skips the header, then add int(row[1]) and count rows. Task 4: open the source with "r" and the target with "w" in the same with line: with open(a) as src, open(b, "w") as dst.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build again, about the student's own life: hostel and college expenses. It uses functions (Week 5), lists and dictionaries (Weeks 3 and 4), files and CSV (this week). Build it in steps and run after every step. At the end, open expenses.csv in Excel: students love seeing their own data as a real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file design first: one row per expense with four columns. Why save each expense immediately (append) instead of only at exit? Because if the program crashes or the laptop dies, nothing is lost. Categories to suggest: Food, Travel, Books, Mobile, Other. Ask the student what they spent money on this week to create real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comes back as a list of 4 strings: ['2026-10-06', 'Food', '40', 'Hostel Maggi']. The amount is a string, so later we use float(row[2]). Test load() on its own: print(load()) should give [] the first time. Next week's try/except gives another way to handle a missing file; both are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 "a" adds the row to the end of the file, so old expenses stay. Run it, then open expenses.csv to show the new line. Improvement for the student: check the amount with amt.replace(".", "").isdigit() before saving, and ask again if it is not a number (or use try/except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 line unpacks each 4-item row straight into four variables. {cat:10} pads the name to 10 characters and {total:8.2f} lines the amounts up in a column: a neat touch for reports. The full program with the menu is in code/class18_expenses.py. Run it, add five or six expenses over two runs, and show that the report includes the ones from the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solutions/class18_practice.py. Hints. Task 1: the date string starts with "2026-10", so compare row[0][:7] with str(date.today())[:7]. Task 2: the largest pattern on float(row[2]). Task 3: compare the sum with BUDGET. Task 4: data.pop(), then open the file with "w" and writerows(data). Encourage the student to keep using the tracker for a week: real data makes the reports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Oral quiz: 1. Three ways to import? 2. ceil vs floor? 3. Does randint(1, 6) include 6? (Yes.) 4. Difference between w and a modes? 5. Why use with? (It closes the file automatically.) 6. What does readlines() return? 7. Why strip() when reading lines? 8. What does CSV stand for? Next week: what happens when the user types "abc" for the amount... the program crashes. Exceptions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w3schools.com/python/python_modules.asp" TargetMode="External"/><Relationship Id="rId2" Type="http://schemas.openxmlformats.org/officeDocument/2006/relationships/hyperlink" Target="https://www.w3schools.com/python/python_math.asp" TargetMode="External"/><Relationship Id="rId3" Type="http://schemas.openxmlformats.org/officeDocument/2006/relationships/hyperlink" Target="https://www.w3schools.com/python/python_datetime.asp" TargetMode="External"/><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w3schools.com/python/python_file_handling.asp" TargetMode="External"/><Relationship Id="rId2" Type="http://schemas.openxmlformats.org/officeDocument/2006/relationships/hyperlink" Target="https://www.w3schools.com/python/python_file_open.asp" TargetMode="External"/><Relationship Id="rId3" Type="http://schemas.openxmlformats.org/officeDocument/2006/relationships/hyperlink" Target="https://www.w3schools.com/python/python_file_write.asp" TargetMode="External"/><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www.w3schools.com/python/python_file_handling.asp" TargetMode="Externa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6670040" y="812800"/>
            <a:ext cx="470916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2A3D5A"/>
                </a:solidFill>
                <a:latin typeface="JetBrains Mono" pitchFamily="49" charset="0"/>
                <a:ea typeface="JetBrains Mono" pitchFamily="49" charset="-122"/>
                <a:cs typeface="JetBrains Mono" pitchFamily="49" charset="-120"/>
              </a:rPr>
              <a:t>open</a:t>
            </a:r>
            <a:endParaRPr lang="en-US" sz="10000" dirty="0"/>
          </a:p>
        </p:txBody>
      </p:sp>
      <p:sp>
        <p:nvSpPr>
          <p:cNvPr id="3" name="Text 1"/>
          <p:cNvSpPr/>
          <p:nvPr/>
        </p:nvSpPr>
        <p:spPr>
          <a:xfrm>
            <a:off x="812800" y="187199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B33D"/>
                </a:solidFill>
                <a:latin typeface="Rubik" pitchFamily="34" charset="0"/>
                <a:ea typeface="Rubik" pitchFamily="34" charset="-122"/>
                <a:cs typeface="Rubik" pitchFamily="34" charset="-120"/>
              </a:rPr>
              <a:t>WEEK 6 · CLASSES 16–18</a:t>
            </a:r>
            <a:endParaRPr lang="en-US" sz="1200" dirty="0"/>
          </a:p>
        </p:txBody>
      </p:sp>
      <p:sp>
        <p:nvSpPr>
          <p:cNvPr id="4" name="Text 2"/>
          <p:cNvSpPr/>
          <p:nvPr>
            <p:ph type="title"/>
          </p:nvPr>
        </p:nvSpPr>
        <p:spPr>
          <a:xfrm>
            <a:off x="812800" y="2313914"/>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Modules, files</a:t>
            </a:r>
            <a:endParaRPr lang="en-US" sz="6000" dirty="0"/>
          </a:p>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and Mini-project 2</a:t>
            </a:r>
            <a:endParaRPr lang="en-US" sz="6000" dirty="0"/>
          </a:p>
        </p:txBody>
      </p:sp>
      <p:sp>
        <p:nvSpPr>
          <p:cNvPr id="5" name="Text 3"/>
          <p:cNvSpPr/>
          <p:nvPr/>
        </p:nvSpPr>
        <p:spPr>
          <a:xfrm>
            <a:off x="812800" y="4142714"/>
            <a:ext cx="7848600"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Rubik" pitchFamily="34" charset="0"/>
                <a:ea typeface="Rubik" pitchFamily="34" charset="-122"/>
                <a:cs typeface="Rubik" pitchFamily="34" charset="-120"/>
              </a:rPr>
              <a:t>Using Python's toolboxes, and saving data that survives after the program ends</a:t>
            </a:r>
            <a:endParaRPr lang="en-US" sz="18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B.Tech 1st Year · 8-week course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664487"/>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16 OF 24</a:t>
            </a:r>
            <a:endParaRPr lang="en-US" sz="1200" dirty="0"/>
          </a:p>
        </p:txBody>
      </p:sp>
      <p:sp>
        <p:nvSpPr>
          <p:cNvPr id="3" name="Text 1"/>
          <p:cNvSpPr/>
          <p:nvPr>
            <p:ph type="title"/>
          </p:nvPr>
        </p:nvSpPr>
        <p:spPr>
          <a:xfrm>
            <a:off x="812800" y="3055607"/>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Modules</a:t>
            </a:r>
            <a:endParaRPr lang="en-US" sz="4800" dirty="0"/>
          </a:p>
        </p:txBody>
      </p:sp>
      <p:sp>
        <p:nvSpPr>
          <p:cNvPr id="4" name="Text 2"/>
          <p:cNvSpPr/>
          <p:nvPr/>
        </p:nvSpPr>
        <p:spPr>
          <a:xfrm>
            <a:off x="812800" y="3873434"/>
            <a:ext cx="558800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Ready-made toolboxes that come with Python</a:t>
            </a:r>
            <a:endParaRPr lang="en-US" sz="1800" dirty="0"/>
          </a:p>
        </p:txBody>
      </p:sp>
      <p:sp>
        <p:nvSpPr>
          <p:cNvPr id="5" name="Shape 3"/>
          <p:cNvSpPr/>
          <p:nvPr/>
        </p:nvSpPr>
        <p:spPr>
          <a:xfrm>
            <a:off x="6400800" y="2098014"/>
            <a:ext cx="4978400" cy="2661907"/>
          </a:xfrm>
          <a:prstGeom prst="roundRect">
            <a:avLst>
              <a:gd name="adj" fmla="val 5725"/>
            </a:avLst>
          </a:prstGeom>
          <a:solidFill>
            <a:srgbClr val="1B2A41"/>
          </a:solidFill>
          <a:ln/>
        </p:spPr>
      </p:sp>
      <p:sp>
        <p:nvSpPr>
          <p:cNvPr id="6" name="Text 4"/>
          <p:cNvSpPr/>
          <p:nvPr/>
        </p:nvSpPr>
        <p:spPr>
          <a:xfrm>
            <a:off x="6756400" y="2453614"/>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Import a module three ways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Use math for calculations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Use random for games and OTPs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Use datetime for dates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Make and import your own module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16 · IMPORT</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Three ways to bring in a module</a:t>
            </a:r>
            <a:endParaRPr lang="en-US" sz="3200" dirty="0"/>
          </a:p>
        </p:txBody>
      </p:sp>
      <p:sp>
        <p:nvSpPr>
          <p:cNvPr id="4" name="Shape 2"/>
          <p:cNvSpPr/>
          <p:nvPr/>
        </p:nvSpPr>
        <p:spPr>
          <a:xfrm>
            <a:off x="819150" y="1860485"/>
            <a:ext cx="3373967" cy="2236457"/>
          </a:xfrm>
          <a:prstGeom prst="roundRect">
            <a:avLst>
              <a:gd name="adj" fmla="val 5395"/>
            </a:avLst>
          </a:prstGeom>
          <a:solidFill>
            <a:srgbClr val="FFFDF8"/>
          </a:solidFill>
          <a:ln w="12700">
            <a:solidFill>
              <a:srgbClr val="E2DED3"/>
            </a:solidFill>
            <a:prstDash val="solid"/>
          </a:ln>
        </p:spPr>
      </p:sp>
      <p:sp>
        <p:nvSpPr>
          <p:cNvPr id="5" name="Text 3"/>
          <p:cNvSpPr/>
          <p:nvPr/>
        </p:nvSpPr>
        <p:spPr>
          <a:xfrm>
            <a:off x="1028700" y="2070035"/>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Whole module</a:t>
            </a:r>
            <a:endParaRPr lang="en-US" sz="1800" dirty="0"/>
          </a:p>
        </p:txBody>
      </p:sp>
      <p:sp>
        <p:nvSpPr>
          <p:cNvPr id="6" name="Text 4"/>
          <p:cNvSpPr/>
          <p:nvPr/>
        </p:nvSpPr>
        <p:spPr>
          <a:xfrm>
            <a:off x="1028700" y="2445941"/>
            <a:ext cx="2954867" cy="825500"/>
          </a:xfrm>
          <a:prstGeom prst="roundRect">
            <a:avLst>
              <a:gd name="adj" fmla="val 10769"/>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import</a:t>
            </a:r>
            <a:r>
              <a:rPr lang="en-US" sz="1500" dirty="0">
                <a:solidFill>
                  <a:srgbClr val="E8EDF3"/>
                </a:solidFill>
                <a:latin typeface="JetBrains Mono" pitchFamily="49" charset="0"/>
                <a:ea typeface="JetBrains Mono" pitchFamily="49" charset="-122"/>
                <a:cs typeface="JetBrains Mono" pitchFamily="49" charset="-120"/>
              </a:rPr>
              <a:t> math</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(math.sqrt(49))</a:t>
            </a:r>
            <a:endParaRPr lang="en-US" sz="1500" dirty="0"/>
          </a:p>
        </p:txBody>
      </p:sp>
      <p:sp>
        <p:nvSpPr>
          <p:cNvPr id="7" name="Text 5"/>
          <p:cNvSpPr/>
          <p:nvPr/>
        </p:nvSpPr>
        <p:spPr>
          <a:xfrm>
            <a:off x="1035050" y="3379391"/>
            <a:ext cx="2942167" cy="501650"/>
          </a:xfrm>
          <a:prstGeom prst="roundRect">
            <a:avLst>
              <a:gd name="adj" fmla="val 16456"/>
            </a:avLst>
          </a:prstGeom>
          <a:solidFill>
            <a:srgbClr val="F7F5EF"/>
          </a:solidFill>
          <a:ln w="12700">
            <a:solidFill>
              <a:srgbClr val="D9DEE5"/>
            </a:solidFill>
            <a:prstDash val="solid"/>
          </a:ln>
        </p:spPr>
        <p:txBody>
          <a:bodyPr wrap="square" lIns="134572" tIns="83772" rIns="55832"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7.0</a:t>
            </a:r>
            <a:endParaRPr lang="en-US" sz="1500" dirty="0"/>
          </a:p>
        </p:txBody>
      </p:sp>
      <p:sp>
        <p:nvSpPr>
          <p:cNvPr id="8" name="Shape 6"/>
          <p:cNvSpPr/>
          <p:nvPr/>
        </p:nvSpPr>
        <p:spPr>
          <a:xfrm>
            <a:off x="4409017" y="1860485"/>
            <a:ext cx="3373967" cy="2236457"/>
          </a:xfrm>
          <a:prstGeom prst="roundRect">
            <a:avLst>
              <a:gd name="adj" fmla="val 5395"/>
            </a:avLst>
          </a:prstGeom>
          <a:solidFill>
            <a:srgbClr val="FFFDF8"/>
          </a:solidFill>
          <a:ln w="12700">
            <a:solidFill>
              <a:srgbClr val="E2DED3"/>
            </a:solidFill>
            <a:prstDash val="solid"/>
          </a:ln>
        </p:spPr>
      </p:sp>
      <p:sp>
        <p:nvSpPr>
          <p:cNvPr id="9" name="Text 7"/>
          <p:cNvSpPr/>
          <p:nvPr/>
        </p:nvSpPr>
        <p:spPr>
          <a:xfrm>
            <a:off x="4618567" y="2070035"/>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Just one name</a:t>
            </a:r>
            <a:endParaRPr lang="en-US" sz="1800" dirty="0"/>
          </a:p>
        </p:txBody>
      </p:sp>
      <p:sp>
        <p:nvSpPr>
          <p:cNvPr id="10" name="Text 8"/>
          <p:cNvSpPr/>
          <p:nvPr/>
        </p:nvSpPr>
        <p:spPr>
          <a:xfrm>
            <a:off x="4618567" y="2445941"/>
            <a:ext cx="2954867" cy="825500"/>
          </a:xfrm>
          <a:prstGeom prst="roundRect">
            <a:avLst>
              <a:gd name="adj" fmla="val 10769"/>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from</a:t>
            </a:r>
            <a:r>
              <a:rPr lang="en-US" sz="1500" dirty="0">
                <a:solidFill>
                  <a:srgbClr val="E8EDF3"/>
                </a:solidFill>
                <a:latin typeface="JetBrains Mono" pitchFamily="49" charset="0"/>
                <a:ea typeface="JetBrains Mono" pitchFamily="49" charset="-122"/>
                <a:cs typeface="JetBrains Mono" pitchFamily="49" charset="-120"/>
              </a:rPr>
              <a:t> math </a:t>
            </a:r>
            <a:r>
              <a:rPr lang="en-US" sz="1500" dirty="0">
                <a:solidFill>
                  <a:srgbClr val="F2B33D"/>
                </a:solidFill>
                <a:latin typeface="JetBrains Mono" pitchFamily="49" charset="0"/>
                <a:ea typeface="JetBrains Mono" pitchFamily="49" charset="-122"/>
                <a:cs typeface="JetBrains Mono" pitchFamily="49" charset="-120"/>
              </a:rPr>
              <a:t>import</a:t>
            </a:r>
            <a:r>
              <a:rPr lang="en-US" sz="1500" dirty="0">
                <a:solidFill>
                  <a:srgbClr val="E8EDF3"/>
                </a:solidFill>
                <a:latin typeface="JetBrains Mono" pitchFamily="49" charset="0"/>
                <a:ea typeface="JetBrains Mono" pitchFamily="49" charset="-122"/>
                <a:cs typeface="JetBrains Mono" pitchFamily="49" charset="-120"/>
              </a:rPr>
              <a:t> pi</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(pi)</a:t>
            </a:r>
            <a:endParaRPr lang="en-US" sz="1500" dirty="0"/>
          </a:p>
        </p:txBody>
      </p:sp>
      <p:sp>
        <p:nvSpPr>
          <p:cNvPr id="11" name="Text 9"/>
          <p:cNvSpPr/>
          <p:nvPr/>
        </p:nvSpPr>
        <p:spPr>
          <a:xfrm>
            <a:off x="4624917" y="3379391"/>
            <a:ext cx="2942167" cy="501650"/>
          </a:xfrm>
          <a:prstGeom prst="roundRect">
            <a:avLst>
              <a:gd name="adj" fmla="val 16456"/>
            </a:avLst>
          </a:prstGeom>
          <a:solidFill>
            <a:srgbClr val="F7F5EF"/>
          </a:solidFill>
          <a:ln w="12700">
            <a:solidFill>
              <a:srgbClr val="D9DEE5"/>
            </a:solidFill>
            <a:prstDash val="solid"/>
          </a:ln>
        </p:spPr>
        <p:txBody>
          <a:bodyPr wrap="square" lIns="134572" tIns="83772" rIns="55832"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3.141592653589793</a:t>
            </a:r>
            <a:endParaRPr lang="en-US" sz="1500" dirty="0"/>
          </a:p>
        </p:txBody>
      </p:sp>
      <p:sp>
        <p:nvSpPr>
          <p:cNvPr id="12" name="Shape 10"/>
          <p:cNvSpPr/>
          <p:nvPr/>
        </p:nvSpPr>
        <p:spPr>
          <a:xfrm>
            <a:off x="7998884" y="1860485"/>
            <a:ext cx="3373967" cy="2236457"/>
          </a:xfrm>
          <a:prstGeom prst="roundRect">
            <a:avLst>
              <a:gd name="adj" fmla="val 5395"/>
            </a:avLst>
          </a:prstGeom>
          <a:solidFill>
            <a:srgbClr val="FFFDF8"/>
          </a:solidFill>
          <a:ln w="12700">
            <a:solidFill>
              <a:srgbClr val="E2DED3"/>
            </a:solidFill>
            <a:prstDash val="solid"/>
          </a:ln>
        </p:spPr>
      </p:sp>
      <p:sp>
        <p:nvSpPr>
          <p:cNvPr id="13" name="Text 11"/>
          <p:cNvSpPr/>
          <p:nvPr/>
        </p:nvSpPr>
        <p:spPr>
          <a:xfrm>
            <a:off x="8208434" y="2070035"/>
            <a:ext cx="304351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A short nickname</a:t>
            </a:r>
            <a:endParaRPr lang="en-US" sz="1800" dirty="0"/>
          </a:p>
        </p:txBody>
      </p:sp>
      <p:sp>
        <p:nvSpPr>
          <p:cNvPr id="14" name="Text 12"/>
          <p:cNvSpPr/>
          <p:nvPr/>
        </p:nvSpPr>
        <p:spPr>
          <a:xfrm>
            <a:off x="8208434" y="2445941"/>
            <a:ext cx="2954867" cy="825500"/>
          </a:xfrm>
          <a:prstGeom prst="roundRect">
            <a:avLst>
              <a:gd name="adj" fmla="val 10769"/>
            </a:avLst>
          </a:prstGeom>
          <a:solidFill>
            <a:srgbClr val="1B2A41"/>
          </a:solidFill>
          <a:ln/>
        </p:spPr>
        <p:txBody>
          <a:bodyPr wrap="square" lIns="126362" tIns="100962" rIns="4686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import</a:t>
            </a:r>
            <a:r>
              <a:rPr lang="en-US" sz="1500" dirty="0">
                <a:solidFill>
                  <a:srgbClr val="E8EDF3"/>
                </a:solidFill>
                <a:latin typeface="JetBrains Mono" pitchFamily="49" charset="0"/>
                <a:ea typeface="JetBrains Mono" pitchFamily="49" charset="-122"/>
                <a:cs typeface="JetBrains Mono" pitchFamily="49" charset="-120"/>
              </a:rPr>
              <a:t> random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r</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(r.randint(1, 6))</a:t>
            </a:r>
            <a:endParaRPr lang="en-US" sz="1500" dirty="0"/>
          </a:p>
        </p:txBody>
      </p:sp>
      <p:sp>
        <p:nvSpPr>
          <p:cNvPr id="15" name="Text 13"/>
          <p:cNvSpPr/>
          <p:nvPr/>
        </p:nvSpPr>
        <p:spPr>
          <a:xfrm>
            <a:off x="8214784" y="3379391"/>
            <a:ext cx="2942167" cy="501650"/>
          </a:xfrm>
          <a:prstGeom prst="roundRect">
            <a:avLst>
              <a:gd name="adj" fmla="val 16456"/>
            </a:avLst>
          </a:prstGeom>
          <a:solidFill>
            <a:srgbClr val="F7F5EF"/>
          </a:solidFill>
          <a:ln w="12700">
            <a:solidFill>
              <a:srgbClr val="D9DEE5"/>
            </a:solidFill>
            <a:prstDash val="solid"/>
          </a:ln>
        </p:spPr>
        <p:txBody>
          <a:bodyPr wrap="square" lIns="134572" tIns="83772" rIns="55832"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4  (changes every run)</a:t>
            </a:r>
            <a:endParaRPr lang="en-US" sz="1500" dirty="0"/>
          </a:p>
        </p:txBody>
      </p:sp>
      <p:sp>
        <p:nvSpPr>
          <p:cNvPr id="16" name="Shape 14"/>
          <p:cNvSpPr/>
          <p:nvPr/>
        </p:nvSpPr>
        <p:spPr>
          <a:xfrm>
            <a:off x="812800" y="4408091"/>
            <a:ext cx="10566400" cy="762000"/>
          </a:xfrm>
          <a:prstGeom prst="roundRect">
            <a:avLst>
              <a:gd name="adj" fmla="val 20000"/>
            </a:avLst>
          </a:prstGeom>
          <a:solidFill>
            <a:srgbClr val="FBEFD5"/>
          </a:solidFill>
          <a:ln/>
        </p:spPr>
      </p:sp>
      <p:pic>
        <p:nvPicPr>
          <p:cNvPr id="17" name="Image 0" descr="Lightbulb">    </p:cNvPr>
          <p:cNvPicPr>
            <a:picLocks noChangeAspect="1"/>
          </p:cNvPicPr>
          <p:nvPr/>
        </p:nvPicPr>
        <p:blipFill>
          <a:blip r:embed="rId1"/>
          <a:srcRect l="0" r="0" t="0" b="0"/>
          <a:stretch/>
        </p:blipFill>
        <p:spPr>
          <a:xfrm>
            <a:off x="1117600" y="4611291"/>
            <a:ext cx="355600" cy="355600"/>
          </a:xfrm>
          <a:prstGeom prst="rect">
            <a:avLst/>
          </a:prstGeom>
        </p:spPr>
      </p:pic>
      <p:sp>
        <p:nvSpPr>
          <p:cNvPr id="18" name="Text 15"/>
          <p:cNvSpPr/>
          <p:nvPr/>
        </p:nvSpPr>
        <p:spPr>
          <a:xfrm>
            <a:off x="1676400" y="4646216"/>
            <a:ext cx="883142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Rubik" pitchFamily="34" charset="0"/>
                <a:ea typeface="Rubik" pitchFamily="34" charset="-122"/>
                <a:cs typeface="Rubik" pitchFamily="34" charset="-120"/>
              </a:rPr>
              <a:t>Put all </a:t>
            </a:r>
            <a:r>
              <a:rPr lang="en-US" sz="1500" dirty="0">
                <a:solidFill>
                  <a:srgbClr val="2A64A3"/>
                </a:solidFill>
                <a:latin typeface="Rubik" pitchFamily="34" charset="0"/>
                <a:ea typeface="Rubik" pitchFamily="34" charset="-122"/>
                <a:cs typeface="Rubik" pitchFamily="34" charset="-120"/>
              </a:rPr>
              <a:t>import</a:t>
            </a:r>
            <a:r>
              <a:rPr lang="en-US" sz="1500" dirty="0">
                <a:solidFill>
                  <a:srgbClr val="1B2A41"/>
                </a:solidFill>
                <a:latin typeface="Rubik" pitchFamily="34" charset="0"/>
                <a:ea typeface="Rubik" pitchFamily="34" charset="-122"/>
                <a:cs typeface="Rubik" pitchFamily="34" charset="-120"/>
              </a:rPr>
              <a:t> lines at the top of the file. </a:t>
            </a:r>
            <a:r>
              <a:rPr lang="en-US" sz="1500" dirty="0">
                <a:solidFill>
                  <a:srgbClr val="2A64A3"/>
                </a:solidFill>
                <a:latin typeface="Rubik" pitchFamily="34" charset="0"/>
                <a:ea typeface="Rubik" pitchFamily="34" charset="-122"/>
                <a:cs typeface="Rubik" pitchFamily="34" charset="-120"/>
              </a:rPr>
              <a:t>help(math)</a:t>
            </a:r>
            <a:r>
              <a:rPr lang="en-US" sz="1500" dirty="0">
                <a:solidFill>
                  <a:srgbClr val="1B2A41"/>
                </a:solidFill>
                <a:latin typeface="Rubik" pitchFamily="34" charset="0"/>
                <a:ea typeface="Rubik" pitchFamily="34" charset="-122"/>
                <a:cs typeface="Rubik" pitchFamily="34" charset="-120"/>
              </a:rPr>
              <a:t> lists everything inside a module.</a:t>
            </a:r>
            <a:endParaRPr lang="en-US" sz="15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16 · MATH</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The math module</a:t>
            </a:r>
            <a:endParaRPr lang="en-US" sz="3200" dirty="0"/>
          </a:p>
        </p:txBody>
      </p:sp>
      <p:sp>
        <p:nvSpPr>
          <p:cNvPr id="4" name="Shape 2"/>
          <p:cNvSpPr/>
          <p:nvPr/>
        </p:nvSpPr>
        <p:spPr>
          <a:xfrm>
            <a:off x="812800" y="1854135"/>
            <a:ext cx="5569479" cy="391120"/>
          </a:xfrm>
          <a:prstGeom prst="roundRect">
            <a:avLst>
              <a:gd name="adj" fmla="val 22730"/>
            </a:avLst>
          </a:prstGeom>
          <a:solidFill>
            <a:srgbClr val="1B2A41"/>
          </a:solidFill>
          <a:ln/>
        </p:spPr>
      </p:sp>
      <p:sp>
        <p:nvSpPr>
          <p:cNvPr id="5" name="Text 3"/>
          <p:cNvSpPr/>
          <p:nvPr/>
        </p:nvSpPr>
        <p:spPr>
          <a:xfrm>
            <a:off x="990600" y="1943035"/>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WRITE</a:t>
            </a:r>
            <a:endParaRPr lang="en-US" sz="1200" dirty="0"/>
          </a:p>
        </p:txBody>
      </p:sp>
      <p:sp>
        <p:nvSpPr>
          <p:cNvPr id="6" name="Text 4"/>
          <p:cNvSpPr/>
          <p:nvPr/>
        </p:nvSpPr>
        <p:spPr>
          <a:xfrm>
            <a:off x="3810000" y="1943035"/>
            <a:ext cx="246631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YOU GET</a:t>
            </a:r>
            <a:endParaRPr lang="en-US" sz="1200" dirty="0"/>
          </a:p>
        </p:txBody>
      </p:sp>
      <p:sp>
        <p:nvSpPr>
          <p:cNvPr id="7" name="Shape 5"/>
          <p:cNvSpPr/>
          <p:nvPr/>
        </p:nvSpPr>
        <p:spPr>
          <a:xfrm>
            <a:off x="812800" y="2696105"/>
            <a:ext cx="5569479" cy="0"/>
          </a:xfrm>
          <a:prstGeom prst="line">
            <a:avLst/>
          </a:prstGeom>
          <a:noFill/>
          <a:ln w="12700">
            <a:solidFill>
              <a:srgbClr val="D9DEE5"/>
            </a:solidFill>
            <a:prstDash val="solid"/>
          </a:ln>
        </p:spPr>
      </p:sp>
      <p:sp>
        <p:nvSpPr>
          <p:cNvPr id="8" name="Text 6"/>
          <p:cNvSpPr/>
          <p:nvPr/>
        </p:nvSpPr>
        <p:spPr>
          <a:xfrm>
            <a:off x="990600" y="2334155"/>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math.sqrt(81)</a:t>
            </a:r>
            <a:endParaRPr lang="en-US" sz="1500" dirty="0"/>
          </a:p>
        </p:txBody>
      </p:sp>
      <p:sp>
        <p:nvSpPr>
          <p:cNvPr id="9" name="Text 7"/>
          <p:cNvSpPr/>
          <p:nvPr/>
        </p:nvSpPr>
        <p:spPr>
          <a:xfrm>
            <a:off x="3810000" y="2334155"/>
            <a:ext cx="246631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9.0</a:t>
            </a:r>
            <a:endParaRPr lang="en-US" sz="1500" dirty="0"/>
          </a:p>
        </p:txBody>
      </p:sp>
      <p:sp>
        <p:nvSpPr>
          <p:cNvPr id="10" name="Shape 8"/>
          <p:cNvSpPr/>
          <p:nvPr/>
        </p:nvSpPr>
        <p:spPr>
          <a:xfrm>
            <a:off x="812800" y="3153305"/>
            <a:ext cx="5569479" cy="0"/>
          </a:xfrm>
          <a:prstGeom prst="line">
            <a:avLst/>
          </a:prstGeom>
          <a:noFill/>
          <a:ln w="12700">
            <a:solidFill>
              <a:srgbClr val="D9DEE5"/>
            </a:solidFill>
            <a:prstDash val="solid"/>
          </a:ln>
        </p:spPr>
      </p:sp>
      <p:sp>
        <p:nvSpPr>
          <p:cNvPr id="11" name="Text 9"/>
          <p:cNvSpPr/>
          <p:nvPr/>
        </p:nvSpPr>
        <p:spPr>
          <a:xfrm>
            <a:off x="990600" y="2791355"/>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math.pow(2, 5)</a:t>
            </a:r>
            <a:endParaRPr lang="en-US" sz="1500" dirty="0"/>
          </a:p>
        </p:txBody>
      </p:sp>
      <p:sp>
        <p:nvSpPr>
          <p:cNvPr id="12" name="Text 10"/>
          <p:cNvSpPr/>
          <p:nvPr/>
        </p:nvSpPr>
        <p:spPr>
          <a:xfrm>
            <a:off x="3810000" y="2791355"/>
            <a:ext cx="246631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32.0</a:t>
            </a:r>
            <a:endParaRPr lang="en-US" sz="1500" dirty="0"/>
          </a:p>
        </p:txBody>
      </p:sp>
      <p:sp>
        <p:nvSpPr>
          <p:cNvPr id="13" name="Shape 11"/>
          <p:cNvSpPr/>
          <p:nvPr/>
        </p:nvSpPr>
        <p:spPr>
          <a:xfrm>
            <a:off x="812800" y="3610505"/>
            <a:ext cx="5569479" cy="0"/>
          </a:xfrm>
          <a:prstGeom prst="line">
            <a:avLst/>
          </a:prstGeom>
          <a:noFill/>
          <a:ln w="12700">
            <a:solidFill>
              <a:srgbClr val="D9DEE5"/>
            </a:solidFill>
            <a:prstDash val="solid"/>
          </a:ln>
        </p:spPr>
      </p:sp>
      <p:sp>
        <p:nvSpPr>
          <p:cNvPr id="14" name="Text 12"/>
          <p:cNvSpPr/>
          <p:nvPr/>
        </p:nvSpPr>
        <p:spPr>
          <a:xfrm>
            <a:off x="990600" y="3248555"/>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math.ceil(4.2)</a:t>
            </a:r>
            <a:endParaRPr lang="en-US" sz="1500" dirty="0"/>
          </a:p>
        </p:txBody>
      </p:sp>
      <p:sp>
        <p:nvSpPr>
          <p:cNvPr id="15" name="Text 13"/>
          <p:cNvSpPr/>
          <p:nvPr/>
        </p:nvSpPr>
        <p:spPr>
          <a:xfrm>
            <a:off x="3810000" y="3248555"/>
            <a:ext cx="246631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5</a:t>
            </a:r>
            <a:endParaRPr lang="en-US" sz="1500" dirty="0"/>
          </a:p>
        </p:txBody>
      </p:sp>
      <p:sp>
        <p:nvSpPr>
          <p:cNvPr id="16" name="Shape 14"/>
          <p:cNvSpPr/>
          <p:nvPr/>
        </p:nvSpPr>
        <p:spPr>
          <a:xfrm>
            <a:off x="812800" y="4067705"/>
            <a:ext cx="5569479" cy="0"/>
          </a:xfrm>
          <a:prstGeom prst="line">
            <a:avLst/>
          </a:prstGeom>
          <a:noFill/>
          <a:ln w="12700">
            <a:solidFill>
              <a:srgbClr val="D9DEE5"/>
            </a:solidFill>
            <a:prstDash val="solid"/>
          </a:ln>
        </p:spPr>
      </p:sp>
      <p:sp>
        <p:nvSpPr>
          <p:cNvPr id="17" name="Text 15"/>
          <p:cNvSpPr/>
          <p:nvPr/>
        </p:nvSpPr>
        <p:spPr>
          <a:xfrm>
            <a:off x="990600" y="3705755"/>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math.floor(4.8)</a:t>
            </a:r>
            <a:endParaRPr lang="en-US" sz="1500" dirty="0"/>
          </a:p>
        </p:txBody>
      </p:sp>
      <p:sp>
        <p:nvSpPr>
          <p:cNvPr id="18" name="Text 16"/>
          <p:cNvSpPr/>
          <p:nvPr/>
        </p:nvSpPr>
        <p:spPr>
          <a:xfrm>
            <a:off x="3810000" y="3705755"/>
            <a:ext cx="246631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4</a:t>
            </a:r>
            <a:endParaRPr lang="en-US" sz="1500" dirty="0"/>
          </a:p>
        </p:txBody>
      </p:sp>
      <p:sp>
        <p:nvSpPr>
          <p:cNvPr id="19" name="Shape 17"/>
          <p:cNvSpPr/>
          <p:nvPr/>
        </p:nvSpPr>
        <p:spPr>
          <a:xfrm>
            <a:off x="812800" y="4524905"/>
            <a:ext cx="5569479" cy="0"/>
          </a:xfrm>
          <a:prstGeom prst="line">
            <a:avLst/>
          </a:prstGeom>
          <a:noFill/>
          <a:ln w="12700">
            <a:solidFill>
              <a:srgbClr val="D9DEE5"/>
            </a:solidFill>
            <a:prstDash val="solid"/>
          </a:ln>
        </p:spPr>
      </p:sp>
      <p:sp>
        <p:nvSpPr>
          <p:cNvPr id="20" name="Text 18"/>
          <p:cNvSpPr/>
          <p:nvPr/>
        </p:nvSpPr>
        <p:spPr>
          <a:xfrm>
            <a:off x="990600" y="4162955"/>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math.factorial(5)</a:t>
            </a:r>
            <a:endParaRPr lang="en-US" sz="1500" dirty="0"/>
          </a:p>
        </p:txBody>
      </p:sp>
      <p:sp>
        <p:nvSpPr>
          <p:cNvPr id="21" name="Text 19"/>
          <p:cNvSpPr/>
          <p:nvPr/>
        </p:nvSpPr>
        <p:spPr>
          <a:xfrm>
            <a:off x="3810000" y="4162955"/>
            <a:ext cx="246631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120</a:t>
            </a:r>
            <a:endParaRPr lang="en-US" sz="1500" dirty="0"/>
          </a:p>
        </p:txBody>
      </p:sp>
      <p:sp>
        <p:nvSpPr>
          <p:cNvPr id="22" name="Shape 20"/>
          <p:cNvSpPr/>
          <p:nvPr/>
        </p:nvSpPr>
        <p:spPr>
          <a:xfrm>
            <a:off x="812800" y="4982105"/>
            <a:ext cx="5569479" cy="0"/>
          </a:xfrm>
          <a:prstGeom prst="line">
            <a:avLst/>
          </a:prstGeom>
          <a:noFill/>
          <a:ln w="12700">
            <a:solidFill>
              <a:srgbClr val="D9DEE5"/>
            </a:solidFill>
            <a:prstDash val="solid"/>
          </a:ln>
        </p:spPr>
      </p:sp>
      <p:sp>
        <p:nvSpPr>
          <p:cNvPr id="23" name="Text 21"/>
          <p:cNvSpPr/>
          <p:nvPr/>
        </p:nvSpPr>
        <p:spPr>
          <a:xfrm>
            <a:off x="990600" y="4620155"/>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math.gcd(48, 18)</a:t>
            </a:r>
            <a:endParaRPr lang="en-US" sz="1500" dirty="0"/>
          </a:p>
        </p:txBody>
      </p:sp>
      <p:sp>
        <p:nvSpPr>
          <p:cNvPr id="24" name="Text 22"/>
          <p:cNvSpPr/>
          <p:nvPr/>
        </p:nvSpPr>
        <p:spPr>
          <a:xfrm>
            <a:off x="3810000" y="4620155"/>
            <a:ext cx="246631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6</a:t>
            </a:r>
            <a:endParaRPr lang="en-US" sz="1500" dirty="0"/>
          </a:p>
        </p:txBody>
      </p:sp>
      <p:sp>
        <p:nvSpPr>
          <p:cNvPr id="25" name="Shape 23"/>
          <p:cNvSpPr/>
          <p:nvPr/>
        </p:nvSpPr>
        <p:spPr>
          <a:xfrm>
            <a:off x="812800" y="5439305"/>
            <a:ext cx="5569479" cy="0"/>
          </a:xfrm>
          <a:prstGeom prst="line">
            <a:avLst/>
          </a:prstGeom>
          <a:noFill/>
          <a:ln w="12700">
            <a:solidFill>
              <a:srgbClr val="D9DEE5"/>
            </a:solidFill>
            <a:prstDash val="solid"/>
          </a:ln>
        </p:spPr>
      </p:sp>
      <p:sp>
        <p:nvSpPr>
          <p:cNvPr id="26" name="Text 24"/>
          <p:cNvSpPr/>
          <p:nvPr/>
        </p:nvSpPr>
        <p:spPr>
          <a:xfrm>
            <a:off x="990600" y="5077355"/>
            <a:ext cx="27470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round(math.pi, 2)</a:t>
            </a:r>
            <a:endParaRPr lang="en-US" sz="1500" dirty="0"/>
          </a:p>
        </p:txBody>
      </p:sp>
      <p:sp>
        <p:nvSpPr>
          <p:cNvPr id="27" name="Text 25"/>
          <p:cNvSpPr/>
          <p:nvPr/>
        </p:nvSpPr>
        <p:spPr>
          <a:xfrm>
            <a:off x="3810000" y="5077355"/>
            <a:ext cx="246631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3.14</a:t>
            </a:r>
            <a:endParaRPr lang="en-US" sz="1500" dirty="0"/>
          </a:p>
        </p:txBody>
      </p:sp>
      <p:sp>
        <p:nvSpPr>
          <p:cNvPr id="28" name="Shape 26"/>
          <p:cNvSpPr/>
          <p:nvPr/>
        </p:nvSpPr>
        <p:spPr>
          <a:xfrm>
            <a:off x="6737879" y="1854135"/>
            <a:ext cx="4641321" cy="930870"/>
          </a:xfrm>
          <a:prstGeom prst="roundRect">
            <a:avLst>
              <a:gd name="adj" fmla="val 13643"/>
            </a:avLst>
          </a:prstGeom>
          <a:solidFill>
            <a:srgbClr val="1B2A41"/>
          </a:solidFill>
          <a:ln/>
        </p:spPr>
      </p:sp>
      <p:sp>
        <p:nvSpPr>
          <p:cNvPr id="29" name="Text 27"/>
          <p:cNvSpPr/>
          <p:nvPr/>
        </p:nvSpPr>
        <p:spPr>
          <a:xfrm>
            <a:off x="6991879" y="2031935"/>
            <a:ext cx="42573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maths.py</a:t>
            </a:r>
            <a:endParaRPr lang="en-US" sz="1200" dirty="0"/>
          </a:p>
        </p:txBody>
      </p:sp>
      <p:sp>
        <p:nvSpPr>
          <p:cNvPr id="30" name="Text 28"/>
          <p:cNvSpPr/>
          <p:nvPr/>
        </p:nvSpPr>
        <p:spPr>
          <a:xfrm>
            <a:off x="6991879" y="2321455"/>
            <a:ext cx="4257321"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import</a:t>
            </a:r>
            <a:r>
              <a:rPr lang="en-US" sz="1500" dirty="0">
                <a:solidFill>
                  <a:srgbClr val="E8EDF3"/>
                </a:solidFill>
                <a:latin typeface="JetBrains Mono" pitchFamily="49" charset="0"/>
                <a:ea typeface="JetBrains Mono" pitchFamily="49" charset="-122"/>
                <a:cs typeface="JetBrains Mono" pitchFamily="49" charset="-120"/>
              </a:rPr>
              <a:t> math</a:t>
            </a:r>
            <a:endParaRPr lang="en-US" sz="1500" dirty="0"/>
          </a:p>
        </p:txBody>
      </p:sp>
      <p:sp>
        <p:nvSpPr>
          <p:cNvPr id="31" name="Shape 29"/>
          <p:cNvSpPr/>
          <p:nvPr/>
        </p:nvSpPr>
        <p:spPr>
          <a:xfrm>
            <a:off x="6744229" y="2918355"/>
            <a:ext cx="4628621" cy="1176007"/>
          </a:xfrm>
          <a:prstGeom prst="roundRect">
            <a:avLst>
              <a:gd name="adj" fmla="val 8099"/>
            </a:avLst>
          </a:prstGeom>
          <a:solidFill>
            <a:srgbClr val="FFFDF8"/>
          </a:solidFill>
          <a:ln w="12700">
            <a:solidFill>
              <a:srgbClr val="E2DED3"/>
            </a:solidFill>
            <a:prstDash val="solid"/>
          </a:ln>
        </p:spPr>
      </p:sp>
      <p:sp>
        <p:nvSpPr>
          <p:cNvPr id="32" name="Text 30"/>
          <p:cNvSpPr/>
          <p:nvPr/>
        </p:nvSpPr>
        <p:spPr>
          <a:xfrm>
            <a:off x="6953779" y="3077105"/>
            <a:ext cx="433580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ceil and floor</a:t>
            </a:r>
            <a:endParaRPr lang="en-US" sz="1800" dirty="0"/>
          </a:p>
        </p:txBody>
      </p:sp>
      <p:sp>
        <p:nvSpPr>
          <p:cNvPr id="33" name="Text 31"/>
          <p:cNvSpPr/>
          <p:nvPr/>
        </p:nvSpPr>
        <p:spPr>
          <a:xfrm>
            <a:off x="6953779" y="3402211"/>
            <a:ext cx="433580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ceil rounds </a:t>
            </a:r>
            <a:r>
              <a:rPr lang="en-US" sz="1500" b="1" dirty="0">
                <a:solidFill>
                  <a:srgbClr val="4A5568"/>
                </a:solidFill>
                <a:latin typeface="Rubik" pitchFamily="34" charset="0"/>
                <a:ea typeface="Rubik" pitchFamily="34" charset="-122"/>
                <a:cs typeface="Rubik" pitchFamily="34" charset="-120"/>
              </a:rPr>
              <a:t>up</a:t>
            </a:r>
            <a:r>
              <a:rPr lang="en-US" sz="1500" dirty="0">
                <a:solidFill>
                  <a:srgbClr val="4A5568"/>
                </a:solidFill>
                <a:latin typeface="Rubik" pitchFamily="34" charset="0"/>
                <a:ea typeface="Rubik" pitchFamily="34" charset="-122"/>
                <a:cs typeface="Rubik" pitchFamily="34" charset="-120"/>
              </a:rPr>
              <a:t> to the ceiling, floor rounds </a:t>
            </a:r>
            <a:r>
              <a:rPr lang="en-US" sz="1500" b="1" dirty="0">
                <a:solidFill>
                  <a:srgbClr val="4A5568"/>
                </a:solidFill>
                <a:latin typeface="Rubik" pitchFamily="34" charset="0"/>
                <a:ea typeface="Rubik" pitchFamily="34" charset="-122"/>
                <a:cs typeface="Rubik" pitchFamily="34" charset="-120"/>
              </a:rPr>
              <a:t>down</a:t>
            </a:r>
            <a:r>
              <a:rPr lang="en-US" sz="1500" dirty="0">
                <a:solidFill>
                  <a:srgbClr val="4A5568"/>
                </a:solidFill>
                <a:latin typeface="Rubik" pitchFamily="34" charset="0"/>
                <a:ea typeface="Rubik" pitchFamily="34" charset="-122"/>
                <a:cs typeface="Rubik" pitchFamily="34" charset="-120"/>
              </a:rPr>
              <a:t> to the floor.</a:t>
            </a:r>
            <a:endParaRPr lang="en-US" sz="1500" dirty="0"/>
          </a:p>
        </p:txBody>
      </p:sp>
      <p:sp>
        <p:nvSpPr>
          <p:cNvPr id="34" name="Shape 32"/>
          <p:cNvSpPr/>
          <p:nvPr/>
        </p:nvSpPr>
        <p:spPr>
          <a:xfrm>
            <a:off x="6737879" y="4227711"/>
            <a:ext cx="4641321" cy="787400"/>
          </a:xfrm>
          <a:prstGeom prst="roundRect">
            <a:avLst>
              <a:gd name="adj" fmla="val 11290"/>
            </a:avLst>
          </a:prstGeom>
          <a:solidFill>
            <a:srgbClr val="FBEFD5"/>
          </a:solidFill>
          <a:ln/>
        </p:spPr>
      </p:sp>
      <p:pic>
        <p:nvPicPr>
          <p:cNvPr id="35" name="Image 0" descr="Lightbulb">    </p:cNvPr>
          <p:cNvPicPr>
            <a:picLocks noChangeAspect="1"/>
          </p:cNvPicPr>
          <p:nvPr/>
        </p:nvPicPr>
        <p:blipFill>
          <a:blip r:embed="rId1"/>
          <a:srcRect l="-408" r="-408" t="0" b="0"/>
          <a:stretch/>
        </p:blipFill>
        <p:spPr>
          <a:xfrm>
            <a:off x="6915679" y="4469011"/>
            <a:ext cx="236868" cy="304800"/>
          </a:xfrm>
          <a:prstGeom prst="rect">
            <a:avLst/>
          </a:prstGeom>
        </p:spPr>
      </p:pic>
      <p:sp>
        <p:nvSpPr>
          <p:cNvPr id="36" name="Text 33"/>
          <p:cNvSpPr/>
          <p:nvPr/>
        </p:nvSpPr>
        <p:spPr>
          <a:xfrm>
            <a:off x="7279548" y="4354711"/>
            <a:ext cx="40395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Week 5's factorial and GCD are already here, ready to use.</a:t>
            </a:r>
            <a:endParaRPr lang="en-US" sz="1500" dirty="0"/>
          </a:p>
        </p:txBody>
      </p:sp>
      <p:sp>
        <p:nvSpPr>
          <p:cNvPr id="37" name="Text 3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16 · RANDOM</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Dice, OTPs and lucky draws</a:t>
            </a:r>
            <a:endParaRPr lang="en-US" sz="3200" dirty="0"/>
          </a:p>
        </p:txBody>
      </p:sp>
      <p:sp>
        <p:nvSpPr>
          <p:cNvPr id="4" name="Shape 2"/>
          <p:cNvSpPr/>
          <p:nvPr/>
        </p:nvSpPr>
        <p:spPr>
          <a:xfrm>
            <a:off x="812800" y="1854135"/>
            <a:ext cx="5865747" cy="3216870"/>
          </a:xfrm>
          <a:prstGeom prst="roundRect">
            <a:avLst>
              <a:gd name="adj" fmla="val 3948"/>
            </a:avLst>
          </a:prstGeom>
          <a:solidFill>
            <a:srgbClr val="1B2A41"/>
          </a:solidFill>
          <a:ln/>
        </p:spPr>
      </p:sp>
      <p:sp>
        <p:nvSpPr>
          <p:cNvPr id="5" name="Text 3"/>
          <p:cNvSpPr/>
          <p:nvPr/>
        </p:nvSpPr>
        <p:spPr>
          <a:xfrm>
            <a:off x="1066800" y="2031935"/>
            <a:ext cx="55184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lucky.py</a:t>
            </a:r>
            <a:endParaRPr lang="en-US" sz="1200" dirty="0"/>
          </a:p>
        </p:txBody>
      </p:sp>
      <p:sp>
        <p:nvSpPr>
          <p:cNvPr id="6" name="Text 4"/>
          <p:cNvSpPr/>
          <p:nvPr/>
        </p:nvSpPr>
        <p:spPr>
          <a:xfrm>
            <a:off x="1066800" y="2321455"/>
            <a:ext cx="5518479" cy="2597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import</a:t>
            </a:r>
            <a:r>
              <a:rPr lang="en-US" sz="1500" dirty="0">
                <a:solidFill>
                  <a:srgbClr val="E8EDF3"/>
                </a:solidFill>
                <a:latin typeface="JetBrains Mono" pitchFamily="49" charset="0"/>
                <a:ea typeface="JetBrains Mono" pitchFamily="49" charset="-122"/>
                <a:cs typeface="JetBrains Mono" pitchFamily="49" charset="-120"/>
              </a:rPr>
              <a:t> random</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dice = random.randint(1, 6)</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otp = random.randint(1000, 9999)</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snack = random.choice([</a:t>
            </a:r>
            <a:r>
              <a:rPr lang="en-US" sz="1500" dirty="0">
                <a:solidFill>
                  <a:srgbClr val="9FD8A8"/>
                </a:solidFill>
                <a:latin typeface="JetBrains Mono" pitchFamily="49" charset="0"/>
                <a:ea typeface="JetBrains Mono" pitchFamily="49" charset="-122"/>
                <a:cs typeface="JetBrains Mono" pitchFamily="49" charset="-120"/>
              </a:rPr>
              <a:t>"Samosa"</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"Bara"</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"Gupchup"</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names = [</a:t>
            </a:r>
            <a:r>
              <a:rPr lang="en-US" sz="1500" dirty="0">
                <a:solidFill>
                  <a:srgbClr val="9FD8A8"/>
                </a:solidFill>
                <a:latin typeface="JetBrains Mono" pitchFamily="49" charset="0"/>
                <a:ea typeface="JetBrains Mono" pitchFamily="49" charset="-122"/>
                <a:cs typeface="JetBrains Mono" pitchFamily="49" charset="-120"/>
              </a:rPr>
              <a:t>"Ananya"</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"Subham"</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"Priyanka"</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random.shuffle(names)</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(dice, otp, snack)</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(names)</a:t>
            </a:r>
            <a:endParaRPr lang="en-US" sz="1500" dirty="0"/>
          </a:p>
        </p:txBody>
      </p:sp>
      <p:sp>
        <p:nvSpPr>
          <p:cNvPr id="7" name="Shape 5"/>
          <p:cNvSpPr/>
          <p:nvPr/>
        </p:nvSpPr>
        <p:spPr>
          <a:xfrm>
            <a:off x="7040497" y="1860485"/>
            <a:ext cx="4332354"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7300847" y="2044635"/>
            <a:ext cx="392600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7300847" y="2334155"/>
            <a:ext cx="392600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4 7392 Bara</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['Priyanka', 'Ananya', 'Subham']</a:t>
            </a:r>
            <a:endParaRPr lang="en-US" sz="1500" dirty="0"/>
          </a:p>
        </p:txBody>
      </p:sp>
      <p:sp>
        <p:nvSpPr>
          <p:cNvPr id="10" name="Shape 8"/>
          <p:cNvSpPr/>
          <p:nvPr/>
        </p:nvSpPr>
        <p:spPr>
          <a:xfrm>
            <a:off x="7040497" y="3229505"/>
            <a:ext cx="4332354" cy="909307"/>
          </a:xfrm>
          <a:prstGeom prst="roundRect">
            <a:avLst>
              <a:gd name="adj" fmla="val 10475"/>
            </a:avLst>
          </a:prstGeom>
          <a:solidFill>
            <a:srgbClr val="FFFDF8"/>
          </a:solidFill>
          <a:ln w="12700">
            <a:solidFill>
              <a:srgbClr val="E2DED3"/>
            </a:solidFill>
            <a:prstDash val="solid"/>
          </a:ln>
        </p:spPr>
      </p:sp>
      <p:sp>
        <p:nvSpPr>
          <p:cNvPr id="11" name="Text 9"/>
          <p:cNvSpPr/>
          <p:nvPr/>
        </p:nvSpPr>
        <p:spPr>
          <a:xfrm>
            <a:off x="7250047" y="3388255"/>
            <a:ext cx="403065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randint(a, b)</a:t>
            </a:r>
            <a:endParaRPr lang="en-US" sz="1800" dirty="0"/>
          </a:p>
        </p:txBody>
      </p:sp>
      <p:sp>
        <p:nvSpPr>
          <p:cNvPr id="12" name="Text 10"/>
          <p:cNvSpPr/>
          <p:nvPr/>
        </p:nvSpPr>
        <p:spPr>
          <a:xfrm>
            <a:off x="7250047" y="3713361"/>
            <a:ext cx="411645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 whole number from a to b, </a:t>
            </a:r>
            <a:r>
              <a:rPr lang="en-US" sz="1500" b="1" dirty="0">
                <a:solidFill>
                  <a:srgbClr val="4A5568"/>
                </a:solidFill>
                <a:latin typeface="Rubik" pitchFamily="34" charset="0"/>
                <a:ea typeface="Rubik" pitchFamily="34" charset="-122"/>
                <a:cs typeface="Rubik" pitchFamily="34" charset="-120"/>
              </a:rPr>
              <a:t>both included</a:t>
            </a:r>
            <a:endParaRPr lang="en-US" sz="1500" dirty="0"/>
          </a:p>
        </p:txBody>
      </p:sp>
      <p:sp>
        <p:nvSpPr>
          <p:cNvPr id="13" name="Shape 11"/>
          <p:cNvSpPr/>
          <p:nvPr/>
        </p:nvSpPr>
        <p:spPr>
          <a:xfrm>
            <a:off x="7040497" y="4278511"/>
            <a:ext cx="4332354" cy="909307"/>
          </a:xfrm>
          <a:prstGeom prst="roundRect">
            <a:avLst>
              <a:gd name="adj" fmla="val 10475"/>
            </a:avLst>
          </a:prstGeom>
          <a:solidFill>
            <a:srgbClr val="FFFDF8"/>
          </a:solidFill>
          <a:ln w="12700">
            <a:solidFill>
              <a:srgbClr val="E2DED3"/>
            </a:solidFill>
            <a:prstDash val="solid"/>
          </a:ln>
        </p:spPr>
      </p:sp>
      <p:sp>
        <p:nvSpPr>
          <p:cNvPr id="14" name="Text 12"/>
          <p:cNvSpPr/>
          <p:nvPr/>
        </p:nvSpPr>
        <p:spPr>
          <a:xfrm>
            <a:off x="7250047" y="4437261"/>
            <a:ext cx="403065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choice / shuffle</a:t>
            </a:r>
            <a:endParaRPr lang="en-US" sz="1800" dirty="0"/>
          </a:p>
        </p:txBody>
      </p:sp>
      <p:sp>
        <p:nvSpPr>
          <p:cNvPr id="15" name="Text 13"/>
          <p:cNvSpPr/>
          <p:nvPr/>
        </p:nvSpPr>
        <p:spPr>
          <a:xfrm>
            <a:off x="7250047" y="4762370"/>
            <a:ext cx="403065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pick one item / mix the whole list</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16 · DATETIME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Working with dates</a:t>
            </a:r>
            <a:endParaRPr lang="en-US" sz="3200" dirty="0"/>
          </a:p>
        </p:txBody>
      </p:sp>
      <p:sp>
        <p:nvSpPr>
          <p:cNvPr id="4" name="Shape 2"/>
          <p:cNvSpPr/>
          <p:nvPr/>
        </p:nvSpPr>
        <p:spPr>
          <a:xfrm>
            <a:off x="812800" y="1854135"/>
            <a:ext cx="5771290" cy="2645370"/>
          </a:xfrm>
          <a:prstGeom prst="roundRect">
            <a:avLst>
              <a:gd name="adj" fmla="val 4801"/>
            </a:avLst>
          </a:prstGeom>
          <a:solidFill>
            <a:srgbClr val="1B2A41"/>
          </a:solidFill>
          <a:ln/>
        </p:spPr>
      </p:sp>
      <p:sp>
        <p:nvSpPr>
          <p:cNvPr id="5" name="Text 3"/>
          <p:cNvSpPr/>
          <p:nvPr/>
        </p:nvSpPr>
        <p:spPr>
          <a:xfrm>
            <a:off x="1066800" y="2031935"/>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dates.py</a:t>
            </a:r>
            <a:endParaRPr lang="en-US" sz="1200" dirty="0"/>
          </a:p>
        </p:txBody>
      </p:sp>
      <p:sp>
        <p:nvSpPr>
          <p:cNvPr id="6" name="Text 4"/>
          <p:cNvSpPr/>
          <p:nvPr/>
        </p:nvSpPr>
        <p:spPr>
          <a:xfrm>
            <a:off x="1066800" y="2321455"/>
            <a:ext cx="5421189" cy="2025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from</a:t>
            </a:r>
            <a:r>
              <a:rPr lang="en-US" sz="1500" dirty="0">
                <a:solidFill>
                  <a:srgbClr val="E8EDF3"/>
                </a:solidFill>
                <a:latin typeface="JetBrains Mono" pitchFamily="49" charset="0"/>
                <a:ea typeface="JetBrains Mono" pitchFamily="49" charset="-122"/>
                <a:cs typeface="JetBrains Mono" pitchFamily="49" charset="-120"/>
              </a:rPr>
              <a:t> datetime </a:t>
            </a:r>
            <a:r>
              <a:rPr lang="en-US" sz="1500" dirty="0">
                <a:solidFill>
                  <a:srgbClr val="F2B33D"/>
                </a:solidFill>
                <a:latin typeface="JetBrains Mono" pitchFamily="49" charset="0"/>
                <a:ea typeface="JetBrains Mono" pitchFamily="49" charset="-122"/>
                <a:cs typeface="JetBrains Mono" pitchFamily="49" charset="-120"/>
              </a:rPr>
              <a:t>import</a:t>
            </a:r>
            <a:r>
              <a:rPr lang="en-US" sz="1500" dirty="0">
                <a:solidFill>
                  <a:srgbClr val="E8EDF3"/>
                </a:solidFill>
                <a:latin typeface="JetBrains Mono" pitchFamily="49" charset="0"/>
                <a:ea typeface="JetBrains Mono" pitchFamily="49" charset="-122"/>
                <a:cs typeface="JetBrains Mono" pitchFamily="49" charset="-120"/>
              </a:rPr>
              <a:t> date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today = date.today()</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"Today:"</a:t>
            </a:r>
            <a:r>
              <a:rPr lang="en-US" sz="1500" dirty="0">
                <a:solidFill>
                  <a:srgbClr val="E8EDF3"/>
                </a:solidFill>
                <a:latin typeface="JetBrains Mono" pitchFamily="49" charset="0"/>
                <a:ea typeface="JetBrains Mono" pitchFamily="49" charset="-122"/>
                <a:cs typeface="JetBrains Mono" pitchFamily="49" charset="-120"/>
              </a:rPr>
              <a:t>, today)</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exam = date(2026, 12, 15)</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left = (exam - today).days</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"Days to exam:"</a:t>
            </a:r>
            <a:r>
              <a:rPr lang="en-US" sz="1500" dirty="0">
                <a:solidFill>
                  <a:srgbClr val="E8EDF3"/>
                </a:solidFill>
                <a:latin typeface="JetBrains Mono" pitchFamily="49" charset="0"/>
                <a:ea typeface="JetBrains Mono" pitchFamily="49" charset="-122"/>
                <a:cs typeface="JetBrains Mono" pitchFamily="49" charset="-120"/>
              </a:rPr>
              <a:t>, left)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(today.strftime(</a:t>
            </a:r>
            <a:r>
              <a:rPr lang="en-US" sz="1500" dirty="0">
                <a:solidFill>
                  <a:srgbClr val="9FD8A8"/>
                </a:solidFill>
                <a:latin typeface="JetBrains Mono" pitchFamily="49" charset="0"/>
                <a:ea typeface="JetBrains Mono" pitchFamily="49" charset="-122"/>
                <a:cs typeface="JetBrains Mono" pitchFamily="49" charset="-120"/>
              </a:rPr>
              <a:t>"%d/%m/%Y"</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6946040" y="1860485"/>
            <a:ext cx="4426810" cy="1515070"/>
          </a:xfrm>
          <a:prstGeom prst="roundRect">
            <a:avLst>
              <a:gd name="adj" fmla="val 7963"/>
            </a:avLst>
          </a:prstGeom>
          <a:solidFill>
            <a:srgbClr val="FFFDF8"/>
          </a:solidFill>
          <a:ln w="12700">
            <a:solidFill>
              <a:srgbClr val="D9DEE5"/>
            </a:solidFill>
            <a:prstDash val="solid"/>
          </a:ln>
        </p:spPr>
      </p:sp>
      <p:sp>
        <p:nvSpPr>
          <p:cNvPr id="8" name="Text 6"/>
          <p:cNvSpPr/>
          <p:nvPr/>
        </p:nvSpPr>
        <p:spPr>
          <a:xfrm>
            <a:off x="7206390" y="2044635"/>
            <a:ext cx="402329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7206390" y="2334155"/>
            <a:ext cx="4023293"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Today: 2026-10-06</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Days to exam: 70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06/10/2026</a:t>
            </a:r>
            <a:endParaRPr lang="en-US" sz="1500" dirty="0"/>
          </a:p>
        </p:txBody>
      </p:sp>
      <p:sp>
        <p:nvSpPr>
          <p:cNvPr id="10" name="Shape 8"/>
          <p:cNvSpPr/>
          <p:nvPr/>
        </p:nvSpPr>
        <p:spPr>
          <a:xfrm>
            <a:off x="6946040" y="3515255"/>
            <a:ext cx="4426810"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7104790" y="362320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561990" y="3623205"/>
            <a:ext cx="38045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date.today():</a:t>
            </a:r>
            <a:r>
              <a:rPr lang="en-US" sz="1500" dirty="0">
                <a:solidFill>
                  <a:srgbClr val="4A5568"/>
                </a:solidFill>
                <a:latin typeface="Rubik" pitchFamily="34" charset="0"/>
                <a:ea typeface="Rubik" pitchFamily="34" charset="-122"/>
                <a:cs typeface="Rubik" pitchFamily="34" charset="-120"/>
              </a:rPr>
              <a:t> the date on the computer</a:t>
            </a:r>
            <a:endParaRPr lang="en-US" sz="1500" dirty="0"/>
          </a:p>
        </p:txBody>
      </p:sp>
      <p:sp>
        <p:nvSpPr>
          <p:cNvPr id="13" name="Shape 11"/>
          <p:cNvSpPr/>
          <p:nvPr/>
        </p:nvSpPr>
        <p:spPr>
          <a:xfrm>
            <a:off x="6946040" y="4137555"/>
            <a:ext cx="4426810"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7104790" y="424550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561990" y="4245505"/>
            <a:ext cx="33866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Subtract dates:</a:t>
            </a:r>
            <a:r>
              <a:rPr lang="en-US" sz="1500" dirty="0">
                <a:solidFill>
                  <a:srgbClr val="4A5568"/>
                </a:solidFill>
                <a:latin typeface="Rubik" pitchFamily="34" charset="0"/>
                <a:ea typeface="Rubik" pitchFamily="34" charset="-122"/>
                <a:cs typeface="Rubik" pitchFamily="34" charset="-120"/>
              </a:rPr>
              <a:t> and read </a:t>
            </a:r>
            <a:r>
              <a:rPr lang="en-US" sz="1500" dirty="0">
                <a:solidFill>
                  <a:srgbClr val="2A64A3"/>
                </a:solidFill>
                <a:latin typeface="Rubik" pitchFamily="34" charset="0"/>
                <a:ea typeface="Rubik" pitchFamily="34" charset="-122"/>
                <a:cs typeface="Rubik" pitchFamily="34" charset="-120"/>
              </a:rPr>
              <a:t>.days</a:t>
            </a:r>
            <a:endParaRPr lang="en-US" sz="1500" dirty="0"/>
          </a:p>
        </p:txBody>
      </p:sp>
      <p:sp>
        <p:nvSpPr>
          <p:cNvPr id="16" name="Shape 14"/>
          <p:cNvSpPr/>
          <p:nvPr/>
        </p:nvSpPr>
        <p:spPr>
          <a:xfrm>
            <a:off x="6946040" y="4759855"/>
            <a:ext cx="4426810" cy="749300"/>
          </a:xfrm>
          <a:prstGeom prst="roundRect">
            <a:avLst>
              <a:gd name="adj" fmla="val 11017"/>
            </a:avLst>
          </a:prstGeom>
          <a:solidFill>
            <a:srgbClr val="FFFDF8"/>
          </a:solidFill>
          <a:ln w="12700">
            <a:solidFill>
              <a:srgbClr val="E2DED3"/>
            </a:solidFill>
            <a:prstDash val="solid"/>
          </a:ln>
        </p:spPr>
      </p:sp>
      <p:sp>
        <p:nvSpPr>
          <p:cNvPr id="17" name="Text 15"/>
          <p:cNvSpPr/>
          <p:nvPr/>
        </p:nvSpPr>
        <p:spPr>
          <a:xfrm>
            <a:off x="7104790" y="500115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561990" y="4867805"/>
            <a:ext cx="376167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strftime:</a:t>
            </a:r>
            <a:r>
              <a:rPr lang="en-US" sz="1500" dirty="0">
                <a:solidFill>
                  <a:srgbClr val="4A5568"/>
                </a:solidFill>
                <a:latin typeface="Rubik" pitchFamily="34" charset="0"/>
                <a:ea typeface="Rubik" pitchFamily="34" charset="-122"/>
                <a:cs typeface="Rubik" pitchFamily="34" charset="-120"/>
              </a:rPr>
              <a:t> formats the date the Indian way</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16 · YOUR OWN MODULE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Any .py file is a module</a:t>
            </a:r>
            <a:endParaRPr lang="en-US" sz="3200" dirty="0"/>
          </a:p>
        </p:txBody>
      </p:sp>
      <p:sp>
        <p:nvSpPr>
          <p:cNvPr id="4" name="Shape 2"/>
          <p:cNvSpPr/>
          <p:nvPr/>
        </p:nvSpPr>
        <p:spPr>
          <a:xfrm>
            <a:off x="819150" y="1860485"/>
            <a:ext cx="5168900" cy="2807957"/>
          </a:xfrm>
          <a:prstGeom prst="roundRect">
            <a:avLst>
              <a:gd name="adj" fmla="val 4297"/>
            </a:avLst>
          </a:prstGeom>
          <a:solidFill>
            <a:srgbClr val="FFFDF8"/>
          </a:solidFill>
          <a:ln w="12700">
            <a:solidFill>
              <a:srgbClr val="E2DED3"/>
            </a:solidFill>
            <a:prstDash val="solid"/>
          </a:ln>
        </p:spPr>
      </p:sp>
      <p:sp>
        <p:nvSpPr>
          <p:cNvPr id="5" name="Text 3"/>
          <p:cNvSpPr/>
          <p:nvPr/>
        </p:nvSpPr>
        <p:spPr>
          <a:xfrm>
            <a:off x="1028700" y="2070035"/>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mytools.py</a:t>
            </a:r>
            <a:endParaRPr lang="en-US" sz="1800" dirty="0"/>
          </a:p>
        </p:txBody>
      </p:sp>
      <p:sp>
        <p:nvSpPr>
          <p:cNvPr id="6" name="Text 4"/>
          <p:cNvSpPr/>
          <p:nvPr/>
        </p:nvSpPr>
        <p:spPr>
          <a:xfrm>
            <a:off x="1028700" y="2445941"/>
            <a:ext cx="4749800" cy="1682750"/>
          </a:xfrm>
          <a:prstGeom prst="roundRect">
            <a:avLst>
              <a:gd name="adj" fmla="val 5283"/>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is_even(n):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n % 2 == 0</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area(r):</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3.14159 * r * r</a:t>
            </a:r>
            <a:endParaRPr lang="en-US" sz="1500" dirty="0"/>
          </a:p>
        </p:txBody>
      </p:sp>
      <p:sp>
        <p:nvSpPr>
          <p:cNvPr id="7" name="Shape 5"/>
          <p:cNvSpPr/>
          <p:nvPr/>
        </p:nvSpPr>
        <p:spPr>
          <a:xfrm>
            <a:off x="6203950" y="1860485"/>
            <a:ext cx="5168900" cy="2807957"/>
          </a:xfrm>
          <a:prstGeom prst="roundRect">
            <a:avLst>
              <a:gd name="adj" fmla="val 4297"/>
            </a:avLst>
          </a:prstGeom>
          <a:solidFill>
            <a:srgbClr val="FFFDF8"/>
          </a:solidFill>
          <a:ln w="12700">
            <a:solidFill>
              <a:srgbClr val="E2DED3"/>
            </a:solidFill>
            <a:prstDash val="solid"/>
          </a:ln>
        </p:spPr>
      </p:sp>
      <p:sp>
        <p:nvSpPr>
          <p:cNvPr id="8" name="Text 6"/>
          <p:cNvSpPr/>
          <p:nvPr/>
        </p:nvSpPr>
        <p:spPr>
          <a:xfrm>
            <a:off x="6413500" y="2070035"/>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main.py (same folder)</a:t>
            </a:r>
            <a:endParaRPr lang="en-US" sz="1800" dirty="0"/>
          </a:p>
        </p:txBody>
      </p:sp>
      <p:sp>
        <p:nvSpPr>
          <p:cNvPr id="9" name="Text 7"/>
          <p:cNvSpPr/>
          <p:nvPr/>
        </p:nvSpPr>
        <p:spPr>
          <a:xfrm>
            <a:off x="6413500" y="2445941"/>
            <a:ext cx="4749800" cy="1111250"/>
          </a:xfrm>
          <a:prstGeom prst="roundRect">
            <a:avLst>
              <a:gd name="adj" fmla="val 8000"/>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import</a:t>
            </a:r>
            <a:r>
              <a:rPr lang="en-US" sz="1500" dirty="0">
                <a:solidFill>
                  <a:srgbClr val="E8EDF3"/>
                </a:solidFill>
                <a:latin typeface="JetBrains Mono" pitchFamily="49" charset="0"/>
                <a:ea typeface="JetBrains Mono" pitchFamily="49" charset="-122"/>
                <a:cs typeface="JetBrains Mono" pitchFamily="49" charset="-120"/>
              </a:rPr>
              <a:t> mytools</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(mytools.is_even(8))</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(mytools.area(2))</a:t>
            </a:r>
            <a:endParaRPr lang="en-US" sz="1500" dirty="0"/>
          </a:p>
        </p:txBody>
      </p:sp>
      <p:sp>
        <p:nvSpPr>
          <p:cNvPr id="10" name="Text 8"/>
          <p:cNvSpPr/>
          <p:nvPr/>
        </p:nvSpPr>
        <p:spPr>
          <a:xfrm>
            <a:off x="6419850" y="3665141"/>
            <a:ext cx="4737100" cy="787400"/>
          </a:xfrm>
          <a:prstGeom prst="roundRect">
            <a:avLst>
              <a:gd name="adj" fmla="val 10484"/>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True</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12.56636</a:t>
            </a:r>
            <a:endParaRPr lang="en-US" sz="1500" dirty="0"/>
          </a:p>
        </p:txBody>
      </p:sp>
      <p:sp>
        <p:nvSpPr>
          <p:cNvPr id="11" name="Shape 9"/>
          <p:cNvSpPr/>
          <p:nvPr/>
        </p:nvSpPr>
        <p:spPr>
          <a:xfrm>
            <a:off x="819150" y="4985941"/>
            <a:ext cx="10553700" cy="723900"/>
          </a:xfrm>
          <a:prstGeom prst="roundRect">
            <a:avLst>
              <a:gd name="adj" fmla="val 20175"/>
            </a:avLst>
          </a:prstGeom>
          <a:solidFill>
            <a:srgbClr val="FFFDF8"/>
          </a:solidFill>
          <a:ln w="12700">
            <a:solidFill>
              <a:srgbClr val="B54708"/>
            </a:solidFill>
            <a:prstDash val="solid"/>
          </a:ln>
        </p:spPr>
      </p:sp>
      <p:pic>
        <p:nvPicPr>
          <p:cNvPr id="12" name="Image 0" descr="Warning">    </p:cNvPr>
          <p:cNvPicPr>
            <a:picLocks noChangeAspect="1"/>
          </p:cNvPicPr>
          <p:nvPr/>
        </p:nvPicPr>
        <p:blipFill>
          <a:blip r:embed="rId1"/>
          <a:srcRect l="0" r="0" t="0" b="0"/>
          <a:stretch/>
        </p:blipFill>
        <p:spPr>
          <a:xfrm>
            <a:off x="1130300" y="5170091"/>
            <a:ext cx="355600" cy="355600"/>
          </a:xfrm>
          <a:prstGeom prst="rect">
            <a:avLst/>
          </a:prstGeom>
        </p:spPr>
      </p:pic>
      <p:sp>
        <p:nvSpPr>
          <p:cNvPr id="13" name="Text 10"/>
          <p:cNvSpPr/>
          <p:nvPr/>
        </p:nvSpPr>
        <p:spPr>
          <a:xfrm>
            <a:off x="1689100" y="5205016"/>
            <a:ext cx="967740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Rubik" pitchFamily="34" charset="0"/>
                <a:ea typeface="Rubik" pitchFamily="34" charset="-122"/>
                <a:cs typeface="Rubik" pitchFamily="34" charset="-120"/>
              </a:rPr>
              <a:t>Never name your file </a:t>
            </a:r>
            <a:r>
              <a:rPr lang="en-US" sz="1500" dirty="0">
                <a:solidFill>
                  <a:srgbClr val="2A64A3"/>
                </a:solidFill>
                <a:latin typeface="Rubik" pitchFamily="34" charset="0"/>
                <a:ea typeface="Rubik" pitchFamily="34" charset="-122"/>
                <a:cs typeface="Rubik" pitchFamily="34" charset="-120"/>
              </a:rPr>
              <a:t>math.py</a:t>
            </a:r>
            <a:r>
              <a:rPr lang="en-US" sz="1500" dirty="0">
                <a:solidFill>
                  <a:srgbClr val="1B2A41"/>
                </a:solidFill>
                <a:latin typeface="Rubik" pitchFamily="34" charset="0"/>
                <a:ea typeface="Rubik" pitchFamily="34" charset="-122"/>
                <a:cs typeface="Rubik" pitchFamily="34" charset="-120"/>
              </a:rPr>
              <a:t> or </a:t>
            </a:r>
            <a:r>
              <a:rPr lang="en-US" sz="1500" dirty="0">
                <a:solidFill>
                  <a:srgbClr val="2A64A3"/>
                </a:solidFill>
                <a:latin typeface="Rubik" pitchFamily="34" charset="0"/>
                <a:ea typeface="Rubik" pitchFamily="34" charset="-122"/>
                <a:cs typeface="Rubik" pitchFamily="34" charset="-120"/>
              </a:rPr>
              <a:t>random.py</a:t>
            </a:r>
            <a:r>
              <a:rPr lang="en-US" sz="1500" dirty="0">
                <a:solidFill>
                  <a:srgbClr val="1B2A41"/>
                </a:solidFill>
                <a:latin typeface="Rubik" pitchFamily="34" charset="0"/>
                <a:ea typeface="Rubik" pitchFamily="34" charset="-122"/>
                <a:cs typeface="Rubik" pitchFamily="34" charset="-120"/>
              </a:rPr>
              <a:t>: Python would import yours instead of the real one.</a:t>
            </a:r>
            <a:endParaRPr lang="en-US" sz="15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16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5"/>
            <a:ext cx="2476500" cy="2527234"/>
          </a:xfrm>
          <a:prstGeom prst="roundRect">
            <a:avLst>
              <a:gd name="adj" fmla="val 4872"/>
            </a:avLst>
          </a:prstGeom>
          <a:solidFill>
            <a:srgbClr val="FBFCFE"/>
          </a:solidFill>
          <a:ln w="12700">
            <a:solidFill>
              <a:srgbClr val="C9D7E8"/>
            </a:solidFill>
            <a:prstDash val="solid"/>
          </a:ln>
        </p:spPr>
      </p:sp>
      <p:sp>
        <p:nvSpPr>
          <p:cNvPr id="5" name="Text 3"/>
          <p:cNvSpPr/>
          <p:nvPr/>
        </p:nvSpPr>
        <p:spPr>
          <a:xfrm>
            <a:off x="1028700" y="2019235"/>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5"/>
            <a:ext cx="2119122" cy="57401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Guess the number</a:t>
            </a:r>
            <a:endParaRPr lang="en-US" sz="1800" dirty="0"/>
          </a:p>
        </p:txBody>
      </p:sp>
      <p:sp>
        <p:nvSpPr>
          <p:cNvPr id="7" name="Text 5"/>
          <p:cNvSpPr/>
          <p:nvPr/>
        </p:nvSpPr>
        <p:spPr>
          <a:xfrm>
            <a:off x="1028700" y="3060570"/>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Computer picks 1–50. User guesses with too high / too low hints. Count tries.</a:t>
            </a:r>
            <a:endParaRPr lang="en-US" sz="1500" dirty="0"/>
          </a:p>
        </p:txBody>
      </p:sp>
      <p:sp>
        <p:nvSpPr>
          <p:cNvPr id="8" name="Shape 6"/>
          <p:cNvSpPr/>
          <p:nvPr/>
        </p:nvSpPr>
        <p:spPr>
          <a:xfrm>
            <a:off x="3511550" y="1809685"/>
            <a:ext cx="2476500" cy="2527234"/>
          </a:xfrm>
          <a:prstGeom prst="roundRect">
            <a:avLst>
              <a:gd name="adj" fmla="val 4872"/>
            </a:avLst>
          </a:prstGeom>
          <a:solidFill>
            <a:srgbClr val="FBFCFE"/>
          </a:solidFill>
          <a:ln w="12700">
            <a:solidFill>
              <a:srgbClr val="C9D7E8"/>
            </a:solidFill>
            <a:prstDash val="solid"/>
          </a:ln>
        </p:spPr>
      </p:sp>
      <p:sp>
        <p:nvSpPr>
          <p:cNvPr id="9" name="Text 7"/>
          <p:cNvSpPr/>
          <p:nvPr/>
        </p:nvSpPr>
        <p:spPr>
          <a:xfrm>
            <a:off x="3721100" y="2019235"/>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Benches</a:t>
            </a:r>
            <a:endParaRPr lang="en-US" sz="1800" dirty="0"/>
          </a:p>
        </p:txBody>
      </p:sp>
      <p:sp>
        <p:nvSpPr>
          <p:cNvPr id="11" name="Text 9"/>
          <p:cNvSpPr/>
          <p:nvPr/>
        </p:nvSpPr>
        <p:spPr>
          <a:xfrm>
            <a:off x="37211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students and seats per bench. Use ceil to print benches needed.</a:t>
            </a:r>
            <a:endParaRPr lang="en-US" sz="1500" dirty="0"/>
          </a:p>
        </p:txBody>
      </p:sp>
      <p:sp>
        <p:nvSpPr>
          <p:cNvPr id="12" name="Shape 10"/>
          <p:cNvSpPr/>
          <p:nvPr/>
        </p:nvSpPr>
        <p:spPr>
          <a:xfrm>
            <a:off x="6203950" y="1809685"/>
            <a:ext cx="2476500" cy="2527234"/>
          </a:xfrm>
          <a:prstGeom prst="roundRect">
            <a:avLst>
              <a:gd name="adj" fmla="val 4872"/>
            </a:avLst>
          </a:prstGeom>
          <a:solidFill>
            <a:srgbClr val="FBFCFE"/>
          </a:solidFill>
          <a:ln w="12700">
            <a:solidFill>
              <a:srgbClr val="C9D7E8"/>
            </a:solidFill>
            <a:prstDash val="solid"/>
          </a:ln>
        </p:spPr>
      </p:sp>
      <p:sp>
        <p:nvSpPr>
          <p:cNvPr id="13" name="Text 11"/>
          <p:cNvSpPr/>
          <p:nvPr/>
        </p:nvSpPr>
        <p:spPr>
          <a:xfrm>
            <a:off x="6413500" y="2019235"/>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Age</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a birth year. Print the age this year using datetime.</a:t>
            </a:r>
            <a:endParaRPr lang="en-US" sz="1500" dirty="0"/>
          </a:p>
        </p:txBody>
      </p:sp>
      <p:sp>
        <p:nvSpPr>
          <p:cNvPr id="16" name="Shape 14"/>
          <p:cNvSpPr/>
          <p:nvPr/>
        </p:nvSpPr>
        <p:spPr>
          <a:xfrm>
            <a:off x="8896350" y="1809685"/>
            <a:ext cx="2476500" cy="2527234"/>
          </a:xfrm>
          <a:prstGeom prst="roundRect">
            <a:avLst>
              <a:gd name="adj" fmla="val 4872"/>
            </a:avLst>
          </a:prstGeom>
          <a:solidFill>
            <a:srgbClr val="FBFCFE"/>
          </a:solidFill>
          <a:ln w="12700">
            <a:solidFill>
              <a:srgbClr val="C9D7E8"/>
            </a:solidFill>
            <a:prstDash val="solid"/>
          </a:ln>
        </p:spPr>
      </p:sp>
      <p:sp>
        <p:nvSpPr>
          <p:cNvPr id="17" name="Text 15"/>
          <p:cNvSpPr/>
          <p:nvPr/>
        </p:nvSpPr>
        <p:spPr>
          <a:xfrm>
            <a:off x="9105900" y="2019235"/>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OTP</a:t>
            </a:r>
            <a:endParaRPr lang="en-US" sz="1800" dirty="0"/>
          </a:p>
        </p:txBody>
      </p:sp>
      <p:sp>
        <p:nvSpPr>
          <p:cNvPr id="19" name="Text 17"/>
          <p:cNvSpPr/>
          <p:nvPr/>
        </p:nvSpPr>
        <p:spPr>
          <a:xfrm>
            <a:off x="91059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Make a 6-digit OTP with random and ask the user to type it back.</a:t>
            </a:r>
            <a:endParaRPr lang="en-US" sz="1500" dirty="0"/>
          </a:p>
        </p:txBody>
      </p:sp>
      <p:sp>
        <p:nvSpPr>
          <p:cNvPr id="20" name="Shape 18"/>
          <p:cNvSpPr/>
          <p:nvPr/>
        </p:nvSpPr>
        <p:spPr>
          <a:xfrm>
            <a:off x="812800" y="4597270"/>
            <a:ext cx="10566400" cy="622300"/>
          </a:xfrm>
          <a:prstGeom prst="roundRect">
            <a:avLst>
              <a:gd name="adj" fmla="val 20408"/>
            </a:avLst>
          </a:prstGeom>
          <a:solidFill>
            <a:srgbClr val="1B2A41"/>
          </a:solidFill>
          <a:ln/>
        </p:spPr>
      </p:sp>
      <p:sp>
        <p:nvSpPr>
          <p:cNvPr id="21" name="Text 19"/>
          <p:cNvSpPr/>
          <p:nvPr/>
        </p:nvSpPr>
        <p:spPr>
          <a:xfrm>
            <a:off x="1066800" y="4801729"/>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775070"/>
            <a:ext cx="460716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Modules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Math</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3" invalidUrl="" action="" tgtFrame="" tooltip="" history="1" highlightClick="0" endSnd="0">
                  <a:extLst>
                    <a:ext uri="{A12FA001-AC4F-418D-AE19-62706E023703}">
                      <ahyp:hlinkClr xmlns:ahyp="http://schemas.microsoft.com/office/drawing/2018/hyperlinkcolor" val="tx"/>
                    </a:ext>
                  </a:extLst>
                </a:hlinkClick>
              </a:rPr>
              <a:t>Dates</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664489"/>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17 OF 24</a:t>
            </a:r>
            <a:endParaRPr lang="en-US" sz="1200" dirty="0"/>
          </a:p>
        </p:txBody>
      </p:sp>
      <p:sp>
        <p:nvSpPr>
          <p:cNvPr id="3" name="Text 1"/>
          <p:cNvSpPr/>
          <p:nvPr>
            <p:ph type="title"/>
          </p:nvPr>
        </p:nvSpPr>
        <p:spPr>
          <a:xfrm>
            <a:off x="812800" y="3055609"/>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Files</a:t>
            </a:r>
            <a:endParaRPr lang="en-US" sz="4800" dirty="0"/>
          </a:p>
        </p:txBody>
      </p:sp>
      <p:sp>
        <p:nvSpPr>
          <p:cNvPr id="4" name="Text 2"/>
          <p:cNvSpPr/>
          <p:nvPr/>
        </p:nvSpPr>
        <p:spPr>
          <a:xfrm>
            <a:off x="812800" y="3873438"/>
            <a:ext cx="558800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Saving data on disk so it is still there tomorrow</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Open files in the right mode</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Write and append text</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Read a file line by line</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Count lines and words in a file</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Read and write CSV files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17 · MODES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Opening a file: pick a mode</a:t>
            </a:r>
            <a:endParaRPr lang="en-US" sz="3200" dirty="0"/>
          </a:p>
        </p:txBody>
      </p:sp>
      <p:sp>
        <p:nvSpPr>
          <p:cNvPr id="4" name="Shape 2"/>
          <p:cNvSpPr/>
          <p:nvPr/>
        </p:nvSpPr>
        <p:spPr>
          <a:xfrm>
            <a:off x="812800" y="1854138"/>
            <a:ext cx="4749205" cy="391120"/>
          </a:xfrm>
          <a:prstGeom prst="roundRect">
            <a:avLst>
              <a:gd name="adj" fmla="val 22730"/>
            </a:avLst>
          </a:prstGeom>
          <a:solidFill>
            <a:srgbClr val="1B2A41"/>
          </a:solidFill>
          <a:ln/>
        </p:spPr>
      </p:sp>
      <p:sp>
        <p:nvSpPr>
          <p:cNvPr id="5" name="Text 3"/>
          <p:cNvSpPr/>
          <p:nvPr/>
        </p:nvSpPr>
        <p:spPr>
          <a:xfrm>
            <a:off x="990600" y="1943038"/>
            <a:ext cx="8128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MODE</a:t>
            </a:r>
            <a:endParaRPr lang="en-US" sz="1200" dirty="0"/>
          </a:p>
        </p:txBody>
      </p:sp>
      <p:sp>
        <p:nvSpPr>
          <p:cNvPr id="6" name="Text 4"/>
          <p:cNvSpPr/>
          <p:nvPr/>
        </p:nvSpPr>
        <p:spPr>
          <a:xfrm>
            <a:off x="1905000" y="1943038"/>
            <a:ext cx="358358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WHAT IT DOES</a:t>
            </a:r>
            <a:endParaRPr lang="en-US" sz="1200" dirty="0"/>
          </a:p>
        </p:txBody>
      </p:sp>
      <p:sp>
        <p:nvSpPr>
          <p:cNvPr id="7" name="Shape 5"/>
          <p:cNvSpPr/>
          <p:nvPr/>
        </p:nvSpPr>
        <p:spPr>
          <a:xfrm>
            <a:off x="812800" y="2696108"/>
            <a:ext cx="4749205" cy="0"/>
          </a:xfrm>
          <a:prstGeom prst="line">
            <a:avLst/>
          </a:prstGeom>
          <a:noFill/>
          <a:ln w="12700">
            <a:solidFill>
              <a:srgbClr val="D9DEE5"/>
            </a:solidFill>
            <a:prstDash val="solid"/>
          </a:ln>
        </p:spPr>
      </p:sp>
      <p:sp>
        <p:nvSpPr>
          <p:cNvPr id="8" name="Text 6"/>
          <p:cNvSpPr/>
          <p:nvPr/>
        </p:nvSpPr>
        <p:spPr>
          <a:xfrm>
            <a:off x="990600" y="2334158"/>
            <a:ext cx="812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"r"</a:t>
            </a:r>
            <a:endParaRPr lang="en-US" sz="1500" dirty="0"/>
          </a:p>
        </p:txBody>
      </p:sp>
      <p:sp>
        <p:nvSpPr>
          <p:cNvPr id="9" name="Text 7"/>
          <p:cNvSpPr/>
          <p:nvPr/>
        </p:nvSpPr>
        <p:spPr>
          <a:xfrm>
            <a:off x="1905000" y="2334158"/>
            <a:ext cx="358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read (the default)</a:t>
            </a:r>
            <a:endParaRPr lang="en-US" sz="1500" dirty="0"/>
          </a:p>
        </p:txBody>
      </p:sp>
      <p:sp>
        <p:nvSpPr>
          <p:cNvPr id="10" name="Shape 8"/>
          <p:cNvSpPr/>
          <p:nvPr/>
        </p:nvSpPr>
        <p:spPr>
          <a:xfrm>
            <a:off x="812800" y="3153308"/>
            <a:ext cx="4749205" cy="0"/>
          </a:xfrm>
          <a:prstGeom prst="line">
            <a:avLst/>
          </a:prstGeom>
          <a:noFill/>
          <a:ln w="12700">
            <a:solidFill>
              <a:srgbClr val="D9DEE5"/>
            </a:solidFill>
            <a:prstDash val="solid"/>
          </a:ln>
        </p:spPr>
      </p:sp>
      <p:sp>
        <p:nvSpPr>
          <p:cNvPr id="11" name="Text 9"/>
          <p:cNvSpPr/>
          <p:nvPr/>
        </p:nvSpPr>
        <p:spPr>
          <a:xfrm>
            <a:off x="990600" y="2791358"/>
            <a:ext cx="812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"w"</a:t>
            </a:r>
            <a:endParaRPr lang="en-US" sz="1500" dirty="0"/>
          </a:p>
        </p:txBody>
      </p:sp>
      <p:sp>
        <p:nvSpPr>
          <p:cNvPr id="12" name="Text 10"/>
          <p:cNvSpPr/>
          <p:nvPr/>
        </p:nvSpPr>
        <p:spPr>
          <a:xfrm>
            <a:off x="1905000" y="2791358"/>
            <a:ext cx="358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write: erases old text!</a:t>
            </a:r>
            <a:endParaRPr lang="en-US" sz="1500" dirty="0"/>
          </a:p>
        </p:txBody>
      </p:sp>
      <p:sp>
        <p:nvSpPr>
          <p:cNvPr id="13" name="Shape 11"/>
          <p:cNvSpPr/>
          <p:nvPr/>
        </p:nvSpPr>
        <p:spPr>
          <a:xfrm>
            <a:off x="812800" y="3610508"/>
            <a:ext cx="4749205" cy="0"/>
          </a:xfrm>
          <a:prstGeom prst="line">
            <a:avLst/>
          </a:prstGeom>
          <a:noFill/>
          <a:ln w="12700">
            <a:solidFill>
              <a:srgbClr val="D9DEE5"/>
            </a:solidFill>
            <a:prstDash val="solid"/>
          </a:ln>
        </p:spPr>
      </p:sp>
      <p:sp>
        <p:nvSpPr>
          <p:cNvPr id="14" name="Text 12"/>
          <p:cNvSpPr/>
          <p:nvPr/>
        </p:nvSpPr>
        <p:spPr>
          <a:xfrm>
            <a:off x="990600" y="3248558"/>
            <a:ext cx="812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"a"</a:t>
            </a:r>
            <a:endParaRPr lang="en-US" sz="1500" dirty="0"/>
          </a:p>
        </p:txBody>
      </p:sp>
      <p:sp>
        <p:nvSpPr>
          <p:cNvPr id="15" name="Text 13"/>
          <p:cNvSpPr/>
          <p:nvPr/>
        </p:nvSpPr>
        <p:spPr>
          <a:xfrm>
            <a:off x="1905000" y="3248558"/>
            <a:ext cx="358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append: add to the end</a:t>
            </a:r>
            <a:endParaRPr lang="en-US" sz="1500" dirty="0"/>
          </a:p>
        </p:txBody>
      </p:sp>
      <p:sp>
        <p:nvSpPr>
          <p:cNvPr id="16" name="Shape 14"/>
          <p:cNvSpPr/>
          <p:nvPr/>
        </p:nvSpPr>
        <p:spPr>
          <a:xfrm>
            <a:off x="812800" y="4067708"/>
            <a:ext cx="4749205" cy="0"/>
          </a:xfrm>
          <a:prstGeom prst="line">
            <a:avLst/>
          </a:prstGeom>
          <a:noFill/>
          <a:ln w="12700">
            <a:solidFill>
              <a:srgbClr val="D9DEE5"/>
            </a:solidFill>
            <a:prstDash val="solid"/>
          </a:ln>
        </p:spPr>
      </p:sp>
      <p:sp>
        <p:nvSpPr>
          <p:cNvPr id="17" name="Text 15"/>
          <p:cNvSpPr/>
          <p:nvPr/>
        </p:nvSpPr>
        <p:spPr>
          <a:xfrm>
            <a:off x="990600" y="3705758"/>
            <a:ext cx="812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"x"</a:t>
            </a:r>
            <a:endParaRPr lang="en-US" sz="1500" dirty="0"/>
          </a:p>
        </p:txBody>
      </p:sp>
      <p:sp>
        <p:nvSpPr>
          <p:cNvPr id="18" name="Text 16"/>
          <p:cNvSpPr/>
          <p:nvPr/>
        </p:nvSpPr>
        <p:spPr>
          <a:xfrm>
            <a:off x="1905000" y="3705758"/>
            <a:ext cx="358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create: error if it exists</a:t>
            </a:r>
            <a:endParaRPr lang="en-US" sz="1500" dirty="0"/>
          </a:p>
        </p:txBody>
      </p:sp>
      <p:sp>
        <p:nvSpPr>
          <p:cNvPr id="19" name="Shape 17"/>
          <p:cNvSpPr/>
          <p:nvPr/>
        </p:nvSpPr>
        <p:spPr>
          <a:xfrm>
            <a:off x="5917605" y="1854138"/>
            <a:ext cx="5461595" cy="1216620"/>
          </a:xfrm>
          <a:prstGeom prst="roundRect">
            <a:avLst>
              <a:gd name="adj" fmla="val 10439"/>
            </a:avLst>
          </a:prstGeom>
          <a:solidFill>
            <a:srgbClr val="1B2A41"/>
          </a:solidFill>
          <a:ln/>
        </p:spPr>
      </p:sp>
      <p:sp>
        <p:nvSpPr>
          <p:cNvPr id="20" name="Text 18"/>
          <p:cNvSpPr/>
          <p:nvPr/>
        </p:nvSpPr>
        <p:spPr>
          <a:xfrm>
            <a:off x="6171605" y="2031938"/>
            <a:ext cx="510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notes.py</a:t>
            </a:r>
            <a:endParaRPr lang="en-US" sz="1200" dirty="0"/>
          </a:p>
        </p:txBody>
      </p:sp>
      <p:sp>
        <p:nvSpPr>
          <p:cNvPr id="21" name="Text 19"/>
          <p:cNvSpPr/>
          <p:nvPr/>
        </p:nvSpPr>
        <p:spPr>
          <a:xfrm>
            <a:off x="6171605" y="2321458"/>
            <a:ext cx="510220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"notes.txt"</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"w"</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f.write(</a:t>
            </a:r>
            <a:r>
              <a:rPr lang="en-US" sz="1500" dirty="0">
                <a:solidFill>
                  <a:srgbClr val="9FD8A8"/>
                </a:solidFill>
                <a:latin typeface="JetBrains Mono" pitchFamily="49" charset="0"/>
                <a:ea typeface="JetBrains Mono" pitchFamily="49" charset="-122"/>
                <a:cs typeface="JetBrains Mono" pitchFamily="49" charset="-120"/>
              </a:rPr>
              <a:t>"Hello file\n"</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22" name="Shape 20"/>
          <p:cNvSpPr/>
          <p:nvPr/>
        </p:nvSpPr>
        <p:spPr>
          <a:xfrm>
            <a:off x="5923955" y="3204108"/>
            <a:ext cx="5448895" cy="482600"/>
          </a:xfrm>
          <a:prstGeom prst="roundRect">
            <a:avLst>
              <a:gd name="adj" fmla="val 17105"/>
            </a:avLst>
          </a:prstGeom>
          <a:solidFill>
            <a:srgbClr val="FFFDF8"/>
          </a:solidFill>
          <a:ln w="12700">
            <a:solidFill>
              <a:srgbClr val="E2DED3"/>
            </a:solidFill>
            <a:prstDash val="solid"/>
          </a:ln>
        </p:spPr>
      </p:sp>
      <p:sp>
        <p:nvSpPr>
          <p:cNvPr id="23" name="Text 21"/>
          <p:cNvSpPr/>
          <p:nvPr/>
        </p:nvSpPr>
        <p:spPr>
          <a:xfrm>
            <a:off x="6082705" y="331205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24" name="Text 22"/>
          <p:cNvSpPr/>
          <p:nvPr/>
        </p:nvSpPr>
        <p:spPr>
          <a:xfrm>
            <a:off x="6539905" y="3312058"/>
            <a:ext cx="482659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with:</a:t>
            </a:r>
            <a:r>
              <a:rPr lang="en-US" sz="1500" dirty="0">
                <a:solidFill>
                  <a:srgbClr val="4A5568"/>
                </a:solidFill>
                <a:latin typeface="Rubik" pitchFamily="34" charset="0"/>
                <a:ea typeface="Rubik" pitchFamily="34" charset="-122"/>
                <a:cs typeface="Rubik" pitchFamily="34" charset="-120"/>
              </a:rPr>
              <a:t> closes the file for you, even after an error</a:t>
            </a:r>
            <a:endParaRPr lang="en-US" sz="1500" dirty="0"/>
          </a:p>
        </p:txBody>
      </p:sp>
      <p:sp>
        <p:nvSpPr>
          <p:cNvPr id="25" name="Shape 23"/>
          <p:cNvSpPr/>
          <p:nvPr/>
        </p:nvSpPr>
        <p:spPr>
          <a:xfrm>
            <a:off x="5923955" y="3826408"/>
            <a:ext cx="5448895" cy="482600"/>
          </a:xfrm>
          <a:prstGeom prst="roundRect">
            <a:avLst>
              <a:gd name="adj" fmla="val 17105"/>
            </a:avLst>
          </a:prstGeom>
          <a:solidFill>
            <a:srgbClr val="FFFDF8"/>
          </a:solidFill>
          <a:ln w="12700">
            <a:solidFill>
              <a:srgbClr val="E2DED3"/>
            </a:solidFill>
            <a:prstDash val="solid"/>
          </a:ln>
        </p:spPr>
      </p:sp>
      <p:sp>
        <p:nvSpPr>
          <p:cNvPr id="26" name="Text 24"/>
          <p:cNvSpPr/>
          <p:nvPr/>
        </p:nvSpPr>
        <p:spPr>
          <a:xfrm>
            <a:off x="6082705" y="393435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27" name="Text 25"/>
          <p:cNvSpPr/>
          <p:nvPr/>
        </p:nvSpPr>
        <p:spPr>
          <a:xfrm>
            <a:off x="6539905" y="3934358"/>
            <a:ext cx="473471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\n:</a:t>
            </a:r>
            <a:r>
              <a:rPr lang="en-US" sz="1500" dirty="0">
                <a:solidFill>
                  <a:srgbClr val="4A5568"/>
                </a:solidFill>
                <a:latin typeface="Rubik" pitchFamily="34" charset="0"/>
                <a:ea typeface="Rubik" pitchFamily="34" charset="-122"/>
                <a:cs typeface="Rubik" pitchFamily="34" charset="-120"/>
              </a:rPr>
              <a:t> write() does not add a new line: you must</a:t>
            </a:r>
            <a:endParaRPr lang="en-US" sz="15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9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17 · WRITING</a:t>
            </a:r>
            <a:endParaRPr lang="en-US" sz="1196" dirty="0"/>
          </a:p>
        </p:txBody>
      </p:sp>
      <p:sp>
        <p:nvSpPr>
          <p:cNvPr id="3" name="Text 1"/>
          <p:cNvSpPr/>
          <p:nvPr>
            <p:ph type="title"/>
          </p:nvPr>
        </p:nvSpPr>
        <p:spPr>
          <a:xfrm>
            <a:off x="812800" y="1100999"/>
            <a:ext cx="10883392" cy="46963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Writing a list to a file</a:t>
            </a:r>
            <a:endParaRPr lang="en-US" sz="3200" dirty="0"/>
          </a:p>
        </p:txBody>
      </p:sp>
      <p:sp>
        <p:nvSpPr>
          <p:cNvPr id="4" name="Shape 2"/>
          <p:cNvSpPr/>
          <p:nvPr/>
        </p:nvSpPr>
        <p:spPr>
          <a:xfrm>
            <a:off x="812800" y="1850033"/>
            <a:ext cx="5771290" cy="2931120"/>
          </a:xfrm>
          <a:prstGeom prst="roundRect">
            <a:avLst>
              <a:gd name="adj" fmla="val 4333"/>
            </a:avLst>
          </a:prstGeom>
          <a:solidFill>
            <a:srgbClr val="1B2A41"/>
          </a:solidFill>
          <a:ln/>
        </p:spPr>
      </p:sp>
      <p:sp>
        <p:nvSpPr>
          <p:cNvPr id="5" name="Text 3"/>
          <p:cNvSpPr/>
          <p:nvPr/>
        </p:nvSpPr>
        <p:spPr>
          <a:xfrm>
            <a:off x="1066800" y="2027833"/>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save_cities.py</a:t>
            </a:r>
            <a:endParaRPr lang="en-US" sz="1200" dirty="0"/>
          </a:p>
        </p:txBody>
      </p:sp>
      <p:sp>
        <p:nvSpPr>
          <p:cNvPr id="6" name="Text 4"/>
          <p:cNvSpPr/>
          <p:nvPr/>
        </p:nvSpPr>
        <p:spPr>
          <a:xfrm>
            <a:off x="1066800" y="2317353"/>
            <a:ext cx="5421189" cy="2311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cities = [</a:t>
            </a:r>
            <a:r>
              <a:rPr lang="en-US" sz="1500" dirty="0">
                <a:solidFill>
                  <a:srgbClr val="9FD8A8"/>
                </a:solidFill>
                <a:latin typeface="JetBrains Mono" pitchFamily="49" charset="0"/>
                <a:ea typeface="JetBrains Mono" pitchFamily="49" charset="-122"/>
                <a:cs typeface="JetBrains Mono" pitchFamily="49" charset="-120"/>
              </a:rPr>
              <a:t>"Bhubaneswar"</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"Cuttack"</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"Puri"</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"cities.txt"</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"w"</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c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cities: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f.write(c + </a:t>
            </a:r>
            <a:r>
              <a:rPr lang="en-US" sz="1500" dirty="0">
                <a:solidFill>
                  <a:srgbClr val="9FD8A8"/>
                </a:solidFill>
                <a:latin typeface="JetBrains Mono" pitchFamily="49" charset="0"/>
                <a:ea typeface="JetBrains Mono" pitchFamily="49" charset="-122"/>
                <a:cs typeface="JetBrains Mono" pitchFamily="49" charset="-120"/>
              </a:rPr>
              <a:t>"\n"</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"cities.txt"</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"a"</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f.write(</a:t>
            </a:r>
            <a:r>
              <a:rPr lang="en-US" sz="1500" dirty="0">
                <a:solidFill>
                  <a:srgbClr val="9FD8A8"/>
                </a:solidFill>
                <a:latin typeface="JetBrains Mono" pitchFamily="49" charset="0"/>
                <a:ea typeface="JetBrains Mono" pitchFamily="49" charset="-122"/>
                <a:cs typeface="JetBrains Mono" pitchFamily="49" charset="-120"/>
              </a:rPr>
              <a:t>"Konark\n"</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"Saved!"</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819150" y="4914503"/>
            <a:ext cx="5758590" cy="943570"/>
          </a:xfrm>
          <a:prstGeom prst="roundRect">
            <a:avLst>
              <a:gd name="adj" fmla="val 12787"/>
            </a:avLst>
          </a:prstGeom>
          <a:solidFill>
            <a:srgbClr val="FFFDF8"/>
          </a:solidFill>
          <a:ln w="12700">
            <a:solidFill>
              <a:srgbClr val="D9DEE5"/>
            </a:solidFill>
            <a:prstDash val="solid"/>
          </a:ln>
        </p:spPr>
      </p:sp>
      <p:sp>
        <p:nvSpPr>
          <p:cNvPr id="8" name="Text 6"/>
          <p:cNvSpPr/>
          <p:nvPr/>
        </p:nvSpPr>
        <p:spPr>
          <a:xfrm>
            <a:off x="1079500" y="5098653"/>
            <a:ext cx="539502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5388173"/>
            <a:ext cx="5395027"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Saved!</a:t>
            </a:r>
            <a:endParaRPr lang="en-US" sz="1500" dirty="0"/>
          </a:p>
        </p:txBody>
      </p:sp>
      <p:sp>
        <p:nvSpPr>
          <p:cNvPr id="10" name="Shape 8"/>
          <p:cNvSpPr/>
          <p:nvPr/>
        </p:nvSpPr>
        <p:spPr>
          <a:xfrm>
            <a:off x="6946040" y="1856383"/>
            <a:ext cx="4426810" cy="1800820"/>
          </a:xfrm>
          <a:prstGeom prst="roundRect">
            <a:avLst>
              <a:gd name="adj" fmla="val 6700"/>
            </a:avLst>
          </a:prstGeom>
          <a:solidFill>
            <a:srgbClr val="FFFDF8"/>
          </a:solidFill>
          <a:ln w="12700">
            <a:solidFill>
              <a:srgbClr val="D9DEE5"/>
            </a:solidFill>
            <a:prstDash val="solid"/>
          </a:ln>
        </p:spPr>
      </p:sp>
      <p:sp>
        <p:nvSpPr>
          <p:cNvPr id="11" name="Text 9"/>
          <p:cNvSpPr/>
          <p:nvPr/>
        </p:nvSpPr>
        <p:spPr>
          <a:xfrm>
            <a:off x="7206390" y="2040533"/>
            <a:ext cx="402329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CITIES.TXT NOW HOLDS</a:t>
            </a:r>
            <a:endParaRPr lang="en-US" sz="1200" dirty="0"/>
          </a:p>
        </p:txBody>
      </p:sp>
      <p:sp>
        <p:nvSpPr>
          <p:cNvPr id="12" name="Text 10"/>
          <p:cNvSpPr/>
          <p:nvPr/>
        </p:nvSpPr>
        <p:spPr>
          <a:xfrm>
            <a:off x="7206390" y="2330053"/>
            <a:ext cx="4023293"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Bhubaneswar</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Cuttack</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Puri</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Konark</a:t>
            </a:r>
            <a:endParaRPr lang="en-US" sz="1500" dirty="0"/>
          </a:p>
        </p:txBody>
      </p:sp>
      <p:sp>
        <p:nvSpPr>
          <p:cNvPr id="13" name="Text 11"/>
          <p:cNvSpPr/>
          <p:nvPr/>
        </p:nvSpPr>
        <p:spPr>
          <a:xfrm>
            <a:off x="6939690" y="3790553"/>
            <a:ext cx="4439510" cy="1104900"/>
          </a:xfrm>
          <a:prstGeom prst="roundRect">
            <a:avLst>
              <a:gd name="adj" fmla="val 11494"/>
            </a:avLst>
          </a:prstGeom>
          <a:solidFill>
            <a:srgbClr val="FBEFD5"/>
          </a:solidFill>
          <a:ln/>
        </p:spPr>
        <p:txBody>
          <a:bodyPr wrap="square" lIns="166003" tIns="115203" rIns="45010"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Open the file in Notepad to check. Run it twice: "w" starts fresh each time, "a" keeps adding.</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17 · READING</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Reading a file line by line</a:t>
            </a:r>
            <a:endParaRPr lang="en-US" sz="3200" dirty="0"/>
          </a:p>
        </p:txBody>
      </p:sp>
      <p:sp>
        <p:nvSpPr>
          <p:cNvPr id="4" name="Shape 2"/>
          <p:cNvSpPr/>
          <p:nvPr/>
        </p:nvSpPr>
        <p:spPr>
          <a:xfrm>
            <a:off x="812800" y="1854138"/>
            <a:ext cx="5461529" cy="2645370"/>
          </a:xfrm>
          <a:prstGeom prst="roundRect">
            <a:avLst>
              <a:gd name="adj" fmla="val 4801"/>
            </a:avLst>
          </a:prstGeom>
          <a:solidFill>
            <a:srgbClr val="1B2A41"/>
          </a:solidFill>
          <a:ln/>
        </p:spPr>
      </p:sp>
      <p:sp>
        <p:nvSpPr>
          <p:cNvPr id="5" name="Text 3"/>
          <p:cNvSpPr/>
          <p:nvPr/>
        </p:nvSpPr>
        <p:spPr>
          <a:xfrm>
            <a:off x="1066800" y="2031938"/>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read_cities.py</a:t>
            </a:r>
            <a:endParaRPr lang="en-US" sz="1200" dirty="0"/>
          </a:p>
        </p:txBody>
      </p:sp>
      <p:sp>
        <p:nvSpPr>
          <p:cNvPr id="6" name="Text 4"/>
          <p:cNvSpPr/>
          <p:nvPr/>
        </p:nvSpPr>
        <p:spPr>
          <a:xfrm>
            <a:off x="1066800" y="2321458"/>
            <a:ext cx="5102135" cy="2025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"cities.txt"</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line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(line.strip())</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"cities.txt"</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lines = f.readlines()</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(lines), </a:t>
            </a:r>
            <a:r>
              <a:rPr lang="en-US" sz="1500" dirty="0">
                <a:solidFill>
                  <a:srgbClr val="9FD8A8"/>
                </a:solidFill>
                <a:latin typeface="JetBrains Mono" pitchFamily="49" charset="0"/>
                <a:ea typeface="JetBrains Mono" pitchFamily="49" charset="-122"/>
                <a:cs typeface="JetBrains Mono" pitchFamily="49" charset="-120"/>
              </a:rPr>
              <a:t>"cities"</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6636279" y="1860488"/>
            <a:ext cx="4736571" cy="2086570"/>
          </a:xfrm>
          <a:prstGeom prst="roundRect">
            <a:avLst>
              <a:gd name="adj" fmla="val 5782"/>
            </a:avLst>
          </a:prstGeom>
          <a:solidFill>
            <a:srgbClr val="FFFDF8"/>
          </a:solidFill>
          <a:ln w="12700">
            <a:solidFill>
              <a:srgbClr val="D9DEE5"/>
            </a:solidFill>
            <a:prstDash val="solid"/>
          </a:ln>
        </p:spPr>
      </p:sp>
      <p:sp>
        <p:nvSpPr>
          <p:cNvPr id="8" name="Text 6"/>
          <p:cNvSpPr/>
          <p:nvPr/>
        </p:nvSpPr>
        <p:spPr>
          <a:xfrm>
            <a:off x="6896629" y="2044638"/>
            <a:ext cx="434234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6896629" y="2334158"/>
            <a:ext cx="4342347" cy="1454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Bhubaneswar</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Cuttack</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Puri</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Konark</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4 cities</a:t>
            </a:r>
            <a:endParaRPr lang="en-US" sz="1500" dirty="0"/>
          </a:p>
        </p:txBody>
      </p:sp>
      <p:sp>
        <p:nvSpPr>
          <p:cNvPr id="10" name="Text 8"/>
          <p:cNvSpPr/>
          <p:nvPr/>
        </p:nvSpPr>
        <p:spPr>
          <a:xfrm>
            <a:off x="6629929" y="4080408"/>
            <a:ext cx="4749271" cy="838200"/>
          </a:xfrm>
          <a:prstGeom prst="roundRect">
            <a:avLst>
              <a:gd name="adj" fmla="val 15152"/>
            </a:avLst>
          </a:prstGeom>
          <a:solidFill>
            <a:srgbClr val="FBEFD5"/>
          </a:solidFill>
          <a:ln/>
        </p:spPr>
        <p:txBody>
          <a:bodyPr wrap="square" lIns="166003" tIns="115203" rIns="35717" bIns="898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Each line ends with \n. </a:t>
            </a:r>
            <a:r>
              <a:rPr lang="en-US" sz="1500" dirty="0">
                <a:solidFill>
                  <a:srgbClr val="2A64A3"/>
                </a:solidFill>
                <a:latin typeface="Rubik" pitchFamily="34" charset="0"/>
                <a:ea typeface="Rubik" pitchFamily="34" charset="-122"/>
                <a:cs typeface="Rubik" pitchFamily="34" charset="-120"/>
              </a:rPr>
              <a:t>.strip()</a:t>
            </a:r>
            <a:r>
              <a:rPr lang="en-US" sz="1500" dirty="0">
                <a:solidFill>
                  <a:srgbClr val="1B2A41"/>
                </a:solidFill>
                <a:latin typeface="Rubik" pitchFamily="34" charset="0"/>
                <a:ea typeface="Rubik" pitchFamily="34" charset="-122"/>
                <a:cs typeface="Rubik" pitchFamily="34" charset="-120"/>
              </a:rPr>
              <a:t> removes it. </a:t>
            </a:r>
            <a:r>
              <a:rPr lang="en-US" sz="1500" dirty="0">
                <a:solidFill>
                  <a:srgbClr val="2A64A3"/>
                </a:solidFill>
                <a:latin typeface="Rubik" pitchFamily="34" charset="0"/>
                <a:ea typeface="Rubik" pitchFamily="34" charset="-122"/>
                <a:cs typeface="Rubik" pitchFamily="34" charset="-120"/>
              </a:rPr>
              <a:t>f.read()</a:t>
            </a:r>
            <a:r>
              <a:rPr lang="en-US" sz="1500" dirty="0">
                <a:solidFill>
                  <a:srgbClr val="1B2A41"/>
                </a:solidFill>
                <a:latin typeface="Rubik" pitchFamily="34" charset="0"/>
                <a:ea typeface="Rubik" pitchFamily="34" charset="-122"/>
                <a:cs typeface="Rubik" pitchFamily="34" charset="-120"/>
              </a:rPr>
              <a:t> gives the whole file as one string.</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17 · A FILE PROGRAM</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Counting lines, words and characters</a:t>
            </a:r>
            <a:endParaRPr lang="en-US" sz="3200" dirty="0"/>
          </a:p>
        </p:txBody>
      </p:sp>
      <p:sp>
        <p:nvSpPr>
          <p:cNvPr id="4" name="Shape 2"/>
          <p:cNvSpPr/>
          <p:nvPr/>
        </p:nvSpPr>
        <p:spPr>
          <a:xfrm>
            <a:off x="812800" y="1854138"/>
            <a:ext cx="6628011" cy="2931120"/>
          </a:xfrm>
          <a:prstGeom prst="roundRect">
            <a:avLst>
              <a:gd name="adj" fmla="val 4333"/>
            </a:avLst>
          </a:prstGeom>
          <a:solidFill>
            <a:srgbClr val="1B2A41"/>
          </a:solidFill>
          <a:ln/>
        </p:spPr>
      </p:sp>
      <p:sp>
        <p:nvSpPr>
          <p:cNvPr id="5" name="Text 3"/>
          <p:cNvSpPr/>
          <p:nvPr/>
        </p:nvSpPr>
        <p:spPr>
          <a:xfrm>
            <a:off x="1066800" y="2031938"/>
            <a:ext cx="6303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wc.py</a:t>
            </a:r>
            <a:endParaRPr lang="en-US" sz="1200" dirty="0"/>
          </a:p>
        </p:txBody>
      </p:sp>
      <p:sp>
        <p:nvSpPr>
          <p:cNvPr id="6" name="Text 4"/>
          <p:cNvSpPr/>
          <p:nvPr/>
        </p:nvSpPr>
        <p:spPr>
          <a:xfrm>
            <a:off x="1066800" y="2321458"/>
            <a:ext cx="6303611" cy="2311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name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"File: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lines = words = chars = 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(name)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line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lines +=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words += </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(line.split())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chars += </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(line)</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f"{lines} lines, {words} words, {chars} chars"</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7802761" y="1860488"/>
            <a:ext cx="3570089" cy="1442641"/>
          </a:xfrm>
          <a:prstGeom prst="roundRect">
            <a:avLst>
              <a:gd name="adj" fmla="val 8363"/>
            </a:avLst>
          </a:prstGeom>
          <a:solidFill>
            <a:srgbClr val="FFFDF8"/>
          </a:solidFill>
          <a:ln w="12700">
            <a:solidFill>
              <a:srgbClr val="D9DEE5"/>
            </a:solidFill>
            <a:prstDash val="solid"/>
          </a:ln>
        </p:spPr>
      </p:sp>
      <p:sp>
        <p:nvSpPr>
          <p:cNvPr id="8" name="Text 6"/>
          <p:cNvSpPr/>
          <p:nvPr/>
        </p:nvSpPr>
        <p:spPr>
          <a:xfrm>
            <a:off x="8063111" y="2044638"/>
            <a:ext cx="3140871"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8063111" y="2547479"/>
            <a:ext cx="3140871"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File: </a:t>
            </a:r>
            <a:r>
              <a:rPr lang="en-US" sz="1500" dirty="0">
                <a:solidFill>
                  <a:srgbClr val="B54708"/>
                </a:solidFill>
                <a:latin typeface="JetBrains Mono" pitchFamily="49" charset="0"/>
                <a:ea typeface="JetBrains Mono" pitchFamily="49" charset="-122"/>
                <a:cs typeface="JetBrains Mono" pitchFamily="49" charset="-120"/>
              </a:rPr>
              <a:t>cities.txt</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4 lines, 4 words, 32 chars</a:t>
            </a:r>
            <a:endParaRPr lang="en-US" sz="1500" dirty="0"/>
          </a:p>
        </p:txBody>
      </p:sp>
      <p:sp>
        <p:nvSpPr>
          <p:cNvPr id="10" name="Text 8"/>
          <p:cNvSpPr/>
          <p:nvPr/>
        </p:nvSpPr>
        <p:spPr>
          <a:xfrm>
            <a:off x="7796411" y="3436479"/>
            <a:ext cx="369027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A classic lab program: Week 3's </a:t>
            </a:r>
            <a:r>
              <a:rPr lang="en-US" sz="1500" dirty="0">
                <a:solidFill>
                  <a:srgbClr val="2A64A3"/>
                </a:solidFill>
                <a:latin typeface="Rubik" pitchFamily="34" charset="0"/>
                <a:ea typeface="Rubik" pitchFamily="34" charset="-122"/>
                <a:cs typeface="Rubik" pitchFamily="34" charset="-120"/>
              </a:rPr>
              <a:t>split()</a:t>
            </a:r>
            <a:r>
              <a:rPr lang="en-US" sz="1500" dirty="0">
                <a:solidFill>
                  <a:srgbClr val="4A5568"/>
                </a:solidFill>
                <a:latin typeface="Rubik" pitchFamily="34" charset="0"/>
                <a:ea typeface="Rubik" pitchFamily="34" charset="-122"/>
                <a:cs typeface="Rubik" pitchFamily="34" charset="-120"/>
              </a:rPr>
              <a:t> and </a:t>
            </a:r>
            <a:r>
              <a:rPr lang="en-US" sz="1500" dirty="0">
                <a:solidFill>
                  <a:srgbClr val="2A64A3"/>
                </a:solidFill>
                <a:latin typeface="Rubik" pitchFamily="34" charset="0"/>
                <a:ea typeface="Rubik" pitchFamily="34" charset="-122"/>
                <a:cs typeface="Rubik" pitchFamily="34" charset="-120"/>
              </a:rPr>
              <a:t>len()</a:t>
            </a:r>
            <a:r>
              <a:rPr lang="en-US" sz="1500" dirty="0">
                <a:solidFill>
                  <a:srgbClr val="4A5568"/>
                </a:solidFill>
                <a:latin typeface="Rubik" pitchFamily="34" charset="0"/>
                <a:ea typeface="Rubik" pitchFamily="34" charset="-122"/>
                <a:cs typeface="Rubik" pitchFamily="34" charset="-120"/>
              </a:rPr>
              <a:t>, now on a whole file.</a:t>
            </a:r>
            <a:endParaRPr lang="en-US" sz="1500" dirty="0"/>
          </a:p>
        </p:txBody>
      </p:sp>
      <p:sp>
        <p:nvSpPr>
          <p:cNvPr id="11" name="Shape 9"/>
          <p:cNvSpPr/>
          <p:nvPr/>
        </p:nvSpPr>
        <p:spPr>
          <a:xfrm>
            <a:off x="7796411" y="4134979"/>
            <a:ext cx="3582789" cy="787400"/>
          </a:xfrm>
          <a:prstGeom prst="roundRect">
            <a:avLst>
              <a:gd name="adj" fmla="val 11290"/>
            </a:avLst>
          </a:prstGeom>
          <a:solidFill>
            <a:srgbClr val="FBEFD5"/>
          </a:solidFill>
          <a:ln/>
        </p:spPr>
      </p:sp>
      <p:pic>
        <p:nvPicPr>
          <p:cNvPr id="12" name="Image 0" descr="Lightbulb">    </p:cNvPr>
          <p:cNvPicPr>
            <a:picLocks noChangeAspect="1"/>
          </p:cNvPicPr>
          <p:nvPr/>
        </p:nvPicPr>
        <p:blipFill>
          <a:blip r:embed="rId1"/>
          <a:srcRect l="-826" r="-826" t="0" b="0"/>
          <a:stretch/>
        </p:blipFill>
        <p:spPr>
          <a:xfrm>
            <a:off x="7974211" y="4376279"/>
            <a:ext cx="187193" cy="304800"/>
          </a:xfrm>
          <a:prstGeom prst="rect">
            <a:avLst/>
          </a:prstGeom>
        </p:spPr>
      </p:pic>
      <p:sp>
        <p:nvSpPr>
          <p:cNvPr id="13" name="Text 10"/>
          <p:cNvSpPr/>
          <p:nvPr/>
        </p:nvSpPr>
        <p:spPr>
          <a:xfrm>
            <a:off x="8288404" y="4261979"/>
            <a:ext cx="300038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lines = words = chars = 0</a:t>
            </a:r>
            <a:r>
              <a:rPr lang="en-US" sz="1500" dirty="0">
                <a:solidFill>
                  <a:srgbClr val="1B2A41"/>
                </a:solidFill>
                <a:latin typeface="Rubik" pitchFamily="34" charset="0"/>
                <a:ea typeface="Rubik" pitchFamily="34" charset="-122"/>
                <a:cs typeface="Rubik" pitchFamily="34" charset="-120"/>
              </a:rPr>
              <a:t> sets all three to 0 in one line.</a:t>
            </a:r>
            <a:endParaRPr lang="en-US" sz="15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17 · CSV</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CSV files: tables that Excel can open</a:t>
            </a:r>
            <a:endParaRPr lang="en-US" sz="3200" dirty="0"/>
          </a:p>
        </p:txBody>
      </p:sp>
      <p:sp>
        <p:nvSpPr>
          <p:cNvPr id="4" name="Shape 2"/>
          <p:cNvSpPr/>
          <p:nvPr/>
        </p:nvSpPr>
        <p:spPr>
          <a:xfrm>
            <a:off x="819150" y="1860488"/>
            <a:ext cx="5168900" cy="3379457"/>
          </a:xfrm>
          <a:prstGeom prst="roundRect">
            <a:avLst>
              <a:gd name="adj" fmla="val 3570"/>
            </a:avLst>
          </a:prstGeom>
          <a:solidFill>
            <a:srgbClr val="FFFDF8"/>
          </a:solidFill>
          <a:ln w="12700">
            <a:solidFill>
              <a:srgbClr val="E2DED3"/>
            </a:solidFill>
            <a:prstDash val="solid"/>
          </a:ln>
        </p:spPr>
      </p:sp>
      <p:sp>
        <p:nvSpPr>
          <p:cNvPr id="5" name="Text 3"/>
          <p:cNvSpPr/>
          <p:nvPr/>
        </p:nvSpPr>
        <p:spPr>
          <a:xfrm>
            <a:off x="10287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Writing</a:t>
            </a:r>
            <a:endParaRPr lang="en-US" sz="1800" dirty="0"/>
          </a:p>
        </p:txBody>
      </p:sp>
      <p:sp>
        <p:nvSpPr>
          <p:cNvPr id="6" name="Text 4"/>
          <p:cNvSpPr/>
          <p:nvPr/>
        </p:nvSpPr>
        <p:spPr>
          <a:xfrm>
            <a:off x="1028700" y="2445941"/>
            <a:ext cx="4749800" cy="2254250"/>
          </a:xfrm>
          <a:prstGeom prst="roundRect">
            <a:avLst>
              <a:gd name="adj" fmla="val 3944"/>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import</a:t>
            </a:r>
            <a:r>
              <a:rPr lang="en-US" sz="1500" dirty="0">
                <a:solidFill>
                  <a:srgbClr val="E8EDF3"/>
                </a:solidFill>
                <a:latin typeface="JetBrains Mono" pitchFamily="49" charset="0"/>
                <a:ea typeface="JetBrains Mono" pitchFamily="49" charset="-122"/>
                <a:cs typeface="JetBrains Mono" pitchFamily="49" charset="-120"/>
              </a:rPr>
              <a:t> csv</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rows = [[</a:t>
            </a:r>
            <a:r>
              <a:rPr lang="en-US" sz="1500" dirty="0">
                <a:solidFill>
                  <a:srgbClr val="9FD8A8"/>
                </a:solidFill>
                <a:latin typeface="JetBrains Mono" pitchFamily="49" charset="0"/>
                <a:ea typeface="JetBrains Mono" pitchFamily="49" charset="-122"/>
                <a:cs typeface="JetBrains Mono" pitchFamily="49" charset="-120"/>
              </a:rPr>
              <a:t>"Ananya"</a:t>
            </a:r>
            <a:r>
              <a:rPr lang="en-US" sz="1500" dirty="0">
                <a:solidFill>
                  <a:srgbClr val="E8EDF3"/>
                </a:solidFill>
                <a:latin typeface="JetBrains Mono" pitchFamily="49" charset="0"/>
                <a:ea typeface="JetBrains Mono" pitchFamily="49" charset="-122"/>
                <a:cs typeface="JetBrains Mono" pitchFamily="49" charset="-120"/>
              </a:rPr>
              <a:t>, 92], [</a:t>
            </a:r>
            <a:r>
              <a:rPr lang="en-US" sz="1500" dirty="0">
                <a:solidFill>
                  <a:srgbClr val="9FD8A8"/>
                </a:solidFill>
                <a:latin typeface="JetBrains Mono" pitchFamily="49" charset="0"/>
                <a:ea typeface="JetBrains Mono" pitchFamily="49" charset="-122"/>
                <a:cs typeface="JetBrains Mono" pitchFamily="49" charset="-120"/>
              </a:rPr>
              <a:t>"Ravi"</a:t>
            </a:r>
            <a:r>
              <a:rPr lang="en-US" sz="1500" dirty="0">
                <a:solidFill>
                  <a:srgbClr val="E8EDF3"/>
                </a:solidFill>
                <a:latin typeface="JetBrains Mono" pitchFamily="49" charset="0"/>
                <a:ea typeface="JetBrains Mono" pitchFamily="49" charset="-122"/>
                <a:cs typeface="JetBrains Mono" pitchFamily="49" charset="-120"/>
              </a:rPr>
              <a:t>, 78]]</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"marks.csv"</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"w"</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newline=</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w = csv.writer(f)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w.writerow([</a:t>
            </a:r>
            <a:r>
              <a:rPr lang="en-US" sz="1500" dirty="0">
                <a:solidFill>
                  <a:srgbClr val="9FD8A8"/>
                </a:solidFill>
                <a:latin typeface="JetBrains Mono" pitchFamily="49" charset="0"/>
                <a:ea typeface="JetBrains Mono" pitchFamily="49" charset="-122"/>
                <a:cs typeface="JetBrains Mono" pitchFamily="49" charset="-120"/>
              </a:rPr>
              <a:t>"Name"</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"Marks"</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w.writerows(rows)</a:t>
            </a:r>
            <a:endParaRPr lang="en-US" sz="1500" dirty="0"/>
          </a:p>
        </p:txBody>
      </p:sp>
      <p:sp>
        <p:nvSpPr>
          <p:cNvPr id="7" name="Shape 5"/>
          <p:cNvSpPr/>
          <p:nvPr/>
        </p:nvSpPr>
        <p:spPr>
          <a:xfrm>
            <a:off x="6203950" y="1860488"/>
            <a:ext cx="5168900" cy="3379457"/>
          </a:xfrm>
          <a:prstGeom prst="roundRect">
            <a:avLst>
              <a:gd name="adj" fmla="val 3570"/>
            </a:avLst>
          </a:prstGeom>
          <a:solidFill>
            <a:srgbClr val="FFFDF8"/>
          </a:solidFill>
          <a:ln w="12700">
            <a:solidFill>
              <a:srgbClr val="E2DED3"/>
            </a:solidFill>
            <a:prstDash val="solid"/>
          </a:ln>
        </p:spPr>
      </p:sp>
      <p:sp>
        <p:nvSpPr>
          <p:cNvPr id="8" name="Text 6"/>
          <p:cNvSpPr/>
          <p:nvPr/>
        </p:nvSpPr>
        <p:spPr>
          <a:xfrm>
            <a:off x="64135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Reading</a:t>
            </a:r>
            <a:endParaRPr lang="en-US" sz="1800" dirty="0"/>
          </a:p>
        </p:txBody>
      </p:sp>
      <p:sp>
        <p:nvSpPr>
          <p:cNvPr id="9" name="Text 7"/>
          <p:cNvSpPr/>
          <p:nvPr/>
        </p:nvSpPr>
        <p:spPr>
          <a:xfrm>
            <a:off x="6413500" y="2445941"/>
            <a:ext cx="4749800" cy="1397000"/>
          </a:xfrm>
          <a:prstGeom prst="roundRect">
            <a:avLst>
              <a:gd name="adj" fmla="val 6364"/>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import</a:t>
            </a:r>
            <a:r>
              <a:rPr lang="en-US" sz="1500" dirty="0">
                <a:solidFill>
                  <a:srgbClr val="E8EDF3"/>
                </a:solidFill>
                <a:latin typeface="JetBrains Mono" pitchFamily="49" charset="0"/>
                <a:ea typeface="JetBrains Mono" pitchFamily="49" charset="-122"/>
                <a:cs typeface="JetBrains Mono" pitchFamily="49" charset="-120"/>
              </a:rPr>
              <a:t> csv</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"marks.csv"</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row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csv.reader(f):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(row)</a:t>
            </a:r>
            <a:endParaRPr lang="en-US" sz="1500" dirty="0"/>
          </a:p>
        </p:txBody>
      </p:sp>
      <p:sp>
        <p:nvSpPr>
          <p:cNvPr id="10" name="Text 8"/>
          <p:cNvSpPr/>
          <p:nvPr/>
        </p:nvSpPr>
        <p:spPr>
          <a:xfrm>
            <a:off x="6419850" y="3950891"/>
            <a:ext cx="4737100" cy="1073150"/>
          </a:xfrm>
          <a:prstGeom prst="roundRect">
            <a:avLst>
              <a:gd name="adj" fmla="val 7692"/>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['Name', 'Marks']</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['Ananya', '92']</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['Ravi', '78']</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17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8"/>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Diary</a:t>
            </a:r>
            <a:endParaRPr lang="en-US" sz="1800" dirty="0"/>
          </a:p>
        </p:txBody>
      </p:sp>
      <p:sp>
        <p:nvSpPr>
          <p:cNvPr id="7" name="Text 5"/>
          <p:cNvSpPr/>
          <p:nvPr/>
        </p:nvSpPr>
        <p:spPr>
          <a:xfrm>
            <a:off x="10287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Append one line with today's date and a sentence each time the program runs.</a:t>
            </a:r>
            <a:endParaRPr lang="en-US" sz="1500" dirty="0"/>
          </a:p>
        </p:txBody>
      </p:sp>
      <p:sp>
        <p:nvSpPr>
          <p:cNvPr id="8" name="Shape 6"/>
          <p:cNvSpPr/>
          <p:nvPr/>
        </p:nvSpPr>
        <p:spPr>
          <a:xfrm>
            <a:off x="3511550" y="1809688"/>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Search</a:t>
            </a:r>
            <a:endParaRPr lang="en-US" sz="1800" dirty="0"/>
          </a:p>
        </p:txBody>
      </p:sp>
      <p:sp>
        <p:nvSpPr>
          <p:cNvPr id="11" name="Text 9"/>
          <p:cNvSpPr/>
          <p:nvPr/>
        </p:nvSpPr>
        <p:spPr>
          <a:xfrm>
            <a:off x="37211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Print every line of a file that contains a word the user types.</a:t>
            </a:r>
            <a:endParaRPr lang="en-US" sz="1500" dirty="0"/>
          </a:p>
        </p:txBody>
      </p:sp>
      <p:sp>
        <p:nvSpPr>
          <p:cNvPr id="12" name="Shape 10"/>
          <p:cNvSpPr/>
          <p:nvPr/>
        </p:nvSpPr>
        <p:spPr>
          <a:xfrm>
            <a:off x="6203950" y="1809688"/>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Marks average</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marks.csv and print the class average.</a:t>
            </a:r>
            <a:endParaRPr lang="en-US" sz="1500" dirty="0"/>
          </a:p>
        </p:txBody>
      </p:sp>
      <p:sp>
        <p:nvSpPr>
          <p:cNvPr id="16" name="Shape 14"/>
          <p:cNvSpPr/>
          <p:nvPr/>
        </p:nvSpPr>
        <p:spPr>
          <a:xfrm>
            <a:off x="8896350" y="1809688"/>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Copy in capitals</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Copy a file into a new file with every line in capital letters.</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0"/>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59524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File handling</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Read files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3" invalidUrl="" action="" tgtFrame="" tooltip="" history="1" highlightClick="0" endSnd="0">
                  <a:extLst>
                    <a:ext uri="{A12FA001-AC4F-418D-AE19-62706E023703}">
                      <ahyp:hlinkClr xmlns:ahyp="http://schemas.microsoft.com/office/drawing/2018/hyperlinkcolor" val="tx"/>
                    </a:ext>
                  </a:extLst>
                </a:hlinkClick>
              </a:rPr>
              <a:t>Write files</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5044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18 OF 24</a:t>
            </a:r>
            <a:endParaRPr lang="en-US" sz="1200" dirty="0"/>
          </a:p>
        </p:txBody>
      </p:sp>
      <p:sp>
        <p:nvSpPr>
          <p:cNvPr id="3" name="Text 1"/>
          <p:cNvSpPr/>
          <p:nvPr>
            <p:ph type="title"/>
          </p:nvPr>
        </p:nvSpPr>
        <p:spPr>
          <a:xfrm>
            <a:off x="812800" y="289560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Mini-project 2</a:t>
            </a:r>
            <a:endParaRPr lang="en-US" sz="4800" dirty="0"/>
          </a:p>
        </p:txBody>
      </p:sp>
      <p:sp>
        <p:nvSpPr>
          <p:cNvPr id="4" name="Text 2"/>
          <p:cNvSpPr/>
          <p:nvPr/>
        </p:nvSpPr>
        <p:spPr>
          <a:xfrm>
            <a:off x="812800" y="3713435"/>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An expense tracker that remembers everything in a CSV file</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Design a CSV file for the data</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Load saved data when the program starts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Add expenses and save them at once</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Report totals by category</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Open the data in Excel</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18 · THE PLAN</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What the expense tracker does</a:t>
            </a:r>
            <a:endParaRPr lang="en-US" sz="3200" dirty="0"/>
          </a:p>
        </p:txBody>
      </p:sp>
      <p:sp>
        <p:nvSpPr>
          <p:cNvPr id="4" name="Shape 2"/>
          <p:cNvSpPr/>
          <p:nvPr/>
        </p:nvSpPr>
        <p:spPr>
          <a:xfrm>
            <a:off x="819150" y="1860488"/>
            <a:ext cx="2476500" cy="1986227"/>
          </a:xfrm>
          <a:prstGeom prst="roundRect">
            <a:avLst>
              <a:gd name="adj" fmla="val 6074"/>
            </a:avLst>
          </a:prstGeom>
          <a:solidFill>
            <a:srgbClr val="FFFDF8"/>
          </a:solidFill>
          <a:ln w="12700">
            <a:solidFill>
              <a:srgbClr val="E2DED3"/>
            </a:solidFill>
            <a:prstDash val="solid"/>
          </a:ln>
        </p:spPr>
      </p:sp>
      <p:sp>
        <p:nvSpPr>
          <p:cNvPr id="5" name="Text 3"/>
          <p:cNvSpPr/>
          <p:nvPr/>
        </p:nvSpPr>
        <p:spPr>
          <a:xfrm>
            <a:off x="1028700" y="2070038"/>
            <a:ext cx="304403" cy="289520"/>
          </a:xfrm>
          <a:custGeom>
            <a:avLst/>
            <a:gdLst/>
            <a:ahLst/>
            <a:cxnLst/>
            <a:rect l="l" t="t" r="r" b="b"/>
            <a:pathLst>
              <a:path w="304403" h="289520">
                <a:moveTo>
                  <a:pt x="144760" y="0"/>
                </a:moveTo>
                <a:lnTo>
                  <a:pt x="159643" y="0"/>
                </a:lnTo>
                <a:arcTo hR="144760" wR="144760" stAng="16200000" swAng="5400000"/>
                <a:lnTo>
                  <a:pt x="304403"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1</a:t>
            </a:r>
            <a:endParaRPr lang="en-US" sz="1200" dirty="0"/>
          </a:p>
        </p:txBody>
      </p:sp>
      <p:sp>
        <p:nvSpPr>
          <p:cNvPr id="6" name="Text 4"/>
          <p:cNvSpPr/>
          <p:nvPr/>
        </p:nvSpPr>
        <p:spPr>
          <a:xfrm>
            <a:off x="10287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Load</a:t>
            </a:r>
            <a:endParaRPr lang="en-US" sz="1800" dirty="0"/>
          </a:p>
        </p:txBody>
      </p:sp>
      <p:sp>
        <p:nvSpPr>
          <p:cNvPr id="7" name="Text 5"/>
          <p:cNvSpPr/>
          <p:nvPr/>
        </p:nvSpPr>
        <p:spPr>
          <a:xfrm>
            <a:off x="10287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 old expenses from expenses.csv when it starts.</a:t>
            </a:r>
            <a:endParaRPr lang="en-US" sz="1500" dirty="0"/>
          </a:p>
        </p:txBody>
      </p:sp>
      <p:sp>
        <p:nvSpPr>
          <p:cNvPr id="8" name="Shape 6"/>
          <p:cNvSpPr/>
          <p:nvPr/>
        </p:nvSpPr>
        <p:spPr>
          <a:xfrm>
            <a:off x="3511550" y="1860488"/>
            <a:ext cx="2476500" cy="1986227"/>
          </a:xfrm>
          <a:prstGeom prst="roundRect">
            <a:avLst>
              <a:gd name="adj" fmla="val 6074"/>
            </a:avLst>
          </a:prstGeom>
          <a:solidFill>
            <a:srgbClr val="FFFDF8"/>
          </a:solidFill>
          <a:ln w="12700">
            <a:solidFill>
              <a:srgbClr val="E2DED3"/>
            </a:solidFill>
            <a:prstDash val="solid"/>
          </a:ln>
        </p:spPr>
      </p:sp>
      <p:sp>
        <p:nvSpPr>
          <p:cNvPr id="9" name="Text 7"/>
          <p:cNvSpPr/>
          <p:nvPr/>
        </p:nvSpPr>
        <p:spPr>
          <a:xfrm>
            <a:off x="3721100" y="2070038"/>
            <a:ext cx="327686" cy="289520"/>
          </a:xfrm>
          <a:custGeom>
            <a:avLst/>
            <a:gdLst/>
            <a:ahLst/>
            <a:cxnLst/>
            <a:rect l="l" t="t" r="r" b="b"/>
            <a:pathLst>
              <a:path w="327686" h="289520">
                <a:moveTo>
                  <a:pt x="144760" y="0"/>
                </a:moveTo>
                <a:lnTo>
                  <a:pt x="182926" y="0"/>
                </a:lnTo>
                <a:arcTo hR="144760" wR="144760" stAng="16200000" swAng="5400000"/>
                <a:lnTo>
                  <a:pt x="32768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2</a:t>
            </a:r>
            <a:endParaRPr lang="en-US" sz="1200" dirty="0"/>
          </a:p>
        </p:txBody>
      </p:sp>
      <p:sp>
        <p:nvSpPr>
          <p:cNvPr id="10" name="Text 8"/>
          <p:cNvSpPr/>
          <p:nvPr/>
        </p:nvSpPr>
        <p:spPr>
          <a:xfrm>
            <a:off x="37211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Add</a:t>
            </a:r>
            <a:endParaRPr lang="en-US" sz="1800" dirty="0"/>
          </a:p>
        </p:txBody>
      </p:sp>
      <p:sp>
        <p:nvSpPr>
          <p:cNvPr id="11" name="Text 9"/>
          <p:cNvSpPr/>
          <p:nvPr/>
        </p:nvSpPr>
        <p:spPr>
          <a:xfrm>
            <a:off x="37211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Type an amount, category and note. Saved at once.</a:t>
            </a:r>
            <a:endParaRPr lang="en-US" sz="1500" dirty="0"/>
          </a:p>
        </p:txBody>
      </p:sp>
      <p:sp>
        <p:nvSpPr>
          <p:cNvPr id="12" name="Shape 10"/>
          <p:cNvSpPr/>
          <p:nvPr/>
        </p:nvSpPr>
        <p:spPr>
          <a:xfrm>
            <a:off x="6203950" y="1860488"/>
            <a:ext cx="2476500" cy="1986227"/>
          </a:xfrm>
          <a:prstGeom prst="roundRect">
            <a:avLst>
              <a:gd name="adj" fmla="val 6074"/>
            </a:avLst>
          </a:prstGeom>
          <a:solidFill>
            <a:srgbClr val="FFFDF8"/>
          </a:solidFill>
          <a:ln w="12700">
            <a:solidFill>
              <a:srgbClr val="E2DED3"/>
            </a:solidFill>
            <a:prstDash val="solid"/>
          </a:ln>
        </p:spPr>
      </p:sp>
      <p:sp>
        <p:nvSpPr>
          <p:cNvPr id="13" name="Text 11"/>
          <p:cNvSpPr/>
          <p:nvPr/>
        </p:nvSpPr>
        <p:spPr>
          <a:xfrm>
            <a:off x="6413500" y="2070038"/>
            <a:ext cx="329076" cy="289520"/>
          </a:xfrm>
          <a:custGeom>
            <a:avLst/>
            <a:gdLst/>
            <a:ahLst/>
            <a:cxnLst/>
            <a:rect l="l" t="t" r="r" b="b"/>
            <a:pathLst>
              <a:path w="329076" h="289520">
                <a:moveTo>
                  <a:pt x="144760" y="0"/>
                </a:moveTo>
                <a:lnTo>
                  <a:pt x="184315" y="0"/>
                </a:lnTo>
                <a:arcTo hR="144760" wR="144760" stAng="16200000" swAng="5400000"/>
                <a:lnTo>
                  <a:pt x="329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3</a:t>
            </a:r>
            <a:endParaRPr lang="en-US" sz="1200" dirty="0"/>
          </a:p>
        </p:txBody>
      </p:sp>
      <p:sp>
        <p:nvSpPr>
          <p:cNvPr id="14" name="Text 12"/>
          <p:cNvSpPr/>
          <p:nvPr/>
        </p:nvSpPr>
        <p:spPr>
          <a:xfrm>
            <a:off x="64135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Show</a:t>
            </a:r>
            <a:endParaRPr lang="en-US" sz="1800" dirty="0"/>
          </a:p>
        </p:txBody>
      </p:sp>
      <p:sp>
        <p:nvSpPr>
          <p:cNvPr id="15" name="Text 13"/>
          <p:cNvSpPr/>
          <p:nvPr/>
        </p:nvSpPr>
        <p:spPr>
          <a:xfrm>
            <a:off x="6413500" y="28370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List every expense with a running total.</a:t>
            </a:r>
            <a:endParaRPr lang="en-US" sz="1500" dirty="0"/>
          </a:p>
        </p:txBody>
      </p:sp>
      <p:sp>
        <p:nvSpPr>
          <p:cNvPr id="16" name="Shape 14"/>
          <p:cNvSpPr/>
          <p:nvPr/>
        </p:nvSpPr>
        <p:spPr>
          <a:xfrm>
            <a:off x="8896350" y="1860488"/>
            <a:ext cx="2476500" cy="1986227"/>
          </a:xfrm>
          <a:prstGeom prst="roundRect">
            <a:avLst>
              <a:gd name="adj" fmla="val 6074"/>
            </a:avLst>
          </a:prstGeom>
          <a:solidFill>
            <a:srgbClr val="FFFDF8"/>
          </a:solidFill>
          <a:ln w="12700">
            <a:solidFill>
              <a:srgbClr val="E2DED3"/>
            </a:solidFill>
            <a:prstDash val="solid"/>
          </a:ln>
        </p:spPr>
      </p:sp>
      <p:sp>
        <p:nvSpPr>
          <p:cNvPr id="17" name="Text 15"/>
          <p:cNvSpPr/>
          <p:nvPr/>
        </p:nvSpPr>
        <p:spPr>
          <a:xfrm>
            <a:off x="9105900" y="2070038"/>
            <a:ext cx="332581" cy="289520"/>
          </a:xfrm>
          <a:custGeom>
            <a:avLst/>
            <a:gdLst/>
            <a:ahLst/>
            <a:cxnLst/>
            <a:rect l="l" t="t" r="r" b="b"/>
            <a:pathLst>
              <a:path w="332581" h="289520">
                <a:moveTo>
                  <a:pt x="144760" y="0"/>
                </a:moveTo>
                <a:lnTo>
                  <a:pt x="187821" y="0"/>
                </a:lnTo>
                <a:arcTo hR="144760" wR="144760" stAng="16200000" swAng="5400000"/>
                <a:lnTo>
                  <a:pt x="3325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4</a:t>
            </a:r>
            <a:endParaRPr lang="en-US" sz="1200" dirty="0"/>
          </a:p>
        </p:txBody>
      </p:sp>
      <p:sp>
        <p:nvSpPr>
          <p:cNvPr id="18" name="Text 16"/>
          <p:cNvSpPr/>
          <p:nvPr/>
        </p:nvSpPr>
        <p:spPr>
          <a:xfrm>
            <a:off x="91059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Report</a:t>
            </a:r>
            <a:endParaRPr lang="en-US" sz="1800" dirty="0"/>
          </a:p>
        </p:txBody>
      </p:sp>
      <p:sp>
        <p:nvSpPr>
          <p:cNvPr id="19" name="Text 17"/>
          <p:cNvSpPr/>
          <p:nvPr/>
        </p:nvSpPr>
        <p:spPr>
          <a:xfrm>
            <a:off x="91059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Total spent per category: food, travel, books…</a:t>
            </a:r>
            <a:endParaRPr lang="en-US" sz="1500" dirty="0"/>
          </a:p>
        </p:txBody>
      </p:sp>
      <p:sp>
        <p:nvSpPr>
          <p:cNvPr id="20" name="Text 18"/>
          <p:cNvSpPr/>
          <p:nvPr/>
        </p:nvSpPr>
        <p:spPr>
          <a:xfrm>
            <a:off x="812800" y="4157861"/>
            <a:ext cx="10566400" cy="622300"/>
          </a:xfrm>
          <a:prstGeom prst="roundRect">
            <a:avLst>
              <a:gd name="adj" fmla="val 20408"/>
            </a:avLst>
          </a:prstGeom>
          <a:solidFill>
            <a:srgbClr val="FBEFD5"/>
          </a:solidFill>
          <a:ln/>
        </p:spPr>
        <p:txBody>
          <a:bodyPr wrap="square" lIns="216803" tIns="140603" rIns="0" bIns="1152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One row per expense: </a:t>
            </a:r>
            <a:r>
              <a:rPr lang="en-US" sz="1500" b="1" dirty="0">
                <a:solidFill>
                  <a:srgbClr val="1B2A41"/>
                </a:solidFill>
                <a:latin typeface="Rubik" pitchFamily="34" charset="0"/>
                <a:ea typeface="Rubik" pitchFamily="34" charset="-122"/>
                <a:cs typeface="Rubik" pitchFamily="34" charset="-120"/>
              </a:rPr>
              <a:t>date, category, amount, note</a:t>
            </a:r>
            <a:r>
              <a:rPr lang="en-US" sz="1500" dirty="0">
                <a:solidFill>
                  <a:srgbClr val="1B2A41"/>
                </a:solidFill>
                <a:latin typeface="Rubik" pitchFamily="34" charset="0"/>
                <a:ea typeface="Rubik" pitchFamily="34" charset="-122"/>
                <a:cs typeface="Rubik" pitchFamily="34" charset="-120"/>
              </a:rPr>
              <a:t>, e.g. </a:t>
            </a:r>
            <a:r>
              <a:rPr lang="en-US" sz="1500" dirty="0">
                <a:solidFill>
                  <a:srgbClr val="2A64A3"/>
                </a:solidFill>
                <a:latin typeface="Rubik" pitchFamily="34" charset="0"/>
                <a:ea typeface="Rubik" pitchFamily="34" charset="-122"/>
                <a:cs typeface="Rubik" pitchFamily="34" charset="-120"/>
              </a:rPr>
              <a:t>2026-10-06,Food,40,Hostel Maggi</a:t>
            </a:r>
            <a:endParaRPr lang="en-US" sz="15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18</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18 · STEP 1</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Loading saved expenses</a:t>
            </a:r>
            <a:endParaRPr lang="en-US" sz="3200" dirty="0"/>
          </a:p>
        </p:txBody>
      </p:sp>
      <p:sp>
        <p:nvSpPr>
          <p:cNvPr id="4" name="Shape 2"/>
          <p:cNvSpPr/>
          <p:nvPr/>
        </p:nvSpPr>
        <p:spPr>
          <a:xfrm>
            <a:off x="812800" y="1854138"/>
            <a:ext cx="5771290" cy="3502620"/>
          </a:xfrm>
          <a:prstGeom prst="roundRect">
            <a:avLst>
              <a:gd name="adj" fmla="val 3626"/>
            </a:avLst>
          </a:prstGeom>
          <a:solidFill>
            <a:srgbClr val="1B2A41"/>
          </a:solidFill>
          <a:ln/>
        </p:spPr>
      </p:sp>
      <p:sp>
        <p:nvSpPr>
          <p:cNvPr id="5" name="Text 3"/>
          <p:cNvSpPr/>
          <p:nvPr/>
        </p:nvSpPr>
        <p:spPr>
          <a:xfrm>
            <a:off x="1066800" y="2031938"/>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expenses.py</a:t>
            </a:r>
            <a:endParaRPr lang="en-US" sz="1200" dirty="0"/>
          </a:p>
        </p:txBody>
      </p:sp>
      <p:sp>
        <p:nvSpPr>
          <p:cNvPr id="6" name="Text 4"/>
          <p:cNvSpPr/>
          <p:nvPr/>
        </p:nvSpPr>
        <p:spPr>
          <a:xfrm>
            <a:off x="1066800" y="2321458"/>
            <a:ext cx="5421189" cy="2882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import</a:t>
            </a:r>
            <a:r>
              <a:rPr lang="en-US" sz="1500" dirty="0">
                <a:solidFill>
                  <a:srgbClr val="E8EDF3"/>
                </a:solidFill>
                <a:latin typeface="JetBrains Mono" pitchFamily="49" charset="0"/>
                <a:ea typeface="JetBrains Mono" pitchFamily="49" charset="-122"/>
                <a:cs typeface="JetBrains Mono" pitchFamily="49" charset="-120"/>
              </a:rPr>
              <a:t> csv, os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FILE = </a:t>
            </a:r>
            <a:r>
              <a:rPr lang="en-US" sz="1500" dirty="0">
                <a:solidFill>
                  <a:srgbClr val="9FD8A8"/>
                </a:solidFill>
                <a:latin typeface="JetBrains Mono" pitchFamily="49" charset="0"/>
                <a:ea typeface="JetBrains Mono" pitchFamily="49" charset="-122"/>
                <a:cs typeface="JetBrains Mono" pitchFamily="49" charset="-120"/>
              </a:rPr>
              <a:t>"expenses.csv"</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load():</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data = []</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os.path.exists(FILE):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(FILE)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row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csv.reader(f):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data.append(row)</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data</a:t>
            </a:r>
            <a:endParaRPr lang="en-US" sz="1500" dirty="0"/>
          </a:p>
        </p:txBody>
      </p:sp>
      <p:sp>
        <p:nvSpPr>
          <p:cNvPr id="7" name="Shape 5"/>
          <p:cNvSpPr/>
          <p:nvPr/>
        </p:nvSpPr>
        <p:spPr>
          <a:xfrm>
            <a:off x="6946040" y="1860488"/>
            <a:ext cx="4426810" cy="749300"/>
          </a:xfrm>
          <a:prstGeom prst="roundRect">
            <a:avLst>
              <a:gd name="adj" fmla="val 11017"/>
            </a:avLst>
          </a:prstGeom>
          <a:solidFill>
            <a:srgbClr val="FFFDF8"/>
          </a:solidFill>
          <a:ln w="12700">
            <a:solidFill>
              <a:srgbClr val="E2DED3"/>
            </a:solidFill>
            <a:prstDash val="solid"/>
          </a:ln>
        </p:spPr>
      </p:sp>
      <p:sp>
        <p:nvSpPr>
          <p:cNvPr id="8" name="Text 6"/>
          <p:cNvSpPr/>
          <p:nvPr/>
        </p:nvSpPr>
        <p:spPr>
          <a:xfrm>
            <a:off x="7104790" y="210178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9" name="Text 7"/>
          <p:cNvSpPr/>
          <p:nvPr/>
        </p:nvSpPr>
        <p:spPr>
          <a:xfrm>
            <a:off x="7561990" y="1968438"/>
            <a:ext cx="376167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First run:</a:t>
            </a:r>
            <a:r>
              <a:rPr lang="en-US" sz="1500" dirty="0">
                <a:solidFill>
                  <a:srgbClr val="4A5568"/>
                </a:solidFill>
                <a:latin typeface="Rubik" pitchFamily="34" charset="0"/>
                <a:ea typeface="Rubik" pitchFamily="34" charset="-122"/>
                <a:cs typeface="Rubik" pitchFamily="34" charset="-120"/>
              </a:rPr>
              <a:t> no file yet, so return an empty list</a:t>
            </a:r>
            <a:endParaRPr lang="en-US" sz="1500" dirty="0"/>
          </a:p>
        </p:txBody>
      </p:sp>
      <p:sp>
        <p:nvSpPr>
          <p:cNvPr id="10" name="Shape 8"/>
          <p:cNvSpPr/>
          <p:nvPr/>
        </p:nvSpPr>
        <p:spPr>
          <a:xfrm>
            <a:off x="6946040" y="2749488"/>
            <a:ext cx="4426810"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7104790" y="285743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2" name="Text 10"/>
          <p:cNvSpPr/>
          <p:nvPr/>
        </p:nvSpPr>
        <p:spPr>
          <a:xfrm>
            <a:off x="7561990" y="2857438"/>
            <a:ext cx="38045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Later runs:</a:t>
            </a:r>
            <a:r>
              <a:rPr lang="en-US" sz="1500" dirty="0">
                <a:solidFill>
                  <a:srgbClr val="4A5568"/>
                </a:solidFill>
                <a:latin typeface="Rubik" pitchFamily="34" charset="0"/>
                <a:ea typeface="Rubik" pitchFamily="34" charset="-122"/>
                <a:cs typeface="Rubik" pitchFamily="34" charset="-120"/>
              </a:rPr>
              <a:t> each CSV row becomes a list</a:t>
            </a:r>
            <a:endParaRPr lang="en-US" sz="1500" dirty="0"/>
          </a:p>
        </p:txBody>
      </p:sp>
      <p:sp>
        <p:nvSpPr>
          <p:cNvPr id="13" name="Shape 11"/>
          <p:cNvSpPr/>
          <p:nvPr/>
        </p:nvSpPr>
        <p:spPr>
          <a:xfrm>
            <a:off x="6939690" y="3365438"/>
            <a:ext cx="4439510" cy="787400"/>
          </a:xfrm>
          <a:prstGeom prst="roundRect">
            <a:avLst>
              <a:gd name="adj" fmla="val 11290"/>
            </a:avLst>
          </a:prstGeom>
          <a:solidFill>
            <a:srgbClr val="FBEFD5"/>
          </a:solidFill>
          <a:ln/>
        </p:spPr>
      </p:sp>
      <p:pic>
        <p:nvPicPr>
          <p:cNvPr id="14" name="Image 0" descr="Lightbulb">    </p:cNvPr>
          <p:cNvPicPr>
            <a:picLocks noChangeAspect="1"/>
          </p:cNvPicPr>
          <p:nvPr/>
        </p:nvPicPr>
        <p:blipFill>
          <a:blip r:embed="rId1"/>
          <a:srcRect l="0" r="0" t="-72" b="-72"/>
          <a:stretch/>
        </p:blipFill>
        <p:spPr>
          <a:xfrm>
            <a:off x="7117490" y="3606738"/>
            <a:ext cx="183885" cy="304800"/>
          </a:xfrm>
          <a:prstGeom prst="rect">
            <a:avLst/>
          </a:prstGeom>
        </p:spPr>
      </p:pic>
      <p:sp>
        <p:nvSpPr>
          <p:cNvPr id="15" name="Text 12"/>
          <p:cNvSpPr/>
          <p:nvPr/>
        </p:nvSpPr>
        <p:spPr>
          <a:xfrm>
            <a:off x="7428376" y="3492438"/>
            <a:ext cx="388621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os.path.exists</a:t>
            </a:r>
            <a:r>
              <a:rPr lang="en-US" sz="1500" dirty="0">
                <a:solidFill>
                  <a:srgbClr val="1B2A41"/>
                </a:solidFill>
                <a:latin typeface="Rubik" pitchFamily="34" charset="0"/>
                <a:ea typeface="Rubik" pitchFamily="34" charset="-122"/>
                <a:cs typeface="Rubik" pitchFamily="34" charset="-120"/>
              </a:rPr>
              <a:t> checks first, so a missing file never crashes the program.</a:t>
            </a:r>
            <a:endParaRPr lang="en-US" sz="15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18 · STEP 2</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Adding and saving an expense</a:t>
            </a:r>
            <a:endParaRPr lang="en-US" sz="3200" dirty="0"/>
          </a:p>
        </p:txBody>
      </p:sp>
      <p:sp>
        <p:nvSpPr>
          <p:cNvPr id="4" name="Shape 2"/>
          <p:cNvSpPr/>
          <p:nvPr/>
        </p:nvSpPr>
        <p:spPr>
          <a:xfrm>
            <a:off x="812800" y="1854138"/>
            <a:ext cx="6126427" cy="3502620"/>
          </a:xfrm>
          <a:prstGeom prst="roundRect">
            <a:avLst>
              <a:gd name="adj" fmla="val 3626"/>
            </a:avLst>
          </a:prstGeom>
          <a:solidFill>
            <a:srgbClr val="1B2A41"/>
          </a:solidFill>
          <a:ln/>
        </p:spPr>
      </p:sp>
      <p:sp>
        <p:nvSpPr>
          <p:cNvPr id="5" name="Text 3"/>
          <p:cNvSpPr/>
          <p:nvPr/>
        </p:nvSpPr>
        <p:spPr>
          <a:xfrm>
            <a:off x="1066800" y="2031938"/>
            <a:ext cx="57869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expenses.py</a:t>
            </a:r>
            <a:endParaRPr lang="en-US" sz="1200" dirty="0"/>
          </a:p>
        </p:txBody>
      </p:sp>
      <p:sp>
        <p:nvSpPr>
          <p:cNvPr id="6" name="Text 4"/>
          <p:cNvSpPr/>
          <p:nvPr/>
        </p:nvSpPr>
        <p:spPr>
          <a:xfrm>
            <a:off x="1066800" y="2321458"/>
            <a:ext cx="5786980" cy="2882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from</a:t>
            </a:r>
            <a:r>
              <a:rPr lang="en-US" sz="1500" dirty="0">
                <a:solidFill>
                  <a:srgbClr val="E8EDF3"/>
                </a:solidFill>
                <a:latin typeface="JetBrains Mono" pitchFamily="49" charset="0"/>
                <a:ea typeface="JetBrains Mono" pitchFamily="49" charset="-122"/>
                <a:cs typeface="JetBrains Mono" pitchFamily="49" charset="-120"/>
              </a:rPr>
              <a:t> datetime </a:t>
            </a:r>
            <a:r>
              <a:rPr lang="en-US" sz="1500" dirty="0">
                <a:solidFill>
                  <a:srgbClr val="F2B33D"/>
                </a:solidFill>
                <a:latin typeface="JetBrains Mono" pitchFamily="49" charset="0"/>
                <a:ea typeface="JetBrains Mono" pitchFamily="49" charset="-122"/>
                <a:cs typeface="JetBrains Mono" pitchFamily="49" charset="-120"/>
              </a:rPr>
              <a:t>import</a:t>
            </a:r>
            <a:r>
              <a:rPr lang="en-US" sz="1500" dirty="0">
                <a:solidFill>
                  <a:srgbClr val="E8EDF3"/>
                </a:solidFill>
                <a:latin typeface="JetBrains Mono" pitchFamily="49" charset="0"/>
                <a:ea typeface="JetBrains Mono" pitchFamily="49" charset="-122"/>
                <a:cs typeface="JetBrains Mono" pitchFamily="49" charset="-120"/>
              </a:rPr>
              <a:t> date</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add(data):</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amt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"Amount: Rs.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cat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"Category: "</a:t>
            </a:r>
            <a:r>
              <a:rPr lang="en-US" sz="1500" dirty="0">
                <a:solidFill>
                  <a:srgbClr val="E8EDF3"/>
                </a:solidFill>
                <a:latin typeface="JetBrains Mono" pitchFamily="49" charset="0"/>
                <a:ea typeface="JetBrains Mono" pitchFamily="49" charset="-122"/>
                <a:cs typeface="JetBrains Mono" pitchFamily="49" charset="-120"/>
              </a:rPr>
              <a:t>).strip().title()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note = </a:t>
            </a:r>
            <a:r>
              <a:rPr lang="en-US" sz="1500" dirty="0">
                <a:solidFill>
                  <a:srgbClr val="F2B33D"/>
                </a:solidFill>
                <a:latin typeface="JetBrains Mono" pitchFamily="49" charset="0"/>
                <a:ea typeface="JetBrains Mono" pitchFamily="49" charset="-122"/>
                <a:cs typeface="JetBrains Mono" pitchFamily="49" charset="-120"/>
              </a:rPr>
              <a:t>input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"Note: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row = [</a:t>
            </a:r>
            <a:r>
              <a:rPr lang="en-US" sz="1500" dirty="0">
                <a:solidFill>
                  <a:srgbClr val="F2B33D"/>
                </a:solidFill>
                <a:latin typeface="JetBrains Mono" pitchFamily="49" charset="0"/>
                <a:ea typeface="JetBrains Mono" pitchFamily="49" charset="-122"/>
                <a:cs typeface="JetBrains Mono" pitchFamily="49" charset="-120"/>
              </a:rPr>
              <a:t>str</a:t>
            </a:r>
            <a:r>
              <a:rPr lang="en-US" sz="1500" dirty="0">
                <a:solidFill>
                  <a:srgbClr val="E8EDF3"/>
                </a:solidFill>
                <a:latin typeface="JetBrains Mono" pitchFamily="49" charset="0"/>
                <a:ea typeface="JetBrains Mono" pitchFamily="49" charset="-122"/>
                <a:cs typeface="JetBrains Mono" pitchFamily="49" charset="-120"/>
              </a:rPr>
              <a:t>(date.today()), cat, amt, note]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data.append(row)</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with</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open</a:t>
            </a:r>
            <a:r>
              <a:rPr lang="en-US" sz="1500" dirty="0">
                <a:solidFill>
                  <a:srgbClr val="E8EDF3"/>
                </a:solidFill>
                <a:latin typeface="JetBrains Mono" pitchFamily="49" charset="0"/>
                <a:ea typeface="JetBrains Mono" pitchFamily="49" charset="-122"/>
                <a:cs typeface="JetBrains Mono" pitchFamily="49" charset="-120"/>
              </a:rPr>
              <a:t>(FILE, </a:t>
            </a:r>
            <a:r>
              <a:rPr lang="en-US" sz="1500" dirty="0">
                <a:solidFill>
                  <a:srgbClr val="9FD8A8"/>
                </a:solidFill>
                <a:latin typeface="JetBrains Mono" pitchFamily="49" charset="0"/>
                <a:ea typeface="JetBrains Mono" pitchFamily="49" charset="-122"/>
                <a:cs typeface="JetBrains Mono" pitchFamily="49" charset="-120"/>
              </a:rPr>
              <a:t>"a"</a:t>
            </a:r>
            <a:r>
              <a:rPr lang="en-US" sz="1500" dirty="0">
                <a:solidFill>
                  <a:srgbClr val="E8EDF3"/>
                </a:solidFill>
                <a:latin typeface="JetBrains Mono" pitchFamily="49" charset="0"/>
                <a:ea typeface="JetBrains Mono" pitchFamily="49" charset="-122"/>
                <a:cs typeface="JetBrains Mono" pitchFamily="49" charset="-120"/>
              </a:rPr>
              <a:t>, newline=</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as</a:t>
            </a:r>
            <a:r>
              <a:rPr lang="en-US" sz="1500" dirty="0">
                <a:solidFill>
                  <a:srgbClr val="E8EDF3"/>
                </a:solidFill>
                <a:latin typeface="JetBrains Mono" pitchFamily="49" charset="0"/>
                <a:ea typeface="JetBrains Mono" pitchFamily="49" charset="-122"/>
                <a:cs typeface="JetBrains Mono" pitchFamily="49" charset="-120"/>
              </a:rPr>
              <a:t> f:</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csv.writer(f).writerow(row)</a:t>
            </a:r>
            <a:endParaRPr lang="en-US" sz="1500" dirty="0"/>
          </a:p>
        </p:txBody>
      </p:sp>
      <p:sp>
        <p:nvSpPr>
          <p:cNvPr id="7" name="Shape 5"/>
          <p:cNvSpPr/>
          <p:nvPr/>
        </p:nvSpPr>
        <p:spPr>
          <a:xfrm>
            <a:off x="7301178" y="1860488"/>
            <a:ext cx="4071607" cy="1728391"/>
          </a:xfrm>
          <a:prstGeom prst="roundRect">
            <a:avLst>
              <a:gd name="adj" fmla="val 6980"/>
            </a:avLst>
          </a:prstGeom>
          <a:solidFill>
            <a:srgbClr val="FFFDF8"/>
          </a:solidFill>
          <a:ln w="12700">
            <a:solidFill>
              <a:srgbClr val="D9DEE5"/>
            </a:solidFill>
            <a:prstDash val="solid"/>
          </a:ln>
        </p:spPr>
      </p:sp>
      <p:sp>
        <p:nvSpPr>
          <p:cNvPr id="8" name="Text 6"/>
          <p:cNvSpPr/>
          <p:nvPr/>
        </p:nvSpPr>
        <p:spPr>
          <a:xfrm>
            <a:off x="7561528" y="2044638"/>
            <a:ext cx="3657434"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 · ORANGE = WHAT THE USER TYPES</a:t>
            </a:r>
            <a:endParaRPr lang="en-US" sz="1200" dirty="0"/>
          </a:p>
        </p:txBody>
      </p:sp>
      <p:sp>
        <p:nvSpPr>
          <p:cNvPr id="9" name="Text 7"/>
          <p:cNvSpPr/>
          <p:nvPr/>
        </p:nvSpPr>
        <p:spPr>
          <a:xfrm>
            <a:off x="7561528" y="2547479"/>
            <a:ext cx="3657434"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Amount: Rs. </a:t>
            </a:r>
            <a:r>
              <a:rPr lang="en-US" sz="1500" dirty="0">
                <a:solidFill>
                  <a:srgbClr val="B54708"/>
                </a:solidFill>
                <a:latin typeface="JetBrains Mono" pitchFamily="49" charset="0"/>
                <a:ea typeface="JetBrains Mono" pitchFamily="49" charset="-122"/>
                <a:cs typeface="JetBrains Mono" pitchFamily="49" charset="-120"/>
              </a:rPr>
              <a:t>40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Category: </a:t>
            </a:r>
            <a:r>
              <a:rPr lang="en-US" sz="1500" dirty="0">
                <a:solidFill>
                  <a:srgbClr val="B54708"/>
                </a:solidFill>
                <a:latin typeface="JetBrains Mono" pitchFamily="49" charset="0"/>
                <a:ea typeface="JetBrains Mono" pitchFamily="49" charset="-122"/>
                <a:cs typeface="JetBrains Mono" pitchFamily="49" charset="-120"/>
              </a:rPr>
              <a:t>food</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Note: </a:t>
            </a:r>
            <a:r>
              <a:rPr lang="en-US" sz="1500" dirty="0">
                <a:solidFill>
                  <a:srgbClr val="B54708"/>
                </a:solidFill>
                <a:latin typeface="JetBrains Mono" pitchFamily="49" charset="0"/>
                <a:ea typeface="JetBrains Mono" pitchFamily="49" charset="-122"/>
                <a:cs typeface="JetBrains Mono" pitchFamily="49" charset="-120"/>
              </a:rPr>
              <a:t>Hostel Maggi</a:t>
            </a:r>
            <a:endParaRPr lang="en-US" sz="1500" dirty="0"/>
          </a:p>
        </p:txBody>
      </p:sp>
      <p:sp>
        <p:nvSpPr>
          <p:cNvPr id="10" name="Text 8"/>
          <p:cNvSpPr/>
          <p:nvPr/>
        </p:nvSpPr>
        <p:spPr>
          <a:xfrm>
            <a:off x="7294828" y="3722229"/>
            <a:ext cx="4206836"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The row goes into the list </a:t>
            </a:r>
            <a:r>
              <a:rPr lang="en-US" sz="1500" b="1" dirty="0">
                <a:solidFill>
                  <a:srgbClr val="4A5568"/>
                </a:solidFill>
                <a:latin typeface="Rubik" pitchFamily="34" charset="0"/>
                <a:ea typeface="Rubik" pitchFamily="34" charset="-122"/>
                <a:cs typeface="Rubik" pitchFamily="34" charset="-120"/>
              </a:rPr>
              <a:t>and</a:t>
            </a:r>
            <a:r>
              <a:rPr lang="en-US" sz="1500" dirty="0">
                <a:solidFill>
                  <a:srgbClr val="4A5568"/>
                </a:solidFill>
                <a:latin typeface="Rubik" pitchFamily="34" charset="0"/>
                <a:ea typeface="Rubik" pitchFamily="34" charset="-122"/>
                <a:cs typeface="Rubik" pitchFamily="34" charset="-120"/>
              </a:rPr>
              <a:t> onto the disk straight away.</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18 · STEP 3</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Totals by category</a:t>
            </a:r>
            <a:endParaRPr lang="en-US" sz="3200" dirty="0"/>
          </a:p>
        </p:txBody>
      </p:sp>
      <p:sp>
        <p:nvSpPr>
          <p:cNvPr id="4" name="Shape 2"/>
          <p:cNvSpPr/>
          <p:nvPr/>
        </p:nvSpPr>
        <p:spPr>
          <a:xfrm>
            <a:off x="812800" y="1854138"/>
            <a:ext cx="6126427" cy="2645370"/>
          </a:xfrm>
          <a:prstGeom prst="roundRect">
            <a:avLst>
              <a:gd name="adj" fmla="val 4801"/>
            </a:avLst>
          </a:prstGeom>
          <a:solidFill>
            <a:srgbClr val="1B2A41"/>
          </a:solidFill>
          <a:ln/>
        </p:spPr>
      </p:sp>
      <p:sp>
        <p:nvSpPr>
          <p:cNvPr id="5" name="Text 3"/>
          <p:cNvSpPr/>
          <p:nvPr/>
        </p:nvSpPr>
        <p:spPr>
          <a:xfrm>
            <a:off x="1066800" y="2031938"/>
            <a:ext cx="57869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expenses.py</a:t>
            </a:r>
            <a:endParaRPr lang="en-US" sz="1200" dirty="0"/>
          </a:p>
        </p:txBody>
      </p:sp>
      <p:sp>
        <p:nvSpPr>
          <p:cNvPr id="6" name="Text 4"/>
          <p:cNvSpPr/>
          <p:nvPr/>
        </p:nvSpPr>
        <p:spPr>
          <a:xfrm>
            <a:off x="1066800" y="2321458"/>
            <a:ext cx="5786980" cy="2025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report(data):</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t = {}</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d, cat, amt, note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data:</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t[cat] = t.get(cat, 0) + </a:t>
            </a:r>
            <a:r>
              <a:rPr lang="en-US" sz="1500" dirty="0">
                <a:solidFill>
                  <a:srgbClr val="F2B33D"/>
                </a:solidFill>
                <a:latin typeface="JetBrains Mono" pitchFamily="49" charset="0"/>
                <a:ea typeface="JetBrains Mono" pitchFamily="49" charset="-122"/>
                <a:cs typeface="JetBrains Mono" pitchFamily="49" charset="-120"/>
              </a:rPr>
              <a:t>float</a:t>
            </a:r>
            <a:r>
              <a:rPr lang="en-US" sz="1500" dirty="0">
                <a:solidFill>
                  <a:srgbClr val="E8EDF3"/>
                </a:solidFill>
                <a:latin typeface="JetBrains Mono" pitchFamily="49" charset="0"/>
                <a:ea typeface="JetBrains Mono" pitchFamily="49" charset="-122"/>
                <a:cs typeface="JetBrains Mono" pitchFamily="49" charset="-120"/>
              </a:rPr>
              <a:t>(amt)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cat, total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sorted</a:t>
            </a:r>
            <a:r>
              <a:rPr lang="en-US" sz="1500" dirty="0">
                <a:solidFill>
                  <a:srgbClr val="E8EDF3"/>
                </a:solidFill>
                <a:latin typeface="JetBrains Mono" pitchFamily="49" charset="0"/>
                <a:ea typeface="JetBrains Mono" pitchFamily="49" charset="-122"/>
                <a:cs typeface="JetBrains Mono" pitchFamily="49" charset="-120"/>
              </a:rPr>
              <a:t>(t.items()):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f"{cat:10} Rs. {total:8.2f}"</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"Total:"</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sum</a:t>
            </a:r>
            <a:r>
              <a:rPr lang="en-US" sz="1500" dirty="0">
                <a:solidFill>
                  <a:srgbClr val="E8EDF3"/>
                </a:solidFill>
                <a:latin typeface="JetBrains Mono" pitchFamily="49" charset="0"/>
                <a:ea typeface="JetBrains Mono" pitchFamily="49" charset="-122"/>
                <a:cs typeface="JetBrains Mono" pitchFamily="49" charset="-120"/>
              </a:rPr>
              <a:t>(t.values()))</a:t>
            </a:r>
            <a:endParaRPr lang="en-US" sz="1500" dirty="0"/>
          </a:p>
        </p:txBody>
      </p:sp>
      <p:sp>
        <p:nvSpPr>
          <p:cNvPr id="7" name="Shape 5"/>
          <p:cNvSpPr/>
          <p:nvPr/>
        </p:nvSpPr>
        <p:spPr>
          <a:xfrm>
            <a:off x="7301178" y="1860488"/>
            <a:ext cx="4071607" cy="1800820"/>
          </a:xfrm>
          <a:prstGeom prst="roundRect">
            <a:avLst>
              <a:gd name="adj" fmla="val 6700"/>
            </a:avLst>
          </a:prstGeom>
          <a:solidFill>
            <a:srgbClr val="FFFDF8"/>
          </a:solidFill>
          <a:ln w="12700">
            <a:solidFill>
              <a:srgbClr val="D9DEE5"/>
            </a:solidFill>
            <a:prstDash val="solid"/>
          </a:ln>
        </p:spPr>
      </p:sp>
      <p:sp>
        <p:nvSpPr>
          <p:cNvPr id="8" name="Text 6"/>
          <p:cNvSpPr/>
          <p:nvPr/>
        </p:nvSpPr>
        <p:spPr>
          <a:xfrm>
            <a:off x="7561528" y="2044638"/>
            <a:ext cx="365743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7561528" y="2334158"/>
            <a:ext cx="3657434"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Books      Rs.   250.00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Food       Rs.   185.00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Travel     Rs.    60.00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Total: 495.0</a:t>
            </a:r>
            <a:endParaRPr lang="en-US" sz="1500" dirty="0"/>
          </a:p>
        </p:txBody>
      </p:sp>
      <p:sp>
        <p:nvSpPr>
          <p:cNvPr id="10" name="Text 8"/>
          <p:cNvSpPr/>
          <p:nvPr/>
        </p:nvSpPr>
        <p:spPr>
          <a:xfrm>
            <a:off x="7294828" y="3794658"/>
            <a:ext cx="4206836"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The letter-counting pattern from Week 4, now adding rupees per category.</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18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grow the tracker</a:t>
            </a:r>
            <a:endParaRPr lang="en-US" sz="3200" dirty="0"/>
          </a:p>
        </p:txBody>
      </p:sp>
      <p:sp>
        <p:nvSpPr>
          <p:cNvPr id="4" name="Shape 2"/>
          <p:cNvSpPr/>
          <p:nvPr/>
        </p:nvSpPr>
        <p:spPr>
          <a:xfrm>
            <a:off x="819150" y="1809688"/>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Monthly total</a:t>
            </a:r>
            <a:endParaRPr lang="en-US" sz="1800" dirty="0"/>
          </a:p>
        </p:txBody>
      </p:sp>
      <p:sp>
        <p:nvSpPr>
          <p:cNvPr id="7" name="Text 5"/>
          <p:cNvSpPr/>
          <p:nvPr/>
        </p:nvSpPr>
        <p:spPr>
          <a:xfrm>
            <a:off x="10287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Show only the expenses of the current month and their total.</a:t>
            </a:r>
            <a:endParaRPr lang="en-US" sz="1500" dirty="0"/>
          </a:p>
        </p:txBody>
      </p:sp>
      <p:sp>
        <p:nvSpPr>
          <p:cNvPr id="8" name="Shape 6"/>
          <p:cNvSpPr/>
          <p:nvPr/>
        </p:nvSpPr>
        <p:spPr>
          <a:xfrm>
            <a:off x="3511550" y="1809688"/>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Biggest spend</a:t>
            </a:r>
            <a:endParaRPr lang="en-US" sz="1800" dirty="0"/>
          </a:p>
        </p:txBody>
      </p:sp>
      <p:sp>
        <p:nvSpPr>
          <p:cNvPr id="11" name="Text 9"/>
          <p:cNvSpPr/>
          <p:nvPr/>
        </p:nvSpPr>
        <p:spPr>
          <a:xfrm>
            <a:off x="37211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Print the single most expensive item and its note.</a:t>
            </a:r>
            <a:endParaRPr lang="en-US" sz="1500" dirty="0"/>
          </a:p>
        </p:txBody>
      </p:sp>
      <p:sp>
        <p:nvSpPr>
          <p:cNvPr id="12" name="Shape 10"/>
          <p:cNvSpPr/>
          <p:nvPr/>
        </p:nvSpPr>
        <p:spPr>
          <a:xfrm>
            <a:off x="6203950" y="1809688"/>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Budget alert</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Set a monthly budget. Warn when the total goes over it.</a:t>
            </a:r>
            <a:endParaRPr lang="en-US" sz="1500" dirty="0"/>
          </a:p>
        </p:txBody>
      </p:sp>
      <p:sp>
        <p:nvSpPr>
          <p:cNvPr id="16" name="Shape 14"/>
          <p:cNvSpPr/>
          <p:nvPr/>
        </p:nvSpPr>
        <p:spPr>
          <a:xfrm>
            <a:off x="8896350" y="1809688"/>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Delete last</a:t>
            </a:r>
            <a:endParaRPr lang="en-US" sz="1800" dirty="0"/>
          </a:p>
        </p:txBody>
      </p:sp>
      <p:sp>
        <p:nvSpPr>
          <p:cNvPr id="19" name="Text 17"/>
          <p:cNvSpPr/>
          <p:nvPr/>
        </p:nvSpPr>
        <p:spPr>
          <a:xfrm>
            <a:off x="91059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Remove the last expense from the list and rewrite the whole file.</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6"/>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71634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File handling</a:t>
            </a:r>
            <a:r>
              <a:rPr lang="en-US" sz="1500" dirty="0">
                <a:solidFill>
                  <a:srgbClr val="F7F5EF"/>
                </a:solidFill>
                <a:latin typeface="Rubik" pitchFamily="34" charset="0"/>
                <a:ea typeface="Rubik" pitchFamily="34" charset="-122"/>
                <a:cs typeface="Rubik" pitchFamily="34" charset="-120"/>
              </a:rPr>
              <a:t> · and add a week of real expenses</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6 · Class 18</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WEEK 6 RECAP</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EF"/>
                </a:solidFill>
                <a:latin typeface="Rubik" pitchFamily="34" charset="0"/>
                <a:ea typeface="Rubik" pitchFamily="34" charset="-122"/>
                <a:cs typeface="Rubik" pitchFamily="34" charset="-120"/>
              </a:rPr>
              <a:t>What you can do now</a:t>
            </a:r>
            <a:endParaRPr lang="en-US" sz="3200" dirty="0"/>
          </a:p>
        </p:txBody>
      </p:sp>
      <p:sp>
        <p:nvSpPr>
          <p:cNvPr id="4" name="Shape 2"/>
          <p:cNvSpPr/>
          <p:nvPr/>
        </p:nvSpPr>
        <p:spPr>
          <a:xfrm>
            <a:off x="812800" y="1854138"/>
            <a:ext cx="2527300" cy="1282700"/>
          </a:xfrm>
          <a:prstGeom prst="roundRect">
            <a:avLst>
              <a:gd name="adj" fmla="val 9901"/>
            </a:avLst>
          </a:prstGeom>
          <a:solidFill>
            <a:srgbClr val="24364F"/>
          </a:solidFill>
          <a:ln/>
        </p:spPr>
      </p:sp>
      <p:sp>
        <p:nvSpPr>
          <p:cNvPr id="5" name="Text 3"/>
          <p:cNvSpPr/>
          <p:nvPr/>
        </p:nvSpPr>
        <p:spPr>
          <a:xfrm>
            <a:off x="10160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import math</a:t>
            </a:r>
            <a:endParaRPr lang="en-US" sz="1500" dirty="0"/>
          </a:p>
        </p:txBody>
      </p:sp>
      <p:sp>
        <p:nvSpPr>
          <p:cNvPr id="6" name="Text 4"/>
          <p:cNvSpPr/>
          <p:nvPr/>
        </p:nvSpPr>
        <p:spPr>
          <a:xfrm>
            <a:off x="10160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Use Python's ready-made toolboxes</a:t>
            </a:r>
            <a:endParaRPr lang="en-US" sz="1500" dirty="0"/>
          </a:p>
        </p:txBody>
      </p:sp>
      <p:sp>
        <p:nvSpPr>
          <p:cNvPr id="7" name="Shape 5"/>
          <p:cNvSpPr/>
          <p:nvPr/>
        </p:nvSpPr>
        <p:spPr>
          <a:xfrm>
            <a:off x="3492500" y="1854138"/>
            <a:ext cx="2527300" cy="1282700"/>
          </a:xfrm>
          <a:prstGeom prst="roundRect">
            <a:avLst>
              <a:gd name="adj" fmla="val 9901"/>
            </a:avLst>
          </a:prstGeom>
          <a:solidFill>
            <a:srgbClr val="24364F"/>
          </a:solidFill>
          <a:ln/>
        </p:spPr>
      </p:sp>
      <p:sp>
        <p:nvSpPr>
          <p:cNvPr id="8" name="Text 6"/>
          <p:cNvSpPr/>
          <p:nvPr/>
        </p:nvSpPr>
        <p:spPr>
          <a:xfrm>
            <a:off x="36957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random.choice</a:t>
            </a:r>
            <a:endParaRPr lang="en-US" sz="1500" dirty="0"/>
          </a:p>
        </p:txBody>
      </p:sp>
      <p:sp>
        <p:nvSpPr>
          <p:cNvPr id="9" name="Text 7"/>
          <p:cNvSpPr/>
          <p:nvPr/>
        </p:nvSpPr>
        <p:spPr>
          <a:xfrm>
            <a:off x="36957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Random numbers, choices and shuffles</a:t>
            </a:r>
            <a:endParaRPr lang="en-US" sz="1500" dirty="0"/>
          </a:p>
        </p:txBody>
      </p:sp>
      <p:sp>
        <p:nvSpPr>
          <p:cNvPr id="10" name="Shape 8"/>
          <p:cNvSpPr/>
          <p:nvPr/>
        </p:nvSpPr>
        <p:spPr>
          <a:xfrm>
            <a:off x="6172200" y="1854138"/>
            <a:ext cx="2527300" cy="1282700"/>
          </a:xfrm>
          <a:prstGeom prst="roundRect">
            <a:avLst>
              <a:gd name="adj" fmla="val 9901"/>
            </a:avLst>
          </a:prstGeom>
          <a:solidFill>
            <a:srgbClr val="24364F"/>
          </a:solidFill>
          <a:ln/>
        </p:spPr>
      </p:sp>
      <p:sp>
        <p:nvSpPr>
          <p:cNvPr id="11" name="Text 9"/>
          <p:cNvSpPr/>
          <p:nvPr/>
        </p:nvSpPr>
        <p:spPr>
          <a:xfrm>
            <a:off x="63754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open(f, "a")</a:t>
            </a:r>
            <a:endParaRPr lang="en-US" sz="1500" dirty="0"/>
          </a:p>
        </p:txBody>
      </p:sp>
      <p:sp>
        <p:nvSpPr>
          <p:cNvPr id="12" name="Text 10"/>
          <p:cNvSpPr/>
          <p:nvPr/>
        </p:nvSpPr>
        <p:spPr>
          <a:xfrm>
            <a:off x="63754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Write, append and read text files</a:t>
            </a:r>
            <a:endParaRPr lang="en-US" sz="1500" dirty="0"/>
          </a:p>
        </p:txBody>
      </p:sp>
      <p:sp>
        <p:nvSpPr>
          <p:cNvPr id="13" name="Shape 11"/>
          <p:cNvSpPr/>
          <p:nvPr/>
        </p:nvSpPr>
        <p:spPr>
          <a:xfrm>
            <a:off x="8851900" y="1854138"/>
            <a:ext cx="2527300" cy="1282700"/>
          </a:xfrm>
          <a:prstGeom prst="roundRect">
            <a:avLst>
              <a:gd name="adj" fmla="val 9901"/>
            </a:avLst>
          </a:prstGeom>
          <a:solidFill>
            <a:srgbClr val="24364F"/>
          </a:solidFill>
          <a:ln/>
        </p:spPr>
      </p:sp>
      <p:sp>
        <p:nvSpPr>
          <p:cNvPr id="14" name="Text 12"/>
          <p:cNvSpPr/>
          <p:nvPr/>
        </p:nvSpPr>
        <p:spPr>
          <a:xfrm>
            <a:off x="90551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csv.writer</a:t>
            </a:r>
            <a:endParaRPr lang="en-US" sz="1500" dirty="0"/>
          </a:p>
        </p:txBody>
      </p:sp>
      <p:sp>
        <p:nvSpPr>
          <p:cNvPr id="15" name="Text 13"/>
          <p:cNvSpPr/>
          <p:nvPr/>
        </p:nvSpPr>
        <p:spPr>
          <a:xfrm>
            <a:off x="90551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Save tables that Excel can open</a:t>
            </a:r>
            <a:endParaRPr lang="en-US" sz="1500" dirty="0"/>
          </a:p>
        </p:txBody>
      </p:sp>
      <p:sp>
        <p:nvSpPr>
          <p:cNvPr id="16" name="Shape 14"/>
          <p:cNvSpPr/>
          <p:nvPr/>
        </p:nvSpPr>
        <p:spPr>
          <a:xfrm>
            <a:off x="812800" y="3441638"/>
            <a:ext cx="10566400" cy="967647"/>
          </a:xfrm>
          <a:prstGeom prst="roundRect">
            <a:avLst>
              <a:gd name="adj" fmla="val 13125"/>
            </a:avLst>
          </a:prstGeom>
          <a:solidFill>
            <a:srgbClr val="F2B33D"/>
          </a:solidFill>
          <a:ln/>
        </p:spPr>
      </p:sp>
      <p:sp>
        <p:nvSpPr>
          <p:cNvPr id="17" name="Text 15"/>
          <p:cNvSpPr/>
          <p:nvPr/>
        </p:nvSpPr>
        <p:spPr>
          <a:xfrm>
            <a:off x="1066800" y="3644838"/>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2A41"/>
                </a:solidFill>
                <a:latin typeface="Rubik" pitchFamily="34" charset="0"/>
                <a:ea typeface="Rubik" pitchFamily="34" charset="-122"/>
                <a:cs typeface="Rubik" pitchFamily="34" charset="-120"/>
              </a:rPr>
              <a:t>NEXT WEEK</a:t>
            </a:r>
            <a:endParaRPr lang="en-US" sz="1200" dirty="0"/>
          </a:p>
        </p:txBody>
      </p:sp>
      <p:sp>
        <p:nvSpPr>
          <p:cNvPr id="18" name="Text 16"/>
          <p:cNvSpPr/>
          <p:nvPr/>
        </p:nvSpPr>
        <p:spPr>
          <a:xfrm>
            <a:off x="1066800" y="3908958"/>
            <a:ext cx="10360152" cy="322527"/>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B2A41"/>
                </a:solidFill>
                <a:latin typeface="Rubik" pitchFamily="34" charset="0"/>
                <a:ea typeface="Rubik" pitchFamily="34" charset="-122"/>
                <a:cs typeface="Rubik" pitchFamily="34" charset="-120"/>
              </a:rPr>
              <a:t>Handling errors gracefully, then object-oriented programming with classes</a:t>
            </a:r>
            <a:endParaRPr lang="en-US" sz="1800" dirty="0"/>
          </a:p>
        </p:txBody>
      </p:sp>
      <p:sp>
        <p:nvSpPr>
          <p:cNvPr id="19" name="Text 17"/>
          <p:cNvSpPr/>
          <p:nvPr/>
        </p:nvSpPr>
        <p:spPr>
          <a:xfrm>
            <a:off x="812800" y="471408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9D4E2"/>
                </a:solidFill>
                <a:latin typeface="Rubik" pitchFamily="34" charset="0"/>
                <a:ea typeface="Rubik" pitchFamily="34" charset="-122"/>
                <a:cs typeface="Rubik" pitchFamily="34" charset="-120"/>
              </a:rPr>
              <a:t>Lab habit:</a:t>
            </a:r>
            <a:r>
              <a:rPr lang="en-US" sz="1500" dirty="0">
                <a:solidFill>
                  <a:srgbClr val="C9D4E2"/>
                </a:solidFill>
                <a:latin typeface="Rubik" pitchFamily="34" charset="0"/>
                <a:ea typeface="Rubik" pitchFamily="34" charset="-122"/>
                <a:cs typeface="Rubik" pitchFamily="34" charset="-120"/>
              </a:rPr>
              <a:t> after writing a file, open it and look. Never trust that it worked.</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Week 6</a:t>
            </a:r>
            <a:endParaRPr lang="en-US" sz="1200" dirty="0"/>
          </a:p>
        </p:txBody>
      </p:sp>
    </p:spTree>
  </p:cSld>
  <p:clrMapOvr>
    <a:masterClrMapping/>
  </p:clrMapOvr>
</p:sld>
</file>

<file path=ppt/theme/theme1.xml><?xml version="1.0" encoding="utf-8"?>
<a:theme xmlns:a="http://schemas.openxmlformats.org/drawingml/2006/main" name="Python Week 6 – Modules, Files &amp; Mini-project 2">
  <a:themeElements>
    <a:clrScheme name="Python Week 6 – Modules, Files &amp; Mini-project 2">
      <a:dk1>
        <a:srgbClr val="1B2A41"/>
      </a:dk1>
      <a:lt1>
        <a:srgbClr val="F7F5EF"/>
      </a:lt1>
      <a:dk2>
        <a:srgbClr val="525D6D"/>
      </a:dk2>
      <a:lt2>
        <a:srgbClr val="E1E1DE"/>
      </a:lt2>
      <a:accent1>
        <a:srgbClr val="F2B33D"/>
      </a:accent1>
      <a:accent2>
        <a:srgbClr val="2A64A3"/>
      </a:accent2>
      <a:accent3>
        <a:srgbClr val="8FA3B8"/>
      </a:accent3>
      <a:accent4>
        <a:srgbClr val="9FB0C6"/>
      </a:accent4>
      <a:accent5>
        <a:srgbClr val="2A3D5A"/>
      </a:accent5>
      <a:accent6>
        <a:srgbClr val="4A5568"/>
      </a:accent6>
      <a:hlink>
        <a:srgbClr val="0563C1"/>
      </a:hlink>
      <a:folHlink>
        <a:srgbClr val="954F72"/>
      </a:folHlink>
    </a:clrScheme>
    <a:fontScheme name="Python Week 6 – Modules, Files &amp; Mini-project 2">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Week 6 – Modules, Files &amp; Mini-project 2</dc:title>
  <dc:subject/>
  <dc:creator/>
  <cp:lastModifiedBy/>
  <cp:revision>1</cp:revision>
  <dcterms:created xsi:type="dcterms:W3CDTF">2026-10-06T16:46:30Z</dcterms:created>
  <dcterms:modified xsi:type="dcterms:W3CDTF">2026-10-06T16:46:30Z</dcterms:modified>
</cp:coreProperties>
</file>