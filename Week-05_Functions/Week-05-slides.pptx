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5 is about organising code. Classes: (13) defining functions, parameters and return; (14) scope, returning several values, lambda and sorting with a key, then rewriting the mini-project with functions; (15) recursion. Functions are the single biggest step from "beginner scripts" to real programs, and recursion is a guaranteed exam topic. Check the Week 4 mini-project extensions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"How many times have you used print, input, len and range?" Hundreds. They are functions someone else wrote. Today the student writes their own. Analogy: a pressure cooker. You put ingredients in (arguments), it does its job, and you take food out (the return value). You do not need to know how it works inside every time you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to use functions, easy to remember: 1. Reuse: write once, call many times. 2. Readability: a name like line() or is_prime(n) says what the code does. 3. Fixing: a bug is fixed in one place. Ask the student to change the line to use "-" instead of "=": in the left version three edits, in the right version one. Point out the blank line after the function: the def only defines; nothing runs until line() is called.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that comes up in viva: the parameter is the name in the definition (name); the argument is the actual value you pass when calling ("Ananya"). Show what happens if you call greet() with nothing (TypeError: missing 1 required positional argument). Also show that calling a function before its def line gives a NameError, because Python reads top to bottom. Naming rules are the same as variables; use verbs: greet, calculate_area, is_even.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function with no return gives back None. This is the most important slide of the class. On the left, area prints 20 and then returns None, so x is None and None + 1 crashes. On the right, area returns 20 into x. Analogy: print is a shopkeeper telling you the price; return is the shopkeeper handing you the packet, which you can then use. return also ends the function immediately: any line after it does not run. Viva: difference between print and return? Ask the student to write def square(n): return n * n and use it in print(square(3) + square(4)).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an auto-rickshaw fare in Bhubaneswar, usually Rs. 12 per km, but more at night. fare(10) uses the default 12. fare(10, 15) overrides it. fare(rate=20, km=5) uses keyword arguments, so the order does not matter. print itself uses keyword arguments: print("a", "b", sep="-", end="!"). Viva: positional vs keyword arguments? (Positional are matched by order, keyword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the Week 2 prime program: the flag variable and break are gone, because return False exits immediately. Now printing primes from 1 to 30 is a two-line loop, because the hard part has a name. This pattern (a small function used inside a loop) is how real programs are built. Common bug: putting return True inside the loop (indented under the for), which returns after checking only 2. Let the student make that mistake and find it. Note range(1, 30) stops at 29, which is prime, so 29 is the last number printed.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are in solutions/class13_practice.py. Hints. Task 1: return 3.14159 * r * r; for r = 7, area is about 153.94 and perimeter about 43.98. Task 2: the Week 2 elif program, but with return instead of print. Task 3: the accumulator loop inside the function, then for i in range(1, 7): print(i, fact(i)). Task 4: move the Week 3 vowel loop into the function and return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write is_even(n) and use it to print the even numbers from 1 to 20. Today mixes several short topics that come up in viva: scope, multiple return values, lambda. The second half rewrites the Week 4 record manager with functions, which shows why functions matter in a real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a variable inside a function is like something written on the classroom whiteboard: it is wiped when the class (function call) ends, and other classrooms cannot see it. The local city inside trip is a different variable that happens to have the same name. The global keyword lets a function change a global (global count), but avoid it: it makes programs hard to follow. Viva: what is the scope of a variable? (The part of the program where it can be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something C cannot do directly, and students like it. The function returns the tuple (235, 78.33, 92); the unpacking line splits it into three variables. If the student writes result = stats([...]), then result is the tuple and result[0] is the total. The number of variables on the left must match the number of values, otherwise a ValueError. Good practice: make the student write min_max(nums) that returns both the smallest and largest.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lambda arguments: expression. It can only hold one expression and returns it automatically. map applies a function to every item; filter keeps items for which the function returns True. In practice a list comprehension is often clearer: [x * x for x in nums] does the same as map. The real everyday use is the key in sorting, on the next slide. Viva: what is a lambda function? (An anonymous, single-expression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it up in the shell: marks.items() gives pairs; sorted(marks.items()) sorts by name (the first item of each pair); adding key=lambda p: p[1] sorts by marks instead. reverse=True puts the highest first. key works with any function: sorted(names, key=len) sorts words by length. enumerate(list, 1) gives a counter starting at 1 together with each item; it is handy for numbered menus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code/class14_records_functions.py and walk through it. Compare with the Week 4 version: the menu loop is now about 15 lines and reads like English. Each function can be tested on its own, for example print(topper({"A": [1, 2, 3]})). Functions receive the dictionary as a parameter (db) instead of using a global: this makes them reusable. Let the student add a grade(avg) function and use it inside show_all.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are in solutions/class14_practice.py. Hints. Task 1: track small and big in one loop, return small, big. Task 2: sorted(words, key=len). Task 3: list(filter(lambda n: n % 2 == 1, range(1, 21))). Task 4: the elif ladder from Week 2 inside a function that returns the grade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write fact(n) with a loop. Then: 5! = 5 x 4!, and 4! = 4 x 3!... a problem defined using a smaller copy of itself. That is recursion. It feels like magic at first; tracing on paper is what makes it click, so keep paper ready. Recursion questions (factorial, Fibonacci, sum of digits, tracing output) appear in nearly every first-year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out the queue story with three or four objects on the table. The question travels forward (the calls), the first person answers directly (the base case), and the answers travel back, each person adding one (the return values). That forward-then-back shape is exactly what happens in the computer. If there is no first person who knows the answer, the question never stops: that is infinite recursion, and Python stops it with RecursionError after about 1000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mathematical definition on the board first, then show how the code copies it line by line. Ask: what happens with fact(0)? It skips the base case, calls fact(-1), fact(-2)... forever: RecursionError. Fix: use if n &lt;= 1: return 1, which also makes 0! = 1 correct. Ask the student to write power(x, n) the same way: base case n == 0 gives 1, recursive case x * power(x, n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as a staircase going down then up, or as a stack of plates: each new call is a plate on top, and plates are removed from the top. That is why it is called the call stack. Every waiting call keeps its own n (a local variable): there are four different n's alive at the same time. Exam questions often ask to trace a recursive function's output, so practise with fact(3) and a sum function: def s(n): return 0 if n == 0 else n + s(n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fib has two base cases (0 and 1) and two recursive calls. It is short but slow: fib(30) makes over a million calls, because it recalculates the same values. Show this by timing fib(30); the Week 2 loop version is instant. dsum uses the same % 10 and // 10 trick from Week 2: the last digit plus the digit sum of the rest. Ask the student to trace dsum(123): 3 + dsum(12) = 3 + (2 + dsum(1)) = 3 + 2 + 1 =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with the student: in day-to-day Python, loops are used more. Recursion shines when the data itself is nested, like folders inside folders or a family tree. Each recursive call uses memory on the call stack, which is why Python limits the depth (about 1000). Optional fun: Tower of Hanoi with 3 discs, a famous recursion puzzle, solved in 5 lines: def hanoi(n, a, b, c): if n: hanoi(n - 1, a, c, b); print(a, "-&gt;", c); hanoi(n - 1, b, a,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are in solutions/class15_practice.py. Hints. For each task first write the base case, then the recursive case. Task 1: n == 0 gives 1. Task 2: n == 0 gives 0, else n + total(n - 1). Task 3: an empty string (or length 1) is its own reverse; else s[-1] + rev(s[:-1]). Task 4: if b == 0 return a, else return gcd(b, a % b). GCD is a common exam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Oral quiz: 1. Parameter vs argument? 2. print vs return? 3. What does a function without return give back? (None.) 4. Local vs global variable? 5. Write a lambda that triples a number. 6. What are the two parts of a recursive function? 7. What happens without a base case? (RecursionError.) 8. Trace fact(3). Next week the record manager will save its data to a file, so keep the function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B2A41"/>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1B2A41"/>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B2A41"/>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1B2A41"/>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www.w3schools.com/python/python_functions.asp" TargetMode="External"/><Relationship Id="rId2" Type="http://schemas.openxmlformats.org/officeDocument/2006/relationships/hyperlink" Target="https://www.w3schools.com/python/python_arguments.asp" TargetMode="External"/><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www.w3schools.com/python/python_functions.asp" TargetMode="External"/><Relationship Id="rId2" Type="http://schemas.openxmlformats.org/officeDocument/2006/relationships/hyperlink" Target="https://www.w3schools.com/python/python_lambda.asp" TargetMode="External"/><Relationship Id="rId3" Type="http://schemas.openxmlformats.org/officeDocument/2006/relationships/hyperlink" Target="https://www.w3schools.com/python/python_scope.asp" TargetMode="External"/><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www.w3schools.com/python/python_recursion.asp" TargetMode="External"/><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6670040" y="812800"/>
            <a:ext cx="4709160" cy="1295400"/>
          </a:xfrm>
          <a:prstGeom prst="rect">
            <a:avLst/>
          </a:prstGeom>
          <a:noFill/>
          <a:ln/>
        </p:spPr>
        <p:txBody>
          <a:bodyPr wrap="square" lIns="0" tIns="0" rIns="0" bIns="0" rtlCol="0" anchor="t">
            <a:normAutofit/>
          </a:bodyPr>
          <a:lstStyle/>
          <a:p>
            <a:pPr algn="r" indent="0" marL="0">
              <a:lnSpc>
                <a:spcPts val="10000"/>
              </a:lnSpc>
              <a:buNone/>
            </a:pPr>
            <a:r>
              <a:rPr lang="en-US" sz="10000" b="1" dirty="0">
                <a:solidFill>
                  <a:srgbClr val="2A3D5A"/>
                </a:solidFill>
                <a:latin typeface="JetBrains Mono" pitchFamily="49" charset="0"/>
                <a:ea typeface="JetBrains Mono" pitchFamily="49" charset="-122"/>
                <a:cs typeface="JetBrains Mono" pitchFamily="49" charset="-120"/>
              </a:rPr>
              <a:t>def</a:t>
            </a:r>
            <a:endParaRPr lang="en-US" sz="10000" dirty="0"/>
          </a:p>
        </p:txBody>
      </p:sp>
      <p:sp>
        <p:nvSpPr>
          <p:cNvPr id="3" name="Text 1"/>
          <p:cNvSpPr/>
          <p:nvPr/>
        </p:nvSpPr>
        <p:spPr>
          <a:xfrm>
            <a:off x="812800" y="187199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B33D"/>
                </a:solidFill>
                <a:latin typeface="Rubik" pitchFamily="34" charset="0"/>
                <a:ea typeface="Rubik" pitchFamily="34" charset="-122"/>
                <a:cs typeface="Rubik" pitchFamily="34" charset="-120"/>
              </a:rPr>
              <a:t>WEEK 5 · CLASSES 13–15</a:t>
            </a:r>
            <a:endParaRPr lang="en-US" sz="1200" dirty="0"/>
          </a:p>
        </p:txBody>
      </p:sp>
      <p:sp>
        <p:nvSpPr>
          <p:cNvPr id="4" name="Text 2"/>
          <p:cNvSpPr/>
          <p:nvPr>
            <p:ph type="title"/>
          </p:nvPr>
        </p:nvSpPr>
        <p:spPr>
          <a:xfrm>
            <a:off x="812800" y="2313914"/>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EF"/>
                </a:solidFill>
                <a:latin typeface="Rubik" pitchFamily="34" charset="0"/>
                <a:ea typeface="Rubik" pitchFamily="34" charset="-122"/>
                <a:cs typeface="Rubik" pitchFamily="34" charset="-120"/>
              </a:rPr>
              <a:t>Functions</a:t>
            </a:r>
            <a:endParaRPr lang="en-US" sz="6000" dirty="0"/>
          </a:p>
          <a:p>
            <a:pPr algn="l" indent="0" marL="0">
              <a:lnSpc>
                <a:spcPts val="6300"/>
              </a:lnSpc>
              <a:buNone/>
            </a:pPr>
            <a:r>
              <a:rPr lang="en-US" sz="6000" b="1" i="0" dirty="0">
                <a:solidFill>
                  <a:srgbClr val="F7F5EF"/>
                </a:solidFill>
                <a:latin typeface="Rubik" pitchFamily="34" charset="0"/>
                <a:ea typeface="Rubik" pitchFamily="34" charset="-122"/>
                <a:cs typeface="Rubik" pitchFamily="34" charset="-120"/>
              </a:rPr>
              <a:t>and recursion</a:t>
            </a:r>
            <a:endParaRPr lang="en-US" sz="6000" dirty="0"/>
          </a:p>
        </p:txBody>
      </p:sp>
      <p:sp>
        <p:nvSpPr>
          <p:cNvPr id="5" name="Text 3"/>
          <p:cNvSpPr/>
          <p:nvPr/>
        </p:nvSpPr>
        <p:spPr>
          <a:xfrm>
            <a:off x="812800" y="4142714"/>
            <a:ext cx="7848600"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4E2"/>
                </a:solidFill>
                <a:latin typeface="Rubik" pitchFamily="34" charset="0"/>
                <a:ea typeface="Rubik" pitchFamily="34" charset="-122"/>
                <a:cs typeface="Rubik" pitchFamily="34" charset="-120"/>
              </a:rPr>
              <a:t>Writing your own reusable commands, and functions that call themselves</a:t>
            </a:r>
            <a:endParaRPr lang="en-US" sz="18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6"/>
                </a:solidFill>
                <a:latin typeface="Rubik" pitchFamily="34" charset="0"/>
                <a:ea typeface="Rubik" pitchFamily="34" charset="-122"/>
                <a:cs typeface="Rubik" pitchFamily="34" charset="-120"/>
              </a:rPr>
              <a:t>Python Programming · B.Tech 1st Year · 8-week course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B33D"/>
        </a:solidFill>
      </p:bgPr>
    </p:bg>
    <p:spTree>
      <p:nvGrpSpPr>
        <p:cNvPr id="1" name=""/>
        <p:cNvGrpSpPr/>
        <p:nvPr/>
      </p:nvGrpSpPr>
      <p:grpSpPr>
        <a:xfrm>
          <a:off x="0" y="0"/>
          <a:ext cx="0" cy="0"/>
          <a:chOff x="0" y="0"/>
          <a:chExt cx="0" cy="0"/>
        </a:xfrm>
      </p:grpSpPr>
      <p:sp>
        <p:nvSpPr>
          <p:cNvPr id="2" name="Text 0"/>
          <p:cNvSpPr/>
          <p:nvPr/>
        </p:nvSpPr>
        <p:spPr>
          <a:xfrm>
            <a:off x="812800" y="250448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B2A41"/>
                </a:solidFill>
                <a:latin typeface="Rubik" pitchFamily="34" charset="0"/>
                <a:ea typeface="Rubik" pitchFamily="34" charset="-122"/>
                <a:cs typeface="Rubik" pitchFamily="34" charset="-120"/>
              </a:rPr>
              <a:t>CLASS 13 OF 24</a:t>
            </a:r>
            <a:endParaRPr lang="en-US" sz="1200" dirty="0"/>
          </a:p>
        </p:txBody>
      </p:sp>
      <p:sp>
        <p:nvSpPr>
          <p:cNvPr id="3" name="Text 1"/>
          <p:cNvSpPr/>
          <p:nvPr>
            <p:ph type="title"/>
          </p:nvPr>
        </p:nvSpPr>
        <p:spPr>
          <a:xfrm>
            <a:off x="812800" y="2895600"/>
            <a:ext cx="5127752" cy="665427"/>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B2A41"/>
                </a:solidFill>
                <a:latin typeface="Rubik" pitchFamily="34" charset="0"/>
                <a:ea typeface="Rubik" pitchFamily="34" charset="-122"/>
                <a:cs typeface="Rubik" pitchFamily="34" charset="-120"/>
              </a:rPr>
              <a:t>Functions</a:t>
            </a:r>
            <a:endParaRPr lang="en-US" sz="4800" dirty="0"/>
          </a:p>
        </p:txBody>
      </p:sp>
      <p:sp>
        <p:nvSpPr>
          <p:cNvPr id="4" name="Text 2"/>
          <p:cNvSpPr/>
          <p:nvPr/>
        </p:nvSpPr>
        <p:spPr>
          <a:xfrm>
            <a:off x="812800" y="3713428"/>
            <a:ext cx="5127752"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41"/>
                </a:solidFill>
                <a:latin typeface="Rubik" pitchFamily="34" charset="0"/>
                <a:ea typeface="Rubik" pitchFamily="34" charset="-122"/>
                <a:cs typeface="Rubik" pitchFamily="34" charset="-120"/>
              </a:rPr>
              <a:t>Give a name to a block of code, then use it again and again</a:t>
            </a:r>
            <a:endParaRPr lang="en-US" sz="1800" dirty="0"/>
          </a:p>
        </p:txBody>
      </p:sp>
      <p:sp>
        <p:nvSpPr>
          <p:cNvPr id="5" name="Shape 3"/>
          <p:cNvSpPr/>
          <p:nvPr/>
        </p:nvSpPr>
        <p:spPr>
          <a:xfrm>
            <a:off x="6400800" y="2098014"/>
            <a:ext cx="4978400" cy="2661907"/>
          </a:xfrm>
          <a:prstGeom prst="roundRect">
            <a:avLst>
              <a:gd name="adj" fmla="val 5725"/>
            </a:avLst>
          </a:prstGeom>
          <a:solidFill>
            <a:srgbClr val="1B2A41"/>
          </a:solidFill>
          <a:ln/>
        </p:spPr>
      </p:sp>
      <p:sp>
        <p:nvSpPr>
          <p:cNvPr id="6" name="Text 4"/>
          <p:cNvSpPr/>
          <p:nvPr/>
        </p:nvSpPr>
        <p:spPr>
          <a:xfrm>
            <a:off x="6756400" y="2453614"/>
            <a:ext cx="439521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33D"/>
                </a:solidFill>
                <a:latin typeface="Rubik" pitchFamily="34" charset="0"/>
                <a:ea typeface="Rubik" pitchFamily="34" charset="-122"/>
                <a:cs typeface="Rubik" pitchFamily="34" charset="-120"/>
              </a:rPr>
              <a:t>By the end of today you can</a:t>
            </a:r>
            <a:endParaRPr lang="en-US" sz="1800" dirty="0"/>
          </a:p>
        </p:txBody>
      </p:sp>
      <p:sp>
        <p:nvSpPr>
          <p:cNvPr id="7" name="Text 5"/>
          <p:cNvSpPr/>
          <p:nvPr/>
        </p:nvSpPr>
        <p:spPr>
          <a:xfrm>
            <a:off x="6840220" y="2880320"/>
            <a:ext cx="4303776" cy="15494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Explain why functions help</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Define a function with def</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Pass values in with parameters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Send a result back with return</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Use default and keyword arguments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13 · WHY FUNCTIONS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Write once, use many times</a:t>
            </a:r>
            <a:endParaRPr lang="en-US" sz="3200" dirty="0"/>
          </a:p>
        </p:txBody>
      </p:sp>
      <p:sp>
        <p:nvSpPr>
          <p:cNvPr id="4" name="Shape 2"/>
          <p:cNvSpPr/>
          <p:nvPr/>
        </p:nvSpPr>
        <p:spPr>
          <a:xfrm>
            <a:off x="819150" y="1860485"/>
            <a:ext cx="5168900" cy="3379457"/>
          </a:xfrm>
          <a:prstGeom prst="roundRect">
            <a:avLst>
              <a:gd name="adj" fmla="val 3570"/>
            </a:avLst>
          </a:prstGeom>
          <a:solidFill>
            <a:srgbClr val="FFFDF8"/>
          </a:solidFill>
          <a:ln w="12700">
            <a:solidFill>
              <a:srgbClr val="E2DED3"/>
            </a:solidFill>
            <a:prstDash val="solid"/>
          </a:ln>
        </p:spPr>
      </p:sp>
      <p:sp>
        <p:nvSpPr>
          <p:cNvPr id="5" name="Text 3"/>
          <p:cNvSpPr/>
          <p:nvPr/>
        </p:nvSpPr>
        <p:spPr>
          <a:xfrm>
            <a:off x="1028700" y="2070035"/>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Without a function</a:t>
            </a:r>
            <a:endParaRPr lang="en-US" sz="1800" dirty="0"/>
          </a:p>
        </p:txBody>
      </p:sp>
      <p:sp>
        <p:nvSpPr>
          <p:cNvPr id="6" name="Text 4"/>
          <p:cNvSpPr/>
          <p:nvPr/>
        </p:nvSpPr>
        <p:spPr>
          <a:xfrm>
            <a:off x="1028700" y="2445941"/>
            <a:ext cx="4749800" cy="1682750"/>
          </a:xfrm>
          <a:prstGeom prst="roundRect">
            <a:avLst>
              <a:gd name="adj" fmla="val 5283"/>
            </a:avLst>
          </a:prstGeom>
          <a:solidFill>
            <a:srgbClr val="1B2A41"/>
          </a:solidFill>
          <a:ln/>
        </p:spPr>
        <p:txBody>
          <a:bodyPr wrap="square" lIns="126362" tIns="100962" rIns="0" bIns="75562"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a:t>
            </a:r>
            <a:r>
              <a:rPr lang="en-US" sz="1500" dirty="0">
                <a:solidFill>
                  <a:srgbClr val="E8EDF3"/>
                </a:solidFill>
                <a:latin typeface="JetBrains Mono" pitchFamily="49" charset="0"/>
                <a:ea typeface="JetBrains Mono" pitchFamily="49" charset="-122"/>
                <a:cs typeface="JetBrains Mono" pitchFamily="49" charset="-120"/>
              </a:rPr>
              <a:t> * 20)</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"Ananya"</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a:t>
            </a:r>
            <a:r>
              <a:rPr lang="en-US" sz="1500" dirty="0">
                <a:solidFill>
                  <a:srgbClr val="E8EDF3"/>
                </a:solidFill>
                <a:latin typeface="JetBrains Mono" pitchFamily="49" charset="0"/>
                <a:ea typeface="JetBrains Mono" pitchFamily="49" charset="-122"/>
                <a:cs typeface="JetBrains Mono" pitchFamily="49" charset="-120"/>
              </a:rPr>
              <a:t> * 20)</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"Subham"</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a:t>
            </a:r>
            <a:r>
              <a:rPr lang="en-US" sz="1500" dirty="0">
                <a:solidFill>
                  <a:srgbClr val="E8EDF3"/>
                </a:solidFill>
                <a:latin typeface="JetBrains Mono" pitchFamily="49" charset="0"/>
                <a:ea typeface="JetBrains Mono" pitchFamily="49" charset="-122"/>
                <a:cs typeface="JetBrains Mono" pitchFamily="49" charset="-120"/>
              </a:rPr>
              <a:t> * 20)</a:t>
            </a:r>
            <a:endParaRPr lang="en-US" sz="1500" dirty="0"/>
          </a:p>
        </p:txBody>
      </p:sp>
      <p:sp>
        <p:nvSpPr>
          <p:cNvPr id="7" name="Text 5"/>
          <p:cNvSpPr/>
          <p:nvPr/>
        </p:nvSpPr>
        <p:spPr>
          <a:xfrm>
            <a:off x="1035050" y="4236641"/>
            <a:ext cx="4737100" cy="501650"/>
          </a:xfrm>
          <a:prstGeom prst="roundRect">
            <a:avLst>
              <a:gd name="adj" fmla="val 16456"/>
            </a:avLst>
          </a:prstGeom>
          <a:solidFill>
            <a:srgbClr val="F7F5EF"/>
          </a:solidFill>
          <a:ln w="12700">
            <a:solidFill>
              <a:srgbClr val="D9DEE5"/>
            </a:solidFill>
            <a:prstDash val="solid"/>
          </a:ln>
        </p:spPr>
        <p:txBody>
          <a:bodyPr wrap="square" lIns="134572" tIns="83772" rIns="1984"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the same line typed 3 times</a:t>
            </a:r>
            <a:endParaRPr lang="en-US" sz="1500" dirty="0"/>
          </a:p>
        </p:txBody>
      </p:sp>
      <p:sp>
        <p:nvSpPr>
          <p:cNvPr id="8" name="Shape 6"/>
          <p:cNvSpPr/>
          <p:nvPr/>
        </p:nvSpPr>
        <p:spPr>
          <a:xfrm>
            <a:off x="6203950" y="1860485"/>
            <a:ext cx="5168900" cy="3379457"/>
          </a:xfrm>
          <a:prstGeom prst="roundRect">
            <a:avLst>
              <a:gd name="adj" fmla="val 3570"/>
            </a:avLst>
          </a:prstGeom>
          <a:solidFill>
            <a:srgbClr val="FFFDF8"/>
          </a:solidFill>
          <a:ln w="12700">
            <a:solidFill>
              <a:srgbClr val="E2DED3"/>
            </a:solidFill>
            <a:prstDash val="solid"/>
          </a:ln>
        </p:spPr>
      </p:sp>
      <p:sp>
        <p:nvSpPr>
          <p:cNvPr id="9" name="Text 7"/>
          <p:cNvSpPr/>
          <p:nvPr/>
        </p:nvSpPr>
        <p:spPr>
          <a:xfrm>
            <a:off x="6413500" y="2070035"/>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With a function</a:t>
            </a:r>
            <a:endParaRPr lang="en-US" sz="1800" dirty="0"/>
          </a:p>
        </p:txBody>
      </p:sp>
      <p:sp>
        <p:nvSpPr>
          <p:cNvPr id="10" name="Text 8"/>
          <p:cNvSpPr/>
          <p:nvPr/>
        </p:nvSpPr>
        <p:spPr>
          <a:xfrm>
            <a:off x="6413500" y="2445941"/>
            <a:ext cx="4749800" cy="1968500"/>
          </a:xfrm>
          <a:prstGeom prst="roundRect">
            <a:avLst>
              <a:gd name="adj" fmla="val 4516"/>
            </a:avLst>
          </a:prstGeom>
          <a:solidFill>
            <a:srgbClr val="1B2A41"/>
          </a:solidFill>
          <a:ln/>
        </p:spPr>
        <p:txBody>
          <a:bodyPr wrap="square" lIns="126362" tIns="100962" rIns="0" bIns="75562"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line():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a:t>
            </a:r>
            <a:r>
              <a:rPr lang="en-US" sz="1500" dirty="0">
                <a:solidFill>
                  <a:srgbClr val="E8EDF3"/>
                </a:solidFill>
                <a:latin typeface="JetBrains Mono" pitchFamily="49" charset="0"/>
                <a:ea typeface="JetBrains Mono" pitchFamily="49" charset="-122"/>
                <a:cs typeface="JetBrains Mono" pitchFamily="49" charset="-120"/>
              </a:rPr>
              <a:t> * 20)</a:t>
            </a:r>
            <a:endParaRPr lang="en-US" sz="1500" dirty="0"/>
          </a:p>
          <a:p>
            <a:pPr algn="l" indent="0" marL="0">
              <a:lnSpc>
                <a:spcPts val="2250"/>
              </a:lnSpc>
              <a:buNone/>
            </a:pP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line()</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"Ananya"</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line()</a:t>
            </a:r>
            <a:endParaRPr lang="en-US" sz="1500" dirty="0"/>
          </a:p>
        </p:txBody>
      </p:sp>
      <p:sp>
        <p:nvSpPr>
          <p:cNvPr id="11" name="Text 9"/>
          <p:cNvSpPr/>
          <p:nvPr/>
        </p:nvSpPr>
        <p:spPr>
          <a:xfrm>
            <a:off x="6419850" y="4522391"/>
            <a:ext cx="4737100" cy="501650"/>
          </a:xfrm>
          <a:prstGeom prst="roundRect">
            <a:avLst>
              <a:gd name="adj" fmla="val 16456"/>
            </a:avLst>
          </a:prstGeom>
          <a:solidFill>
            <a:srgbClr val="F7F5EF"/>
          </a:solidFill>
          <a:ln w="12700">
            <a:solidFill>
              <a:srgbClr val="D9DEE5"/>
            </a:solidFill>
            <a:prstDash val="solid"/>
          </a:ln>
        </p:spPr>
        <p:txBody>
          <a:bodyPr wrap="square" lIns="134572" tIns="83772" rIns="1984"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change it once, fixed everywhere</a:t>
            </a:r>
            <a:endParaRPr lang="en-US" sz="15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5 · Class 13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13 · DEF</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Defining and calling a function</a:t>
            </a:r>
            <a:endParaRPr lang="en-US" sz="3200" dirty="0"/>
          </a:p>
        </p:txBody>
      </p:sp>
      <p:sp>
        <p:nvSpPr>
          <p:cNvPr id="4" name="Shape 2"/>
          <p:cNvSpPr/>
          <p:nvPr/>
        </p:nvSpPr>
        <p:spPr>
          <a:xfrm>
            <a:off x="812800" y="1854135"/>
            <a:ext cx="5461529" cy="2359620"/>
          </a:xfrm>
          <a:prstGeom prst="roundRect">
            <a:avLst>
              <a:gd name="adj" fmla="val 5382"/>
            </a:avLst>
          </a:prstGeom>
          <a:solidFill>
            <a:srgbClr val="1B2A41"/>
          </a:solidFill>
          <a:ln/>
        </p:spPr>
      </p:sp>
      <p:sp>
        <p:nvSpPr>
          <p:cNvPr id="5" name="Text 3"/>
          <p:cNvSpPr/>
          <p:nvPr/>
        </p:nvSpPr>
        <p:spPr>
          <a:xfrm>
            <a:off x="1066800" y="2031935"/>
            <a:ext cx="5102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greet.py</a:t>
            </a:r>
            <a:endParaRPr lang="en-US" sz="1200" dirty="0"/>
          </a:p>
        </p:txBody>
      </p:sp>
      <p:sp>
        <p:nvSpPr>
          <p:cNvPr id="6" name="Text 4"/>
          <p:cNvSpPr/>
          <p:nvPr/>
        </p:nvSpPr>
        <p:spPr>
          <a:xfrm>
            <a:off x="1066800" y="2321455"/>
            <a:ext cx="5102135" cy="1739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greet(name):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"Namaskar,"</a:t>
            </a:r>
            <a:r>
              <a:rPr lang="en-US" sz="1500" dirty="0">
                <a:solidFill>
                  <a:srgbClr val="E8EDF3"/>
                </a:solidFill>
                <a:latin typeface="JetBrains Mono" pitchFamily="49" charset="0"/>
                <a:ea typeface="JetBrains Mono" pitchFamily="49" charset="-122"/>
                <a:cs typeface="JetBrains Mono" pitchFamily="49" charset="-120"/>
              </a:rPr>
              <a:t>, name)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"Welcome to ITER!"</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greet(</a:t>
            </a:r>
            <a:r>
              <a:rPr lang="en-US" sz="1500" dirty="0">
                <a:solidFill>
                  <a:srgbClr val="9FD8A8"/>
                </a:solidFill>
                <a:latin typeface="JetBrains Mono" pitchFamily="49" charset="0"/>
                <a:ea typeface="JetBrains Mono" pitchFamily="49" charset="-122"/>
                <a:cs typeface="JetBrains Mono" pitchFamily="49" charset="-120"/>
              </a:rPr>
              <a:t>"Ananya"</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greet(</a:t>
            </a:r>
            <a:r>
              <a:rPr lang="en-US" sz="1500" dirty="0">
                <a:solidFill>
                  <a:srgbClr val="9FD8A8"/>
                </a:solidFill>
                <a:latin typeface="JetBrains Mono" pitchFamily="49" charset="0"/>
                <a:ea typeface="JetBrains Mono" pitchFamily="49" charset="-122"/>
                <a:cs typeface="JetBrains Mono" pitchFamily="49" charset="-120"/>
              </a:rPr>
              <a:t>"Subham"</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7" name="Shape 5"/>
          <p:cNvSpPr/>
          <p:nvPr/>
        </p:nvSpPr>
        <p:spPr>
          <a:xfrm>
            <a:off x="6636279" y="1860485"/>
            <a:ext cx="4736571" cy="1800820"/>
          </a:xfrm>
          <a:prstGeom prst="roundRect">
            <a:avLst>
              <a:gd name="adj" fmla="val 6700"/>
            </a:avLst>
          </a:prstGeom>
          <a:solidFill>
            <a:srgbClr val="FFFDF8"/>
          </a:solidFill>
          <a:ln w="12700">
            <a:solidFill>
              <a:srgbClr val="D9DEE5"/>
            </a:solidFill>
            <a:prstDash val="solid"/>
          </a:ln>
        </p:spPr>
      </p:sp>
      <p:sp>
        <p:nvSpPr>
          <p:cNvPr id="8" name="Text 6"/>
          <p:cNvSpPr/>
          <p:nvPr/>
        </p:nvSpPr>
        <p:spPr>
          <a:xfrm>
            <a:off x="6896629" y="2044635"/>
            <a:ext cx="434234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6896629" y="2334155"/>
            <a:ext cx="4342347" cy="1168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Namaskar, Ananya</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Welcome to ITER!</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Namaskar, Subham</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Welcome to ITER!</a:t>
            </a:r>
            <a:endParaRPr lang="en-US" sz="1500" dirty="0"/>
          </a:p>
        </p:txBody>
      </p:sp>
      <p:sp>
        <p:nvSpPr>
          <p:cNvPr id="10" name="Shape 8"/>
          <p:cNvSpPr/>
          <p:nvPr/>
        </p:nvSpPr>
        <p:spPr>
          <a:xfrm>
            <a:off x="6636279" y="3801005"/>
            <a:ext cx="4736571" cy="482600"/>
          </a:xfrm>
          <a:prstGeom prst="roundRect">
            <a:avLst>
              <a:gd name="adj" fmla="val 17105"/>
            </a:avLst>
          </a:prstGeom>
          <a:solidFill>
            <a:srgbClr val="FFFDF8"/>
          </a:solidFill>
          <a:ln w="12700">
            <a:solidFill>
              <a:srgbClr val="E2DED3"/>
            </a:solidFill>
            <a:prstDash val="solid"/>
          </a:ln>
        </p:spPr>
      </p:sp>
      <p:sp>
        <p:nvSpPr>
          <p:cNvPr id="11" name="Text 9"/>
          <p:cNvSpPr/>
          <p:nvPr/>
        </p:nvSpPr>
        <p:spPr>
          <a:xfrm>
            <a:off x="6795029" y="3908955"/>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12" name="Text 10"/>
          <p:cNvSpPr/>
          <p:nvPr/>
        </p:nvSpPr>
        <p:spPr>
          <a:xfrm>
            <a:off x="7252229" y="3908955"/>
            <a:ext cx="411427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Define:</a:t>
            </a:r>
            <a:r>
              <a:rPr lang="en-US" sz="1500" dirty="0">
                <a:solidFill>
                  <a:srgbClr val="4A5568"/>
                </a:solidFill>
                <a:latin typeface="Rubik" pitchFamily="34" charset="0"/>
                <a:ea typeface="Rubik" pitchFamily="34" charset="-122"/>
                <a:cs typeface="Rubik" pitchFamily="34" charset="-120"/>
              </a:rPr>
              <a:t> </a:t>
            </a:r>
            <a:r>
              <a:rPr lang="en-US" sz="1500" dirty="0">
                <a:solidFill>
                  <a:srgbClr val="2A64A3"/>
                </a:solidFill>
                <a:latin typeface="Rubik" pitchFamily="34" charset="0"/>
                <a:ea typeface="Rubik" pitchFamily="34" charset="-122"/>
                <a:cs typeface="Rubik" pitchFamily="34" charset="-120"/>
              </a:rPr>
              <a:t>def</a:t>
            </a:r>
            <a:r>
              <a:rPr lang="en-US" sz="1500" dirty="0">
                <a:solidFill>
                  <a:srgbClr val="4A5568"/>
                </a:solidFill>
                <a:latin typeface="Rubik" pitchFamily="34" charset="0"/>
                <a:ea typeface="Rubik" pitchFamily="34" charset="-122"/>
                <a:cs typeface="Rubik" pitchFamily="34" charset="-120"/>
              </a:rPr>
              <a:t>, a name, </a:t>
            </a:r>
            <a:r>
              <a:rPr lang="en-US" sz="1500" dirty="0">
                <a:solidFill>
                  <a:srgbClr val="2A64A3"/>
                </a:solidFill>
                <a:latin typeface="Rubik" pitchFamily="34" charset="0"/>
                <a:ea typeface="Rubik" pitchFamily="34" charset="-122"/>
                <a:cs typeface="Rubik" pitchFamily="34" charset="-120"/>
              </a:rPr>
              <a:t>(parameter)</a:t>
            </a:r>
            <a:r>
              <a:rPr lang="en-US" sz="1500" dirty="0">
                <a:solidFill>
                  <a:srgbClr val="4A5568"/>
                </a:solidFill>
                <a:latin typeface="Rubik" pitchFamily="34" charset="0"/>
                <a:ea typeface="Rubik" pitchFamily="34" charset="-122"/>
                <a:cs typeface="Rubik" pitchFamily="34" charset="-120"/>
              </a:rPr>
              <a:t> and a colon</a:t>
            </a:r>
            <a:endParaRPr lang="en-US" sz="1500" dirty="0"/>
          </a:p>
        </p:txBody>
      </p:sp>
      <p:sp>
        <p:nvSpPr>
          <p:cNvPr id="13" name="Shape 11"/>
          <p:cNvSpPr/>
          <p:nvPr/>
        </p:nvSpPr>
        <p:spPr>
          <a:xfrm>
            <a:off x="6636279" y="4423305"/>
            <a:ext cx="4736571" cy="482600"/>
          </a:xfrm>
          <a:prstGeom prst="roundRect">
            <a:avLst>
              <a:gd name="adj" fmla="val 17105"/>
            </a:avLst>
          </a:prstGeom>
          <a:solidFill>
            <a:srgbClr val="FFFDF8"/>
          </a:solidFill>
          <a:ln w="12700">
            <a:solidFill>
              <a:srgbClr val="E2DED3"/>
            </a:solidFill>
            <a:prstDash val="solid"/>
          </a:ln>
        </p:spPr>
      </p:sp>
      <p:sp>
        <p:nvSpPr>
          <p:cNvPr id="14" name="Text 12"/>
          <p:cNvSpPr/>
          <p:nvPr/>
        </p:nvSpPr>
        <p:spPr>
          <a:xfrm>
            <a:off x="6795029" y="4531255"/>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15" name="Text 13"/>
          <p:cNvSpPr/>
          <p:nvPr/>
        </p:nvSpPr>
        <p:spPr>
          <a:xfrm>
            <a:off x="7252229" y="4531255"/>
            <a:ext cx="411427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Call:</a:t>
            </a:r>
            <a:r>
              <a:rPr lang="en-US" sz="1500" dirty="0">
                <a:solidFill>
                  <a:srgbClr val="4A5568"/>
                </a:solidFill>
                <a:latin typeface="Rubik" pitchFamily="34" charset="0"/>
                <a:ea typeface="Rubik" pitchFamily="34" charset="-122"/>
                <a:cs typeface="Rubik" pitchFamily="34" charset="-120"/>
              </a:rPr>
              <a:t> </a:t>
            </a:r>
            <a:r>
              <a:rPr lang="en-US" sz="1500" dirty="0">
                <a:solidFill>
                  <a:srgbClr val="2A64A3"/>
                </a:solidFill>
                <a:latin typeface="Rubik" pitchFamily="34" charset="0"/>
                <a:ea typeface="Rubik" pitchFamily="34" charset="-122"/>
                <a:cs typeface="Rubik" pitchFamily="34" charset="-120"/>
              </a:rPr>
              <a:t>greet("Ananya")</a:t>
            </a:r>
            <a:r>
              <a:rPr lang="en-US" sz="1500" dirty="0">
                <a:solidFill>
                  <a:srgbClr val="4A5568"/>
                </a:solidFill>
                <a:latin typeface="Rubik" pitchFamily="34" charset="0"/>
                <a:ea typeface="Rubik" pitchFamily="34" charset="-122"/>
                <a:cs typeface="Rubik" pitchFamily="34" charset="-120"/>
              </a:rPr>
              <a:t> runs the indented body</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5 · Class 13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13 · RETURN</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print shows it, return hands it back</a:t>
            </a:r>
            <a:endParaRPr lang="en-US" sz="3200" dirty="0"/>
          </a:p>
        </p:txBody>
      </p:sp>
      <p:sp>
        <p:nvSpPr>
          <p:cNvPr id="4" name="Shape 2"/>
          <p:cNvSpPr/>
          <p:nvPr/>
        </p:nvSpPr>
        <p:spPr>
          <a:xfrm>
            <a:off x="819150" y="1860485"/>
            <a:ext cx="5168900" cy="3379457"/>
          </a:xfrm>
          <a:prstGeom prst="roundRect">
            <a:avLst>
              <a:gd name="adj" fmla="val 3570"/>
            </a:avLst>
          </a:prstGeom>
          <a:solidFill>
            <a:srgbClr val="FFFDF8"/>
          </a:solidFill>
          <a:ln w="12700">
            <a:solidFill>
              <a:srgbClr val="E2DED3"/>
            </a:solidFill>
            <a:prstDash val="solid"/>
          </a:ln>
        </p:spPr>
      </p:sp>
      <p:sp>
        <p:nvSpPr>
          <p:cNvPr id="5" name="Text 3"/>
          <p:cNvSpPr/>
          <p:nvPr/>
        </p:nvSpPr>
        <p:spPr>
          <a:xfrm>
            <a:off x="1028700" y="2070035"/>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print: only shows</a:t>
            </a:r>
            <a:endParaRPr lang="en-US" sz="1800" dirty="0"/>
          </a:p>
        </p:txBody>
      </p:sp>
      <p:sp>
        <p:nvSpPr>
          <p:cNvPr id="6" name="Text 4"/>
          <p:cNvSpPr/>
          <p:nvPr/>
        </p:nvSpPr>
        <p:spPr>
          <a:xfrm>
            <a:off x="1028700" y="2445941"/>
            <a:ext cx="4749800" cy="1682750"/>
          </a:xfrm>
          <a:prstGeom prst="roundRect">
            <a:avLst>
              <a:gd name="adj" fmla="val 5283"/>
            </a:avLst>
          </a:prstGeom>
          <a:solidFill>
            <a:srgbClr val="1B2A41"/>
          </a:solidFill>
          <a:ln/>
        </p:spPr>
        <p:txBody>
          <a:bodyPr wrap="square" lIns="126362" tIns="100962" rIns="0" bIns="75562"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area(l, b):</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(l * b)</a:t>
            </a:r>
            <a:endParaRPr lang="en-US" sz="1500" dirty="0"/>
          </a:p>
          <a:p>
            <a:pPr algn="l" indent="0" marL="0">
              <a:lnSpc>
                <a:spcPts val="2250"/>
              </a:lnSpc>
              <a:buNone/>
            </a:pP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x = area(4, 5)</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(x + 1)</a:t>
            </a:r>
            <a:endParaRPr lang="en-US" sz="1500" dirty="0"/>
          </a:p>
        </p:txBody>
      </p:sp>
      <p:sp>
        <p:nvSpPr>
          <p:cNvPr id="7" name="Text 5"/>
          <p:cNvSpPr/>
          <p:nvPr/>
        </p:nvSpPr>
        <p:spPr>
          <a:xfrm>
            <a:off x="1035050" y="4236641"/>
            <a:ext cx="4737100" cy="787400"/>
          </a:xfrm>
          <a:prstGeom prst="roundRect">
            <a:avLst>
              <a:gd name="adj" fmla="val 10484"/>
            </a:avLst>
          </a:prstGeom>
          <a:solidFill>
            <a:srgbClr val="F7F5EF"/>
          </a:solidFill>
          <a:ln w="12700">
            <a:solidFill>
              <a:srgbClr val="D9DEE5"/>
            </a:solidFill>
            <a:prstDash val="solid"/>
          </a:ln>
        </p:spPr>
        <p:txBody>
          <a:bodyPr wrap="square" lIns="134572" tIns="83772" rIns="1984"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20</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TypeError!</a:t>
            </a:r>
            <a:endParaRPr lang="en-US" sz="1500" dirty="0"/>
          </a:p>
        </p:txBody>
      </p:sp>
      <p:sp>
        <p:nvSpPr>
          <p:cNvPr id="8" name="Shape 6"/>
          <p:cNvSpPr/>
          <p:nvPr/>
        </p:nvSpPr>
        <p:spPr>
          <a:xfrm>
            <a:off x="6203950" y="1860485"/>
            <a:ext cx="5168900" cy="3379457"/>
          </a:xfrm>
          <a:prstGeom prst="roundRect">
            <a:avLst>
              <a:gd name="adj" fmla="val 3570"/>
            </a:avLst>
          </a:prstGeom>
          <a:solidFill>
            <a:srgbClr val="FFFDF8"/>
          </a:solidFill>
          <a:ln w="12700">
            <a:solidFill>
              <a:srgbClr val="E2DED3"/>
            </a:solidFill>
            <a:prstDash val="solid"/>
          </a:ln>
        </p:spPr>
      </p:sp>
      <p:sp>
        <p:nvSpPr>
          <p:cNvPr id="9" name="Text 7"/>
          <p:cNvSpPr/>
          <p:nvPr/>
        </p:nvSpPr>
        <p:spPr>
          <a:xfrm>
            <a:off x="6413500" y="2070035"/>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return: gives a value</a:t>
            </a:r>
            <a:endParaRPr lang="en-US" sz="1800" dirty="0"/>
          </a:p>
        </p:txBody>
      </p:sp>
      <p:sp>
        <p:nvSpPr>
          <p:cNvPr id="10" name="Text 8"/>
          <p:cNvSpPr/>
          <p:nvPr/>
        </p:nvSpPr>
        <p:spPr>
          <a:xfrm>
            <a:off x="6413500" y="2445941"/>
            <a:ext cx="4749800" cy="1682750"/>
          </a:xfrm>
          <a:prstGeom prst="roundRect">
            <a:avLst>
              <a:gd name="adj" fmla="val 5283"/>
            </a:avLst>
          </a:prstGeom>
          <a:solidFill>
            <a:srgbClr val="1B2A41"/>
          </a:solidFill>
          <a:ln/>
        </p:spPr>
        <p:txBody>
          <a:bodyPr wrap="square" lIns="126362" tIns="100962" rIns="0" bIns="75562"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area(l, b):</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l * b</a:t>
            </a:r>
            <a:endParaRPr lang="en-US" sz="1500" dirty="0"/>
          </a:p>
          <a:p>
            <a:pPr algn="l" indent="0" marL="0">
              <a:lnSpc>
                <a:spcPts val="2250"/>
              </a:lnSpc>
              <a:buNone/>
            </a:pP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x = area(4, 5)</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(x + 1)</a:t>
            </a:r>
            <a:endParaRPr lang="en-US" sz="1500" dirty="0"/>
          </a:p>
        </p:txBody>
      </p:sp>
      <p:sp>
        <p:nvSpPr>
          <p:cNvPr id="11" name="Text 9"/>
          <p:cNvSpPr/>
          <p:nvPr/>
        </p:nvSpPr>
        <p:spPr>
          <a:xfrm>
            <a:off x="6419850" y="4236641"/>
            <a:ext cx="4737100" cy="501650"/>
          </a:xfrm>
          <a:prstGeom prst="roundRect">
            <a:avLst>
              <a:gd name="adj" fmla="val 16456"/>
            </a:avLst>
          </a:prstGeom>
          <a:solidFill>
            <a:srgbClr val="F7F5EF"/>
          </a:solidFill>
          <a:ln w="12700">
            <a:solidFill>
              <a:srgbClr val="D9DEE5"/>
            </a:solidFill>
            <a:prstDash val="solid"/>
          </a:ln>
        </p:spPr>
        <p:txBody>
          <a:bodyPr wrap="square" lIns="134572" tIns="83772" rIns="1984"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21</a:t>
            </a:r>
            <a:endParaRPr lang="en-US" sz="15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5 · Class 13</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97"/>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2A64A3"/>
                </a:solidFill>
                <a:latin typeface="Rubik" pitchFamily="34" charset="0"/>
                <a:ea typeface="Rubik" pitchFamily="34" charset="-122"/>
                <a:cs typeface="Rubik" pitchFamily="34" charset="-120"/>
              </a:rPr>
              <a:t>CLASS 13 · ARGUMENTS</a:t>
            </a:r>
            <a:endParaRPr lang="en-US" sz="1196" dirty="0"/>
          </a:p>
        </p:txBody>
      </p:sp>
      <p:sp>
        <p:nvSpPr>
          <p:cNvPr id="3" name="Text 1"/>
          <p:cNvSpPr/>
          <p:nvPr>
            <p:ph type="title"/>
          </p:nvPr>
        </p:nvSpPr>
        <p:spPr>
          <a:xfrm>
            <a:off x="812800" y="1100999"/>
            <a:ext cx="10883392" cy="46963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Default and keyword arguments</a:t>
            </a:r>
            <a:endParaRPr lang="en-US" sz="3200" dirty="0"/>
          </a:p>
        </p:txBody>
      </p:sp>
      <p:sp>
        <p:nvSpPr>
          <p:cNvPr id="4" name="Shape 2"/>
          <p:cNvSpPr/>
          <p:nvPr/>
        </p:nvSpPr>
        <p:spPr>
          <a:xfrm>
            <a:off x="812800" y="1850033"/>
            <a:ext cx="5461529" cy="2359620"/>
          </a:xfrm>
          <a:prstGeom prst="roundRect">
            <a:avLst>
              <a:gd name="adj" fmla="val 5382"/>
            </a:avLst>
          </a:prstGeom>
          <a:solidFill>
            <a:srgbClr val="1B2A41"/>
          </a:solidFill>
          <a:ln/>
        </p:spPr>
      </p:sp>
      <p:sp>
        <p:nvSpPr>
          <p:cNvPr id="5" name="Text 3"/>
          <p:cNvSpPr/>
          <p:nvPr/>
        </p:nvSpPr>
        <p:spPr>
          <a:xfrm>
            <a:off x="1066800" y="2027833"/>
            <a:ext cx="5102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fare.py</a:t>
            </a:r>
            <a:endParaRPr lang="en-US" sz="1200" dirty="0"/>
          </a:p>
        </p:txBody>
      </p:sp>
      <p:sp>
        <p:nvSpPr>
          <p:cNvPr id="6" name="Text 4"/>
          <p:cNvSpPr/>
          <p:nvPr/>
        </p:nvSpPr>
        <p:spPr>
          <a:xfrm>
            <a:off x="1066800" y="2317353"/>
            <a:ext cx="5102135" cy="1739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fare(km, rate=12):</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km * rate</a:t>
            </a:r>
            <a:endParaRPr lang="en-US" sz="1500" dirty="0"/>
          </a:p>
          <a:p>
            <a:pPr algn="l" indent="0" marL="0">
              <a:lnSpc>
                <a:spcPts val="2250"/>
              </a:lnSpc>
              <a:buNone/>
            </a:pP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(fare(10))</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(fare(10, 15))</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(fare(rate=20, km=5))</a:t>
            </a:r>
            <a:endParaRPr lang="en-US" sz="1500" dirty="0"/>
          </a:p>
        </p:txBody>
      </p:sp>
      <p:sp>
        <p:nvSpPr>
          <p:cNvPr id="7" name="Shape 5"/>
          <p:cNvSpPr/>
          <p:nvPr/>
        </p:nvSpPr>
        <p:spPr>
          <a:xfrm>
            <a:off x="819150" y="4343003"/>
            <a:ext cx="5448829" cy="1515070"/>
          </a:xfrm>
          <a:prstGeom prst="roundRect">
            <a:avLst>
              <a:gd name="adj" fmla="val 7963"/>
            </a:avLst>
          </a:prstGeom>
          <a:solidFill>
            <a:srgbClr val="FFFDF8"/>
          </a:solidFill>
          <a:ln w="12700">
            <a:solidFill>
              <a:srgbClr val="D9DEE5"/>
            </a:solidFill>
            <a:prstDash val="solid"/>
          </a:ln>
        </p:spPr>
      </p:sp>
      <p:sp>
        <p:nvSpPr>
          <p:cNvPr id="8" name="Text 6"/>
          <p:cNvSpPr/>
          <p:nvPr/>
        </p:nvSpPr>
        <p:spPr>
          <a:xfrm>
            <a:off x="1079500" y="4527153"/>
            <a:ext cx="507597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1079500" y="4816673"/>
            <a:ext cx="5075973"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120</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150</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100</a:t>
            </a:r>
            <a:endParaRPr lang="en-US" sz="1500" dirty="0"/>
          </a:p>
        </p:txBody>
      </p:sp>
      <p:sp>
        <p:nvSpPr>
          <p:cNvPr id="10" name="Shape 8"/>
          <p:cNvSpPr/>
          <p:nvPr/>
        </p:nvSpPr>
        <p:spPr>
          <a:xfrm>
            <a:off x="6636279" y="1856383"/>
            <a:ext cx="4736571" cy="909307"/>
          </a:xfrm>
          <a:prstGeom prst="roundRect">
            <a:avLst>
              <a:gd name="adj" fmla="val 10475"/>
            </a:avLst>
          </a:prstGeom>
          <a:solidFill>
            <a:srgbClr val="FFFDF8"/>
          </a:solidFill>
          <a:ln w="12700">
            <a:solidFill>
              <a:srgbClr val="E2DED3"/>
            </a:solidFill>
            <a:prstDash val="solid"/>
          </a:ln>
        </p:spPr>
      </p:sp>
      <p:sp>
        <p:nvSpPr>
          <p:cNvPr id="11" name="Text 9"/>
          <p:cNvSpPr/>
          <p:nvPr/>
        </p:nvSpPr>
        <p:spPr>
          <a:xfrm>
            <a:off x="6845829" y="2015133"/>
            <a:ext cx="444699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Default value</a:t>
            </a:r>
            <a:endParaRPr lang="en-US" sz="1800" dirty="0"/>
          </a:p>
        </p:txBody>
      </p:sp>
      <p:sp>
        <p:nvSpPr>
          <p:cNvPr id="12" name="Text 10"/>
          <p:cNvSpPr/>
          <p:nvPr/>
        </p:nvSpPr>
        <p:spPr>
          <a:xfrm>
            <a:off x="6845829" y="2340242"/>
            <a:ext cx="444699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Rubik" pitchFamily="34" charset="0"/>
                <a:ea typeface="Rubik" pitchFamily="34" charset="-122"/>
                <a:cs typeface="Rubik" pitchFamily="34" charset="-120"/>
              </a:rPr>
              <a:t>rate=12</a:t>
            </a:r>
            <a:r>
              <a:rPr lang="en-US" sz="1500" dirty="0">
                <a:solidFill>
                  <a:srgbClr val="4A5568"/>
                </a:solidFill>
                <a:latin typeface="Rubik" pitchFamily="34" charset="0"/>
                <a:ea typeface="Rubik" pitchFamily="34" charset="-122"/>
                <a:cs typeface="Rubik" pitchFamily="34" charset="-120"/>
              </a:rPr>
              <a:t> is used when the caller leaves it out.</a:t>
            </a:r>
            <a:endParaRPr lang="en-US" sz="1500" dirty="0"/>
          </a:p>
        </p:txBody>
      </p:sp>
      <p:sp>
        <p:nvSpPr>
          <p:cNvPr id="13" name="Shape 11"/>
          <p:cNvSpPr/>
          <p:nvPr/>
        </p:nvSpPr>
        <p:spPr>
          <a:xfrm>
            <a:off x="6636279" y="2905392"/>
            <a:ext cx="4736571" cy="1176007"/>
          </a:xfrm>
          <a:prstGeom prst="roundRect">
            <a:avLst>
              <a:gd name="adj" fmla="val 8099"/>
            </a:avLst>
          </a:prstGeom>
          <a:solidFill>
            <a:srgbClr val="FFFDF8"/>
          </a:solidFill>
          <a:ln w="12700">
            <a:solidFill>
              <a:srgbClr val="E2DED3"/>
            </a:solidFill>
            <a:prstDash val="solid"/>
          </a:ln>
        </p:spPr>
      </p:sp>
      <p:sp>
        <p:nvSpPr>
          <p:cNvPr id="14" name="Text 12"/>
          <p:cNvSpPr/>
          <p:nvPr/>
        </p:nvSpPr>
        <p:spPr>
          <a:xfrm>
            <a:off x="6845829" y="3064142"/>
            <a:ext cx="444699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Keyword argument</a:t>
            </a:r>
            <a:endParaRPr lang="en-US" sz="1800" dirty="0"/>
          </a:p>
        </p:txBody>
      </p:sp>
      <p:sp>
        <p:nvSpPr>
          <p:cNvPr id="15" name="Text 13"/>
          <p:cNvSpPr/>
          <p:nvPr/>
        </p:nvSpPr>
        <p:spPr>
          <a:xfrm>
            <a:off x="6845829" y="3389247"/>
            <a:ext cx="444699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Name the parameter when calling, and the order no longer matters.</a:t>
            </a:r>
            <a:endParaRPr lang="en-US" sz="1500" dirty="0"/>
          </a:p>
        </p:txBody>
      </p:sp>
      <p:sp>
        <p:nvSpPr>
          <p:cNvPr id="16" name="Shape 14"/>
          <p:cNvSpPr/>
          <p:nvPr/>
        </p:nvSpPr>
        <p:spPr>
          <a:xfrm>
            <a:off x="6636279" y="4221097"/>
            <a:ext cx="4736571" cy="800100"/>
          </a:xfrm>
          <a:prstGeom prst="roundRect">
            <a:avLst>
              <a:gd name="adj" fmla="val 10317"/>
            </a:avLst>
          </a:prstGeom>
          <a:solidFill>
            <a:srgbClr val="FFFDF8"/>
          </a:solidFill>
          <a:ln w="12700">
            <a:solidFill>
              <a:srgbClr val="B54708"/>
            </a:solidFill>
            <a:prstDash val="solid"/>
          </a:ln>
        </p:spPr>
      </p:sp>
      <p:pic>
        <p:nvPicPr>
          <p:cNvPr id="17" name="Image 0" descr="Warning">    </p:cNvPr>
          <p:cNvPicPr>
            <a:picLocks noChangeAspect="1"/>
          </p:cNvPicPr>
          <p:nvPr/>
        </p:nvPicPr>
        <p:blipFill>
          <a:blip r:embed="rId1"/>
          <a:srcRect l="-509" r="-509" t="0" b="0"/>
          <a:stretch/>
        </p:blipFill>
        <p:spPr>
          <a:xfrm>
            <a:off x="6820429" y="4468747"/>
            <a:ext cx="282244" cy="304800"/>
          </a:xfrm>
          <a:prstGeom prst="rect">
            <a:avLst/>
          </a:prstGeom>
        </p:spPr>
      </p:pic>
      <p:sp>
        <p:nvSpPr>
          <p:cNvPr id="18" name="Text 15"/>
          <p:cNvSpPr/>
          <p:nvPr/>
        </p:nvSpPr>
        <p:spPr>
          <a:xfrm>
            <a:off x="7229673" y="4354447"/>
            <a:ext cx="407779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Defaults go last: </a:t>
            </a:r>
            <a:r>
              <a:rPr lang="en-US" sz="1500" dirty="0">
                <a:solidFill>
                  <a:srgbClr val="2A64A3"/>
                </a:solidFill>
                <a:latin typeface="Rubik" pitchFamily="34" charset="0"/>
                <a:ea typeface="Rubik" pitchFamily="34" charset="-122"/>
                <a:cs typeface="Rubik" pitchFamily="34" charset="-120"/>
              </a:rPr>
              <a:t>def fare(rate=12, km)</a:t>
            </a:r>
            <a:r>
              <a:rPr lang="en-US" sz="1500" dirty="0">
                <a:solidFill>
                  <a:srgbClr val="1B2A41"/>
                </a:solidFill>
                <a:latin typeface="Rubik" pitchFamily="34" charset="0"/>
                <a:ea typeface="Rubik" pitchFamily="34" charset="-122"/>
                <a:cs typeface="Rubik" pitchFamily="34" charset="-120"/>
              </a:rPr>
              <a:t> is an error.</a:t>
            </a:r>
            <a:endParaRPr lang="en-US" sz="15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5 · Class 13</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13 · USING FUNCTIONS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Week 2's prime check as a function</a:t>
            </a:r>
            <a:endParaRPr lang="en-US" sz="3200" dirty="0"/>
          </a:p>
        </p:txBody>
      </p:sp>
      <p:sp>
        <p:nvSpPr>
          <p:cNvPr id="4" name="Shape 2"/>
          <p:cNvSpPr/>
          <p:nvPr/>
        </p:nvSpPr>
        <p:spPr>
          <a:xfrm>
            <a:off x="812800" y="1854135"/>
            <a:ext cx="5569479" cy="3788370"/>
          </a:xfrm>
          <a:prstGeom prst="roundRect">
            <a:avLst>
              <a:gd name="adj" fmla="val 3352"/>
            </a:avLst>
          </a:prstGeom>
          <a:solidFill>
            <a:srgbClr val="1B2A41"/>
          </a:solidFill>
          <a:ln/>
        </p:spPr>
      </p:sp>
      <p:sp>
        <p:nvSpPr>
          <p:cNvPr id="5" name="Text 3"/>
          <p:cNvSpPr/>
          <p:nvPr/>
        </p:nvSpPr>
        <p:spPr>
          <a:xfrm>
            <a:off x="1066800" y="2031935"/>
            <a:ext cx="52133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primes.py</a:t>
            </a:r>
            <a:endParaRPr lang="en-US" sz="1200" dirty="0"/>
          </a:p>
        </p:txBody>
      </p:sp>
      <p:sp>
        <p:nvSpPr>
          <p:cNvPr id="6" name="Text 4"/>
          <p:cNvSpPr/>
          <p:nvPr/>
        </p:nvSpPr>
        <p:spPr>
          <a:xfrm>
            <a:off x="1066800" y="2321455"/>
            <a:ext cx="5213324" cy="3168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is_prime(n):</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n &lt; 2:</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False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i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(2, n):</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n % i == 0:</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False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True</a:t>
            </a:r>
            <a:endParaRPr lang="en-US" sz="1500" dirty="0"/>
          </a:p>
          <a:p>
            <a:pPr algn="l" indent="0" marL="0">
              <a:lnSpc>
                <a:spcPts val="2250"/>
              </a:lnSpc>
              <a:buNone/>
            </a:pP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x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range</a:t>
            </a:r>
            <a:r>
              <a:rPr lang="en-US" sz="1500" dirty="0">
                <a:solidFill>
                  <a:srgbClr val="E8EDF3"/>
                </a:solidFill>
                <a:latin typeface="JetBrains Mono" pitchFamily="49" charset="0"/>
                <a:ea typeface="JetBrains Mono" pitchFamily="49" charset="-122"/>
                <a:cs typeface="JetBrains Mono" pitchFamily="49" charset="-120"/>
              </a:rPr>
              <a:t>(1, 30):</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is_prime(x):</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(x, end=</a:t>
            </a:r>
            <a:r>
              <a:rPr lang="en-US" sz="1500" dirty="0">
                <a:solidFill>
                  <a:srgbClr val="9FD8A8"/>
                </a:solidFill>
                <a:latin typeface="JetBrains Mono" pitchFamily="49" charset="0"/>
                <a:ea typeface="JetBrains Mono" pitchFamily="49" charset="-122"/>
                <a:cs typeface="JetBrains Mono" pitchFamily="49" charset="-120"/>
              </a:rPr>
              <a:t>"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7" name="Shape 5"/>
          <p:cNvSpPr/>
          <p:nvPr/>
        </p:nvSpPr>
        <p:spPr>
          <a:xfrm>
            <a:off x="6744229" y="1860485"/>
            <a:ext cx="4628621" cy="943570"/>
          </a:xfrm>
          <a:prstGeom prst="roundRect">
            <a:avLst>
              <a:gd name="adj" fmla="val 12787"/>
            </a:avLst>
          </a:prstGeom>
          <a:solidFill>
            <a:srgbClr val="FFFDF8"/>
          </a:solidFill>
          <a:ln w="12700">
            <a:solidFill>
              <a:srgbClr val="D9DEE5"/>
            </a:solidFill>
            <a:prstDash val="solid"/>
          </a:ln>
        </p:spPr>
      </p:sp>
      <p:sp>
        <p:nvSpPr>
          <p:cNvPr id="8" name="Text 6"/>
          <p:cNvSpPr/>
          <p:nvPr/>
        </p:nvSpPr>
        <p:spPr>
          <a:xfrm>
            <a:off x="7004579" y="2044635"/>
            <a:ext cx="423115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7004579" y="2334155"/>
            <a:ext cx="4231159"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2 3 5 7 11 13 17 19 23 29</a:t>
            </a:r>
            <a:endParaRPr lang="en-US" sz="1500" dirty="0"/>
          </a:p>
        </p:txBody>
      </p:sp>
      <p:sp>
        <p:nvSpPr>
          <p:cNvPr id="10" name="Text 8"/>
          <p:cNvSpPr/>
          <p:nvPr/>
        </p:nvSpPr>
        <p:spPr>
          <a:xfrm>
            <a:off x="6737879" y="2937405"/>
            <a:ext cx="4780561" cy="642541"/>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1B2A41"/>
                </a:solidFill>
                <a:latin typeface="Rubik" pitchFamily="34" charset="0"/>
                <a:ea typeface="Rubik" pitchFamily="34" charset="-122"/>
                <a:cs typeface="Rubik" pitchFamily="34" charset="-120"/>
              </a:rPr>
              <a:t>Functions that answer yes/no are named </a:t>
            </a:r>
            <a:r>
              <a:rPr lang="en-US" sz="1800" b="1" dirty="0">
                <a:solidFill>
                  <a:srgbClr val="2A64A3"/>
                </a:solidFill>
                <a:latin typeface="Rubik" pitchFamily="34" charset="0"/>
                <a:ea typeface="Rubik" pitchFamily="34" charset="-122"/>
                <a:cs typeface="Rubik" pitchFamily="34" charset="-120"/>
              </a:rPr>
              <a:t>is_…</a:t>
            </a:r>
            <a:r>
              <a:rPr lang="en-US" sz="1800" b="1" dirty="0">
                <a:solidFill>
                  <a:srgbClr val="1B2A41"/>
                </a:solidFill>
                <a:latin typeface="Rubik" pitchFamily="34" charset="0"/>
                <a:ea typeface="Rubik" pitchFamily="34" charset="-122"/>
                <a:cs typeface="Rubik" pitchFamily="34" charset="-120"/>
              </a:rPr>
              <a:t> and return True or False.</a:t>
            </a:r>
            <a:endParaRPr lang="en-US" sz="1800" dirty="0"/>
          </a:p>
        </p:txBody>
      </p:sp>
      <p:sp>
        <p:nvSpPr>
          <p:cNvPr id="11" name="Shape 9"/>
          <p:cNvSpPr/>
          <p:nvPr/>
        </p:nvSpPr>
        <p:spPr>
          <a:xfrm>
            <a:off x="6737879" y="3681546"/>
            <a:ext cx="4641321" cy="787400"/>
          </a:xfrm>
          <a:prstGeom prst="roundRect">
            <a:avLst>
              <a:gd name="adj" fmla="val 11290"/>
            </a:avLst>
          </a:prstGeom>
          <a:solidFill>
            <a:srgbClr val="FBEFD5"/>
          </a:solidFill>
          <a:ln/>
        </p:spPr>
      </p:sp>
      <p:pic>
        <p:nvPicPr>
          <p:cNvPr id="12" name="Image 0" descr="Lightbulb">    </p:cNvPr>
          <p:cNvPicPr>
            <a:picLocks noChangeAspect="1"/>
          </p:cNvPicPr>
          <p:nvPr/>
        </p:nvPicPr>
        <p:blipFill>
          <a:blip r:embed="rId1"/>
          <a:srcRect l="0" r="0" t="-246" b="-246"/>
          <a:stretch/>
        </p:blipFill>
        <p:spPr>
          <a:xfrm>
            <a:off x="6915679" y="3922846"/>
            <a:ext cx="214842" cy="304800"/>
          </a:xfrm>
          <a:prstGeom prst="rect">
            <a:avLst/>
          </a:prstGeom>
        </p:spPr>
      </p:pic>
      <p:sp>
        <p:nvSpPr>
          <p:cNvPr id="13" name="Text 10"/>
          <p:cNvSpPr/>
          <p:nvPr/>
        </p:nvSpPr>
        <p:spPr>
          <a:xfrm>
            <a:off x="7257521" y="3808546"/>
            <a:ext cx="406219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Rubik" pitchFamily="34" charset="0"/>
                <a:ea typeface="Rubik" pitchFamily="34" charset="-122"/>
                <a:cs typeface="Rubik" pitchFamily="34" charset="-120"/>
              </a:rPr>
              <a:t>return</a:t>
            </a:r>
            <a:r>
              <a:rPr lang="en-US" sz="1500" dirty="0">
                <a:solidFill>
                  <a:srgbClr val="1B2A41"/>
                </a:solidFill>
                <a:latin typeface="Rubik" pitchFamily="34" charset="0"/>
                <a:ea typeface="Rubik" pitchFamily="34" charset="-122"/>
                <a:cs typeface="Rubik" pitchFamily="34" charset="-120"/>
              </a:rPr>
              <a:t> stops the function at once, so no </a:t>
            </a:r>
            <a:r>
              <a:rPr lang="en-US" sz="1500" dirty="0">
                <a:solidFill>
                  <a:srgbClr val="2A64A3"/>
                </a:solidFill>
                <a:latin typeface="Rubik" pitchFamily="34" charset="0"/>
                <a:ea typeface="Rubik" pitchFamily="34" charset="-122"/>
                <a:cs typeface="Rubik" pitchFamily="34" charset="-120"/>
              </a:rPr>
              <a:t>break</a:t>
            </a:r>
            <a:r>
              <a:rPr lang="en-US" sz="1500" dirty="0">
                <a:solidFill>
                  <a:srgbClr val="1B2A41"/>
                </a:solidFill>
                <a:latin typeface="Rubik" pitchFamily="34" charset="0"/>
                <a:ea typeface="Rubik" pitchFamily="34" charset="-122"/>
                <a:cs typeface="Rubik" pitchFamily="34" charset="-120"/>
              </a:rPr>
              <a:t> or flag is needed.</a:t>
            </a:r>
            <a:endParaRPr lang="en-US" sz="1500" dirty="0"/>
          </a:p>
        </p:txBody>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5 · Class 13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6EE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13 · PRACTICE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Your turn: four programs</a:t>
            </a:r>
            <a:endParaRPr lang="en-US" sz="3200" dirty="0"/>
          </a:p>
        </p:txBody>
      </p:sp>
      <p:sp>
        <p:nvSpPr>
          <p:cNvPr id="4" name="Shape 2"/>
          <p:cNvSpPr/>
          <p:nvPr/>
        </p:nvSpPr>
        <p:spPr>
          <a:xfrm>
            <a:off x="819150" y="1809685"/>
            <a:ext cx="2476500" cy="2252927"/>
          </a:xfrm>
          <a:prstGeom prst="roundRect">
            <a:avLst>
              <a:gd name="adj" fmla="val 5355"/>
            </a:avLst>
          </a:prstGeom>
          <a:solidFill>
            <a:srgbClr val="FBFCFE"/>
          </a:solidFill>
          <a:ln w="12700">
            <a:solidFill>
              <a:srgbClr val="C9D7E8"/>
            </a:solidFill>
            <a:prstDash val="solid"/>
          </a:ln>
        </p:spPr>
      </p:sp>
      <p:sp>
        <p:nvSpPr>
          <p:cNvPr id="5" name="Text 3"/>
          <p:cNvSpPr/>
          <p:nvPr/>
        </p:nvSpPr>
        <p:spPr>
          <a:xfrm>
            <a:off x="1028700" y="2019235"/>
            <a:ext cx="681897" cy="289520"/>
          </a:xfrm>
          <a:custGeom>
            <a:avLst/>
            <a:gdLst/>
            <a:ahLst/>
            <a:cxnLst/>
            <a:rect l="l" t="t" r="r" b="b"/>
            <a:pathLst>
              <a:path w="681897" h="289520">
                <a:moveTo>
                  <a:pt x="144760" y="0"/>
                </a:moveTo>
                <a:lnTo>
                  <a:pt x="537137" y="0"/>
                </a:lnTo>
                <a:arcTo hR="144760" wR="144760" stAng="16200000" swAng="5400000"/>
                <a:lnTo>
                  <a:pt x="681897"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1</a:t>
            </a:r>
            <a:endParaRPr lang="en-US" sz="1200" dirty="0"/>
          </a:p>
        </p:txBody>
      </p:sp>
      <p:sp>
        <p:nvSpPr>
          <p:cNvPr id="6" name="Text 4"/>
          <p:cNvSpPr/>
          <p:nvPr/>
        </p:nvSpPr>
        <p:spPr>
          <a:xfrm>
            <a:off x="1028700" y="2410355"/>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Circle</a:t>
            </a:r>
            <a:endParaRPr lang="en-US" sz="1800" dirty="0"/>
          </a:p>
        </p:txBody>
      </p:sp>
      <p:sp>
        <p:nvSpPr>
          <p:cNvPr id="7" name="Text 5"/>
          <p:cNvSpPr/>
          <p:nvPr/>
        </p:nvSpPr>
        <p:spPr>
          <a:xfrm>
            <a:off x="10287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Write </a:t>
            </a:r>
            <a:r>
              <a:rPr lang="en-US" sz="1500" dirty="0">
                <a:solidFill>
                  <a:srgbClr val="2A64A3"/>
                </a:solidFill>
                <a:latin typeface="Rubik" pitchFamily="34" charset="0"/>
                <a:ea typeface="Rubik" pitchFamily="34" charset="-122"/>
                <a:cs typeface="Rubik" pitchFamily="34" charset="-120"/>
              </a:rPr>
              <a:t>area(r)</a:t>
            </a:r>
            <a:r>
              <a:rPr lang="en-US" sz="1500" dirty="0">
                <a:solidFill>
                  <a:srgbClr val="4A5568"/>
                </a:solidFill>
                <a:latin typeface="Rubik" pitchFamily="34" charset="0"/>
                <a:ea typeface="Rubik" pitchFamily="34" charset="-122"/>
                <a:cs typeface="Rubik" pitchFamily="34" charset="-120"/>
              </a:rPr>
              <a:t> and </a:t>
            </a:r>
            <a:r>
              <a:rPr lang="en-US" sz="1500" dirty="0">
                <a:solidFill>
                  <a:srgbClr val="2A64A3"/>
                </a:solidFill>
                <a:latin typeface="Rubik" pitchFamily="34" charset="0"/>
                <a:ea typeface="Rubik" pitchFamily="34" charset="-122"/>
                <a:cs typeface="Rubik" pitchFamily="34" charset="-120"/>
              </a:rPr>
              <a:t>perimeter(r)</a:t>
            </a:r>
            <a:r>
              <a:rPr lang="en-US" sz="1500" dirty="0">
                <a:solidFill>
                  <a:srgbClr val="4A5568"/>
                </a:solidFill>
                <a:latin typeface="Rubik" pitchFamily="34" charset="0"/>
                <a:ea typeface="Rubik" pitchFamily="34" charset="-122"/>
                <a:cs typeface="Rubik" pitchFamily="34" charset="-120"/>
              </a:rPr>
              <a:t> that return values. Print both for r = 7</a:t>
            </a:r>
            <a:endParaRPr lang="en-US" sz="1500" dirty="0"/>
          </a:p>
        </p:txBody>
      </p:sp>
      <p:sp>
        <p:nvSpPr>
          <p:cNvPr id="8" name="Shape 6"/>
          <p:cNvSpPr/>
          <p:nvPr/>
        </p:nvSpPr>
        <p:spPr>
          <a:xfrm>
            <a:off x="3511550" y="1809685"/>
            <a:ext cx="2476500" cy="2252927"/>
          </a:xfrm>
          <a:prstGeom prst="roundRect">
            <a:avLst>
              <a:gd name="adj" fmla="val 5355"/>
            </a:avLst>
          </a:prstGeom>
          <a:solidFill>
            <a:srgbClr val="FBFCFE"/>
          </a:solidFill>
          <a:ln w="12700">
            <a:solidFill>
              <a:srgbClr val="C9D7E8"/>
            </a:solidFill>
            <a:prstDash val="solid"/>
          </a:ln>
        </p:spPr>
      </p:sp>
      <p:sp>
        <p:nvSpPr>
          <p:cNvPr id="9" name="Text 7"/>
          <p:cNvSpPr/>
          <p:nvPr/>
        </p:nvSpPr>
        <p:spPr>
          <a:xfrm>
            <a:off x="3721100" y="2019235"/>
            <a:ext cx="705181" cy="289520"/>
          </a:xfrm>
          <a:custGeom>
            <a:avLst/>
            <a:gdLst/>
            <a:ahLst/>
            <a:cxnLst/>
            <a:rect l="l" t="t" r="r" b="b"/>
            <a:pathLst>
              <a:path w="705181" h="289520">
                <a:moveTo>
                  <a:pt x="144760" y="0"/>
                </a:moveTo>
                <a:lnTo>
                  <a:pt x="560421" y="0"/>
                </a:lnTo>
                <a:arcTo hR="144760" wR="144760" stAng="16200000" swAng="5400000"/>
                <a:lnTo>
                  <a:pt x="70518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2</a:t>
            </a:r>
            <a:endParaRPr lang="en-US" sz="1200" dirty="0"/>
          </a:p>
        </p:txBody>
      </p:sp>
      <p:sp>
        <p:nvSpPr>
          <p:cNvPr id="10" name="Text 8"/>
          <p:cNvSpPr/>
          <p:nvPr/>
        </p:nvSpPr>
        <p:spPr>
          <a:xfrm>
            <a:off x="3721100" y="2410355"/>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Max of three</a:t>
            </a:r>
            <a:endParaRPr lang="en-US" sz="1800" dirty="0"/>
          </a:p>
        </p:txBody>
      </p:sp>
      <p:sp>
        <p:nvSpPr>
          <p:cNvPr id="11" name="Text 9"/>
          <p:cNvSpPr/>
          <p:nvPr/>
        </p:nvSpPr>
        <p:spPr>
          <a:xfrm>
            <a:off x="37211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Write </a:t>
            </a:r>
            <a:r>
              <a:rPr lang="en-US" sz="1500" dirty="0">
                <a:solidFill>
                  <a:srgbClr val="2A64A3"/>
                </a:solidFill>
                <a:latin typeface="Rubik" pitchFamily="34" charset="0"/>
                <a:ea typeface="Rubik" pitchFamily="34" charset="-122"/>
                <a:cs typeface="Rubik" pitchFamily="34" charset="-120"/>
              </a:rPr>
              <a:t>biggest(a, b, c)</a:t>
            </a:r>
            <a:r>
              <a:rPr lang="en-US" sz="1500" dirty="0">
                <a:solidFill>
                  <a:srgbClr val="4A5568"/>
                </a:solidFill>
                <a:latin typeface="Rubik" pitchFamily="34" charset="0"/>
                <a:ea typeface="Rubik" pitchFamily="34" charset="-122"/>
                <a:cs typeface="Rubik" pitchFamily="34" charset="-120"/>
              </a:rPr>
              <a:t> that returns the largest, without using max().</a:t>
            </a:r>
            <a:endParaRPr lang="en-US" sz="1500" dirty="0"/>
          </a:p>
        </p:txBody>
      </p:sp>
      <p:sp>
        <p:nvSpPr>
          <p:cNvPr id="12" name="Shape 10"/>
          <p:cNvSpPr/>
          <p:nvPr/>
        </p:nvSpPr>
        <p:spPr>
          <a:xfrm>
            <a:off x="6203950" y="1809685"/>
            <a:ext cx="2476500" cy="2252927"/>
          </a:xfrm>
          <a:prstGeom prst="roundRect">
            <a:avLst>
              <a:gd name="adj" fmla="val 5355"/>
            </a:avLst>
          </a:prstGeom>
          <a:solidFill>
            <a:srgbClr val="FBFCFE"/>
          </a:solidFill>
          <a:ln w="12700">
            <a:solidFill>
              <a:srgbClr val="C9D7E8"/>
            </a:solidFill>
            <a:prstDash val="solid"/>
          </a:ln>
        </p:spPr>
      </p:sp>
      <p:sp>
        <p:nvSpPr>
          <p:cNvPr id="13" name="Text 11"/>
          <p:cNvSpPr/>
          <p:nvPr/>
        </p:nvSpPr>
        <p:spPr>
          <a:xfrm>
            <a:off x="6413500" y="2019235"/>
            <a:ext cx="706570" cy="289520"/>
          </a:xfrm>
          <a:custGeom>
            <a:avLst/>
            <a:gdLst/>
            <a:ahLst/>
            <a:cxnLst/>
            <a:rect l="l" t="t" r="r" b="b"/>
            <a:pathLst>
              <a:path w="706570" h="289520">
                <a:moveTo>
                  <a:pt x="144760" y="0"/>
                </a:moveTo>
                <a:lnTo>
                  <a:pt x="561810" y="0"/>
                </a:lnTo>
                <a:arcTo hR="144760" wR="144760" stAng="16200000" swAng="5400000"/>
                <a:lnTo>
                  <a:pt x="706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3</a:t>
            </a:r>
            <a:endParaRPr lang="en-US" sz="1200" dirty="0"/>
          </a:p>
        </p:txBody>
      </p:sp>
      <p:sp>
        <p:nvSpPr>
          <p:cNvPr id="14" name="Text 12"/>
          <p:cNvSpPr/>
          <p:nvPr/>
        </p:nvSpPr>
        <p:spPr>
          <a:xfrm>
            <a:off x="6413500" y="2410355"/>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Factorial</a:t>
            </a:r>
            <a:endParaRPr lang="en-US" sz="1800" dirty="0"/>
          </a:p>
        </p:txBody>
      </p:sp>
      <p:sp>
        <p:nvSpPr>
          <p:cNvPr id="15" name="Text 13"/>
          <p:cNvSpPr/>
          <p:nvPr/>
        </p:nvSpPr>
        <p:spPr>
          <a:xfrm>
            <a:off x="64135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Write </a:t>
            </a:r>
            <a:r>
              <a:rPr lang="en-US" sz="1500" dirty="0">
                <a:solidFill>
                  <a:srgbClr val="2A64A3"/>
                </a:solidFill>
                <a:latin typeface="Rubik" pitchFamily="34" charset="0"/>
                <a:ea typeface="Rubik" pitchFamily="34" charset="-122"/>
                <a:cs typeface="Rubik" pitchFamily="34" charset="-120"/>
              </a:rPr>
              <a:t>fact(n)</a:t>
            </a:r>
            <a:r>
              <a:rPr lang="en-US" sz="1500" dirty="0">
                <a:solidFill>
                  <a:srgbClr val="4A5568"/>
                </a:solidFill>
                <a:latin typeface="Rubik" pitchFamily="34" charset="0"/>
                <a:ea typeface="Rubik" pitchFamily="34" charset="-122"/>
                <a:cs typeface="Rubik" pitchFamily="34" charset="-120"/>
              </a:rPr>
              <a:t> with a loop. Use it to print 1! to 6!</a:t>
            </a:r>
            <a:endParaRPr lang="en-US" sz="1500" dirty="0"/>
          </a:p>
        </p:txBody>
      </p:sp>
      <p:sp>
        <p:nvSpPr>
          <p:cNvPr id="16" name="Shape 14"/>
          <p:cNvSpPr/>
          <p:nvPr/>
        </p:nvSpPr>
        <p:spPr>
          <a:xfrm>
            <a:off x="8896350" y="1809685"/>
            <a:ext cx="2476500" cy="2252927"/>
          </a:xfrm>
          <a:prstGeom prst="roundRect">
            <a:avLst>
              <a:gd name="adj" fmla="val 5355"/>
            </a:avLst>
          </a:prstGeom>
          <a:solidFill>
            <a:srgbClr val="FBFCFE"/>
          </a:solidFill>
          <a:ln w="12700">
            <a:solidFill>
              <a:srgbClr val="C9D7E8"/>
            </a:solidFill>
            <a:prstDash val="solid"/>
          </a:ln>
        </p:spPr>
      </p:sp>
      <p:sp>
        <p:nvSpPr>
          <p:cNvPr id="17" name="Text 15"/>
          <p:cNvSpPr/>
          <p:nvPr/>
        </p:nvSpPr>
        <p:spPr>
          <a:xfrm>
            <a:off x="9105900" y="2019235"/>
            <a:ext cx="710076" cy="289520"/>
          </a:xfrm>
          <a:custGeom>
            <a:avLst/>
            <a:gdLst/>
            <a:ahLst/>
            <a:cxnLst/>
            <a:rect l="l" t="t" r="r" b="b"/>
            <a:pathLst>
              <a:path w="710076" h="289520">
                <a:moveTo>
                  <a:pt x="144760" y="0"/>
                </a:moveTo>
                <a:lnTo>
                  <a:pt x="565315" y="0"/>
                </a:lnTo>
                <a:arcTo hR="144760" wR="144760" stAng="16200000" swAng="5400000"/>
                <a:lnTo>
                  <a:pt x="71007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4</a:t>
            </a:r>
            <a:endParaRPr lang="en-US" sz="1200" dirty="0"/>
          </a:p>
        </p:txBody>
      </p:sp>
      <p:sp>
        <p:nvSpPr>
          <p:cNvPr id="18" name="Text 16"/>
          <p:cNvSpPr/>
          <p:nvPr/>
        </p:nvSpPr>
        <p:spPr>
          <a:xfrm>
            <a:off x="9105900" y="2410355"/>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Vowel count</a:t>
            </a:r>
            <a:endParaRPr lang="en-US" sz="1800" dirty="0"/>
          </a:p>
        </p:txBody>
      </p:sp>
      <p:sp>
        <p:nvSpPr>
          <p:cNvPr id="19" name="Text 17"/>
          <p:cNvSpPr/>
          <p:nvPr/>
        </p:nvSpPr>
        <p:spPr>
          <a:xfrm>
            <a:off x="91059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Write </a:t>
            </a:r>
            <a:r>
              <a:rPr lang="en-US" sz="1500" dirty="0">
                <a:solidFill>
                  <a:srgbClr val="2A64A3"/>
                </a:solidFill>
                <a:latin typeface="Rubik" pitchFamily="34" charset="0"/>
                <a:ea typeface="Rubik" pitchFamily="34" charset="-122"/>
                <a:cs typeface="Rubik" pitchFamily="34" charset="-120"/>
              </a:rPr>
              <a:t>count_vowels(s)</a:t>
            </a:r>
            <a:r>
              <a:rPr lang="en-US" sz="1500" dirty="0">
                <a:solidFill>
                  <a:srgbClr val="4A5568"/>
                </a:solidFill>
                <a:latin typeface="Rubik" pitchFamily="34" charset="0"/>
                <a:ea typeface="Rubik" pitchFamily="34" charset="-122"/>
                <a:cs typeface="Rubik" pitchFamily="34" charset="-120"/>
              </a:rPr>
              <a:t> and test it on three words.</a:t>
            </a:r>
            <a:endParaRPr lang="en-US" sz="1500" dirty="0"/>
          </a:p>
        </p:txBody>
      </p:sp>
      <p:sp>
        <p:nvSpPr>
          <p:cNvPr id="20" name="Shape 18"/>
          <p:cNvSpPr/>
          <p:nvPr/>
        </p:nvSpPr>
        <p:spPr>
          <a:xfrm>
            <a:off x="812800" y="4322961"/>
            <a:ext cx="10566400" cy="622300"/>
          </a:xfrm>
          <a:prstGeom prst="roundRect">
            <a:avLst>
              <a:gd name="adj" fmla="val 20408"/>
            </a:avLst>
          </a:prstGeom>
          <a:solidFill>
            <a:srgbClr val="1B2A41"/>
          </a:solidFill>
          <a:ln/>
        </p:spPr>
      </p:sp>
      <p:sp>
        <p:nvSpPr>
          <p:cNvPr id="21" name="Text 19"/>
          <p:cNvSpPr/>
          <p:nvPr/>
        </p:nvSpPr>
        <p:spPr>
          <a:xfrm>
            <a:off x="1066800" y="4527420"/>
            <a:ext cx="121569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HOMEWORK</a:t>
            </a:r>
            <a:endParaRPr lang="en-US" sz="1200" dirty="0"/>
          </a:p>
        </p:txBody>
      </p:sp>
      <p:sp>
        <p:nvSpPr>
          <p:cNvPr id="22" name="Text 20"/>
          <p:cNvSpPr/>
          <p:nvPr/>
        </p:nvSpPr>
        <p:spPr>
          <a:xfrm>
            <a:off x="2282494" y="4500761"/>
            <a:ext cx="462565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Rubik" pitchFamily="34" charset="0"/>
                <a:ea typeface="Rubik" pitchFamily="34" charset="-122"/>
                <a:cs typeface="Rubik" pitchFamily="34" charset="-120"/>
              </a:rPr>
              <a:t>Read on W3Schools: </a:t>
            </a:r>
            <a:r>
              <a:rPr lang="en-US" sz="1500" u="sng" dirty="0">
                <a:solidFill>
                  <a:srgbClr val="F2B33D"/>
                </a:solidFill>
                <a:latin typeface="Rubik" pitchFamily="34" charset="0"/>
                <a:ea typeface="Rubik" pitchFamily="34" charset="-122"/>
                <a:cs typeface="Rubik" pitchFamily="34" charset="-120"/>
                <a:hlinkClick r:id="rId1" invalidUrl="" action="" tgtFrame="" tooltip="" history="1" highlightClick="0" endSnd="0">
                  <a:extLst>
                    <a:ext uri="{A12FA001-AC4F-418D-AE19-62706E023703}">
                      <ahyp:hlinkClr xmlns:ahyp="http://schemas.microsoft.com/office/drawing/2018/hyperlinkcolor" val="tx"/>
                    </a:ext>
                  </a:extLst>
                </a:hlinkClick>
              </a:rPr>
              <a:t>Functions</a:t>
            </a:r>
            <a:r>
              <a:rPr lang="en-US" sz="1500" dirty="0">
                <a:solidFill>
                  <a:srgbClr val="F7F5EF"/>
                </a:solidFill>
                <a:latin typeface="Rubik" pitchFamily="34" charset="0"/>
                <a:ea typeface="Rubik" pitchFamily="34" charset="-122"/>
                <a:cs typeface="Rubik" pitchFamily="34" charset="-120"/>
              </a:rPr>
              <a:t> · </a:t>
            </a:r>
            <a:r>
              <a:rPr lang="en-US" sz="1500" u="sng" dirty="0">
                <a:solidFill>
                  <a:srgbClr val="F2B33D"/>
                </a:solidFill>
                <a:latin typeface="Rubik" pitchFamily="34" charset="0"/>
                <a:ea typeface="Rubik" pitchFamily="34" charset="-122"/>
                <a:cs typeface="Rubik" pitchFamily="34" charset="-120"/>
                <a:hlinkClick r:id="rId2" invalidUrl="" action="" tgtFrame="" tooltip="" history="1" highlightClick="0" endSnd="0">
                  <a:extLst>
                    <a:ext uri="{A12FA001-AC4F-418D-AE19-62706E023703}">
                      <ahyp:hlinkClr xmlns:ahyp="http://schemas.microsoft.com/office/drawing/2018/hyperlinkcolor" val="tx"/>
                    </a:ext>
                  </a:extLst>
                </a:hlinkClick>
              </a:rPr>
              <a:t>Arguments</a:t>
            </a:r>
            <a:endParaRPr lang="en-US" sz="15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5 · Class 13</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B33D"/>
        </a:solidFill>
      </p:bgPr>
    </p:bg>
    <p:spTree>
      <p:nvGrpSpPr>
        <p:cNvPr id="1" name=""/>
        <p:cNvGrpSpPr/>
        <p:nvPr/>
      </p:nvGrpSpPr>
      <p:grpSpPr>
        <a:xfrm>
          <a:off x="0" y="0"/>
          <a:ext cx="0" cy="0"/>
          <a:chOff x="0" y="0"/>
          <a:chExt cx="0" cy="0"/>
        </a:xfrm>
      </p:grpSpPr>
      <p:sp>
        <p:nvSpPr>
          <p:cNvPr id="2" name="Text 0"/>
          <p:cNvSpPr/>
          <p:nvPr/>
        </p:nvSpPr>
        <p:spPr>
          <a:xfrm>
            <a:off x="812800" y="2184468"/>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B2A41"/>
                </a:solidFill>
                <a:latin typeface="Rubik" pitchFamily="34" charset="0"/>
                <a:ea typeface="Rubik" pitchFamily="34" charset="-122"/>
                <a:cs typeface="Rubik" pitchFamily="34" charset="-120"/>
              </a:rPr>
              <a:t>CLASS 14 OF 24</a:t>
            </a:r>
            <a:endParaRPr lang="en-US" sz="1200" dirty="0"/>
          </a:p>
        </p:txBody>
      </p:sp>
      <p:sp>
        <p:nvSpPr>
          <p:cNvPr id="3" name="Text 1"/>
          <p:cNvSpPr/>
          <p:nvPr>
            <p:ph type="title"/>
          </p:nvPr>
        </p:nvSpPr>
        <p:spPr>
          <a:xfrm>
            <a:off x="812800" y="2575589"/>
            <a:ext cx="5127752" cy="1305454"/>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B2A41"/>
                </a:solidFill>
                <a:latin typeface="Rubik" pitchFamily="34" charset="0"/>
                <a:ea typeface="Rubik" pitchFamily="34" charset="-122"/>
                <a:cs typeface="Rubik" pitchFamily="34" charset="-120"/>
              </a:rPr>
              <a:t>More about functions</a:t>
            </a:r>
            <a:endParaRPr lang="en-US" sz="4800" dirty="0"/>
          </a:p>
        </p:txBody>
      </p:sp>
      <p:sp>
        <p:nvSpPr>
          <p:cNvPr id="4" name="Text 2"/>
          <p:cNvSpPr/>
          <p:nvPr/>
        </p:nvSpPr>
        <p:spPr>
          <a:xfrm>
            <a:off x="812800" y="4033441"/>
            <a:ext cx="5127752"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41"/>
                </a:solidFill>
                <a:latin typeface="Rubik" pitchFamily="34" charset="0"/>
                <a:ea typeface="Rubik" pitchFamily="34" charset="-122"/>
                <a:cs typeface="Rubik" pitchFamily="34" charset="-120"/>
              </a:rPr>
              <a:t>Where variables live, small one-line functions, and tidier programs</a:t>
            </a:r>
            <a:endParaRPr lang="en-US" sz="1800" dirty="0"/>
          </a:p>
        </p:txBody>
      </p:sp>
      <p:sp>
        <p:nvSpPr>
          <p:cNvPr id="5" name="Shape 3"/>
          <p:cNvSpPr/>
          <p:nvPr/>
        </p:nvSpPr>
        <p:spPr>
          <a:xfrm>
            <a:off x="6400800" y="2098018"/>
            <a:ext cx="4978400" cy="2661907"/>
          </a:xfrm>
          <a:prstGeom prst="roundRect">
            <a:avLst>
              <a:gd name="adj" fmla="val 5725"/>
            </a:avLst>
          </a:prstGeom>
          <a:solidFill>
            <a:srgbClr val="1B2A41"/>
          </a:solidFill>
          <a:ln/>
        </p:spPr>
      </p:sp>
      <p:sp>
        <p:nvSpPr>
          <p:cNvPr id="6" name="Text 4"/>
          <p:cNvSpPr/>
          <p:nvPr/>
        </p:nvSpPr>
        <p:spPr>
          <a:xfrm>
            <a:off x="6756400" y="2453618"/>
            <a:ext cx="439521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33D"/>
                </a:solidFill>
                <a:latin typeface="Rubik" pitchFamily="34" charset="0"/>
                <a:ea typeface="Rubik" pitchFamily="34" charset="-122"/>
                <a:cs typeface="Rubik" pitchFamily="34" charset="-120"/>
              </a:rPr>
              <a:t>By the end of today you can</a:t>
            </a:r>
            <a:endParaRPr lang="en-US" sz="1800" dirty="0"/>
          </a:p>
        </p:txBody>
      </p:sp>
      <p:sp>
        <p:nvSpPr>
          <p:cNvPr id="7" name="Text 5"/>
          <p:cNvSpPr/>
          <p:nvPr/>
        </p:nvSpPr>
        <p:spPr>
          <a:xfrm>
            <a:off x="6840220" y="2880320"/>
            <a:ext cx="4303776" cy="15494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Explain local and global variables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Return two or more values</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Write a lambda</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Sort with a key function</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Rewrite the mini-project with functions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14 · SCOPE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Local and global variables</a:t>
            </a:r>
            <a:endParaRPr lang="en-US" sz="3200" dirty="0"/>
          </a:p>
        </p:txBody>
      </p:sp>
      <p:sp>
        <p:nvSpPr>
          <p:cNvPr id="4" name="Shape 2"/>
          <p:cNvSpPr/>
          <p:nvPr/>
        </p:nvSpPr>
        <p:spPr>
          <a:xfrm>
            <a:off x="812800" y="1854138"/>
            <a:ext cx="5461529" cy="2931120"/>
          </a:xfrm>
          <a:prstGeom prst="roundRect">
            <a:avLst>
              <a:gd name="adj" fmla="val 4333"/>
            </a:avLst>
          </a:prstGeom>
          <a:solidFill>
            <a:srgbClr val="1B2A41"/>
          </a:solidFill>
          <a:ln/>
        </p:spPr>
      </p:sp>
      <p:sp>
        <p:nvSpPr>
          <p:cNvPr id="5" name="Text 3"/>
          <p:cNvSpPr/>
          <p:nvPr/>
        </p:nvSpPr>
        <p:spPr>
          <a:xfrm>
            <a:off x="1066800" y="2031938"/>
            <a:ext cx="5102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scope.py</a:t>
            </a:r>
            <a:endParaRPr lang="en-US" sz="1200" dirty="0"/>
          </a:p>
        </p:txBody>
      </p:sp>
      <p:sp>
        <p:nvSpPr>
          <p:cNvPr id="6" name="Text 4"/>
          <p:cNvSpPr/>
          <p:nvPr/>
        </p:nvSpPr>
        <p:spPr>
          <a:xfrm>
            <a:off x="1066800" y="2321458"/>
            <a:ext cx="5102135" cy="2311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city = </a:t>
            </a:r>
            <a:r>
              <a:rPr lang="en-US" sz="1500" dirty="0">
                <a:solidFill>
                  <a:srgbClr val="9FD8A8"/>
                </a:solidFill>
                <a:latin typeface="JetBrains Mono" pitchFamily="49" charset="0"/>
                <a:ea typeface="JetBrains Mono" pitchFamily="49" charset="-122"/>
                <a:cs typeface="JetBrains Mono" pitchFamily="49" charset="-120"/>
              </a:rPr>
              <a:t>"Bhubaneswar"</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8FA3B8"/>
                </a:solidFill>
                <a:latin typeface="JetBrains Mono" pitchFamily="49" charset="0"/>
                <a:ea typeface="JetBrains Mono" pitchFamily="49" charset="-122"/>
                <a:cs typeface="JetBrains Mono" pitchFamily="49" charset="-120"/>
              </a:rPr>
              <a:t># global</a:t>
            </a:r>
            <a:endParaRPr lang="en-US" sz="1500" dirty="0"/>
          </a:p>
          <a:p>
            <a:pPr algn="l" indent="0" marL="0">
              <a:lnSpc>
                <a:spcPts val="2250"/>
              </a:lnSpc>
              <a:buNone/>
            </a:pP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trip():</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city = </a:t>
            </a:r>
            <a:r>
              <a:rPr lang="en-US" sz="1500" dirty="0">
                <a:solidFill>
                  <a:srgbClr val="9FD8A8"/>
                </a:solidFill>
                <a:latin typeface="JetBrains Mono" pitchFamily="49" charset="0"/>
                <a:ea typeface="JetBrains Mono" pitchFamily="49" charset="-122"/>
                <a:cs typeface="JetBrains Mono" pitchFamily="49" charset="-120"/>
              </a:rPr>
              <a:t>"Puri"</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8FA3B8"/>
                </a:solidFill>
                <a:latin typeface="JetBrains Mono" pitchFamily="49" charset="0"/>
                <a:ea typeface="JetBrains Mono" pitchFamily="49" charset="-122"/>
                <a:cs typeface="JetBrains Mono" pitchFamily="49" charset="-120"/>
              </a:rPr>
              <a:t># local</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"In trip:"</a:t>
            </a:r>
            <a:r>
              <a:rPr lang="en-US" sz="1500" dirty="0">
                <a:solidFill>
                  <a:srgbClr val="E8EDF3"/>
                </a:solidFill>
                <a:latin typeface="JetBrains Mono" pitchFamily="49" charset="0"/>
                <a:ea typeface="JetBrains Mono" pitchFamily="49" charset="-122"/>
                <a:cs typeface="JetBrains Mono" pitchFamily="49" charset="-120"/>
              </a:rPr>
              <a:t>, city)</a:t>
            </a:r>
            <a:endParaRPr lang="en-US" sz="1500" dirty="0"/>
          </a:p>
          <a:p>
            <a:pPr algn="l" indent="0" marL="0">
              <a:lnSpc>
                <a:spcPts val="2250"/>
              </a:lnSpc>
              <a:buNone/>
            </a:pP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trip()</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9FD8A8"/>
                </a:solidFill>
                <a:latin typeface="JetBrains Mono" pitchFamily="49" charset="0"/>
                <a:ea typeface="JetBrains Mono" pitchFamily="49" charset="-122"/>
                <a:cs typeface="JetBrains Mono" pitchFamily="49" charset="-120"/>
              </a:rPr>
              <a:t>"Outside:"</a:t>
            </a:r>
            <a:r>
              <a:rPr lang="en-US" sz="1500" dirty="0">
                <a:solidFill>
                  <a:srgbClr val="E8EDF3"/>
                </a:solidFill>
                <a:latin typeface="JetBrains Mono" pitchFamily="49" charset="0"/>
                <a:ea typeface="JetBrains Mono" pitchFamily="49" charset="-122"/>
                <a:cs typeface="JetBrains Mono" pitchFamily="49" charset="-120"/>
              </a:rPr>
              <a:t>, city)</a:t>
            </a:r>
            <a:endParaRPr lang="en-US" sz="1500" dirty="0"/>
          </a:p>
        </p:txBody>
      </p:sp>
      <p:sp>
        <p:nvSpPr>
          <p:cNvPr id="7" name="Shape 5"/>
          <p:cNvSpPr/>
          <p:nvPr/>
        </p:nvSpPr>
        <p:spPr>
          <a:xfrm>
            <a:off x="6636279" y="1860488"/>
            <a:ext cx="4736571" cy="1229320"/>
          </a:xfrm>
          <a:prstGeom prst="roundRect">
            <a:avLst>
              <a:gd name="adj" fmla="val 9814"/>
            </a:avLst>
          </a:prstGeom>
          <a:solidFill>
            <a:srgbClr val="FFFDF8"/>
          </a:solidFill>
          <a:ln w="12700">
            <a:solidFill>
              <a:srgbClr val="D9DEE5"/>
            </a:solidFill>
            <a:prstDash val="solid"/>
          </a:ln>
        </p:spPr>
      </p:sp>
      <p:sp>
        <p:nvSpPr>
          <p:cNvPr id="8" name="Text 6"/>
          <p:cNvSpPr/>
          <p:nvPr/>
        </p:nvSpPr>
        <p:spPr>
          <a:xfrm>
            <a:off x="6896629" y="2044638"/>
            <a:ext cx="434234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6896629" y="2334158"/>
            <a:ext cx="4342347"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In trip: Puri</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Outside: Bhubaneswar</a:t>
            </a:r>
            <a:endParaRPr lang="en-US" sz="1500" dirty="0"/>
          </a:p>
        </p:txBody>
      </p:sp>
      <p:sp>
        <p:nvSpPr>
          <p:cNvPr id="10" name="Shape 8"/>
          <p:cNvSpPr/>
          <p:nvPr/>
        </p:nvSpPr>
        <p:spPr>
          <a:xfrm>
            <a:off x="6636279" y="3229508"/>
            <a:ext cx="4736571" cy="1176007"/>
          </a:xfrm>
          <a:prstGeom prst="roundRect">
            <a:avLst>
              <a:gd name="adj" fmla="val 8099"/>
            </a:avLst>
          </a:prstGeom>
          <a:solidFill>
            <a:srgbClr val="FFFDF8"/>
          </a:solidFill>
          <a:ln w="12700">
            <a:solidFill>
              <a:srgbClr val="E2DED3"/>
            </a:solidFill>
            <a:prstDash val="solid"/>
          </a:ln>
        </p:spPr>
      </p:sp>
      <p:sp>
        <p:nvSpPr>
          <p:cNvPr id="11" name="Text 9"/>
          <p:cNvSpPr/>
          <p:nvPr/>
        </p:nvSpPr>
        <p:spPr>
          <a:xfrm>
            <a:off x="6845829" y="3388258"/>
            <a:ext cx="444699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Local</a:t>
            </a:r>
            <a:endParaRPr lang="en-US" sz="1800" dirty="0"/>
          </a:p>
        </p:txBody>
      </p:sp>
      <p:sp>
        <p:nvSpPr>
          <p:cNvPr id="12" name="Text 10"/>
          <p:cNvSpPr/>
          <p:nvPr/>
        </p:nvSpPr>
        <p:spPr>
          <a:xfrm>
            <a:off x="6845829" y="3713361"/>
            <a:ext cx="444699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Made inside a function. It exists only while the function runs.</a:t>
            </a:r>
            <a:endParaRPr lang="en-US" sz="1500" dirty="0"/>
          </a:p>
        </p:txBody>
      </p:sp>
      <p:sp>
        <p:nvSpPr>
          <p:cNvPr id="13" name="Shape 11"/>
          <p:cNvSpPr/>
          <p:nvPr/>
        </p:nvSpPr>
        <p:spPr>
          <a:xfrm>
            <a:off x="6636279" y="4545211"/>
            <a:ext cx="4736571" cy="1176007"/>
          </a:xfrm>
          <a:prstGeom prst="roundRect">
            <a:avLst>
              <a:gd name="adj" fmla="val 8099"/>
            </a:avLst>
          </a:prstGeom>
          <a:solidFill>
            <a:srgbClr val="FFFDF8"/>
          </a:solidFill>
          <a:ln w="12700">
            <a:solidFill>
              <a:srgbClr val="E2DED3"/>
            </a:solidFill>
            <a:prstDash val="solid"/>
          </a:ln>
        </p:spPr>
      </p:sp>
      <p:sp>
        <p:nvSpPr>
          <p:cNvPr id="14" name="Text 12"/>
          <p:cNvSpPr/>
          <p:nvPr/>
        </p:nvSpPr>
        <p:spPr>
          <a:xfrm>
            <a:off x="6845829" y="4703961"/>
            <a:ext cx="444699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Global</a:t>
            </a:r>
            <a:endParaRPr lang="en-US" sz="1800" dirty="0"/>
          </a:p>
        </p:txBody>
      </p:sp>
      <p:sp>
        <p:nvSpPr>
          <p:cNvPr id="15" name="Text 13"/>
          <p:cNvSpPr/>
          <p:nvPr/>
        </p:nvSpPr>
        <p:spPr>
          <a:xfrm>
            <a:off x="6845829" y="5029070"/>
            <a:ext cx="444699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Made outside all functions. Every function can read it.</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5 · Class 14</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14 · SEVERAL RESULTS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Returning more than one value</a:t>
            </a:r>
            <a:endParaRPr lang="en-US" sz="3200" dirty="0"/>
          </a:p>
        </p:txBody>
      </p:sp>
      <p:sp>
        <p:nvSpPr>
          <p:cNvPr id="4" name="Shape 2"/>
          <p:cNvSpPr/>
          <p:nvPr/>
        </p:nvSpPr>
        <p:spPr>
          <a:xfrm>
            <a:off x="812800" y="1854138"/>
            <a:ext cx="5461529" cy="2645370"/>
          </a:xfrm>
          <a:prstGeom prst="roundRect">
            <a:avLst>
              <a:gd name="adj" fmla="val 4801"/>
            </a:avLst>
          </a:prstGeom>
          <a:solidFill>
            <a:srgbClr val="1B2A41"/>
          </a:solidFill>
          <a:ln/>
        </p:spPr>
      </p:sp>
      <p:sp>
        <p:nvSpPr>
          <p:cNvPr id="5" name="Text 3"/>
          <p:cNvSpPr/>
          <p:nvPr/>
        </p:nvSpPr>
        <p:spPr>
          <a:xfrm>
            <a:off x="1066800" y="2031938"/>
            <a:ext cx="5102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stats.py</a:t>
            </a:r>
            <a:endParaRPr lang="en-US" sz="1200" dirty="0"/>
          </a:p>
        </p:txBody>
      </p:sp>
      <p:sp>
        <p:nvSpPr>
          <p:cNvPr id="6" name="Text 4"/>
          <p:cNvSpPr/>
          <p:nvPr/>
        </p:nvSpPr>
        <p:spPr>
          <a:xfrm>
            <a:off x="1066800" y="2321458"/>
            <a:ext cx="5102135" cy="2025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stats(marks):</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total = </a:t>
            </a:r>
            <a:r>
              <a:rPr lang="en-US" sz="1500" dirty="0">
                <a:solidFill>
                  <a:srgbClr val="F2B33D"/>
                </a:solidFill>
                <a:latin typeface="JetBrains Mono" pitchFamily="49" charset="0"/>
                <a:ea typeface="JetBrains Mono" pitchFamily="49" charset="-122"/>
                <a:cs typeface="JetBrains Mono" pitchFamily="49" charset="-120"/>
              </a:rPr>
              <a:t>sum</a:t>
            </a:r>
            <a:r>
              <a:rPr lang="en-US" sz="1500" dirty="0">
                <a:solidFill>
                  <a:srgbClr val="E8EDF3"/>
                </a:solidFill>
                <a:latin typeface="JetBrains Mono" pitchFamily="49" charset="0"/>
                <a:ea typeface="JetBrains Mono" pitchFamily="49" charset="-122"/>
                <a:cs typeface="JetBrains Mono" pitchFamily="49" charset="-120"/>
              </a:rPr>
              <a:t>(marks)</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avg = total / </a:t>
            </a:r>
            <a:r>
              <a:rPr lang="en-US" sz="1500" dirty="0">
                <a:solidFill>
                  <a:srgbClr val="F2B33D"/>
                </a:solidFill>
                <a:latin typeface="JetBrains Mono" pitchFamily="49" charset="0"/>
                <a:ea typeface="JetBrains Mono" pitchFamily="49" charset="-122"/>
                <a:cs typeface="JetBrains Mono" pitchFamily="49" charset="-120"/>
              </a:rPr>
              <a:t>len</a:t>
            </a:r>
            <a:r>
              <a:rPr lang="en-US" sz="1500" dirty="0">
                <a:solidFill>
                  <a:srgbClr val="E8EDF3"/>
                </a:solidFill>
                <a:latin typeface="JetBrains Mono" pitchFamily="49" charset="0"/>
                <a:ea typeface="JetBrains Mono" pitchFamily="49" charset="-122"/>
                <a:cs typeface="JetBrains Mono" pitchFamily="49" charset="-120"/>
              </a:rPr>
              <a:t>(marks)</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total, avg, </a:t>
            </a:r>
            <a:r>
              <a:rPr lang="en-US" sz="1500" dirty="0">
                <a:solidFill>
                  <a:srgbClr val="F2B33D"/>
                </a:solidFill>
                <a:latin typeface="JetBrains Mono" pitchFamily="49" charset="0"/>
                <a:ea typeface="JetBrains Mono" pitchFamily="49" charset="-122"/>
                <a:cs typeface="JetBrains Mono" pitchFamily="49" charset="-120"/>
              </a:rPr>
              <a:t>max</a:t>
            </a:r>
            <a:r>
              <a:rPr lang="en-US" sz="1500" dirty="0">
                <a:solidFill>
                  <a:srgbClr val="E8EDF3"/>
                </a:solidFill>
                <a:latin typeface="JetBrains Mono" pitchFamily="49" charset="0"/>
                <a:ea typeface="JetBrains Mono" pitchFamily="49" charset="-122"/>
                <a:cs typeface="JetBrains Mono" pitchFamily="49" charset="-120"/>
              </a:rPr>
              <a:t>(marks)</a:t>
            </a:r>
            <a:endParaRPr lang="en-US" sz="1500" dirty="0"/>
          </a:p>
          <a:p>
            <a:pPr algn="l" indent="0" marL="0">
              <a:lnSpc>
                <a:spcPts val="2250"/>
              </a:lnSpc>
              <a:buNone/>
            </a:pP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t, a, top = stats([78, 92, 65])</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(t, </a:t>
            </a:r>
            <a:r>
              <a:rPr lang="en-US" sz="1500" dirty="0">
                <a:solidFill>
                  <a:srgbClr val="F2B33D"/>
                </a:solidFill>
                <a:latin typeface="JetBrains Mono" pitchFamily="49" charset="0"/>
                <a:ea typeface="JetBrains Mono" pitchFamily="49" charset="-122"/>
                <a:cs typeface="JetBrains Mono" pitchFamily="49" charset="-120"/>
              </a:rPr>
              <a:t>round</a:t>
            </a:r>
            <a:r>
              <a:rPr lang="en-US" sz="1500" dirty="0">
                <a:solidFill>
                  <a:srgbClr val="E8EDF3"/>
                </a:solidFill>
                <a:latin typeface="JetBrains Mono" pitchFamily="49" charset="0"/>
                <a:ea typeface="JetBrains Mono" pitchFamily="49" charset="-122"/>
                <a:cs typeface="JetBrains Mono" pitchFamily="49" charset="-120"/>
              </a:rPr>
              <a:t>(a, 1), top)</a:t>
            </a:r>
            <a:endParaRPr lang="en-US" sz="1500" dirty="0"/>
          </a:p>
        </p:txBody>
      </p:sp>
      <p:sp>
        <p:nvSpPr>
          <p:cNvPr id="7" name="Shape 5"/>
          <p:cNvSpPr/>
          <p:nvPr/>
        </p:nvSpPr>
        <p:spPr>
          <a:xfrm>
            <a:off x="819150" y="4632858"/>
            <a:ext cx="5448829" cy="943570"/>
          </a:xfrm>
          <a:prstGeom prst="roundRect">
            <a:avLst>
              <a:gd name="adj" fmla="val 12787"/>
            </a:avLst>
          </a:prstGeom>
          <a:solidFill>
            <a:srgbClr val="FFFDF8"/>
          </a:solidFill>
          <a:ln w="12700">
            <a:solidFill>
              <a:srgbClr val="D9DEE5"/>
            </a:solidFill>
            <a:prstDash val="solid"/>
          </a:ln>
        </p:spPr>
      </p:sp>
      <p:sp>
        <p:nvSpPr>
          <p:cNvPr id="8" name="Text 6"/>
          <p:cNvSpPr/>
          <p:nvPr/>
        </p:nvSpPr>
        <p:spPr>
          <a:xfrm>
            <a:off x="1079500" y="4817008"/>
            <a:ext cx="507597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1079500" y="5106529"/>
            <a:ext cx="5075973"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235 78.3 92</a:t>
            </a:r>
            <a:endParaRPr lang="en-US" sz="1500" dirty="0"/>
          </a:p>
        </p:txBody>
      </p:sp>
      <p:sp>
        <p:nvSpPr>
          <p:cNvPr id="10" name="Text 8"/>
          <p:cNvSpPr/>
          <p:nvPr/>
        </p:nvSpPr>
        <p:spPr>
          <a:xfrm>
            <a:off x="6629929" y="1854138"/>
            <a:ext cx="4891749" cy="642541"/>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1B2A41"/>
                </a:solidFill>
                <a:latin typeface="Rubik" pitchFamily="34" charset="0"/>
                <a:ea typeface="Rubik" pitchFamily="34" charset="-122"/>
                <a:cs typeface="Rubik" pitchFamily="34" charset="-120"/>
              </a:rPr>
              <a:t>Separate the values with commas after </a:t>
            </a:r>
            <a:r>
              <a:rPr lang="en-US" sz="1800" b="1" dirty="0">
                <a:solidFill>
                  <a:srgbClr val="2A64A3"/>
                </a:solidFill>
                <a:latin typeface="Rubik" pitchFamily="34" charset="0"/>
                <a:ea typeface="Rubik" pitchFamily="34" charset="-122"/>
                <a:cs typeface="Rubik" pitchFamily="34" charset="-120"/>
              </a:rPr>
              <a:t>return</a:t>
            </a:r>
            <a:r>
              <a:rPr lang="en-US" sz="1800" b="1" dirty="0">
                <a:solidFill>
                  <a:srgbClr val="1B2A41"/>
                </a:solidFill>
                <a:latin typeface="Rubik" pitchFamily="34" charset="0"/>
                <a:ea typeface="Rubik" pitchFamily="34" charset="-122"/>
                <a:cs typeface="Rubik" pitchFamily="34" charset="-120"/>
              </a:rPr>
              <a:t>.</a:t>
            </a:r>
            <a:endParaRPr lang="en-US" sz="1800" dirty="0"/>
          </a:p>
        </p:txBody>
      </p:sp>
      <p:sp>
        <p:nvSpPr>
          <p:cNvPr id="11" name="Text 9"/>
          <p:cNvSpPr/>
          <p:nvPr/>
        </p:nvSpPr>
        <p:spPr>
          <a:xfrm>
            <a:off x="6629929" y="2598279"/>
            <a:ext cx="4891749"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568"/>
                </a:solidFill>
                <a:latin typeface="Rubik" pitchFamily="34" charset="0"/>
                <a:ea typeface="Rubik" pitchFamily="34" charset="-122"/>
                <a:cs typeface="Rubik" pitchFamily="34" charset="-120"/>
              </a:rPr>
              <a:t>Python packs them into a </a:t>
            </a:r>
            <a:r>
              <a:rPr lang="en-US" sz="1500" b="1" dirty="0">
                <a:solidFill>
                  <a:srgbClr val="4A5568"/>
                </a:solidFill>
                <a:latin typeface="Rubik" pitchFamily="34" charset="0"/>
                <a:ea typeface="Rubik" pitchFamily="34" charset="-122"/>
                <a:cs typeface="Rubik" pitchFamily="34" charset="-120"/>
              </a:rPr>
              <a:t>tuple</a:t>
            </a:r>
            <a:r>
              <a:rPr lang="en-US" sz="1500" dirty="0">
                <a:solidFill>
                  <a:srgbClr val="4A5568"/>
                </a:solidFill>
                <a:latin typeface="Rubik" pitchFamily="34" charset="0"/>
                <a:ea typeface="Rubik" pitchFamily="34" charset="-122"/>
                <a:cs typeface="Rubik" pitchFamily="34" charset="-120"/>
              </a:rPr>
              <a:t>. Unpack into separate variables, just like </a:t>
            </a:r>
            <a:r>
              <a:rPr lang="en-US" sz="1500" dirty="0">
                <a:solidFill>
                  <a:srgbClr val="2A64A3"/>
                </a:solidFill>
                <a:latin typeface="Rubik" pitchFamily="34" charset="0"/>
                <a:ea typeface="Rubik" pitchFamily="34" charset="-122"/>
                <a:cs typeface="Rubik" pitchFamily="34" charset="-120"/>
              </a:rPr>
              <a:t>x, y = point</a:t>
            </a:r>
            <a:r>
              <a:rPr lang="en-US" sz="1500" dirty="0">
                <a:solidFill>
                  <a:srgbClr val="4A5568"/>
                </a:solidFill>
                <a:latin typeface="Rubik" pitchFamily="34" charset="0"/>
                <a:ea typeface="Rubik" pitchFamily="34" charset="-122"/>
                <a:cs typeface="Rubik" pitchFamily="34" charset="-120"/>
              </a:rPr>
              <a:t>.</a:t>
            </a:r>
            <a:endParaRPr lang="en-US" sz="15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5 · Class 14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97"/>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2A64A3"/>
                </a:solidFill>
                <a:latin typeface="Rubik" pitchFamily="34" charset="0"/>
                <a:ea typeface="Rubik" pitchFamily="34" charset="-122"/>
                <a:cs typeface="Rubik" pitchFamily="34" charset="-120"/>
              </a:rPr>
              <a:t>CLASS 14 · LAMBDA</a:t>
            </a:r>
            <a:endParaRPr lang="en-US" sz="1196" dirty="0"/>
          </a:p>
        </p:txBody>
      </p:sp>
      <p:sp>
        <p:nvSpPr>
          <p:cNvPr id="3" name="Text 1"/>
          <p:cNvSpPr/>
          <p:nvPr>
            <p:ph type="title"/>
          </p:nvPr>
        </p:nvSpPr>
        <p:spPr>
          <a:xfrm>
            <a:off x="812800" y="1100999"/>
            <a:ext cx="10883392" cy="46963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Tiny one-line functions</a:t>
            </a:r>
            <a:endParaRPr lang="en-US" sz="3200" dirty="0"/>
          </a:p>
        </p:txBody>
      </p:sp>
      <p:sp>
        <p:nvSpPr>
          <p:cNvPr id="4" name="Shape 2"/>
          <p:cNvSpPr/>
          <p:nvPr/>
        </p:nvSpPr>
        <p:spPr>
          <a:xfrm>
            <a:off x="812800" y="1850033"/>
            <a:ext cx="5771290" cy="2359620"/>
          </a:xfrm>
          <a:prstGeom prst="roundRect">
            <a:avLst>
              <a:gd name="adj" fmla="val 5382"/>
            </a:avLst>
          </a:prstGeom>
          <a:solidFill>
            <a:srgbClr val="1B2A41"/>
          </a:solidFill>
          <a:ln/>
        </p:spPr>
      </p:sp>
      <p:sp>
        <p:nvSpPr>
          <p:cNvPr id="5" name="Text 3"/>
          <p:cNvSpPr/>
          <p:nvPr/>
        </p:nvSpPr>
        <p:spPr>
          <a:xfrm>
            <a:off x="1066800" y="2027833"/>
            <a:ext cx="54211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lambda.py</a:t>
            </a:r>
            <a:endParaRPr lang="en-US" sz="1200" dirty="0"/>
          </a:p>
        </p:txBody>
      </p:sp>
      <p:sp>
        <p:nvSpPr>
          <p:cNvPr id="6" name="Text 4"/>
          <p:cNvSpPr/>
          <p:nvPr/>
        </p:nvSpPr>
        <p:spPr>
          <a:xfrm>
            <a:off x="1066800" y="2317353"/>
            <a:ext cx="5421189" cy="1739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sq = </a:t>
            </a:r>
            <a:r>
              <a:rPr lang="en-US" sz="1500" dirty="0">
                <a:solidFill>
                  <a:srgbClr val="F2B33D"/>
                </a:solidFill>
                <a:latin typeface="JetBrains Mono" pitchFamily="49" charset="0"/>
                <a:ea typeface="JetBrains Mono" pitchFamily="49" charset="-122"/>
                <a:cs typeface="JetBrains Mono" pitchFamily="49" charset="-120"/>
              </a:rPr>
              <a:t>lambda</a:t>
            </a:r>
            <a:r>
              <a:rPr lang="en-US" sz="1500" dirty="0">
                <a:solidFill>
                  <a:srgbClr val="E8EDF3"/>
                </a:solidFill>
                <a:latin typeface="JetBrains Mono" pitchFamily="49" charset="0"/>
                <a:ea typeface="JetBrains Mono" pitchFamily="49" charset="-122"/>
                <a:cs typeface="JetBrains Mono" pitchFamily="49" charset="-120"/>
              </a:rPr>
              <a:t> x: x * x</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add = </a:t>
            </a:r>
            <a:r>
              <a:rPr lang="en-US" sz="1500" dirty="0">
                <a:solidFill>
                  <a:srgbClr val="F2B33D"/>
                </a:solidFill>
                <a:latin typeface="JetBrains Mono" pitchFamily="49" charset="0"/>
                <a:ea typeface="JetBrains Mono" pitchFamily="49" charset="-122"/>
                <a:cs typeface="JetBrains Mono" pitchFamily="49" charset="-120"/>
              </a:rPr>
              <a:t>lambda</a:t>
            </a:r>
            <a:r>
              <a:rPr lang="en-US" sz="1500" dirty="0">
                <a:solidFill>
                  <a:srgbClr val="E8EDF3"/>
                </a:solidFill>
                <a:latin typeface="JetBrains Mono" pitchFamily="49" charset="0"/>
                <a:ea typeface="JetBrains Mono" pitchFamily="49" charset="-122"/>
                <a:cs typeface="JetBrains Mono" pitchFamily="49" charset="-120"/>
              </a:rPr>
              <a:t> a, b: a + b</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(sq(5), add(2, 3))</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nums = [1, 2, 3, 4]</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list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map</a:t>
            </a:r>
            <a:r>
              <a:rPr lang="en-US" sz="1500" dirty="0">
                <a:solidFill>
                  <a:srgbClr val="E8EDF3"/>
                </a:solidFill>
                <a:latin typeface="JetBrains Mono" pitchFamily="49" charset="0"/>
                <a:ea typeface="JetBrains Mono" pitchFamily="49" charset="-122"/>
                <a:cs typeface="JetBrains Mono" pitchFamily="49" charset="-120"/>
              </a:rPr>
              <a:t>(sq, nums)))</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list</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filter</a:t>
            </a:r>
            <a:r>
              <a:rPr lang="en-US" sz="1500" dirty="0">
                <a:solidFill>
                  <a:srgbClr val="E8EDF3"/>
                </a:solidFill>
                <a:latin typeface="JetBrains Mono" pitchFamily="49" charset="0"/>
                <a:ea typeface="JetBrains Mono" pitchFamily="49" charset="-122"/>
                <a:cs typeface="JetBrains Mono" pitchFamily="49" charset="-120"/>
              </a:rPr>
              <a:t>(</a:t>
            </a:r>
            <a:r>
              <a:rPr lang="en-US" sz="1500" dirty="0">
                <a:solidFill>
                  <a:srgbClr val="F2B33D"/>
                </a:solidFill>
                <a:latin typeface="JetBrains Mono" pitchFamily="49" charset="0"/>
                <a:ea typeface="JetBrains Mono" pitchFamily="49" charset="-122"/>
                <a:cs typeface="JetBrains Mono" pitchFamily="49" charset="-120"/>
              </a:rPr>
              <a:t>lambda</a:t>
            </a:r>
            <a:r>
              <a:rPr lang="en-US" sz="1500" dirty="0">
                <a:solidFill>
                  <a:srgbClr val="E8EDF3"/>
                </a:solidFill>
                <a:latin typeface="JetBrains Mono" pitchFamily="49" charset="0"/>
                <a:ea typeface="JetBrains Mono" pitchFamily="49" charset="-122"/>
                <a:cs typeface="JetBrains Mono" pitchFamily="49" charset="-120"/>
              </a:rPr>
              <a:t> n: n &gt; 2, nums)))</a:t>
            </a:r>
            <a:endParaRPr lang="en-US" sz="1500" dirty="0"/>
          </a:p>
        </p:txBody>
      </p:sp>
      <p:sp>
        <p:nvSpPr>
          <p:cNvPr id="7" name="Shape 5"/>
          <p:cNvSpPr/>
          <p:nvPr/>
        </p:nvSpPr>
        <p:spPr>
          <a:xfrm>
            <a:off x="819150" y="4343003"/>
            <a:ext cx="5758590" cy="1515070"/>
          </a:xfrm>
          <a:prstGeom prst="roundRect">
            <a:avLst>
              <a:gd name="adj" fmla="val 7963"/>
            </a:avLst>
          </a:prstGeom>
          <a:solidFill>
            <a:srgbClr val="FFFDF8"/>
          </a:solidFill>
          <a:ln w="12700">
            <a:solidFill>
              <a:srgbClr val="D9DEE5"/>
            </a:solidFill>
            <a:prstDash val="solid"/>
          </a:ln>
        </p:spPr>
      </p:sp>
      <p:sp>
        <p:nvSpPr>
          <p:cNvPr id="8" name="Text 6"/>
          <p:cNvSpPr/>
          <p:nvPr/>
        </p:nvSpPr>
        <p:spPr>
          <a:xfrm>
            <a:off x="1079500" y="4527153"/>
            <a:ext cx="539502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1079500" y="4816673"/>
            <a:ext cx="5395027"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25 5</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 4, 9, 16]</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[3, 4]</a:t>
            </a:r>
            <a:endParaRPr lang="en-US" sz="1500" dirty="0"/>
          </a:p>
        </p:txBody>
      </p:sp>
      <p:sp>
        <p:nvSpPr>
          <p:cNvPr id="10" name="Text 8"/>
          <p:cNvSpPr/>
          <p:nvPr/>
        </p:nvSpPr>
        <p:spPr>
          <a:xfrm>
            <a:off x="6939690" y="1850033"/>
            <a:ext cx="4572695" cy="642541"/>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2A64A3"/>
                </a:solidFill>
                <a:latin typeface="Rubik" pitchFamily="34" charset="0"/>
                <a:ea typeface="Rubik" pitchFamily="34" charset="-122"/>
                <a:cs typeface="Rubik" pitchFamily="34" charset="-120"/>
              </a:rPr>
              <a:t>lambda</a:t>
            </a:r>
            <a:r>
              <a:rPr lang="en-US" sz="1800" b="1" dirty="0">
                <a:solidFill>
                  <a:srgbClr val="1B2A41"/>
                </a:solidFill>
                <a:latin typeface="Rubik" pitchFamily="34" charset="0"/>
                <a:ea typeface="Rubik" pitchFamily="34" charset="-122"/>
                <a:cs typeface="Rubik" pitchFamily="34" charset="-120"/>
              </a:rPr>
              <a:t> makes a small function with no name, in one line.</a:t>
            </a:r>
            <a:endParaRPr lang="en-US" sz="1800" dirty="0"/>
          </a:p>
        </p:txBody>
      </p:sp>
      <p:sp>
        <p:nvSpPr>
          <p:cNvPr id="11" name="Shape 9"/>
          <p:cNvSpPr/>
          <p:nvPr/>
        </p:nvSpPr>
        <p:spPr>
          <a:xfrm>
            <a:off x="6946040" y="2600523"/>
            <a:ext cx="4426810" cy="909307"/>
          </a:xfrm>
          <a:prstGeom prst="roundRect">
            <a:avLst>
              <a:gd name="adj" fmla="val 10475"/>
            </a:avLst>
          </a:prstGeom>
          <a:solidFill>
            <a:srgbClr val="FFFDF8"/>
          </a:solidFill>
          <a:ln w="12700">
            <a:solidFill>
              <a:srgbClr val="E2DED3"/>
            </a:solidFill>
            <a:prstDash val="solid"/>
          </a:ln>
        </p:spPr>
      </p:sp>
      <p:sp>
        <p:nvSpPr>
          <p:cNvPr id="12" name="Text 10"/>
          <p:cNvSpPr/>
          <p:nvPr/>
        </p:nvSpPr>
        <p:spPr>
          <a:xfrm>
            <a:off x="7155590" y="2759273"/>
            <a:ext cx="412794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sq is the same as</a:t>
            </a:r>
            <a:endParaRPr lang="en-US" sz="1800" dirty="0"/>
          </a:p>
        </p:txBody>
      </p:sp>
      <p:sp>
        <p:nvSpPr>
          <p:cNvPr id="13" name="Text 11"/>
          <p:cNvSpPr/>
          <p:nvPr/>
        </p:nvSpPr>
        <p:spPr>
          <a:xfrm>
            <a:off x="7155590" y="3084382"/>
            <a:ext cx="412794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Rubik" pitchFamily="34" charset="0"/>
                <a:ea typeface="Rubik" pitchFamily="34" charset="-122"/>
                <a:cs typeface="Rubik" pitchFamily="34" charset="-120"/>
              </a:rPr>
              <a:t>def sq(x): return x * x</a:t>
            </a:r>
            <a:endParaRPr lang="en-US" sz="1500" dirty="0"/>
          </a:p>
        </p:txBody>
      </p:sp>
      <p:sp>
        <p:nvSpPr>
          <p:cNvPr id="14" name="Text 12"/>
          <p:cNvSpPr/>
          <p:nvPr/>
        </p:nvSpPr>
        <p:spPr>
          <a:xfrm>
            <a:off x="6939690" y="3643182"/>
            <a:ext cx="4439510" cy="838200"/>
          </a:xfrm>
          <a:prstGeom prst="roundRect">
            <a:avLst>
              <a:gd name="adj" fmla="val 15152"/>
            </a:avLst>
          </a:prstGeom>
          <a:solidFill>
            <a:srgbClr val="FBEFD5"/>
          </a:solidFill>
          <a:ln/>
        </p:spPr>
        <p:txBody>
          <a:bodyPr wrap="square" lIns="166003" tIns="115203" rIns="45010" bIns="89803" rtlCol="0" anchor="t">
            <a:normAutofit/>
          </a:bodyPr>
          <a:lstStyle/>
          <a:p>
            <a:pPr algn="l" indent="0" marL="0">
              <a:lnSpc>
                <a:spcPts val="2100"/>
              </a:lnSpc>
              <a:buNone/>
            </a:pPr>
            <a:r>
              <a:rPr lang="en-US" sz="1500" b="1" dirty="0">
                <a:solidFill>
                  <a:srgbClr val="1B2A41"/>
                </a:solidFill>
                <a:latin typeface="Rubik" pitchFamily="34" charset="0"/>
                <a:ea typeface="Rubik" pitchFamily="34" charset="-122"/>
                <a:cs typeface="Rubik" pitchFamily="34" charset="-120"/>
              </a:rPr>
              <a:t>map</a:t>
            </a:r>
            <a:r>
              <a:rPr lang="en-US" sz="1500" dirty="0">
                <a:solidFill>
                  <a:srgbClr val="1B2A41"/>
                </a:solidFill>
                <a:latin typeface="Rubik" pitchFamily="34" charset="0"/>
                <a:ea typeface="Rubik" pitchFamily="34" charset="-122"/>
                <a:cs typeface="Rubik" pitchFamily="34" charset="-120"/>
              </a:rPr>
              <a:t> changes every item. </a:t>
            </a:r>
            <a:r>
              <a:rPr lang="en-US" sz="1500" b="1" dirty="0">
                <a:solidFill>
                  <a:srgbClr val="1B2A41"/>
                </a:solidFill>
                <a:latin typeface="Rubik" pitchFamily="34" charset="0"/>
                <a:ea typeface="Rubik" pitchFamily="34" charset="-122"/>
                <a:cs typeface="Rubik" pitchFamily="34" charset="-120"/>
              </a:rPr>
              <a:t>filter</a:t>
            </a:r>
            <a:r>
              <a:rPr lang="en-US" sz="1500" dirty="0">
                <a:solidFill>
                  <a:srgbClr val="1B2A41"/>
                </a:solidFill>
                <a:latin typeface="Rubik" pitchFamily="34" charset="0"/>
                <a:ea typeface="Rubik" pitchFamily="34" charset="-122"/>
                <a:cs typeface="Rubik" pitchFamily="34" charset="-120"/>
              </a:rPr>
              <a:t> keeps the items that pass a test.</a:t>
            </a:r>
            <a:endParaRPr lang="en-US" sz="15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5 · Class 14</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14 · SORTING WITH A KEY</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Sorting students by marks</a:t>
            </a:r>
            <a:endParaRPr lang="en-US" sz="3200" dirty="0"/>
          </a:p>
        </p:txBody>
      </p:sp>
      <p:sp>
        <p:nvSpPr>
          <p:cNvPr id="4" name="Shape 2"/>
          <p:cNvSpPr/>
          <p:nvPr/>
        </p:nvSpPr>
        <p:spPr>
          <a:xfrm>
            <a:off x="812800" y="1854138"/>
            <a:ext cx="5771290" cy="2645370"/>
          </a:xfrm>
          <a:prstGeom prst="roundRect">
            <a:avLst>
              <a:gd name="adj" fmla="val 4801"/>
            </a:avLst>
          </a:prstGeom>
          <a:solidFill>
            <a:srgbClr val="1B2A41"/>
          </a:solidFill>
          <a:ln/>
        </p:spPr>
      </p:sp>
      <p:sp>
        <p:nvSpPr>
          <p:cNvPr id="5" name="Text 3"/>
          <p:cNvSpPr/>
          <p:nvPr/>
        </p:nvSpPr>
        <p:spPr>
          <a:xfrm>
            <a:off x="1066800" y="2031938"/>
            <a:ext cx="54211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rank.py</a:t>
            </a:r>
            <a:endParaRPr lang="en-US" sz="1200" dirty="0"/>
          </a:p>
        </p:txBody>
      </p:sp>
      <p:sp>
        <p:nvSpPr>
          <p:cNvPr id="6" name="Text 4"/>
          <p:cNvSpPr/>
          <p:nvPr/>
        </p:nvSpPr>
        <p:spPr>
          <a:xfrm>
            <a:off x="1066800" y="2321458"/>
            <a:ext cx="5421189" cy="2025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marks = {</a:t>
            </a:r>
            <a:r>
              <a:rPr lang="en-US" sz="1500" dirty="0">
                <a:solidFill>
                  <a:srgbClr val="9FD8A8"/>
                </a:solidFill>
                <a:latin typeface="JetBrains Mono" pitchFamily="49" charset="0"/>
                <a:ea typeface="JetBrains Mono" pitchFamily="49" charset="-122"/>
                <a:cs typeface="JetBrains Mono" pitchFamily="49" charset="-120"/>
              </a:rPr>
              <a:t>"Ananya"</a:t>
            </a:r>
            <a:r>
              <a:rPr lang="en-US" sz="1500" dirty="0">
                <a:solidFill>
                  <a:srgbClr val="E8EDF3"/>
                </a:solidFill>
                <a:latin typeface="JetBrains Mono" pitchFamily="49" charset="0"/>
                <a:ea typeface="JetBrains Mono" pitchFamily="49" charset="-122"/>
                <a:cs typeface="JetBrains Mono" pitchFamily="49" charset="-120"/>
              </a:rPr>
              <a:t>: 92, </a:t>
            </a:r>
            <a:r>
              <a:rPr lang="en-US" sz="1500" dirty="0">
                <a:solidFill>
                  <a:srgbClr val="9FD8A8"/>
                </a:solidFill>
                <a:latin typeface="JetBrains Mono" pitchFamily="49" charset="0"/>
                <a:ea typeface="JetBrains Mono" pitchFamily="49" charset="-122"/>
                <a:cs typeface="JetBrains Mono" pitchFamily="49" charset="-120"/>
              </a:rPr>
              <a:t>"Subham"</a:t>
            </a:r>
            <a:r>
              <a:rPr lang="en-US" sz="1500" dirty="0">
                <a:solidFill>
                  <a:srgbClr val="E8EDF3"/>
                </a:solidFill>
                <a:latin typeface="JetBrains Mono" pitchFamily="49" charset="0"/>
                <a:ea typeface="JetBrains Mono" pitchFamily="49" charset="-122"/>
                <a:cs typeface="JetBrains Mono" pitchFamily="49" charset="-120"/>
              </a:rPr>
              <a:t>: 78,</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9FD8A8"/>
                </a:solidFill>
                <a:latin typeface="JetBrains Mono" pitchFamily="49" charset="0"/>
                <a:ea typeface="JetBrains Mono" pitchFamily="49" charset="-122"/>
                <a:cs typeface="JetBrains Mono" pitchFamily="49" charset="-120"/>
              </a:rPr>
              <a:t>"Priyanka"</a:t>
            </a:r>
            <a:r>
              <a:rPr lang="en-US" sz="1500" dirty="0">
                <a:solidFill>
                  <a:srgbClr val="E8EDF3"/>
                </a:solidFill>
                <a:latin typeface="JetBrains Mono" pitchFamily="49" charset="0"/>
                <a:ea typeface="JetBrains Mono" pitchFamily="49" charset="-122"/>
                <a:cs typeface="JetBrains Mono" pitchFamily="49" charset="-120"/>
              </a:rPr>
              <a:t>: 88}</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ranked = </a:t>
            </a:r>
            <a:r>
              <a:rPr lang="en-US" sz="1500" dirty="0">
                <a:solidFill>
                  <a:srgbClr val="F2B33D"/>
                </a:solidFill>
                <a:latin typeface="JetBrains Mono" pitchFamily="49" charset="0"/>
                <a:ea typeface="JetBrains Mono" pitchFamily="49" charset="-122"/>
                <a:cs typeface="JetBrains Mono" pitchFamily="49" charset="-120"/>
              </a:rPr>
              <a:t>sorted</a:t>
            </a:r>
            <a:r>
              <a:rPr lang="en-US" sz="1500" dirty="0">
                <a:solidFill>
                  <a:srgbClr val="E8EDF3"/>
                </a:solidFill>
                <a:latin typeface="JetBrains Mono" pitchFamily="49" charset="0"/>
                <a:ea typeface="JetBrains Mono" pitchFamily="49" charset="-122"/>
                <a:cs typeface="JetBrains Mono" pitchFamily="49" charset="-120"/>
              </a:rPr>
              <a:t>(marks.items(),</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key=</a:t>
            </a:r>
            <a:r>
              <a:rPr lang="en-US" sz="1500" dirty="0">
                <a:solidFill>
                  <a:srgbClr val="F2B33D"/>
                </a:solidFill>
                <a:latin typeface="JetBrains Mono" pitchFamily="49" charset="0"/>
                <a:ea typeface="JetBrains Mono" pitchFamily="49" charset="-122"/>
                <a:cs typeface="JetBrains Mono" pitchFamily="49" charset="-120"/>
              </a:rPr>
              <a:t>lambda</a:t>
            </a:r>
            <a:r>
              <a:rPr lang="en-US" sz="1500" dirty="0">
                <a:solidFill>
                  <a:srgbClr val="E8EDF3"/>
                </a:solidFill>
                <a:latin typeface="JetBrains Mono" pitchFamily="49" charset="0"/>
                <a:ea typeface="JetBrains Mono" pitchFamily="49" charset="-122"/>
                <a:cs typeface="JetBrains Mono" pitchFamily="49" charset="-120"/>
              </a:rPr>
              <a:t> p: p[1],</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reverse=</a:t>
            </a:r>
            <a:r>
              <a:rPr lang="en-US" sz="1500" dirty="0">
                <a:solidFill>
                  <a:srgbClr val="F2B33D"/>
                </a:solidFill>
                <a:latin typeface="JetBrains Mono" pitchFamily="49" charset="0"/>
                <a:ea typeface="JetBrains Mono" pitchFamily="49" charset="-122"/>
                <a:cs typeface="JetBrains Mono" pitchFamily="49" charset="-120"/>
              </a:rPr>
              <a:t>True</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for</a:t>
            </a:r>
            <a:r>
              <a:rPr lang="en-US" sz="1500" dirty="0">
                <a:solidFill>
                  <a:srgbClr val="E8EDF3"/>
                </a:solidFill>
                <a:latin typeface="JetBrains Mono" pitchFamily="49" charset="0"/>
                <a:ea typeface="JetBrains Mono" pitchFamily="49" charset="-122"/>
                <a:cs typeface="JetBrains Mono" pitchFamily="49" charset="-120"/>
              </a:rPr>
              <a:t> rank, (name, m) </a:t>
            </a:r>
            <a:r>
              <a:rPr lang="en-US" sz="1500" dirty="0">
                <a:solidFill>
                  <a:srgbClr val="F2B33D"/>
                </a:solidFill>
                <a:latin typeface="JetBrains Mono" pitchFamily="49" charset="0"/>
                <a:ea typeface="JetBrains Mono" pitchFamily="49" charset="-122"/>
                <a:cs typeface="JetBrains Mono" pitchFamily="49" charset="-120"/>
              </a:rPr>
              <a:t>in</a:t>
            </a: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enumerate</a:t>
            </a:r>
            <a:r>
              <a:rPr lang="en-US" sz="1500" dirty="0">
                <a:solidFill>
                  <a:srgbClr val="E8EDF3"/>
                </a:solidFill>
                <a:latin typeface="JetBrains Mono" pitchFamily="49" charset="0"/>
                <a:ea typeface="JetBrains Mono" pitchFamily="49" charset="-122"/>
                <a:cs typeface="JetBrains Mono" pitchFamily="49" charset="-120"/>
              </a:rPr>
              <a:t>(ranked, 1):</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(rank, name, m)</a:t>
            </a:r>
            <a:endParaRPr lang="en-US" sz="1500" dirty="0"/>
          </a:p>
        </p:txBody>
      </p:sp>
      <p:sp>
        <p:nvSpPr>
          <p:cNvPr id="7" name="Shape 5"/>
          <p:cNvSpPr/>
          <p:nvPr/>
        </p:nvSpPr>
        <p:spPr>
          <a:xfrm>
            <a:off x="6946040" y="1860488"/>
            <a:ext cx="4426810" cy="1515070"/>
          </a:xfrm>
          <a:prstGeom prst="roundRect">
            <a:avLst>
              <a:gd name="adj" fmla="val 7963"/>
            </a:avLst>
          </a:prstGeom>
          <a:solidFill>
            <a:srgbClr val="FFFDF8"/>
          </a:solidFill>
          <a:ln w="12700">
            <a:solidFill>
              <a:srgbClr val="D9DEE5"/>
            </a:solidFill>
            <a:prstDash val="solid"/>
          </a:ln>
        </p:spPr>
      </p:sp>
      <p:sp>
        <p:nvSpPr>
          <p:cNvPr id="8" name="Text 6"/>
          <p:cNvSpPr/>
          <p:nvPr/>
        </p:nvSpPr>
        <p:spPr>
          <a:xfrm>
            <a:off x="7206390" y="2044638"/>
            <a:ext cx="402329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7206390" y="2334158"/>
            <a:ext cx="4023293"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 Ananya 92</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2 Priyanka 88</a:t>
            </a:r>
            <a:endParaRPr lang="en-US" sz="1500" dirty="0"/>
          </a:p>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3 Subham 78</a:t>
            </a:r>
            <a:endParaRPr lang="en-US" sz="1500" dirty="0"/>
          </a:p>
        </p:txBody>
      </p:sp>
      <p:sp>
        <p:nvSpPr>
          <p:cNvPr id="10" name="Shape 8"/>
          <p:cNvSpPr/>
          <p:nvPr/>
        </p:nvSpPr>
        <p:spPr>
          <a:xfrm>
            <a:off x="6946040" y="3515258"/>
            <a:ext cx="4426810" cy="482600"/>
          </a:xfrm>
          <a:prstGeom prst="roundRect">
            <a:avLst>
              <a:gd name="adj" fmla="val 17105"/>
            </a:avLst>
          </a:prstGeom>
          <a:solidFill>
            <a:srgbClr val="FFFDF8"/>
          </a:solidFill>
          <a:ln w="12700">
            <a:solidFill>
              <a:srgbClr val="E2DED3"/>
            </a:solidFill>
            <a:prstDash val="solid"/>
          </a:ln>
        </p:spPr>
      </p:sp>
      <p:sp>
        <p:nvSpPr>
          <p:cNvPr id="11" name="Text 9"/>
          <p:cNvSpPr/>
          <p:nvPr/>
        </p:nvSpPr>
        <p:spPr>
          <a:xfrm>
            <a:off x="7104790" y="362320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12" name="Text 10"/>
          <p:cNvSpPr/>
          <p:nvPr/>
        </p:nvSpPr>
        <p:spPr>
          <a:xfrm>
            <a:off x="7561990" y="3623208"/>
            <a:ext cx="362854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items():</a:t>
            </a:r>
            <a:r>
              <a:rPr lang="en-US" sz="1500" dirty="0">
                <a:solidFill>
                  <a:srgbClr val="4A5568"/>
                </a:solidFill>
                <a:latin typeface="Rubik" pitchFamily="34" charset="0"/>
                <a:ea typeface="Rubik" pitchFamily="34" charset="-122"/>
                <a:cs typeface="Rubik" pitchFamily="34" charset="-120"/>
              </a:rPr>
              <a:t> gives (name, marks) pairs</a:t>
            </a:r>
            <a:endParaRPr lang="en-US" sz="1500" dirty="0"/>
          </a:p>
        </p:txBody>
      </p:sp>
      <p:sp>
        <p:nvSpPr>
          <p:cNvPr id="13" name="Shape 11"/>
          <p:cNvSpPr/>
          <p:nvPr/>
        </p:nvSpPr>
        <p:spPr>
          <a:xfrm>
            <a:off x="6946040" y="4137558"/>
            <a:ext cx="4426810" cy="482600"/>
          </a:xfrm>
          <a:prstGeom prst="roundRect">
            <a:avLst>
              <a:gd name="adj" fmla="val 17105"/>
            </a:avLst>
          </a:prstGeom>
          <a:solidFill>
            <a:srgbClr val="FFFDF8"/>
          </a:solidFill>
          <a:ln w="12700">
            <a:solidFill>
              <a:srgbClr val="E2DED3"/>
            </a:solidFill>
            <a:prstDash val="solid"/>
          </a:ln>
        </p:spPr>
      </p:sp>
      <p:sp>
        <p:nvSpPr>
          <p:cNvPr id="14" name="Text 12"/>
          <p:cNvSpPr/>
          <p:nvPr/>
        </p:nvSpPr>
        <p:spPr>
          <a:xfrm>
            <a:off x="7104790" y="424550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15" name="Text 13"/>
          <p:cNvSpPr/>
          <p:nvPr/>
        </p:nvSpPr>
        <p:spPr>
          <a:xfrm>
            <a:off x="7561990" y="4245508"/>
            <a:ext cx="380451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key:</a:t>
            </a:r>
            <a:r>
              <a:rPr lang="en-US" sz="1500" dirty="0">
                <a:solidFill>
                  <a:srgbClr val="4A5568"/>
                </a:solidFill>
                <a:latin typeface="Rubik" pitchFamily="34" charset="0"/>
                <a:ea typeface="Rubik" pitchFamily="34" charset="-122"/>
                <a:cs typeface="Rubik" pitchFamily="34" charset="-120"/>
              </a:rPr>
              <a:t> says what to sort by: </a:t>
            </a:r>
            <a:r>
              <a:rPr lang="en-US" sz="1500" dirty="0">
                <a:solidFill>
                  <a:srgbClr val="2A64A3"/>
                </a:solidFill>
                <a:latin typeface="Rubik" pitchFamily="34" charset="0"/>
                <a:ea typeface="Rubik" pitchFamily="34" charset="-122"/>
                <a:cs typeface="Rubik" pitchFamily="34" charset="-120"/>
              </a:rPr>
              <a:t>p[1]</a:t>
            </a:r>
            <a:r>
              <a:rPr lang="en-US" sz="1500" dirty="0">
                <a:solidFill>
                  <a:srgbClr val="4A5568"/>
                </a:solidFill>
                <a:latin typeface="Rubik" pitchFamily="34" charset="0"/>
                <a:ea typeface="Rubik" pitchFamily="34" charset="-122"/>
                <a:cs typeface="Rubik" pitchFamily="34" charset="-120"/>
              </a:rPr>
              <a:t>, the marks</a:t>
            </a:r>
            <a:endParaRPr lang="en-US" sz="1500" dirty="0"/>
          </a:p>
        </p:txBody>
      </p:sp>
      <p:sp>
        <p:nvSpPr>
          <p:cNvPr id="16" name="Shape 14"/>
          <p:cNvSpPr/>
          <p:nvPr/>
        </p:nvSpPr>
        <p:spPr>
          <a:xfrm>
            <a:off x="6946040" y="4759858"/>
            <a:ext cx="4426810" cy="482600"/>
          </a:xfrm>
          <a:prstGeom prst="roundRect">
            <a:avLst>
              <a:gd name="adj" fmla="val 17105"/>
            </a:avLst>
          </a:prstGeom>
          <a:solidFill>
            <a:srgbClr val="FFFDF8"/>
          </a:solidFill>
          <a:ln w="12700">
            <a:solidFill>
              <a:srgbClr val="E2DED3"/>
            </a:solidFill>
            <a:prstDash val="solid"/>
          </a:ln>
        </p:spPr>
      </p:sp>
      <p:sp>
        <p:nvSpPr>
          <p:cNvPr id="17" name="Text 15"/>
          <p:cNvSpPr/>
          <p:nvPr/>
        </p:nvSpPr>
        <p:spPr>
          <a:xfrm>
            <a:off x="7104790" y="486780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3</a:t>
            </a:r>
            <a:endParaRPr lang="en-US" sz="1500" dirty="0"/>
          </a:p>
        </p:txBody>
      </p:sp>
      <p:sp>
        <p:nvSpPr>
          <p:cNvPr id="18" name="Text 16"/>
          <p:cNvSpPr/>
          <p:nvPr/>
        </p:nvSpPr>
        <p:spPr>
          <a:xfrm>
            <a:off x="7561990" y="4867808"/>
            <a:ext cx="380451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enumerate:</a:t>
            </a:r>
            <a:r>
              <a:rPr lang="en-US" sz="1500" dirty="0">
                <a:solidFill>
                  <a:srgbClr val="4A5568"/>
                </a:solidFill>
                <a:latin typeface="Rubik" pitchFamily="34" charset="0"/>
                <a:ea typeface="Rubik" pitchFamily="34" charset="-122"/>
                <a:cs typeface="Rubik" pitchFamily="34" charset="-120"/>
              </a:rPr>
              <a:t> counts 1, 2, 3 for the rank</a:t>
            </a:r>
            <a:endParaRPr lang="en-US" sz="15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5 · Class 14</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14 · TIDY CODE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The record manager, rebuilt with functions</a:t>
            </a:r>
            <a:endParaRPr lang="en-US" sz="3200" dirty="0"/>
          </a:p>
        </p:txBody>
      </p:sp>
      <p:sp>
        <p:nvSpPr>
          <p:cNvPr id="4" name="Shape 2"/>
          <p:cNvSpPr/>
          <p:nvPr/>
        </p:nvSpPr>
        <p:spPr>
          <a:xfrm>
            <a:off x="819150" y="1860488"/>
            <a:ext cx="2476500" cy="1986227"/>
          </a:xfrm>
          <a:prstGeom prst="roundRect">
            <a:avLst>
              <a:gd name="adj" fmla="val 6074"/>
            </a:avLst>
          </a:prstGeom>
          <a:solidFill>
            <a:srgbClr val="FFFDF8"/>
          </a:solidFill>
          <a:ln w="12700">
            <a:solidFill>
              <a:srgbClr val="E2DED3"/>
            </a:solidFill>
            <a:prstDash val="solid"/>
          </a:ln>
        </p:spPr>
      </p:sp>
      <p:sp>
        <p:nvSpPr>
          <p:cNvPr id="5" name="Text 3"/>
          <p:cNvSpPr/>
          <p:nvPr/>
        </p:nvSpPr>
        <p:spPr>
          <a:xfrm>
            <a:off x="1028700" y="2070038"/>
            <a:ext cx="1527440" cy="289520"/>
          </a:xfrm>
          <a:custGeom>
            <a:avLst/>
            <a:gdLst/>
            <a:ahLst/>
            <a:cxnLst/>
            <a:rect l="l" t="t" r="r" b="b"/>
            <a:pathLst>
              <a:path w="1527440" h="289520">
                <a:moveTo>
                  <a:pt x="144760" y="0"/>
                </a:moveTo>
                <a:lnTo>
                  <a:pt x="1382679" y="0"/>
                </a:lnTo>
                <a:arcTo hR="144760" wR="144760" stAng="16200000" swAng="5400000"/>
                <a:lnTo>
                  <a:pt x="152744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add_student(db)</a:t>
            </a:r>
            <a:endParaRPr lang="en-US" sz="1200" dirty="0"/>
          </a:p>
        </p:txBody>
      </p:sp>
      <p:sp>
        <p:nvSpPr>
          <p:cNvPr id="6" name="Text 4"/>
          <p:cNvSpPr/>
          <p:nvPr/>
        </p:nvSpPr>
        <p:spPr>
          <a:xfrm>
            <a:off x="10287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Add</a:t>
            </a:r>
            <a:endParaRPr lang="en-US" sz="1800" dirty="0"/>
          </a:p>
        </p:txBody>
      </p:sp>
      <p:sp>
        <p:nvSpPr>
          <p:cNvPr id="7" name="Text 5"/>
          <p:cNvSpPr/>
          <p:nvPr/>
        </p:nvSpPr>
        <p:spPr>
          <a:xfrm>
            <a:off x="1028700" y="2837061"/>
            <a:ext cx="21191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Reads a name and 3 marks, stores them.</a:t>
            </a:r>
            <a:endParaRPr lang="en-US" sz="1500" dirty="0"/>
          </a:p>
        </p:txBody>
      </p:sp>
      <p:sp>
        <p:nvSpPr>
          <p:cNvPr id="8" name="Shape 6"/>
          <p:cNvSpPr/>
          <p:nvPr/>
        </p:nvSpPr>
        <p:spPr>
          <a:xfrm>
            <a:off x="3511550" y="1860488"/>
            <a:ext cx="2476500" cy="1986227"/>
          </a:xfrm>
          <a:prstGeom prst="roundRect">
            <a:avLst>
              <a:gd name="adj" fmla="val 6074"/>
            </a:avLst>
          </a:prstGeom>
          <a:solidFill>
            <a:srgbClr val="FFFDF8"/>
          </a:solidFill>
          <a:ln w="12700">
            <a:solidFill>
              <a:srgbClr val="E2DED3"/>
            </a:solidFill>
            <a:prstDash val="solid"/>
          </a:ln>
        </p:spPr>
      </p:sp>
      <p:sp>
        <p:nvSpPr>
          <p:cNvPr id="9" name="Text 7"/>
          <p:cNvSpPr/>
          <p:nvPr/>
        </p:nvSpPr>
        <p:spPr>
          <a:xfrm>
            <a:off x="3721100" y="2070038"/>
            <a:ext cx="1216290" cy="289520"/>
          </a:xfrm>
          <a:custGeom>
            <a:avLst/>
            <a:gdLst/>
            <a:ahLst/>
            <a:cxnLst/>
            <a:rect l="l" t="t" r="r" b="b"/>
            <a:pathLst>
              <a:path w="1216290" h="289520">
                <a:moveTo>
                  <a:pt x="144760" y="0"/>
                </a:moveTo>
                <a:lnTo>
                  <a:pt x="1071529" y="0"/>
                </a:lnTo>
                <a:arcTo hR="144760" wR="144760" stAng="16200000" swAng="5400000"/>
                <a:lnTo>
                  <a:pt x="121629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show_all(db)</a:t>
            </a:r>
            <a:endParaRPr lang="en-US" sz="1200" dirty="0"/>
          </a:p>
        </p:txBody>
      </p:sp>
      <p:sp>
        <p:nvSpPr>
          <p:cNvPr id="10" name="Text 8"/>
          <p:cNvSpPr/>
          <p:nvPr/>
        </p:nvSpPr>
        <p:spPr>
          <a:xfrm>
            <a:off x="37211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Show</a:t>
            </a:r>
            <a:endParaRPr lang="en-US" sz="1800" dirty="0"/>
          </a:p>
        </p:txBody>
      </p:sp>
      <p:sp>
        <p:nvSpPr>
          <p:cNvPr id="11" name="Text 9"/>
          <p:cNvSpPr/>
          <p:nvPr/>
        </p:nvSpPr>
        <p:spPr>
          <a:xfrm>
            <a:off x="3721100" y="28370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Prints every student with average and grade.</a:t>
            </a:r>
            <a:endParaRPr lang="en-US" sz="1500" dirty="0"/>
          </a:p>
        </p:txBody>
      </p:sp>
      <p:sp>
        <p:nvSpPr>
          <p:cNvPr id="12" name="Shape 10"/>
          <p:cNvSpPr/>
          <p:nvPr/>
        </p:nvSpPr>
        <p:spPr>
          <a:xfrm>
            <a:off x="6203950" y="1860488"/>
            <a:ext cx="2476500" cy="1986227"/>
          </a:xfrm>
          <a:prstGeom prst="roundRect">
            <a:avLst>
              <a:gd name="adj" fmla="val 6074"/>
            </a:avLst>
          </a:prstGeom>
          <a:solidFill>
            <a:srgbClr val="FFFDF8"/>
          </a:solidFill>
          <a:ln w="12700">
            <a:solidFill>
              <a:srgbClr val="E2DED3"/>
            </a:solidFill>
            <a:prstDash val="solid"/>
          </a:ln>
        </p:spPr>
      </p:sp>
      <p:sp>
        <p:nvSpPr>
          <p:cNvPr id="13" name="Text 11"/>
          <p:cNvSpPr/>
          <p:nvPr/>
        </p:nvSpPr>
        <p:spPr>
          <a:xfrm>
            <a:off x="6413500" y="2070038"/>
            <a:ext cx="1314252" cy="289520"/>
          </a:xfrm>
          <a:custGeom>
            <a:avLst/>
            <a:gdLst/>
            <a:ahLst/>
            <a:cxnLst/>
            <a:rect l="l" t="t" r="r" b="b"/>
            <a:pathLst>
              <a:path w="1314252" h="289520">
                <a:moveTo>
                  <a:pt x="144760" y="0"/>
                </a:moveTo>
                <a:lnTo>
                  <a:pt x="1169491" y="0"/>
                </a:lnTo>
                <a:arcTo hR="144760" wR="144760" stAng="16200000" swAng="5400000"/>
                <a:lnTo>
                  <a:pt x="1314252"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find(db, name)</a:t>
            </a:r>
            <a:endParaRPr lang="en-US" sz="1200" dirty="0"/>
          </a:p>
        </p:txBody>
      </p:sp>
      <p:sp>
        <p:nvSpPr>
          <p:cNvPr id="14" name="Text 12"/>
          <p:cNvSpPr/>
          <p:nvPr/>
        </p:nvSpPr>
        <p:spPr>
          <a:xfrm>
            <a:off x="64135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Find</a:t>
            </a:r>
            <a:endParaRPr lang="en-US" sz="1800" dirty="0"/>
          </a:p>
        </p:txBody>
      </p:sp>
      <p:sp>
        <p:nvSpPr>
          <p:cNvPr id="15" name="Text 13"/>
          <p:cNvSpPr/>
          <p:nvPr/>
        </p:nvSpPr>
        <p:spPr>
          <a:xfrm>
            <a:off x="6413500" y="2837061"/>
            <a:ext cx="21191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Returns the marks or None.</a:t>
            </a:r>
            <a:endParaRPr lang="en-US" sz="1500" dirty="0"/>
          </a:p>
        </p:txBody>
      </p:sp>
      <p:sp>
        <p:nvSpPr>
          <p:cNvPr id="16" name="Shape 14"/>
          <p:cNvSpPr/>
          <p:nvPr/>
        </p:nvSpPr>
        <p:spPr>
          <a:xfrm>
            <a:off x="8896350" y="1860488"/>
            <a:ext cx="2476500" cy="1986227"/>
          </a:xfrm>
          <a:prstGeom prst="roundRect">
            <a:avLst>
              <a:gd name="adj" fmla="val 6074"/>
            </a:avLst>
          </a:prstGeom>
          <a:solidFill>
            <a:srgbClr val="FFFDF8"/>
          </a:solidFill>
          <a:ln w="12700">
            <a:solidFill>
              <a:srgbClr val="E2DED3"/>
            </a:solidFill>
            <a:prstDash val="solid"/>
          </a:ln>
        </p:spPr>
      </p:sp>
      <p:sp>
        <p:nvSpPr>
          <p:cNvPr id="17" name="Text 15"/>
          <p:cNvSpPr/>
          <p:nvPr/>
        </p:nvSpPr>
        <p:spPr>
          <a:xfrm>
            <a:off x="9105900" y="2070038"/>
            <a:ext cx="1041598" cy="289520"/>
          </a:xfrm>
          <a:custGeom>
            <a:avLst/>
            <a:gdLst/>
            <a:ahLst/>
            <a:cxnLst/>
            <a:rect l="l" t="t" r="r" b="b"/>
            <a:pathLst>
              <a:path w="1041598" h="289520">
                <a:moveTo>
                  <a:pt x="144760" y="0"/>
                </a:moveTo>
                <a:lnTo>
                  <a:pt x="896838" y="0"/>
                </a:lnTo>
                <a:arcTo hR="144760" wR="144760" stAng="16200000" swAng="5400000"/>
                <a:lnTo>
                  <a:pt x="1041598"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topper(db)</a:t>
            </a:r>
            <a:endParaRPr lang="en-US" sz="1200" dirty="0"/>
          </a:p>
        </p:txBody>
      </p:sp>
      <p:sp>
        <p:nvSpPr>
          <p:cNvPr id="18" name="Text 16"/>
          <p:cNvSpPr/>
          <p:nvPr/>
        </p:nvSpPr>
        <p:spPr>
          <a:xfrm>
            <a:off x="9105900" y="24611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Topper</a:t>
            </a:r>
            <a:endParaRPr lang="en-US" sz="1800" dirty="0"/>
          </a:p>
        </p:txBody>
      </p:sp>
      <p:sp>
        <p:nvSpPr>
          <p:cNvPr id="19" name="Text 17"/>
          <p:cNvSpPr/>
          <p:nvPr/>
        </p:nvSpPr>
        <p:spPr>
          <a:xfrm>
            <a:off x="9105900" y="2837061"/>
            <a:ext cx="21191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Returns the best name and total.</a:t>
            </a:r>
            <a:endParaRPr lang="en-US" sz="1500" dirty="0"/>
          </a:p>
        </p:txBody>
      </p:sp>
      <p:sp>
        <p:nvSpPr>
          <p:cNvPr id="20" name="Text 18"/>
          <p:cNvSpPr/>
          <p:nvPr/>
        </p:nvSpPr>
        <p:spPr>
          <a:xfrm>
            <a:off x="812800" y="4157861"/>
            <a:ext cx="10566400" cy="622300"/>
          </a:xfrm>
          <a:prstGeom prst="roundRect">
            <a:avLst>
              <a:gd name="adj" fmla="val 20408"/>
            </a:avLst>
          </a:prstGeom>
          <a:solidFill>
            <a:srgbClr val="FBEFD5"/>
          </a:solidFill>
          <a:ln/>
        </p:spPr>
        <p:txBody>
          <a:bodyPr wrap="square" lIns="216803" tIns="140603" rIns="0" bIns="115203"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The menu loop becomes short and readable: each choice is just one function call.</a:t>
            </a:r>
            <a:endParaRPr lang="en-US" sz="15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5 · Class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6EE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14 · PRACTICE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Your turn: four programs</a:t>
            </a:r>
            <a:endParaRPr lang="en-US" sz="3200" dirty="0"/>
          </a:p>
        </p:txBody>
      </p:sp>
      <p:sp>
        <p:nvSpPr>
          <p:cNvPr id="4" name="Shape 2"/>
          <p:cNvSpPr/>
          <p:nvPr/>
        </p:nvSpPr>
        <p:spPr>
          <a:xfrm>
            <a:off x="819150" y="1809688"/>
            <a:ext cx="2476500" cy="2252927"/>
          </a:xfrm>
          <a:prstGeom prst="roundRect">
            <a:avLst>
              <a:gd name="adj" fmla="val 5355"/>
            </a:avLst>
          </a:prstGeom>
          <a:solidFill>
            <a:srgbClr val="FBFCFE"/>
          </a:solidFill>
          <a:ln w="12700">
            <a:solidFill>
              <a:srgbClr val="C9D7E8"/>
            </a:solidFill>
            <a:prstDash val="solid"/>
          </a:ln>
        </p:spPr>
      </p:sp>
      <p:sp>
        <p:nvSpPr>
          <p:cNvPr id="5" name="Text 3"/>
          <p:cNvSpPr/>
          <p:nvPr/>
        </p:nvSpPr>
        <p:spPr>
          <a:xfrm>
            <a:off x="1028700" y="2019238"/>
            <a:ext cx="681897" cy="289520"/>
          </a:xfrm>
          <a:custGeom>
            <a:avLst/>
            <a:gdLst/>
            <a:ahLst/>
            <a:cxnLst/>
            <a:rect l="l" t="t" r="r" b="b"/>
            <a:pathLst>
              <a:path w="681897" h="289520">
                <a:moveTo>
                  <a:pt x="144760" y="0"/>
                </a:moveTo>
                <a:lnTo>
                  <a:pt x="537137" y="0"/>
                </a:lnTo>
                <a:arcTo hR="144760" wR="144760" stAng="16200000" swAng="5400000"/>
                <a:lnTo>
                  <a:pt x="681897"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1</a:t>
            </a:r>
            <a:endParaRPr lang="en-US" sz="1200" dirty="0"/>
          </a:p>
        </p:txBody>
      </p:sp>
      <p:sp>
        <p:nvSpPr>
          <p:cNvPr id="6" name="Text 4"/>
          <p:cNvSpPr/>
          <p:nvPr/>
        </p:nvSpPr>
        <p:spPr>
          <a:xfrm>
            <a:off x="10287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Min and max</a:t>
            </a:r>
            <a:endParaRPr lang="en-US" sz="1800" dirty="0"/>
          </a:p>
        </p:txBody>
      </p:sp>
      <p:sp>
        <p:nvSpPr>
          <p:cNvPr id="7" name="Text 5"/>
          <p:cNvSpPr/>
          <p:nvPr/>
        </p:nvSpPr>
        <p:spPr>
          <a:xfrm>
            <a:off x="10287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Write </a:t>
            </a:r>
            <a:r>
              <a:rPr lang="en-US" sz="1500" dirty="0">
                <a:solidFill>
                  <a:srgbClr val="2A64A3"/>
                </a:solidFill>
                <a:latin typeface="Rubik" pitchFamily="34" charset="0"/>
                <a:ea typeface="Rubik" pitchFamily="34" charset="-122"/>
                <a:cs typeface="Rubik" pitchFamily="34" charset="-120"/>
              </a:rPr>
              <a:t>min_max(nums)</a:t>
            </a:r>
            <a:r>
              <a:rPr lang="en-US" sz="1500" dirty="0">
                <a:solidFill>
                  <a:srgbClr val="4A5568"/>
                </a:solidFill>
                <a:latin typeface="Rubik" pitchFamily="34" charset="0"/>
                <a:ea typeface="Rubik" pitchFamily="34" charset="-122"/>
                <a:cs typeface="Rubik" pitchFamily="34" charset="-120"/>
              </a:rPr>
              <a:t> that returns both. Unpack and print them.</a:t>
            </a:r>
            <a:endParaRPr lang="en-US" sz="1500" dirty="0"/>
          </a:p>
        </p:txBody>
      </p:sp>
      <p:sp>
        <p:nvSpPr>
          <p:cNvPr id="8" name="Shape 6"/>
          <p:cNvSpPr/>
          <p:nvPr/>
        </p:nvSpPr>
        <p:spPr>
          <a:xfrm>
            <a:off x="3511550" y="1809688"/>
            <a:ext cx="2476500" cy="2252927"/>
          </a:xfrm>
          <a:prstGeom prst="roundRect">
            <a:avLst>
              <a:gd name="adj" fmla="val 5355"/>
            </a:avLst>
          </a:prstGeom>
          <a:solidFill>
            <a:srgbClr val="FBFCFE"/>
          </a:solidFill>
          <a:ln w="12700">
            <a:solidFill>
              <a:srgbClr val="C9D7E8"/>
            </a:solidFill>
            <a:prstDash val="solid"/>
          </a:ln>
        </p:spPr>
      </p:sp>
      <p:sp>
        <p:nvSpPr>
          <p:cNvPr id="9" name="Text 7"/>
          <p:cNvSpPr/>
          <p:nvPr/>
        </p:nvSpPr>
        <p:spPr>
          <a:xfrm>
            <a:off x="3721100" y="2019238"/>
            <a:ext cx="705181" cy="289520"/>
          </a:xfrm>
          <a:custGeom>
            <a:avLst/>
            <a:gdLst/>
            <a:ahLst/>
            <a:cxnLst/>
            <a:rect l="l" t="t" r="r" b="b"/>
            <a:pathLst>
              <a:path w="705181" h="289520">
                <a:moveTo>
                  <a:pt x="144760" y="0"/>
                </a:moveTo>
                <a:lnTo>
                  <a:pt x="560421" y="0"/>
                </a:lnTo>
                <a:arcTo hR="144760" wR="144760" stAng="16200000" swAng="5400000"/>
                <a:lnTo>
                  <a:pt x="70518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2</a:t>
            </a:r>
            <a:endParaRPr lang="en-US" sz="1200" dirty="0"/>
          </a:p>
        </p:txBody>
      </p:sp>
      <p:sp>
        <p:nvSpPr>
          <p:cNvPr id="10" name="Text 8"/>
          <p:cNvSpPr/>
          <p:nvPr/>
        </p:nvSpPr>
        <p:spPr>
          <a:xfrm>
            <a:off x="37211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Sort by length</a:t>
            </a:r>
            <a:endParaRPr lang="en-US" sz="1800" dirty="0"/>
          </a:p>
        </p:txBody>
      </p:sp>
      <p:sp>
        <p:nvSpPr>
          <p:cNvPr id="11" name="Text 9"/>
          <p:cNvSpPr/>
          <p:nvPr/>
        </p:nvSpPr>
        <p:spPr>
          <a:xfrm>
            <a:off x="37211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Sort ["Puri", "Bhubaneswar", "Cuttack"] by word length.</a:t>
            </a:r>
            <a:endParaRPr lang="en-US" sz="1500" dirty="0"/>
          </a:p>
        </p:txBody>
      </p:sp>
      <p:sp>
        <p:nvSpPr>
          <p:cNvPr id="12" name="Shape 10"/>
          <p:cNvSpPr/>
          <p:nvPr/>
        </p:nvSpPr>
        <p:spPr>
          <a:xfrm>
            <a:off x="6203950" y="1809688"/>
            <a:ext cx="2476500" cy="2252927"/>
          </a:xfrm>
          <a:prstGeom prst="roundRect">
            <a:avLst>
              <a:gd name="adj" fmla="val 5355"/>
            </a:avLst>
          </a:prstGeom>
          <a:solidFill>
            <a:srgbClr val="FBFCFE"/>
          </a:solidFill>
          <a:ln w="12700">
            <a:solidFill>
              <a:srgbClr val="C9D7E8"/>
            </a:solidFill>
            <a:prstDash val="solid"/>
          </a:ln>
        </p:spPr>
      </p:sp>
      <p:sp>
        <p:nvSpPr>
          <p:cNvPr id="13" name="Text 11"/>
          <p:cNvSpPr/>
          <p:nvPr/>
        </p:nvSpPr>
        <p:spPr>
          <a:xfrm>
            <a:off x="6413500" y="2019238"/>
            <a:ext cx="706570" cy="289520"/>
          </a:xfrm>
          <a:custGeom>
            <a:avLst/>
            <a:gdLst/>
            <a:ahLst/>
            <a:cxnLst/>
            <a:rect l="l" t="t" r="r" b="b"/>
            <a:pathLst>
              <a:path w="706570" h="289520">
                <a:moveTo>
                  <a:pt x="144760" y="0"/>
                </a:moveTo>
                <a:lnTo>
                  <a:pt x="561810" y="0"/>
                </a:lnTo>
                <a:arcTo hR="144760" wR="144760" stAng="16200000" swAng="5400000"/>
                <a:lnTo>
                  <a:pt x="706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3</a:t>
            </a:r>
            <a:endParaRPr lang="en-US" sz="1200" dirty="0"/>
          </a:p>
        </p:txBody>
      </p:sp>
      <p:sp>
        <p:nvSpPr>
          <p:cNvPr id="14" name="Text 12"/>
          <p:cNvSpPr/>
          <p:nvPr/>
        </p:nvSpPr>
        <p:spPr>
          <a:xfrm>
            <a:off x="64135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Lambda filter</a:t>
            </a:r>
            <a:endParaRPr lang="en-US" sz="1800" dirty="0"/>
          </a:p>
        </p:txBody>
      </p:sp>
      <p:sp>
        <p:nvSpPr>
          <p:cNvPr id="15" name="Text 13"/>
          <p:cNvSpPr/>
          <p:nvPr/>
        </p:nvSpPr>
        <p:spPr>
          <a:xfrm>
            <a:off x="64135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Use filter and a lambda to keep only odd numbers from 1 to 20.</a:t>
            </a:r>
            <a:endParaRPr lang="en-US" sz="1500" dirty="0"/>
          </a:p>
        </p:txBody>
      </p:sp>
      <p:sp>
        <p:nvSpPr>
          <p:cNvPr id="16" name="Shape 14"/>
          <p:cNvSpPr/>
          <p:nvPr/>
        </p:nvSpPr>
        <p:spPr>
          <a:xfrm>
            <a:off x="8896350" y="1809688"/>
            <a:ext cx="2476500" cy="2252927"/>
          </a:xfrm>
          <a:prstGeom prst="roundRect">
            <a:avLst>
              <a:gd name="adj" fmla="val 5355"/>
            </a:avLst>
          </a:prstGeom>
          <a:solidFill>
            <a:srgbClr val="FBFCFE"/>
          </a:solidFill>
          <a:ln w="12700">
            <a:solidFill>
              <a:srgbClr val="C9D7E8"/>
            </a:solidFill>
            <a:prstDash val="solid"/>
          </a:ln>
        </p:spPr>
      </p:sp>
      <p:sp>
        <p:nvSpPr>
          <p:cNvPr id="17" name="Text 15"/>
          <p:cNvSpPr/>
          <p:nvPr/>
        </p:nvSpPr>
        <p:spPr>
          <a:xfrm>
            <a:off x="9105900" y="2019238"/>
            <a:ext cx="710076" cy="289520"/>
          </a:xfrm>
          <a:custGeom>
            <a:avLst/>
            <a:gdLst/>
            <a:ahLst/>
            <a:cxnLst/>
            <a:rect l="l" t="t" r="r" b="b"/>
            <a:pathLst>
              <a:path w="710076" h="289520">
                <a:moveTo>
                  <a:pt x="144760" y="0"/>
                </a:moveTo>
                <a:lnTo>
                  <a:pt x="565315" y="0"/>
                </a:lnTo>
                <a:arcTo hR="144760" wR="144760" stAng="16200000" swAng="5400000"/>
                <a:lnTo>
                  <a:pt x="71007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4</a:t>
            </a:r>
            <a:endParaRPr lang="en-US" sz="1200" dirty="0"/>
          </a:p>
        </p:txBody>
      </p:sp>
      <p:sp>
        <p:nvSpPr>
          <p:cNvPr id="18" name="Text 16"/>
          <p:cNvSpPr/>
          <p:nvPr/>
        </p:nvSpPr>
        <p:spPr>
          <a:xfrm>
            <a:off x="91059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Grade function</a:t>
            </a:r>
            <a:endParaRPr lang="en-US" sz="1800" dirty="0"/>
          </a:p>
        </p:txBody>
      </p:sp>
      <p:sp>
        <p:nvSpPr>
          <p:cNvPr id="19" name="Text 17"/>
          <p:cNvSpPr/>
          <p:nvPr/>
        </p:nvSpPr>
        <p:spPr>
          <a:xfrm>
            <a:off x="91059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Write </a:t>
            </a:r>
            <a:r>
              <a:rPr lang="en-US" sz="1500" dirty="0">
                <a:solidFill>
                  <a:srgbClr val="2A64A3"/>
                </a:solidFill>
                <a:latin typeface="Rubik" pitchFamily="34" charset="0"/>
                <a:ea typeface="Rubik" pitchFamily="34" charset="-122"/>
                <a:cs typeface="Rubik" pitchFamily="34" charset="-120"/>
              </a:rPr>
              <a:t>grade(avg)</a:t>
            </a:r>
            <a:r>
              <a:rPr lang="en-US" sz="1500" dirty="0">
                <a:solidFill>
                  <a:srgbClr val="4A5568"/>
                </a:solidFill>
                <a:latin typeface="Rubik" pitchFamily="34" charset="0"/>
                <a:ea typeface="Rubik" pitchFamily="34" charset="-122"/>
                <a:cs typeface="Rubik" pitchFamily="34" charset="-120"/>
              </a:rPr>
              <a:t> and use it in the record manager.</a:t>
            </a:r>
            <a:endParaRPr lang="en-US" sz="1500" dirty="0"/>
          </a:p>
        </p:txBody>
      </p:sp>
      <p:sp>
        <p:nvSpPr>
          <p:cNvPr id="20" name="Shape 18"/>
          <p:cNvSpPr/>
          <p:nvPr/>
        </p:nvSpPr>
        <p:spPr>
          <a:xfrm>
            <a:off x="812800" y="4322961"/>
            <a:ext cx="10566400" cy="622300"/>
          </a:xfrm>
          <a:prstGeom prst="roundRect">
            <a:avLst>
              <a:gd name="adj" fmla="val 20408"/>
            </a:avLst>
          </a:prstGeom>
          <a:solidFill>
            <a:srgbClr val="1B2A41"/>
          </a:solidFill>
          <a:ln/>
        </p:spPr>
      </p:sp>
      <p:sp>
        <p:nvSpPr>
          <p:cNvPr id="21" name="Text 19"/>
          <p:cNvSpPr/>
          <p:nvPr/>
        </p:nvSpPr>
        <p:spPr>
          <a:xfrm>
            <a:off x="1066800" y="4527420"/>
            <a:ext cx="121569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HOMEWORK</a:t>
            </a:r>
            <a:endParaRPr lang="en-US" sz="1200" dirty="0"/>
          </a:p>
        </p:txBody>
      </p:sp>
      <p:sp>
        <p:nvSpPr>
          <p:cNvPr id="22" name="Text 20"/>
          <p:cNvSpPr/>
          <p:nvPr/>
        </p:nvSpPr>
        <p:spPr>
          <a:xfrm>
            <a:off x="2282494" y="4500761"/>
            <a:ext cx="515358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Rubik" pitchFamily="34" charset="0"/>
                <a:ea typeface="Rubik" pitchFamily="34" charset="-122"/>
                <a:cs typeface="Rubik" pitchFamily="34" charset="-120"/>
              </a:rPr>
              <a:t>Read on W3Schools: </a:t>
            </a:r>
            <a:r>
              <a:rPr lang="en-US" sz="1500" u="sng" dirty="0">
                <a:solidFill>
                  <a:srgbClr val="F2B33D"/>
                </a:solidFill>
                <a:latin typeface="Rubik" pitchFamily="34" charset="0"/>
                <a:ea typeface="Rubik" pitchFamily="34" charset="-122"/>
                <a:cs typeface="Rubik" pitchFamily="34" charset="-120"/>
                <a:hlinkClick r:id="rId1" invalidUrl="" action="" tgtFrame="" tooltip="" history="1" highlightClick="0" endSnd="0">
                  <a:extLst>
                    <a:ext uri="{A12FA001-AC4F-418D-AE19-62706E023703}">
                      <ahyp:hlinkClr xmlns:ahyp="http://schemas.microsoft.com/office/drawing/2018/hyperlinkcolor" val="tx"/>
                    </a:ext>
                  </a:extLst>
                </a:hlinkClick>
              </a:rPr>
              <a:t>Functions</a:t>
            </a:r>
            <a:r>
              <a:rPr lang="en-US" sz="1500" dirty="0">
                <a:solidFill>
                  <a:srgbClr val="F7F5EF"/>
                </a:solidFill>
                <a:latin typeface="Rubik" pitchFamily="34" charset="0"/>
                <a:ea typeface="Rubik" pitchFamily="34" charset="-122"/>
                <a:cs typeface="Rubik" pitchFamily="34" charset="-120"/>
              </a:rPr>
              <a:t> · </a:t>
            </a:r>
            <a:r>
              <a:rPr lang="en-US" sz="1500" u="sng" dirty="0">
                <a:solidFill>
                  <a:srgbClr val="F2B33D"/>
                </a:solidFill>
                <a:latin typeface="Rubik" pitchFamily="34" charset="0"/>
                <a:ea typeface="Rubik" pitchFamily="34" charset="-122"/>
                <a:cs typeface="Rubik"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Lambda</a:t>
            </a:r>
            <a:r>
              <a:rPr lang="en-US" sz="1500" dirty="0">
                <a:solidFill>
                  <a:srgbClr val="F7F5EF"/>
                </a:solidFill>
                <a:latin typeface="Rubik" pitchFamily="34" charset="0"/>
                <a:ea typeface="Rubik" pitchFamily="34" charset="-122"/>
                <a:cs typeface="Rubik" pitchFamily="34" charset="-120"/>
              </a:rPr>
              <a:t> · </a:t>
            </a:r>
            <a:r>
              <a:rPr lang="en-US" sz="1500" u="sng" dirty="0">
                <a:solidFill>
                  <a:srgbClr val="F2B33D"/>
                </a:solidFill>
                <a:latin typeface="Rubik" pitchFamily="34" charset="0"/>
                <a:ea typeface="Rubik" pitchFamily="34" charset="-122"/>
                <a:cs typeface="Rubik" pitchFamily="34" charset="-120"/>
                <a:hlinkClick r:id="rId3" invalidUrl="" action="" tgtFrame="" tooltip="" history="1" highlightClick="0" endSnd="0">
                  <a:extLst>
                    <a:ext uri="{A12FA001-AC4F-418D-AE19-62706E023703}">
                      <ahyp:hlinkClr xmlns:ahyp="http://schemas.microsoft.com/office/drawing/2018/hyperlinkcolor" val="tx"/>
                    </a:ext>
                  </a:extLst>
                </a:hlinkClick>
              </a:rPr>
              <a:t>Scope</a:t>
            </a:r>
            <a:endParaRPr lang="en-US" sz="15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5 · Class 14</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B33D"/>
        </a:solidFill>
      </p:bgPr>
    </p:bg>
    <p:spTree>
      <p:nvGrpSpPr>
        <p:cNvPr id="1" name=""/>
        <p:cNvGrpSpPr/>
        <p:nvPr/>
      </p:nvGrpSpPr>
      <p:grpSpPr>
        <a:xfrm>
          <a:off x="0" y="0"/>
          <a:ext cx="0" cy="0"/>
          <a:chOff x="0" y="0"/>
          <a:chExt cx="0" cy="0"/>
        </a:xfrm>
      </p:grpSpPr>
      <p:sp>
        <p:nvSpPr>
          <p:cNvPr id="2" name="Text 0"/>
          <p:cNvSpPr/>
          <p:nvPr/>
        </p:nvSpPr>
        <p:spPr>
          <a:xfrm>
            <a:off x="812800" y="250448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B2A41"/>
                </a:solidFill>
                <a:latin typeface="Rubik" pitchFamily="34" charset="0"/>
                <a:ea typeface="Rubik" pitchFamily="34" charset="-122"/>
                <a:cs typeface="Rubik" pitchFamily="34" charset="-120"/>
              </a:rPr>
              <a:t>CLASS 15 OF 24</a:t>
            </a:r>
            <a:endParaRPr lang="en-US" sz="1200" dirty="0"/>
          </a:p>
        </p:txBody>
      </p:sp>
      <p:sp>
        <p:nvSpPr>
          <p:cNvPr id="3" name="Text 1"/>
          <p:cNvSpPr/>
          <p:nvPr>
            <p:ph type="title"/>
          </p:nvPr>
        </p:nvSpPr>
        <p:spPr>
          <a:xfrm>
            <a:off x="812800" y="2895600"/>
            <a:ext cx="5127752" cy="665427"/>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B2A41"/>
                </a:solidFill>
                <a:latin typeface="Rubik" pitchFamily="34" charset="0"/>
                <a:ea typeface="Rubik" pitchFamily="34" charset="-122"/>
                <a:cs typeface="Rubik" pitchFamily="34" charset="-120"/>
              </a:rPr>
              <a:t>Recursion</a:t>
            </a:r>
            <a:endParaRPr lang="en-US" sz="4800" dirty="0"/>
          </a:p>
        </p:txBody>
      </p:sp>
      <p:sp>
        <p:nvSpPr>
          <p:cNvPr id="4" name="Text 2"/>
          <p:cNvSpPr/>
          <p:nvPr/>
        </p:nvSpPr>
        <p:spPr>
          <a:xfrm>
            <a:off x="812800" y="3713435"/>
            <a:ext cx="5127752"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B2A41"/>
                </a:solidFill>
                <a:latin typeface="Rubik" pitchFamily="34" charset="0"/>
                <a:ea typeface="Rubik" pitchFamily="34" charset="-122"/>
                <a:cs typeface="Rubik" pitchFamily="34" charset="-120"/>
              </a:rPr>
              <a:t>A function that solves a problem by calling itself on a smaller version</a:t>
            </a:r>
            <a:endParaRPr lang="en-US" sz="1800" dirty="0"/>
          </a:p>
        </p:txBody>
      </p:sp>
      <p:sp>
        <p:nvSpPr>
          <p:cNvPr id="5" name="Shape 3"/>
          <p:cNvSpPr/>
          <p:nvPr/>
        </p:nvSpPr>
        <p:spPr>
          <a:xfrm>
            <a:off x="6400800" y="2098018"/>
            <a:ext cx="4978400" cy="2661907"/>
          </a:xfrm>
          <a:prstGeom prst="roundRect">
            <a:avLst>
              <a:gd name="adj" fmla="val 5725"/>
            </a:avLst>
          </a:prstGeom>
          <a:solidFill>
            <a:srgbClr val="1B2A41"/>
          </a:solidFill>
          <a:ln/>
        </p:spPr>
      </p:sp>
      <p:sp>
        <p:nvSpPr>
          <p:cNvPr id="6" name="Text 4"/>
          <p:cNvSpPr/>
          <p:nvPr/>
        </p:nvSpPr>
        <p:spPr>
          <a:xfrm>
            <a:off x="6756400" y="2453618"/>
            <a:ext cx="439521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33D"/>
                </a:solidFill>
                <a:latin typeface="Rubik" pitchFamily="34" charset="0"/>
                <a:ea typeface="Rubik" pitchFamily="34" charset="-122"/>
                <a:cs typeface="Rubik" pitchFamily="34" charset="-120"/>
              </a:rPr>
              <a:t>By the end of today you can</a:t>
            </a:r>
            <a:endParaRPr lang="en-US" sz="1800" dirty="0"/>
          </a:p>
        </p:txBody>
      </p:sp>
      <p:sp>
        <p:nvSpPr>
          <p:cNvPr id="7" name="Text 5"/>
          <p:cNvSpPr/>
          <p:nvPr/>
        </p:nvSpPr>
        <p:spPr>
          <a:xfrm>
            <a:off x="6840220" y="2880320"/>
            <a:ext cx="4303776" cy="1549400"/>
          </a:xfrm>
          <a:prstGeom prst="rect">
            <a:avLst/>
          </a:prstGeom>
          <a:noFill/>
          <a:ln/>
        </p:spPr>
        <p:txBody>
          <a:bodyPr wrap="square" lIns="0" tIns="0" rIns="0" bIns="0" rtlCol="0" anchor="t">
            <a:normAutofit/>
          </a:bodyPr>
          <a:lstStyle/>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Explain base case and recursive case</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Write recursive factorial</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Trace the call stack on paper</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Write recursive Fibonacci and digit sum</a:t>
            </a:r>
            <a:endParaRPr lang="en-US" sz="1500" dirty="0"/>
          </a:p>
          <a:p>
            <a:pPr algn="l" marL="170180" indent="-170180">
              <a:lnSpc>
                <a:spcPts val="2400"/>
              </a:lnSpc>
              <a:buSzPct val="100000"/>
              <a:buChar char="•"/>
            </a:pPr>
            <a:r>
              <a:rPr lang="en-US" sz="1500" dirty="0">
                <a:solidFill>
                  <a:srgbClr val="F7F5EF"/>
                </a:solidFill>
                <a:latin typeface="Rubik" pitchFamily="34" charset="0"/>
                <a:ea typeface="Rubik" pitchFamily="34" charset="-122"/>
                <a:cs typeface="Rubik" pitchFamily="34" charset="-120"/>
              </a:rPr>
              <a:t>Compare recursion with loops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15 · THE IDEA</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Every recursive function has two parts</a:t>
            </a:r>
            <a:endParaRPr lang="en-US" sz="3200" dirty="0"/>
          </a:p>
        </p:txBody>
      </p:sp>
      <p:sp>
        <p:nvSpPr>
          <p:cNvPr id="4" name="Shape 2"/>
          <p:cNvSpPr/>
          <p:nvPr/>
        </p:nvSpPr>
        <p:spPr>
          <a:xfrm>
            <a:off x="819150" y="1860488"/>
            <a:ext cx="5168900" cy="1719527"/>
          </a:xfrm>
          <a:prstGeom prst="roundRect">
            <a:avLst>
              <a:gd name="adj" fmla="val 7016"/>
            </a:avLst>
          </a:prstGeom>
          <a:solidFill>
            <a:srgbClr val="FFFDF8"/>
          </a:solidFill>
          <a:ln w="12700">
            <a:solidFill>
              <a:srgbClr val="E2DED3"/>
            </a:solidFill>
            <a:prstDash val="solid"/>
          </a:ln>
        </p:spPr>
      </p:sp>
      <p:sp>
        <p:nvSpPr>
          <p:cNvPr id="5" name="Text 3"/>
          <p:cNvSpPr/>
          <p:nvPr/>
        </p:nvSpPr>
        <p:spPr>
          <a:xfrm>
            <a:off x="1028700" y="2070038"/>
            <a:ext cx="589822" cy="289520"/>
          </a:xfrm>
          <a:custGeom>
            <a:avLst/>
            <a:gdLst/>
            <a:ahLst/>
            <a:cxnLst/>
            <a:rect l="l" t="t" r="r" b="b"/>
            <a:pathLst>
              <a:path w="589822" h="289520">
                <a:moveTo>
                  <a:pt x="144760" y="0"/>
                </a:moveTo>
                <a:lnTo>
                  <a:pt x="445062" y="0"/>
                </a:lnTo>
                <a:arcTo hR="144760" wR="144760" stAng="16200000" swAng="5400000"/>
                <a:lnTo>
                  <a:pt x="589822"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Stop</a:t>
            </a:r>
            <a:endParaRPr lang="en-US" sz="1200" dirty="0"/>
          </a:p>
        </p:txBody>
      </p:sp>
      <p:sp>
        <p:nvSpPr>
          <p:cNvPr id="6" name="Text 4"/>
          <p:cNvSpPr/>
          <p:nvPr/>
        </p:nvSpPr>
        <p:spPr>
          <a:xfrm>
            <a:off x="1028700" y="246115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Base case</a:t>
            </a:r>
            <a:endParaRPr lang="en-US" sz="1800" dirty="0"/>
          </a:p>
        </p:txBody>
      </p:sp>
      <p:sp>
        <p:nvSpPr>
          <p:cNvPr id="7" name="Text 5"/>
          <p:cNvSpPr/>
          <p:nvPr/>
        </p:nvSpPr>
        <p:spPr>
          <a:xfrm>
            <a:off x="1028700" y="2837061"/>
            <a:ext cx="489229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The smallest problem, answered directly. Without it the calls never end.</a:t>
            </a:r>
            <a:endParaRPr lang="en-US" sz="1500" dirty="0"/>
          </a:p>
        </p:txBody>
      </p:sp>
      <p:sp>
        <p:nvSpPr>
          <p:cNvPr id="8" name="Shape 6"/>
          <p:cNvSpPr/>
          <p:nvPr/>
        </p:nvSpPr>
        <p:spPr>
          <a:xfrm>
            <a:off x="6203950" y="1860488"/>
            <a:ext cx="5168900" cy="1719527"/>
          </a:xfrm>
          <a:prstGeom prst="roundRect">
            <a:avLst>
              <a:gd name="adj" fmla="val 7016"/>
            </a:avLst>
          </a:prstGeom>
          <a:solidFill>
            <a:srgbClr val="FFFDF8"/>
          </a:solidFill>
          <a:ln w="12700">
            <a:solidFill>
              <a:srgbClr val="E2DED3"/>
            </a:solidFill>
            <a:prstDash val="solid"/>
          </a:ln>
        </p:spPr>
      </p:sp>
      <p:sp>
        <p:nvSpPr>
          <p:cNvPr id="9" name="Text 7"/>
          <p:cNvSpPr/>
          <p:nvPr/>
        </p:nvSpPr>
        <p:spPr>
          <a:xfrm>
            <a:off x="6413500" y="2070038"/>
            <a:ext cx="728067" cy="289520"/>
          </a:xfrm>
          <a:custGeom>
            <a:avLst/>
            <a:gdLst/>
            <a:ahLst/>
            <a:cxnLst/>
            <a:rect l="l" t="t" r="r" b="b"/>
            <a:pathLst>
              <a:path w="728067" h="289520">
                <a:moveTo>
                  <a:pt x="144760" y="0"/>
                </a:moveTo>
                <a:lnTo>
                  <a:pt x="583307" y="0"/>
                </a:lnTo>
                <a:arcTo hR="144760" wR="144760" stAng="16200000" swAng="5400000"/>
                <a:lnTo>
                  <a:pt x="728067"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Shrink</a:t>
            </a:r>
            <a:endParaRPr lang="en-US" sz="1200" dirty="0"/>
          </a:p>
        </p:txBody>
      </p:sp>
      <p:sp>
        <p:nvSpPr>
          <p:cNvPr id="10" name="Text 8"/>
          <p:cNvSpPr/>
          <p:nvPr/>
        </p:nvSpPr>
        <p:spPr>
          <a:xfrm>
            <a:off x="6413500" y="246115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Recursive case</a:t>
            </a:r>
            <a:endParaRPr lang="en-US" sz="1800" dirty="0"/>
          </a:p>
        </p:txBody>
      </p:sp>
      <p:sp>
        <p:nvSpPr>
          <p:cNvPr id="11" name="Text 9"/>
          <p:cNvSpPr/>
          <p:nvPr/>
        </p:nvSpPr>
        <p:spPr>
          <a:xfrm>
            <a:off x="6413500" y="2837061"/>
            <a:ext cx="489229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Solve a smaller version by calling yourself, then finish the job.</a:t>
            </a:r>
            <a:endParaRPr lang="en-US" sz="1500" dirty="0"/>
          </a:p>
        </p:txBody>
      </p:sp>
      <p:sp>
        <p:nvSpPr>
          <p:cNvPr id="12" name="Shape 10"/>
          <p:cNvSpPr/>
          <p:nvPr/>
        </p:nvSpPr>
        <p:spPr>
          <a:xfrm>
            <a:off x="812800" y="3891161"/>
            <a:ext cx="10566400" cy="977900"/>
          </a:xfrm>
          <a:prstGeom prst="roundRect">
            <a:avLst>
              <a:gd name="adj" fmla="val 15584"/>
            </a:avLst>
          </a:prstGeom>
          <a:solidFill>
            <a:srgbClr val="FBEFD5"/>
          </a:solidFill>
          <a:ln/>
        </p:spPr>
      </p:sp>
      <p:pic>
        <p:nvPicPr>
          <p:cNvPr id="13" name="Image 0" descr="Lightbulb">    </p:cNvPr>
          <p:cNvPicPr>
            <a:picLocks noChangeAspect="1"/>
          </p:cNvPicPr>
          <p:nvPr/>
        </p:nvPicPr>
        <p:blipFill>
          <a:blip r:embed="rId1"/>
          <a:srcRect l="0" r="0" t="-90" b="-90"/>
          <a:stretch/>
        </p:blipFill>
        <p:spPr>
          <a:xfrm>
            <a:off x="1117600" y="4202311"/>
            <a:ext cx="183819" cy="355600"/>
          </a:xfrm>
          <a:prstGeom prst="rect">
            <a:avLst/>
          </a:prstGeom>
        </p:spPr>
      </p:pic>
      <p:sp>
        <p:nvSpPr>
          <p:cNvPr id="14" name="Text 11"/>
          <p:cNvSpPr/>
          <p:nvPr/>
        </p:nvSpPr>
        <p:spPr>
          <a:xfrm>
            <a:off x="1504619" y="4094361"/>
            <a:ext cx="9856874"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Rubik" pitchFamily="34" charset="0"/>
                <a:ea typeface="Rubik" pitchFamily="34" charset="-122"/>
                <a:cs typeface="Rubik" pitchFamily="34" charset="-120"/>
              </a:rPr>
              <a:t>Story: in a long queue at the Jagannath temple you ask the person ahead, “What number are you?” They ask the person ahead of them… until the first person says “1”. Then the answers come back, each adding 1.</a:t>
            </a:r>
            <a:endParaRPr lang="en-US" sz="15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5 · Class 15</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15 · FACTORIAL</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Recursive factorial</a:t>
            </a:r>
            <a:endParaRPr lang="en-US" sz="3200" dirty="0"/>
          </a:p>
        </p:txBody>
      </p:sp>
      <p:sp>
        <p:nvSpPr>
          <p:cNvPr id="4" name="Shape 2"/>
          <p:cNvSpPr/>
          <p:nvPr/>
        </p:nvSpPr>
        <p:spPr>
          <a:xfrm>
            <a:off x="812800" y="1854138"/>
            <a:ext cx="5461529" cy="2359620"/>
          </a:xfrm>
          <a:prstGeom prst="roundRect">
            <a:avLst>
              <a:gd name="adj" fmla="val 5382"/>
            </a:avLst>
          </a:prstGeom>
          <a:solidFill>
            <a:srgbClr val="1B2A41"/>
          </a:solidFill>
          <a:ln/>
        </p:spPr>
      </p:sp>
      <p:sp>
        <p:nvSpPr>
          <p:cNvPr id="5" name="Text 3"/>
          <p:cNvSpPr/>
          <p:nvPr/>
        </p:nvSpPr>
        <p:spPr>
          <a:xfrm>
            <a:off x="1066800" y="2031938"/>
            <a:ext cx="5102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JetBrains Mono" pitchFamily="49" charset="0"/>
                <a:ea typeface="JetBrains Mono" pitchFamily="49" charset="-122"/>
                <a:cs typeface="JetBrains Mono" pitchFamily="49" charset="-120"/>
              </a:rPr>
              <a:t>fact.py</a:t>
            </a:r>
            <a:endParaRPr lang="en-US" sz="1200" dirty="0"/>
          </a:p>
        </p:txBody>
      </p:sp>
      <p:sp>
        <p:nvSpPr>
          <p:cNvPr id="6" name="Text 4"/>
          <p:cNvSpPr/>
          <p:nvPr/>
        </p:nvSpPr>
        <p:spPr>
          <a:xfrm>
            <a:off x="1066800" y="2321458"/>
            <a:ext cx="5102135" cy="1739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fact(n):</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n == 1:            </a:t>
            </a:r>
            <a:r>
              <a:rPr lang="en-US" sz="1500" dirty="0">
                <a:solidFill>
                  <a:srgbClr val="8FA3B8"/>
                </a:solidFill>
                <a:latin typeface="JetBrains Mono" pitchFamily="49" charset="0"/>
                <a:ea typeface="JetBrains Mono" pitchFamily="49" charset="-122"/>
                <a:cs typeface="JetBrains Mono" pitchFamily="49" charset="-120"/>
              </a:rPr>
              <a:t># base case</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1</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n * fact(n - 1)</a:t>
            </a:r>
            <a:endParaRPr lang="en-US" sz="1500" dirty="0"/>
          </a:p>
          <a:p>
            <a:pPr algn="l" indent="0" marL="0">
              <a:lnSpc>
                <a:spcPts val="2250"/>
              </a:lnSpc>
              <a:buNone/>
            </a:pP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(fact(5))</a:t>
            </a:r>
            <a:endParaRPr lang="en-US" sz="1500" dirty="0"/>
          </a:p>
        </p:txBody>
      </p:sp>
      <p:sp>
        <p:nvSpPr>
          <p:cNvPr id="7" name="Shape 5"/>
          <p:cNvSpPr/>
          <p:nvPr/>
        </p:nvSpPr>
        <p:spPr>
          <a:xfrm>
            <a:off x="819150" y="4347108"/>
            <a:ext cx="5448829" cy="943570"/>
          </a:xfrm>
          <a:prstGeom prst="roundRect">
            <a:avLst>
              <a:gd name="adj" fmla="val 12787"/>
            </a:avLst>
          </a:prstGeom>
          <a:solidFill>
            <a:srgbClr val="FFFDF8"/>
          </a:solidFill>
          <a:ln w="12700">
            <a:solidFill>
              <a:srgbClr val="D9DEE5"/>
            </a:solidFill>
            <a:prstDash val="solid"/>
          </a:ln>
        </p:spPr>
      </p:sp>
      <p:sp>
        <p:nvSpPr>
          <p:cNvPr id="8" name="Text 6"/>
          <p:cNvSpPr/>
          <p:nvPr/>
        </p:nvSpPr>
        <p:spPr>
          <a:xfrm>
            <a:off x="1079500" y="4531258"/>
            <a:ext cx="507597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OUTPUT</a:t>
            </a:r>
            <a:endParaRPr lang="en-US" sz="1200" dirty="0"/>
          </a:p>
        </p:txBody>
      </p:sp>
      <p:sp>
        <p:nvSpPr>
          <p:cNvPr id="9" name="Text 7"/>
          <p:cNvSpPr/>
          <p:nvPr/>
        </p:nvSpPr>
        <p:spPr>
          <a:xfrm>
            <a:off x="1079500" y="4820779"/>
            <a:ext cx="5075973"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120</a:t>
            </a:r>
            <a:endParaRPr lang="en-US" sz="1500" dirty="0"/>
          </a:p>
        </p:txBody>
      </p:sp>
      <p:sp>
        <p:nvSpPr>
          <p:cNvPr id="10" name="Shape 8"/>
          <p:cNvSpPr/>
          <p:nvPr/>
        </p:nvSpPr>
        <p:spPr>
          <a:xfrm>
            <a:off x="6636279" y="1860488"/>
            <a:ext cx="4736571" cy="909307"/>
          </a:xfrm>
          <a:prstGeom prst="roundRect">
            <a:avLst>
              <a:gd name="adj" fmla="val 10475"/>
            </a:avLst>
          </a:prstGeom>
          <a:solidFill>
            <a:srgbClr val="FFFDF8"/>
          </a:solidFill>
          <a:ln w="12700">
            <a:solidFill>
              <a:srgbClr val="E2DED3"/>
            </a:solidFill>
            <a:prstDash val="solid"/>
          </a:ln>
        </p:spPr>
      </p:sp>
      <p:sp>
        <p:nvSpPr>
          <p:cNvPr id="11" name="Text 9"/>
          <p:cNvSpPr/>
          <p:nvPr/>
        </p:nvSpPr>
        <p:spPr>
          <a:xfrm>
            <a:off x="6845829" y="2019238"/>
            <a:ext cx="444699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Maths</a:t>
            </a:r>
            <a:endParaRPr lang="en-US" sz="1800" dirty="0"/>
          </a:p>
        </p:txBody>
      </p:sp>
      <p:sp>
        <p:nvSpPr>
          <p:cNvPr id="12" name="Text 10"/>
          <p:cNvSpPr/>
          <p:nvPr/>
        </p:nvSpPr>
        <p:spPr>
          <a:xfrm>
            <a:off x="6845829" y="2344341"/>
            <a:ext cx="444699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5! = 5 × 4! and 1! = 1</a:t>
            </a:r>
            <a:endParaRPr lang="en-US" sz="1500" dirty="0"/>
          </a:p>
        </p:txBody>
      </p:sp>
      <p:sp>
        <p:nvSpPr>
          <p:cNvPr id="13" name="Shape 11"/>
          <p:cNvSpPr/>
          <p:nvPr/>
        </p:nvSpPr>
        <p:spPr>
          <a:xfrm>
            <a:off x="6636279" y="2909491"/>
            <a:ext cx="4736571" cy="909307"/>
          </a:xfrm>
          <a:prstGeom prst="roundRect">
            <a:avLst>
              <a:gd name="adj" fmla="val 10475"/>
            </a:avLst>
          </a:prstGeom>
          <a:solidFill>
            <a:srgbClr val="FFFDF8"/>
          </a:solidFill>
          <a:ln w="12700">
            <a:solidFill>
              <a:srgbClr val="E2DED3"/>
            </a:solidFill>
            <a:prstDash val="solid"/>
          </a:ln>
        </p:spPr>
      </p:sp>
      <p:sp>
        <p:nvSpPr>
          <p:cNvPr id="14" name="Text 12"/>
          <p:cNvSpPr/>
          <p:nvPr/>
        </p:nvSpPr>
        <p:spPr>
          <a:xfrm>
            <a:off x="6845829" y="3068241"/>
            <a:ext cx="444699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Python</a:t>
            </a:r>
            <a:endParaRPr lang="en-US" sz="1800" dirty="0"/>
          </a:p>
        </p:txBody>
      </p:sp>
      <p:sp>
        <p:nvSpPr>
          <p:cNvPr id="15" name="Text 13"/>
          <p:cNvSpPr/>
          <p:nvPr/>
        </p:nvSpPr>
        <p:spPr>
          <a:xfrm>
            <a:off x="6845829" y="3393356"/>
            <a:ext cx="444699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Rubik" pitchFamily="34" charset="0"/>
                <a:ea typeface="Rubik" pitchFamily="34" charset="-122"/>
                <a:cs typeface="Rubik" pitchFamily="34" charset="-120"/>
              </a:rPr>
              <a:t>fact(n) = n * fact(n - 1)</a:t>
            </a:r>
            <a:r>
              <a:rPr lang="en-US" sz="1500" dirty="0">
                <a:solidFill>
                  <a:srgbClr val="4A5568"/>
                </a:solidFill>
                <a:latin typeface="Rubik" pitchFamily="34" charset="0"/>
                <a:ea typeface="Rubik" pitchFamily="34" charset="-122"/>
                <a:cs typeface="Rubik" pitchFamily="34" charset="-120"/>
              </a:rPr>
              <a:t> and </a:t>
            </a:r>
            <a:r>
              <a:rPr lang="en-US" sz="1500" dirty="0">
                <a:solidFill>
                  <a:srgbClr val="2A64A3"/>
                </a:solidFill>
                <a:latin typeface="Rubik" pitchFamily="34" charset="0"/>
                <a:ea typeface="Rubik" pitchFamily="34" charset="-122"/>
                <a:cs typeface="Rubik" pitchFamily="34" charset="-120"/>
              </a:rPr>
              <a:t>fact(1) = 1</a:t>
            </a:r>
            <a:endParaRPr lang="en-US" sz="1500" dirty="0"/>
          </a:p>
        </p:txBody>
      </p:sp>
      <p:sp>
        <p:nvSpPr>
          <p:cNvPr id="16" name="Text 14"/>
          <p:cNvSpPr/>
          <p:nvPr/>
        </p:nvSpPr>
        <p:spPr>
          <a:xfrm>
            <a:off x="6629929" y="3952156"/>
            <a:ext cx="4891749"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568"/>
                </a:solidFill>
                <a:latin typeface="Rubik" pitchFamily="34" charset="0"/>
                <a:ea typeface="Rubik" pitchFamily="34" charset="-122"/>
                <a:cs typeface="Rubik" pitchFamily="34" charset="-120"/>
              </a:rPr>
              <a:t>The code is almost the maths definition, written in Python.</a:t>
            </a:r>
            <a:endParaRPr lang="en-US" sz="15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5 · Class 15</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15 · TRACING</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What really happens in fact(4)</a:t>
            </a:r>
            <a:endParaRPr lang="en-US" sz="3200" dirty="0"/>
          </a:p>
        </p:txBody>
      </p:sp>
      <p:sp>
        <p:nvSpPr>
          <p:cNvPr id="4" name="Shape 2"/>
          <p:cNvSpPr/>
          <p:nvPr/>
        </p:nvSpPr>
        <p:spPr>
          <a:xfrm>
            <a:off x="812800" y="1854138"/>
            <a:ext cx="5461529" cy="391120"/>
          </a:xfrm>
          <a:prstGeom prst="roundRect">
            <a:avLst>
              <a:gd name="adj" fmla="val 22730"/>
            </a:avLst>
          </a:prstGeom>
          <a:solidFill>
            <a:srgbClr val="1B2A41"/>
          </a:solidFill>
          <a:ln/>
        </p:spPr>
      </p:sp>
      <p:sp>
        <p:nvSpPr>
          <p:cNvPr id="5" name="Text 3"/>
          <p:cNvSpPr/>
          <p:nvPr/>
        </p:nvSpPr>
        <p:spPr>
          <a:xfrm>
            <a:off x="990600" y="1943038"/>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Rubik" pitchFamily="34" charset="0"/>
                <a:ea typeface="Rubik" pitchFamily="34" charset="-122"/>
                <a:cs typeface="Rubik" pitchFamily="34" charset="-120"/>
              </a:rPr>
              <a:t>CALL</a:t>
            </a:r>
            <a:endParaRPr lang="en-US" sz="1200" dirty="0"/>
          </a:p>
        </p:txBody>
      </p:sp>
      <p:sp>
        <p:nvSpPr>
          <p:cNvPr id="6" name="Text 4"/>
          <p:cNvSpPr/>
          <p:nvPr/>
        </p:nvSpPr>
        <p:spPr>
          <a:xfrm>
            <a:off x="2413000" y="1943038"/>
            <a:ext cx="379403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EF"/>
                </a:solidFill>
                <a:latin typeface="Rubik" pitchFamily="34" charset="0"/>
                <a:ea typeface="Rubik" pitchFamily="34" charset="-122"/>
                <a:cs typeface="Rubik" pitchFamily="34" charset="-120"/>
              </a:rPr>
              <a:t>WHAT IT DOES</a:t>
            </a:r>
            <a:endParaRPr lang="en-US" sz="1200" dirty="0"/>
          </a:p>
        </p:txBody>
      </p:sp>
      <p:sp>
        <p:nvSpPr>
          <p:cNvPr id="7" name="Shape 5"/>
          <p:cNvSpPr/>
          <p:nvPr/>
        </p:nvSpPr>
        <p:spPr>
          <a:xfrm>
            <a:off x="812800" y="2696108"/>
            <a:ext cx="5461529" cy="0"/>
          </a:xfrm>
          <a:prstGeom prst="line">
            <a:avLst/>
          </a:prstGeom>
          <a:noFill/>
          <a:ln w="12700">
            <a:solidFill>
              <a:srgbClr val="D9DEE5"/>
            </a:solidFill>
            <a:prstDash val="solid"/>
          </a:ln>
        </p:spPr>
      </p:sp>
      <p:sp>
        <p:nvSpPr>
          <p:cNvPr id="8" name="Text 6"/>
          <p:cNvSpPr/>
          <p:nvPr/>
        </p:nvSpPr>
        <p:spPr>
          <a:xfrm>
            <a:off x="990600" y="2334158"/>
            <a:ext cx="1320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fact(4)</a:t>
            </a:r>
            <a:endParaRPr lang="en-US" sz="1500" dirty="0"/>
          </a:p>
        </p:txBody>
      </p:sp>
      <p:sp>
        <p:nvSpPr>
          <p:cNvPr id="9" name="Text 7"/>
          <p:cNvSpPr/>
          <p:nvPr/>
        </p:nvSpPr>
        <p:spPr>
          <a:xfrm>
            <a:off x="2413000" y="2334158"/>
            <a:ext cx="37940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4 * fact(3) waits</a:t>
            </a:r>
            <a:endParaRPr lang="en-US" sz="1500" dirty="0"/>
          </a:p>
        </p:txBody>
      </p:sp>
      <p:sp>
        <p:nvSpPr>
          <p:cNvPr id="10" name="Shape 8"/>
          <p:cNvSpPr/>
          <p:nvPr/>
        </p:nvSpPr>
        <p:spPr>
          <a:xfrm>
            <a:off x="812800" y="3153308"/>
            <a:ext cx="5461529" cy="0"/>
          </a:xfrm>
          <a:prstGeom prst="line">
            <a:avLst/>
          </a:prstGeom>
          <a:noFill/>
          <a:ln w="12700">
            <a:solidFill>
              <a:srgbClr val="D9DEE5"/>
            </a:solidFill>
            <a:prstDash val="solid"/>
          </a:ln>
        </p:spPr>
      </p:sp>
      <p:sp>
        <p:nvSpPr>
          <p:cNvPr id="11" name="Text 9"/>
          <p:cNvSpPr/>
          <p:nvPr/>
        </p:nvSpPr>
        <p:spPr>
          <a:xfrm>
            <a:off x="990600" y="2791358"/>
            <a:ext cx="1320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fact(3)</a:t>
            </a:r>
            <a:endParaRPr lang="en-US" sz="1500" dirty="0"/>
          </a:p>
        </p:txBody>
      </p:sp>
      <p:sp>
        <p:nvSpPr>
          <p:cNvPr id="12" name="Text 10"/>
          <p:cNvSpPr/>
          <p:nvPr/>
        </p:nvSpPr>
        <p:spPr>
          <a:xfrm>
            <a:off x="2413000" y="2791358"/>
            <a:ext cx="37940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3 * fact(2) waits</a:t>
            </a:r>
            <a:endParaRPr lang="en-US" sz="1500" dirty="0"/>
          </a:p>
        </p:txBody>
      </p:sp>
      <p:sp>
        <p:nvSpPr>
          <p:cNvPr id="13" name="Shape 11"/>
          <p:cNvSpPr/>
          <p:nvPr/>
        </p:nvSpPr>
        <p:spPr>
          <a:xfrm>
            <a:off x="812800" y="3610508"/>
            <a:ext cx="5461529" cy="0"/>
          </a:xfrm>
          <a:prstGeom prst="line">
            <a:avLst/>
          </a:prstGeom>
          <a:noFill/>
          <a:ln w="12700">
            <a:solidFill>
              <a:srgbClr val="D9DEE5"/>
            </a:solidFill>
            <a:prstDash val="solid"/>
          </a:ln>
        </p:spPr>
      </p:sp>
      <p:sp>
        <p:nvSpPr>
          <p:cNvPr id="14" name="Text 12"/>
          <p:cNvSpPr/>
          <p:nvPr/>
        </p:nvSpPr>
        <p:spPr>
          <a:xfrm>
            <a:off x="990600" y="3248558"/>
            <a:ext cx="1320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fact(2)</a:t>
            </a:r>
            <a:endParaRPr lang="en-US" sz="1500" dirty="0"/>
          </a:p>
        </p:txBody>
      </p:sp>
      <p:sp>
        <p:nvSpPr>
          <p:cNvPr id="15" name="Text 13"/>
          <p:cNvSpPr/>
          <p:nvPr/>
        </p:nvSpPr>
        <p:spPr>
          <a:xfrm>
            <a:off x="2413000" y="3248558"/>
            <a:ext cx="37940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2 * fact(1) waits</a:t>
            </a:r>
            <a:endParaRPr lang="en-US" sz="1500" dirty="0"/>
          </a:p>
        </p:txBody>
      </p:sp>
      <p:sp>
        <p:nvSpPr>
          <p:cNvPr id="16" name="Shape 14"/>
          <p:cNvSpPr/>
          <p:nvPr/>
        </p:nvSpPr>
        <p:spPr>
          <a:xfrm>
            <a:off x="812800" y="4067708"/>
            <a:ext cx="5461529" cy="0"/>
          </a:xfrm>
          <a:prstGeom prst="line">
            <a:avLst/>
          </a:prstGeom>
          <a:noFill/>
          <a:ln w="12700">
            <a:solidFill>
              <a:srgbClr val="D9DEE5"/>
            </a:solidFill>
            <a:prstDash val="solid"/>
          </a:ln>
        </p:spPr>
      </p:sp>
      <p:sp>
        <p:nvSpPr>
          <p:cNvPr id="17" name="Text 15"/>
          <p:cNvSpPr/>
          <p:nvPr/>
        </p:nvSpPr>
        <p:spPr>
          <a:xfrm>
            <a:off x="990600" y="3705758"/>
            <a:ext cx="1320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fact(1)</a:t>
            </a:r>
            <a:endParaRPr lang="en-US" sz="1500" dirty="0"/>
          </a:p>
        </p:txBody>
      </p:sp>
      <p:sp>
        <p:nvSpPr>
          <p:cNvPr id="18" name="Text 16"/>
          <p:cNvSpPr/>
          <p:nvPr/>
        </p:nvSpPr>
        <p:spPr>
          <a:xfrm>
            <a:off x="2413000" y="3705758"/>
            <a:ext cx="37940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1 base case!</a:t>
            </a:r>
            <a:endParaRPr lang="en-US" sz="1500" dirty="0"/>
          </a:p>
        </p:txBody>
      </p:sp>
      <p:sp>
        <p:nvSpPr>
          <p:cNvPr id="19" name="Shape 17"/>
          <p:cNvSpPr/>
          <p:nvPr/>
        </p:nvSpPr>
        <p:spPr>
          <a:xfrm>
            <a:off x="812800" y="4524908"/>
            <a:ext cx="5461529" cy="0"/>
          </a:xfrm>
          <a:prstGeom prst="line">
            <a:avLst/>
          </a:prstGeom>
          <a:noFill/>
          <a:ln w="12700">
            <a:solidFill>
              <a:srgbClr val="D9DEE5"/>
            </a:solidFill>
            <a:prstDash val="solid"/>
          </a:ln>
        </p:spPr>
      </p:sp>
      <p:sp>
        <p:nvSpPr>
          <p:cNvPr id="20" name="Text 18"/>
          <p:cNvSpPr/>
          <p:nvPr/>
        </p:nvSpPr>
        <p:spPr>
          <a:xfrm>
            <a:off x="990600" y="4162958"/>
            <a:ext cx="1320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fact(2)</a:t>
            </a:r>
            <a:endParaRPr lang="en-US" sz="1500" dirty="0"/>
          </a:p>
        </p:txBody>
      </p:sp>
      <p:sp>
        <p:nvSpPr>
          <p:cNvPr id="21" name="Text 19"/>
          <p:cNvSpPr/>
          <p:nvPr/>
        </p:nvSpPr>
        <p:spPr>
          <a:xfrm>
            <a:off x="2413000" y="4162958"/>
            <a:ext cx="37940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2 * 1 = 2</a:t>
            </a:r>
            <a:endParaRPr lang="en-US" sz="1500" dirty="0"/>
          </a:p>
        </p:txBody>
      </p:sp>
      <p:sp>
        <p:nvSpPr>
          <p:cNvPr id="22" name="Shape 20"/>
          <p:cNvSpPr/>
          <p:nvPr/>
        </p:nvSpPr>
        <p:spPr>
          <a:xfrm>
            <a:off x="812800" y="4982108"/>
            <a:ext cx="5461529" cy="0"/>
          </a:xfrm>
          <a:prstGeom prst="line">
            <a:avLst/>
          </a:prstGeom>
          <a:noFill/>
          <a:ln w="12700">
            <a:solidFill>
              <a:srgbClr val="D9DEE5"/>
            </a:solidFill>
            <a:prstDash val="solid"/>
          </a:ln>
        </p:spPr>
      </p:sp>
      <p:sp>
        <p:nvSpPr>
          <p:cNvPr id="23" name="Text 21"/>
          <p:cNvSpPr/>
          <p:nvPr/>
        </p:nvSpPr>
        <p:spPr>
          <a:xfrm>
            <a:off x="990600" y="4620158"/>
            <a:ext cx="1320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fact(3)</a:t>
            </a:r>
            <a:endParaRPr lang="en-US" sz="1500" dirty="0"/>
          </a:p>
        </p:txBody>
      </p:sp>
      <p:sp>
        <p:nvSpPr>
          <p:cNvPr id="24" name="Text 22"/>
          <p:cNvSpPr/>
          <p:nvPr/>
        </p:nvSpPr>
        <p:spPr>
          <a:xfrm>
            <a:off x="2413000" y="4620158"/>
            <a:ext cx="37940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3 * 2 = 6</a:t>
            </a:r>
            <a:endParaRPr lang="en-US" sz="1500" dirty="0"/>
          </a:p>
        </p:txBody>
      </p:sp>
      <p:sp>
        <p:nvSpPr>
          <p:cNvPr id="25" name="Shape 23"/>
          <p:cNvSpPr/>
          <p:nvPr/>
        </p:nvSpPr>
        <p:spPr>
          <a:xfrm>
            <a:off x="812800" y="5439308"/>
            <a:ext cx="5461529" cy="0"/>
          </a:xfrm>
          <a:prstGeom prst="line">
            <a:avLst/>
          </a:prstGeom>
          <a:noFill/>
          <a:ln w="12700">
            <a:solidFill>
              <a:srgbClr val="D9DEE5"/>
            </a:solidFill>
            <a:prstDash val="solid"/>
          </a:ln>
        </p:spPr>
      </p:sp>
      <p:sp>
        <p:nvSpPr>
          <p:cNvPr id="26" name="Text 24"/>
          <p:cNvSpPr/>
          <p:nvPr/>
        </p:nvSpPr>
        <p:spPr>
          <a:xfrm>
            <a:off x="990600" y="5077358"/>
            <a:ext cx="1320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A64A3"/>
                </a:solidFill>
                <a:latin typeface="JetBrains Mono" pitchFamily="49" charset="0"/>
                <a:ea typeface="JetBrains Mono" pitchFamily="49" charset="-122"/>
                <a:cs typeface="JetBrains Mono" pitchFamily="49" charset="-120"/>
              </a:rPr>
              <a:t>fact(4)</a:t>
            </a:r>
            <a:endParaRPr lang="en-US" sz="1500" dirty="0"/>
          </a:p>
        </p:txBody>
      </p:sp>
      <p:sp>
        <p:nvSpPr>
          <p:cNvPr id="27" name="Text 25"/>
          <p:cNvSpPr/>
          <p:nvPr/>
        </p:nvSpPr>
        <p:spPr>
          <a:xfrm>
            <a:off x="2413000" y="5077358"/>
            <a:ext cx="37940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A41"/>
                </a:solidFill>
                <a:latin typeface="JetBrains Mono" pitchFamily="49" charset="0"/>
                <a:ea typeface="JetBrains Mono" pitchFamily="49" charset="-122"/>
                <a:cs typeface="JetBrains Mono" pitchFamily="49" charset="-120"/>
              </a:rPr>
              <a:t>4 * 6 = 24</a:t>
            </a:r>
            <a:endParaRPr lang="en-US" sz="1500" dirty="0"/>
          </a:p>
        </p:txBody>
      </p:sp>
      <p:sp>
        <p:nvSpPr>
          <p:cNvPr id="28" name="Shape 26"/>
          <p:cNvSpPr/>
          <p:nvPr/>
        </p:nvSpPr>
        <p:spPr>
          <a:xfrm>
            <a:off x="6636279" y="1860488"/>
            <a:ext cx="4736571" cy="749300"/>
          </a:xfrm>
          <a:prstGeom prst="roundRect">
            <a:avLst>
              <a:gd name="adj" fmla="val 11017"/>
            </a:avLst>
          </a:prstGeom>
          <a:solidFill>
            <a:srgbClr val="FFFDF8"/>
          </a:solidFill>
          <a:ln w="12700">
            <a:solidFill>
              <a:srgbClr val="E2DED3"/>
            </a:solidFill>
            <a:prstDash val="solid"/>
          </a:ln>
        </p:spPr>
      </p:sp>
      <p:sp>
        <p:nvSpPr>
          <p:cNvPr id="29" name="Text 27"/>
          <p:cNvSpPr/>
          <p:nvPr/>
        </p:nvSpPr>
        <p:spPr>
          <a:xfrm>
            <a:off x="6795029" y="210178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1</a:t>
            </a:r>
            <a:endParaRPr lang="en-US" sz="1500" dirty="0"/>
          </a:p>
        </p:txBody>
      </p:sp>
      <p:sp>
        <p:nvSpPr>
          <p:cNvPr id="30" name="Text 28"/>
          <p:cNvSpPr/>
          <p:nvPr/>
        </p:nvSpPr>
        <p:spPr>
          <a:xfrm>
            <a:off x="7252229" y="1968438"/>
            <a:ext cx="4080727"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Going down:</a:t>
            </a:r>
            <a:r>
              <a:rPr lang="en-US" sz="1500" dirty="0">
                <a:solidFill>
                  <a:srgbClr val="4A5568"/>
                </a:solidFill>
                <a:latin typeface="Rubik" pitchFamily="34" charset="0"/>
                <a:ea typeface="Rubik" pitchFamily="34" charset="-122"/>
                <a:cs typeface="Rubik" pitchFamily="34" charset="-120"/>
              </a:rPr>
              <a:t> each call waits for a smaller one</a:t>
            </a:r>
            <a:endParaRPr lang="en-US" sz="1500" dirty="0"/>
          </a:p>
        </p:txBody>
      </p:sp>
      <p:sp>
        <p:nvSpPr>
          <p:cNvPr id="31" name="Shape 29"/>
          <p:cNvSpPr/>
          <p:nvPr/>
        </p:nvSpPr>
        <p:spPr>
          <a:xfrm>
            <a:off x="6636279" y="2749488"/>
            <a:ext cx="4736571" cy="482600"/>
          </a:xfrm>
          <a:prstGeom prst="roundRect">
            <a:avLst>
              <a:gd name="adj" fmla="val 17105"/>
            </a:avLst>
          </a:prstGeom>
          <a:solidFill>
            <a:srgbClr val="FFFDF8"/>
          </a:solidFill>
          <a:ln w="12700">
            <a:solidFill>
              <a:srgbClr val="E2DED3"/>
            </a:solidFill>
            <a:prstDash val="solid"/>
          </a:ln>
        </p:spPr>
      </p:sp>
      <p:sp>
        <p:nvSpPr>
          <p:cNvPr id="32" name="Text 30"/>
          <p:cNvSpPr/>
          <p:nvPr/>
        </p:nvSpPr>
        <p:spPr>
          <a:xfrm>
            <a:off x="6795029" y="285743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2</a:t>
            </a:r>
            <a:endParaRPr lang="en-US" sz="1500" dirty="0"/>
          </a:p>
        </p:txBody>
      </p:sp>
      <p:sp>
        <p:nvSpPr>
          <p:cNvPr id="33" name="Text 31"/>
          <p:cNvSpPr/>
          <p:nvPr/>
        </p:nvSpPr>
        <p:spPr>
          <a:xfrm>
            <a:off x="7252229" y="2857438"/>
            <a:ext cx="336272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Base case:</a:t>
            </a:r>
            <a:r>
              <a:rPr lang="en-US" sz="1500" dirty="0">
                <a:solidFill>
                  <a:srgbClr val="4A5568"/>
                </a:solidFill>
                <a:latin typeface="Rubik" pitchFamily="34" charset="0"/>
                <a:ea typeface="Rubik" pitchFamily="34" charset="-122"/>
                <a:cs typeface="Rubik" pitchFamily="34" charset="-120"/>
              </a:rPr>
              <a:t> the first real answer</a:t>
            </a:r>
            <a:endParaRPr lang="en-US" sz="1500" dirty="0"/>
          </a:p>
        </p:txBody>
      </p:sp>
      <p:sp>
        <p:nvSpPr>
          <p:cNvPr id="34" name="Shape 32"/>
          <p:cNvSpPr/>
          <p:nvPr/>
        </p:nvSpPr>
        <p:spPr>
          <a:xfrm>
            <a:off x="6636279" y="3371788"/>
            <a:ext cx="4736571" cy="749300"/>
          </a:xfrm>
          <a:prstGeom prst="roundRect">
            <a:avLst>
              <a:gd name="adj" fmla="val 11017"/>
            </a:avLst>
          </a:prstGeom>
          <a:solidFill>
            <a:srgbClr val="FFFDF8"/>
          </a:solidFill>
          <a:ln w="12700">
            <a:solidFill>
              <a:srgbClr val="E2DED3"/>
            </a:solidFill>
            <a:prstDash val="solid"/>
          </a:ln>
        </p:spPr>
      </p:sp>
      <p:sp>
        <p:nvSpPr>
          <p:cNvPr id="35" name="Text 33"/>
          <p:cNvSpPr/>
          <p:nvPr/>
        </p:nvSpPr>
        <p:spPr>
          <a:xfrm>
            <a:off x="6795029" y="3613088"/>
            <a:ext cx="330200" cy="266700"/>
          </a:xfrm>
          <a:custGeom>
            <a:avLst/>
            <a:gdLst/>
            <a:ahLst/>
            <a:cxnLst/>
            <a:rect l="l" t="t" r="r" b="b"/>
            <a:pathLst>
              <a:path w="330200" h="266700">
                <a:moveTo>
                  <a:pt x="133350" y="0"/>
                </a:moveTo>
                <a:lnTo>
                  <a:pt x="196850" y="0"/>
                </a:lnTo>
                <a:arcTo hR="133350" wR="133350" stAng="16200000" swAng="5400000"/>
                <a:lnTo>
                  <a:pt x="330200" y="133350"/>
                </a:lnTo>
                <a:arcTo hR="133350" wR="133350" stAng="0" swAng="5400000"/>
                <a:lnTo>
                  <a:pt x="133350" y="266700"/>
                </a:lnTo>
                <a:arcTo hR="133350" wR="133350" stAng="5400000" swAng="5400000"/>
                <a:lnTo>
                  <a:pt x="0" y="133350"/>
                </a:lnTo>
                <a:arcTo hR="133350" wR="133350" stAng="10800000" swAng="5400000"/>
                <a:close/>
              </a:path>
            </a:pathLst>
          </a:custGeom>
          <a:solidFill>
            <a:srgbClr val="F2B33D"/>
          </a:solidFill>
          <a:ln/>
        </p:spPr>
        <p:txBody>
          <a:bodyPr wrap="square" lIns="0" tIns="0" rIns="0" bIns="0" rtlCol="0" anchor="t">
            <a:normAutofit/>
          </a:bodyPr>
          <a:lstStyle/>
          <a:p>
            <a:pPr algn="ctr" indent="0" marL="0">
              <a:lnSpc>
                <a:spcPts val="2100"/>
              </a:lnSpc>
              <a:buNone/>
            </a:pPr>
            <a:r>
              <a:rPr lang="en-US" sz="1500" b="1" dirty="0">
                <a:solidFill>
                  <a:srgbClr val="1B2A41"/>
                </a:solidFill>
                <a:latin typeface="Rubik" pitchFamily="34" charset="0"/>
                <a:ea typeface="Rubik" pitchFamily="34" charset="-122"/>
                <a:cs typeface="Rubik" pitchFamily="34" charset="-120"/>
              </a:rPr>
              <a:t>3</a:t>
            </a:r>
            <a:endParaRPr lang="en-US" sz="1500" dirty="0"/>
          </a:p>
        </p:txBody>
      </p:sp>
      <p:sp>
        <p:nvSpPr>
          <p:cNvPr id="36" name="Text 34"/>
          <p:cNvSpPr/>
          <p:nvPr/>
        </p:nvSpPr>
        <p:spPr>
          <a:xfrm>
            <a:off x="7252229" y="3479738"/>
            <a:ext cx="4080727"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Rubik" pitchFamily="34" charset="0"/>
                <a:ea typeface="Rubik" pitchFamily="34" charset="-122"/>
                <a:cs typeface="Rubik" pitchFamily="34" charset="-120"/>
              </a:rPr>
              <a:t>Coming back:</a:t>
            </a:r>
            <a:r>
              <a:rPr lang="en-US" sz="1500" dirty="0">
                <a:solidFill>
                  <a:srgbClr val="4A5568"/>
                </a:solidFill>
                <a:latin typeface="Rubik" pitchFamily="34" charset="0"/>
                <a:ea typeface="Rubik" pitchFamily="34" charset="-122"/>
                <a:cs typeface="Rubik" pitchFamily="34" charset="-120"/>
              </a:rPr>
              <a:t> each waiting call finishes its multiply</a:t>
            </a:r>
            <a:endParaRPr lang="en-US" sz="1500" dirty="0"/>
          </a:p>
        </p:txBody>
      </p:sp>
      <p:sp>
        <p:nvSpPr>
          <p:cNvPr id="37" name="Text 3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5 · Class 15</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15 · TWO CLASSICS</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Fibonacci and digit sum, recursively</a:t>
            </a:r>
            <a:endParaRPr lang="en-US" sz="3200" dirty="0"/>
          </a:p>
        </p:txBody>
      </p:sp>
      <p:sp>
        <p:nvSpPr>
          <p:cNvPr id="4" name="Shape 2"/>
          <p:cNvSpPr/>
          <p:nvPr/>
        </p:nvSpPr>
        <p:spPr>
          <a:xfrm>
            <a:off x="819150" y="1860488"/>
            <a:ext cx="5168900" cy="3379457"/>
          </a:xfrm>
          <a:prstGeom prst="roundRect">
            <a:avLst>
              <a:gd name="adj" fmla="val 3570"/>
            </a:avLst>
          </a:prstGeom>
          <a:solidFill>
            <a:srgbClr val="FFFDF8"/>
          </a:solidFill>
          <a:ln w="12700">
            <a:solidFill>
              <a:srgbClr val="E2DED3"/>
            </a:solidFill>
            <a:prstDash val="solid"/>
          </a:ln>
        </p:spPr>
      </p:sp>
      <p:sp>
        <p:nvSpPr>
          <p:cNvPr id="5" name="Text 3"/>
          <p:cNvSpPr/>
          <p:nvPr/>
        </p:nvSpPr>
        <p:spPr>
          <a:xfrm>
            <a:off x="1028700" y="207003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Fibonacci</a:t>
            </a:r>
            <a:endParaRPr lang="en-US" sz="1800" dirty="0"/>
          </a:p>
        </p:txBody>
      </p:sp>
      <p:sp>
        <p:nvSpPr>
          <p:cNvPr id="6" name="Text 4"/>
          <p:cNvSpPr/>
          <p:nvPr/>
        </p:nvSpPr>
        <p:spPr>
          <a:xfrm>
            <a:off x="1028700" y="2445941"/>
            <a:ext cx="4749800" cy="1968500"/>
          </a:xfrm>
          <a:prstGeom prst="roundRect">
            <a:avLst>
              <a:gd name="adj" fmla="val 4516"/>
            </a:avLst>
          </a:prstGeom>
          <a:solidFill>
            <a:srgbClr val="1B2A41"/>
          </a:solidFill>
          <a:ln/>
        </p:spPr>
        <p:txBody>
          <a:bodyPr wrap="square" lIns="126362" tIns="100962" rIns="0" bIns="75562"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fib(n):</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n &lt;= 1:</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n</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fib(n - 1) + fib(n - 2)</a:t>
            </a:r>
            <a:endParaRPr lang="en-US" sz="1500" dirty="0"/>
          </a:p>
          <a:p>
            <a:pPr algn="l" indent="0" marL="0">
              <a:lnSpc>
                <a:spcPts val="2250"/>
              </a:lnSpc>
              <a:buNone/>
            </a:pP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(fib(7))</a:t>
            </a:r>
            <a:endParaRPr lang="en-US" sz="1500" dirty="0"/>
          </a:p>
        </p:txBody>
      </p:sp>
      <p:sp>
        <p:nvSpPr>
          <p:cNvPr id="7" name="Text 5"/>
          <p:cNvSpPr/>
          <p:nvPr/>
        </p:nvSpPr>
        <p:spPr>
          <a:xfrm>
            <a:off x="1035050" y="4522391"/>
            <a:ext cx="4737100" cy="501650"/>
          </a:xfrm>
          <a:prstGeom prst="roundRect">
            <a:avLst>
              <a:gd name="adj" fmla="val 16456"/>
            </a:avLst>
          </a:prstGeom>
          <a:solidFill>
            <a:srgbClr val="F7F5EF"/>
          </a:solidFill>
          <a:ln w="12700">
            <a:solidFill>
              <a:srgbClr val="D9DEE5"/>
            </a:solidFill>
            <a:prstDash val="solid"/>
          </a:ln>
        </p:spPr>
        <p:txBody>
          <a:bodyPr wrap="square" lIns="134572" tIns="83772" rIns="1984"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13</a:t>
            </a:r>
            <a:endParaRPr lang="en-US" sz="1500" dirty="0"/>
          </a:p>
        </p:txBody>
      </p:sp>
      <p:sp>
        <p:nvSpPr>
          <p:cNvPr id="8" name="Shape 6"/>
          <p:cNvSpPr/>
          <p:nvPr/>
        </p:nvSpPr>
        <p:spPr>
          <a:xfrm>
            <a:off x="6203950" y="1860488"/>
            <a:ext cx="5168900" cy="3379457"/>
          </a:xfrm>
          <a:prstGeom prst="roundRect">
            <a:avLst>
              <a:gd name="adj" fmla="val 3570"/>
            </a:avLst>
          </a:prstGeom>
          <a:solidFill>
            <a:srgbClr val="FFFDF8"/>
          </a:solidFill>
          <a:ln w="12700">
            <a:solidFill>
              <a:srgbClr val="E2DED3"/>
            </a:solidFill>
            <a:prstDash val="solid"/>
          </a:ln>
        </p:spPr>
      </p:sp>
      <p:sp>
        <p:nvSpPr>
          <p:cNvPr id="9" name="Text 7"/>
          <p:cNvSpPr/>
          <p:nvPr/>
        </p:nvSpPr>
        <p:spPr>
          <a:xfrm>
            <a:off x="6413500" y="207003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Sum of digits</a:t>
            </a:r>
            <a:endParaRPr lang="en-US" sz="1800" dirty="0"/>
          </a:p>
        </p:txBody>
      </p:sp>
      <p:sp>
        <p:nvSpPr>
          <p:cNvPr id="10" name="Text 8"/>
          <p:cNvSpPr/>
          <p:nvPr/>
        </p:nvSpPr>
        <p:spPr>
          <a:xfrm>
            <a:off x="6413500" y="2445941"/>
            <a:ext cx="4749800" cy="1968500"/>
          </a:xfrm>
          <a:prstGeom prst="roundRect">
            <a:avLst>
              <a:gd name="adj" fmla="val 4516"/>
            </a:avLst>
          </a:prstGeom>
          <a:solidFill>
            <a:srgbClr val="1B2A41"/>
          </a:solidFill>
          <a:ln/>
        </p:spPr>
        <p:txBody>
          <a:bodyPr wrap="square" lIns="126362" tIns="100962" rIns="0" bIns="75562" rtlCol="0" anchor="t">
            <a:normAutofit/>
          </a:bodyPr>
          <a:lstStyle/>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def</a:t>
            </a:r>
            <a:r>
              <a:rPr lang="en-US" sz="1500" dirty="0">
                <a:solidFill>
                  <a:srgbClr val="E8EDF3"/>
                </a:solidFill>
                <a:latin typeface="JetBrains Mono" pitchFamily="49" charset="0"/>
                <a:ea typeface="JetBrains Mono" pitchFamily="49" charset="-122"/>
                <a:cs typeface="JetBrains Mono" pitchFamily="49" charset="-120"/>
              </a:rPr>
              <a:t> dsum(n):</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n &lt; 10:</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n</a:t>
            </a:r>
            <a:endParaRPr lang="en-US" sz="1500" dirty="0"/>
          </a:p>
          <a:p>
            <a:pPr algn="l" indent="0" marL="0">
              <a:lnSpc>
                <a:spcPts val="2250"/>
              </a:lnSpc>
              <a:buNone/>
            </a:pPr>
            <a:r>
              <a:rPr lang="en-US" sz="1500" dirty="0">
                <a:solidFill>
                  <a:srgbClr val="E8EDF3"/>
                </a:solidFill>
                <a:latin typeface="JetBrains Mono" pitchFamily="49" charset="0"/>
                <a:ea typeface="JetBrains Mono" pitchFamily="49" charset="-122"/>
                <a:cs typeface="JetBrains Mono" pitchFamily="49" charset="-120"/>
              </a:rPr>
              <a:t>    </a:t>
            </a:r>
            <a:r>
              <a:rPr lang="en-US" sz="1500" dirty="0">
                <a:solidFill>
                  <a:srgbClr val="F2B33D"/>
                </a:solidFill>
                <a:latin typeface="JetBrains Mono" pitchFamily="49" charset="0"/>
                <a:ea typeface="JetBrains Mono" pitchFamily="49" charset="-122"/>
                <a:cs typeface="JetBrains Mono" pitchFamily="49" charset="-120"/>
              </a:rPr>
              <a:t>return</a:t>
            </a:r>
            <a:r>
              <a:rPr lang="en-US" sz="1500" dirty="0">
                <a:solidFill>
                  <a:srgbClr val="E8EDF3"/>
                </a:solidFill>
                <a:latin typeface="JetBrains Mono" pitchFamily="49" charset="0"/>
                <a:ea typeface="JetBrains Mono" pitchFamily="49" charset="-122"/>
                <a:cs typeface="JetBrains Mono" pitchFamily="49" charset="-120"/>
              </a:rPr>
              <a:t> n % 10 + dsum(n // 10)</a:t>
            </a:r>
            <a:endParaRPr lang="en-US" sz="1500" dirty="0"/>
          </a:p>
          <a:p>
            <a:pPr algn="l" indent="0" marL="0">
              <a:lnSpc>
                <a:spcPts val="2250"/>
              </a:lnSpc>
              <a:buNone/>
            </a:pPr>
            <a:endParaRPr lang="en-US" sz="1500" dirty="0"/>
          </a:p>
          <a:p>
            <a:pPr algn="l" indent="0" marL="0">
              <a:lnSpc>
                <a:spcPts val="2250"/>
              </a:lnSpc>
              <a:buNone/>
            </a:pPr>
            <a:r>
              <a:rPr lang="en-US" sz="1500" dirty="0">
                <a:solidFill>
                  <a:srgbClr val="F2B33D"/>
                </a:solidFill>
                <a:latin typeface="JetBrains Mono" pitchFamily="49" charset="0"/>
                <a:ea typeface="JetBrains Mono" pitchFamily="49" charset="-122"/>
                <a:cs typeface="JetBrains Mono" pitchFamily="49" charset="-120"/>
              </a:rPr>
              <a:t>print</a:t>
            </a:r>
            <a:r>
              <a:rPr lang="en-US" sz="1500" dirty="0">
                <a:solidFill>
                  <a:srgbClr val="E8EDF3"/>
                </a:solidFill>
                <a:latin typeface="JetBrains Mono" pitchFamily="49" charset="0"/>
                <a:ea typeface="JetBrains Mono" pitchFamily="49" charset="-122"/>
                <a:cs typeface="JetBrains Mono" pitchFamily="49" charset="-120"/>
              </a:rPr>
              <a:t>(dsum(1234))</a:t>
            </a:r>
            <a:endParaRPr lang="en-US" sz="1500" dirty="0"/>
          </a:p>
        </p:txBody>
      </p:sp>
      <p:sp>
        <p:nvSpPr>
          <p:cNvPr id="11" name="Text 9"/>
          <p:cNvSpPr/>
          <p:nvPr/>
        </p:nvSpPr>
        <p:spPr>
          <a:xfrm>
            <a:off x="6419850" y="4522391"/>
            <a:ext cx="4737100" cy="501650"/>
          </a:xfrm>
          <a:prstGeom prst="roundRect">
            <a:avLst>
              <a:gd name="adj" fmla="val 16456"/>
            </a:avLst>
          </a:prstGeom>
          <a:solidFill>
            <a:srgbClr val="F7F5EF"/>
          </a:solidFill>
          <a:ln w="12700">
            <a:solidFill>
              <a:srgbClr val="D9DEE5"/>
            </a:solidFill>
            <a:prstDash val="solid"/>
          </a:ln>
        </p:spPr>
        <p:txBody>
          <a:bodyPr wrap="square" lIns="134572" tIns="83772" rIns="1984" bIns="58372" rtlCol="0" anchor="t">
            <a:normAutofit/>
          </a:bodyPr>
          <a:lstStyle/>
          <a:p>
            <a:pPr algn="l" indent="0" marL="0">
              <a:lnSpc>
                <a:spcPts val="2250"/>
              </a:lnSpc>
              <a:buNone/>
            </a:pPr>
            <a:r>
              <a:rPr lang="en-US" sz="1500" dirty="0">
                <a:solidFill>
                  <a:srgbClr val="1B2A41"/>
                </a:solidFill>
                <a:latin typeface="JetBrains Mono" pitchFamily="49" charset="0"/>
                <a:ea typeface="JetBrains Mono" pitchFamily="49" charset="-122"/>
                <a:cs typeface="JetBrains Mono" pitchFamily="49" charset="-120"/>
              </a:rPr>
              <a:t>10</a:t>
            </a:r>
            <a:endParaRPr lang="en-US" sz="15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5 · Class 15</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15 · CHOOSING</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Recursion or a loop?</a:t>
            </a:r>
            <a:endParaRPr lang="en-US" sz="3200" dirty="0"/>
          </a:p>
        </p:txBody>
      </p:sp>
      <p:sp>
        <p:nvSpPr>
          <p:cNvPr id="4" name="Shape 2"/>
          <p:cNvSpPr/>
          <p:nvPr/>
        </p:nvSpPr>
        <p:spPr>
          <a:xfrm>
            <a:off x="819150" y="1860488"/>
            <a:ext cx="5168900" cy="1719527"/>
          </a:xfrm>
          <a:prstGeom prst="roundRect">
            <a:avLst>
              <a:gd name="adj" fmla="val 7016"/>
            </a:avLst>
          </a:prstGeom>
          <a:solidFill>
            <a:srgbClr val="FFFDF8"/>
          </a:solidFill>
          <a:ln w="12700">
            <a:solidFill>
              <a:srgbClr val="E2DED3"/>
            </a:solidFill>
            <a:prstDash val="solid"/>
          </a:ln>
        </p:spPr>
      </p:sp>
      <p:sp>
        <p:nvSpPr>
          <p:cNvPr id="5" name="Text 3"/>
          <p:cNvSpPr/>
          <p:nvPr/>
        </p:nvSpPr>
        <p:spPr>
          <a:xfrm>
            <a:off x="1028700" y="2070038"/>
            <a:ext cx="998736" cy="289520"/>
          </a:xfrm>
          <a:custGeom>
            <a:avLst/>
            <a:gdLst/>
            <a:ahLst/>
            <a:cxnLst/>
            <a:rect l="l" t="t" r="r" b="b"/>
            <a:pathLst>
              <a:path w="998736" h="289520">
                <a:moveTo>
                  <a:pt x="144760" y="0"/>
                </a:moveTo>
                <a:lnTo>
                  <a:pt x="853976" y="0"/>
                </a:lnTo>
                <a:arcTo hR="144760" wR="144760" stAng="16200000" swAng="5400000"/>
                <a:lnTo>
                  <a:pt x="99873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Recursion</a:t>
            </a:r>
            <a:endParaRPr lang="en-US" sz="1200" dirty="0"/>
          </a:p>
        </p:txBody>
      </p:sp>
      <p:sp>
        <p:nvSpPr>
          <p:cNvPr id="6" name="Text 4"/>
          <p:cNvSpPr/>
          <p:nvPr/>
        </p:nvSpPr>
        <p:spPr>
          <a:xfrm>
            <a:off x="1028700" y="246115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Short and close to the maths</a:t>
            </a:r>
            <a:endParaRPr lang="en-US" sz="1800" dirty="0"/>
          </a:p>
        </p:txBody>
      </p:sp>
      <p:sp>
        <p:nvSpPr>
          <p:cNvPr id="7" name="Text 5"/>
          <p:cNvSpPr/>
          <p:nvPr/>
        </p:nvSpPr>
        <p:spPr>
          <a:xfrm>
            <a:off x="1028700" y="2837061"/>
            <a:ext cx="489229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Great for problems that split into smaller copies: trees, folders, Tower of Hanoi.</a:t>
            </a:r>
            <a:endParaRPr lang="en-US" sz="1500" dirty="0"/>
          </a:p>
        </p:txBody>
      </p:sp>
      <p:sp>
        <p:nvSpPr>
          <p:cNvPr id="8" name="Shape 6"/>
          <p:cNvSpPr/>
          <p:nvPr/>
        </p:nvSpPr>
        <p:spPr>
          <a:xfrm>
            <a:off x="6203950" y="1860488"/>
            <a:ext cx="5168900" cy="1719527"/>
          </a:xfrm>
          <a:prstGeom prst="roundRect">
            <a:avLst>
              <a:gd name="adj" fmla="val 7016"/>
            </a:avLst>
          </a:prstGeom>
          <a:solidFill>
            <a:srgbClr val="FFFDF8"/>
          </a:solidFill>
          <a:ln w="12700">
            <a:solidFill>
              <a:srgbClr val="E2DED3"/>
            </a:solidFill>
            <a:prstDash val="solid"/>
          </a:ln>
        </p:spPr>
      </p:sp>
      <p:sp>
        <p:nvSpPr>
          <p:cNvPr id="9" name="Text 7"/>
          <p:cNvSpPr/>
          <p:nvPr/>
        </p:nvSpPr>
        <p:spPr>
          <a:xfrm>
            <a:off x="6413500" y="2070038"/>
            <a:ext cx="600935" cy="289520"/>
          </a:xfrm>
          <a:custGeom>
            <a:avLst/>
            <a:gdLst/>
            <a:ahLst/>
            <a:cxnLst/>
            <a:rect l="l" t="t" r="r" b="b"/>
            <a:pathLst>
              <a:path w="600935" h="289520">
                <a:moveTo>
                  <a:pt x="144760" y="0"/>
                </a:moveTo>
                <a:lnTo>
                  <a:pt x="456175" y="0"/>
                </a:lnTo>
                <a:arcTo hR="144760" wR="144760" stAng="16200000" swAng="5400000"/>
                <a:lnTo>
                  <a:pt x="600935"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Loop</a:t>
            </a:r>
            <a:endParaRPr lang="en-US" sz="1200" dirty="0"/>
          </a:p>
        </p:txBody>
      </p:sp>
      <p:sp>
        <p:nvSpPr>
          <p:cNvPr id="10" name="Text 8"/>
          <p:cNvSpPr/>
          <p:nvPr/>
        </p:nvSpPr>
        <p:spPr>
          <a:xfrm>
            <a:off x="6413500" y="2461158"/>
            <a:ext cx="489229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Faster and uses less memory</a:t>
            </a:r>
            <a:endParaRPr lang="en-US" sz="1800" dirty="0"/>
          </a:p>
        </p:txBody>
      </p:sp>
      <p:sp>
        <p:nvSpPr>
          <p:cNvPr id="11" name="Text 9"/>
          <p:cNvSpPr/>
          <p:nvPr/>
        </p:nvSpPr>
        <p:spPr>
          <a:xfrm>
            <a:off x="6413500" y="2837061"/>
            <a:ext cx="489229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Better for simple counting jobs like factorial or Fibonacci in real programs.</a:t>
            </a:r>
            <a:endParaRPr lang="en-US" sz="1500" dirty="0"/>
          </a:p>
        </p:txBody>
      </p:sp>
      <p:sp>
        <p:nvSpPr>
          <p:cNvPr id="12" name="Text 10"/>
          <p:cNvSpPr/>
          <p:nvPr/>
        </p:nvSpPr>
        <p:spPr>
          <a:xfrm>
            <a:off x="812800" y="3891161"/>
            <a:ext cx="10566400" cy="622300"/>
          </a:xfrm>
          <a:prstGeom prst="roundRect">
            <a:avLst>
              <a:gd name="adj" fmla="val 20408"/>
            </a:avLst>
          </a:prstGeom>
          <a:solidFill>
            <a:srgbClr val="FBEFD5"/>
          </a:solidFill>
          <a:ln/>
        </p:spPr>
        <p:txBody>
          <a:bodyPr wrap="square" lIns="216803" tIns="140603" rIns="0" bIns="115203" rtlCol="0" anchor="t">
            <a:normAutofit/>
          </a:bodyPr>
          <a:lstStyle/>
          <a:p>
            <a:pPr algn="l" indent="0" marL="0">
              <a:lnSpc>
                <a:spcPts val="2100"/>
              </a:lnSpc>
              <a:buNone/>
            </a:pPr>
            <a:r>
              <a:rPr lang="en-US" sz="1500" dirty="0">
                <a:solidFill>
                  <a:srgbClr val="1B2A41"/>
                </a:solidFill>
                <a:latin typeface="Rubik" pitchFamily="34" charset="0"/>
                <a:ea typeface="Rubik" pitchFamily="34" charset="-122"/>
                <a:cs typeface="Rubik" pitchFamily="34" charset="-120"/>
              </a:rPr>
              <a:t>Viva answer: anything written with recursion can also be written with a loop, and the other way round.</a:t>
            </a:r>
            <a:endParaRPr lang="en-US" sz="15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5 · Class 15</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6EE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64A3"/>
                </a:solidFill>
                <a:latin typeface="Rubik" pitchFamily="34" charset="0"/>
                <a:ea typeface="Rubik" pitchFamily="34" charset="-122"/>
                <a:cs typeface="Rubik" pitchFamily="34" charset="-120"/>
              </a:rPr>
              <a:t>CLASS 15 · PRACTICE</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1"/>
                </a:solidFill>
                <a:latin typeface="Rubik" pitchFamily="34" charset="0"/>
                <a:ea typeface="Rubik" pitchFamily="34" charset="-122"/>
                <a:cs typeface="Rubik" pitchFamily="34" charset="-120"/>
              </a:rPr>
              <a:t>Your turn: four programs</a:t>
            </a:r>
            <a:endParaRPr lang="en-US" sz="3200" dirty="0"/>
          </a:p>
        </p:txBody>
      </p:sp>
      <p:sp>
        <p:nvSpPr>
          <p:cNvPr id="4" name="Shape 2"/>
          <p:cNvSpPr/>
          <p:nvPr/>
        </p:nvSpPr>
        <p:spPr>
          <a:xfrm>
            <a:off x="819150" y="1809688"/>
            <a:ext cx="2476500" cy="2252927"/>
          </a:xfrm>
          <a:prstGeom prst="roundRect">
            <a:avLst>
              <a:gd name="adj" fmla="val 5355"/>
            </a:avLst>
          </a:prstGeom>
          <a:solidFill>
            <a:srgbClr val="FBFCFE"/>
          </a:solidFill>
          <a:ln w="12700">
            <a:solidFill>
              <a:srgbClr val="C9D7E8"/>
            </a:solidFill>
            <a:prstDash val="solid"/>
          </a:ln>
        </p:spPr>
      </p:sp>
      <p:sp>
        <p:nvSpPr>
          <p:cNvPr id="5" name="Text 3"/>
          <p:cNvSpPr/>
          <p:nvPr/>
        </p:nvSpPr>
        <p:spPr>
          <a:xfrm>
            <a:off x="1028700" y="2019238"/>
            <a:ext cx="681897" cy="289520"/>
          </a:xfrm>
          <a:custGeom>
            <a:avLst/>
            <a:gdLst/>
            <a:ahLst/>
            <a:cxnLst/>
            <a:rect l="l" t="t" r="r" b="b"/>
            <a:pathLst>
              <a:path w="681897" h="289520">
                <a:moveTo>
                  <a:pt x="144760" y="0"/>
                </a:moveTo>
                <a:lnTo>
                  <a:pt x="537137" y="0"/>
                </a:lnTo>
                <a:arcTo hR="144760" wR="144760" stAng="16200000" swAng="5400000"/>
                <a:lnTo>
                  <a:pt x="681897"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1</a:t>
            </a:r>
            <a:endParaRPr lang="en-US" sz="1200" dirty="0"/>
          </a:p>
        </p:txBody>
      </p:sp>
      <p:sp>
        <p:nvSpPr>
          <p:cNvPr id="6" name="Text 4"/>
          <p:cNvSpPr/>
          <p:nvPr/>
        </p:nvSpPr>
        <p:spPr>
          <a:xfrm>
            <a:off x="10287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Power</a:t>
            </a:r>
            <a:endParaRPr lang="en-US" sz="1800" dirty="0"/>
          </a:p>
        </p:txBody>
      </p:sp>
      <p:sp>
        <p:nvSpPr>
          <p:cNvPr id="7" name="Text 5"/>
          <p:cNvSpPr/>
          <p:nvPr/>
        </p:nvSpPr>
        <p:spPr>
          <a:xfrm>
            <a:off x="10287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Write recursive </a:t>
            </a:r>
            <a:r>
              <a:rPr lang="en-US" sz="1500" dirty="0">
                <a:solidFill>
                  <a:srgbClr val="2A64A3"/>
                </a:solidFill>
                <a:latin typeface="Rubik" pitchFamily="34" charset="0"/>
                <a:ea typeface="Rubik" pitchFamily="34" charset="-122"/>
                <a:cs typeface="Rubik" pitchFamily="34" charset="-120"/>
              </a:rPr>
              <a:t>power(x, n)</a:t>
            </a:r>
            <a:r>
              <a:rPr lang="en-US" sz="1500" dirty="0">
                <a:solidFill>
                  <a:srgbClr val="4A5568"/>
                </a:solidFill>
                <a:latin typeface="Rubik" pitchFamily="34" charset="0"/>
                <a:ea typeface="Rubik" pitchFamily="34" charset="-122"/>
                <a:cs typeface="Rubik" pitchFamily="34" charset="-120"/>
              </a:rPr>
              <a:t>. Test: power(2, 10) is 1024</a:t>
            </a:r>
            <a:endParaRPr lang="en-US" sz="1500" dirty="0"/>
          </a:p>
        </p:txBody>
      </p:sp>
      <p:sp>
        <p:nvSpPr>
          <p:cNvPr id="8" name="Shape 6"/>
          <p:cNvSpPr/>
          <p:nvPr/>
        </p:nvSpPr>
        <p:spPr>
          <a:xfrm>
            <a:off x="3511550" y="1809688"/>
            <a:ext cx="2476500" cy="2252927"/>
          </a:xfrm>
          <a:prstGeom prst="roundRect">
            <a:avLst>
              <a:gd name="adj" fmla="val 5355"/>
            </a:avLst>
          </a:prstGeom>
          <a:solidFill>
            <a:srgbClr val="FBFCFE"/>
          </a:solidFill>
          <a:ln w="12700">
            <a:solidFill>
              <a:srgbClr val="C9D7E8"/>
            </a:solidFill>
            <a:prstDash val="solid"/>
          </a:ln>
        </p:spPr>
      </p:sp>
      <p:sp>
        <p:nvSpPr>
          <p:cNvPr id="9" name="Text 7"/>
          <p:cNvSpPr/>
          <p:nvPr/>
        </p:nvSpPr>
        <p:spPr>
          <a:xfrm>
            <a:off x="3721100" y="2019238"/>
            <a:ext cx="705181" cy="289520"/>
          </a:xfrm>
          <a:custGeom>
            <a:avLst/>
            <a:gdLst/>
            <a:ahLst/>
            <a:cxnLst/>
            <a:rect l="l" t="t" r="r" b="b"/>
            <a:pathLst>
              <a:path w="705181" h="289520">
                <a:moveTo>
                  <a:pt x="144760" y="0"/>
                </a:moveTo>
                <a:lnTo>
                  <a:pt x="560421" y="0"/>
                </a:lnTo>
                <a:arcTo hR="144760" wR="144760" stAng="16200000" swAng="5400000"/>
                <a:lnTo>
                  <a:pt x="705181"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2</a:t>
            </a:r>
            <a:endParaRPr lang="en-US" sz="1200" dirty="0"/>
          </a:p>
        </p:txBody>
      </p:sp>
      <p:sp>
        <p:nvSpPr>
          <p:cNvPr id="10" name="Text 8"/>
          <p:cNvSpPr/>
          <p:nvPr/>
        </p:nvSpPr>
        <p:spPr>
          <a:xfrm>
            <a:off x="37211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Sum 1 to n</a:t>
            </a:r>
            <a:endParaRPr lang="en-US" sz="1800" dirty="0"/>
          </a:p>
        </p:txBody>
      </p:sp>
      <p:sp>
        <p:nvSpPr>
          <p:cNvPr id="11" name="Text 9"/>
          <p:cNvSpPr/>
          <p:nvPr/>
        </p:nvSpPr>
        <p:spPr>
          <a:xfrm>
            <a:off x="3721100" y="2786261"/>
            <a:ext cx="211912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Write recursive </a:t>
            </a:r>
            <a:r>
              <a:rPr lang="en-US" sz="1500" dirty="0">
                <a:solidFill>
                  <a:srgbClr val="2A64A3"/>
                </a:solidFill>
                <a:latin typeface="Rubik" pitchFamily="34" charset="0"/>
                <a:ea typeface="Rubik" pitchFamily="34" charset="-122"/>
                <a:cs typeface="Rubik" pitchFamily="34" charset="-120"/>
              </a:rPr>
              <a:t>total(n)</a:t>
            </a:r>
            <a:r>
              <a:rPr lang="en-US" sz="1500" dirty="0">
                <a:solidFill>
                  <a:srgbClr val="4A5568"/>
                </a:solidFill>
                <a:latin typeface="Rubik" pitchFamily="34" charset="0"/>
                <a:ea typeface="Rubik" pitchFamily="34" charset="-122"/>
                <a:cs typeface="Rubik" pitchFamily="34" charset="-120"/>
              </a:rPr>
              <a:t> for 1 + 2 + … + n.</a:t>
            </a:r>
            <a:endParaRPr lang="en-US" sz="1500" dirty="0"/>
          </a:p>
        </p:txBody>
      </p:sp>
      <p:sp>
        <p:nvSpPr>
          <p:cNvPr id="12" name="Shape 10"/>
          <p:cNvSpPr/>
          <p:nvPr/>
        </p:nvSpPr>
        <p:spPr>
          <a:xfrm>
            <a:off x="6203950" y="1809688"/>
            <a:ext cx="2476500" cy="2252927"/>
          </a:xfrm>
          <a:prstGeom prst="roundRect">
            <a:avLst>
              <a:gd name="adj" fmla="val 5355"/>
            </a:avLst>
          </a:prstGeom>
          <a:solidFill>
            <a:srgbClr val="FBFCFE"/>
          </a:solidFill>
          <a:ln w="12700">
            <a:solidFill>
              <a:srgbClr val="C9D7E8"/>
            </a:solidFill>
            <a:prstDash val="solid"/>
          </a:ln>
        </p:spPr>
      </p:sp>
      <p:sp>
        <p:nvSpPr>
          <p:cNvPr id="13" name="Text 11"/>
          <p:cNvSpPr/>
          <p:nvPr/>
        </p:nvSpPr>
        <p:spPr>
          <a:xfrm>
            <a:off x="6413500" y="2019238"/>
            <a:ext cx="706570" cy="289520"/>
          </a:xfrm>
          <a:custGeom>
            <a:avLst/>
            <a:gdLst/>
            <a:ahLst/>
            <a:cxnLst/>
            <a:rect l="l" t="t" r="r" b="b"/>
            <a:pathLst>
              <a:path w="706570" h="289520">
                <a:moveTo>
                  <a:pt x="144760" y="0"/>
                </a:moveTo>
                <a:lnTo>
                  <a:pt x="561810" y="0"/>
                </a:lnTo>
                <a:arcTo hR="144760" wR="144760" stAng="16200000" swAng="5400000"/>
                <a:lnTo>
                  <a:pt x="706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3</a:t>
            </a:r>
            <a:endParaRPr lang="en-US" sz="1200" dirty="0"/>
          </a:p>
        </p:txBody>
      </p:sp>
      <p:sp>
        <p:nvSpPr>
          <p:cNvPr id="14" name="Text 12"/>
          <p:cNvSpPr/>
          <p:nvPr/>
        </p:nvSpPr>
        <p:spPr>
          <a:xfrm>
            <a:off x="64135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Reverse string</a:t>
            </a:r>
            <a:endParaRPr lang="en-US" sz="1800" dirty="0"/>
          </a:p>
        </p:txBody>
      </p:sp>
      <p:sp>
        <p:nvSpPr>
          <p:cNvPr id="15" name="Text 13"/>
          <p:cNvSpPr/>
          <p:nvPr/>
        </p:nvSpPr>
        <p:spPr>
          <a:xfrm>
            <a:off x="6413500" y="2786261"/>
            <a:ext cx="21191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Write recursive </a:t>
            </a:r>
            <a:r>
              <a:rPr lang="en-US" sz="1500" dirty="0">
                <a:solidFill>
                  <a:srgbClr val="2A64A3"/>
                </a:solidFill>
                <a:latin typeface="Rubik" pitchFamily="34" charset="0"/>
                <a:ea typeface="Rubik" pitchFamily="34" charset="-122"/>
                <a:cs typeface="Rubik" pitchFamily="34" charset="-120"/>
              </a:rPr>
              <a:t>rev(s)</a:t>
            </a:r>
            <a:r>
              <a:rPr lang="en-US" sz="1500" dirty="0">
                <a:solidFill>
                  <a:srgbClr val="4A5568"/>
                </a:solidFill>
                <a:latin typeface="Rubik" pitchFamily="34" charset="0"/>
                <a:ea typeface="Rubik" pitchFamily="34" charset="-122"/>
                <a:cs typeface="Rubik" pitchFamily="34" charset="-120"/>
              </a:rPr>
              <a:t>: the last letter + rev of the rest.</a:t>
            </a:r>
            <a:endParaRPr lang="en-US" sz="1500" dirty="0"/>
          </a:p>
        </p:txBody>
      </p:sp>
      <p:sp>
        <p:nvSpPr>
          <p:cNvPr id="16" name="Shape 14"/>
          <p:cNvSpPr/>
          <p:nvPr/>
        </p:nvSpPr>
        <p:spPr>
          <a:xfrm>
            <a:off x="8896350" y="1809688"/>
            <a:ext cx="2476500" cy="2252927"/>
          </a:xfrm>
          <a:prstGeom prst="roundRect">
            <a:avLst>
              <a:gd name="adj" fmla="val 5355"/>
            </a:avLst>
          </a:prstGeom>
          <a:solidFill>
            <a:srgbClr val="FBFCFE"/>
          </a:solidFill>
          <a:ln w="12700">
            <a:solidFill>
              <a:srgbClr val="C9D7E8"/>
            </a:solidFill>
            <a:prstDash val="solid"/>
          </a:ln>
        </p:spPr>
      </p:sp>
      <p:sp>
        <p:nvSpPr>
          <p:cNvPr id="17" name="Text 15"/>
          <p:cNvSpPr/>
          <p:nvPr/>
        </p:nvSpPr>
        <p:spPr>
          <a:xfrm>
            <a:off x="9105900" y="2019238"/>
            <a:ext cx="710076" cy="289520"/>
          </a:xfrm>
          <a:custGeom>
            <a:avLst/>
            <a:gdLst/>
            <a:ahLst/>
            <a:cxnLst/>
            <a:rect l="l" t="t" r="r" b="b"/>
            <a:pathLst>
              <a:path w="710076" h="289520">
                <a:moveTo>
                  <a:pt x="144760" y="0"/>
                </a:moveTo>
                <a:lnTo>
                  <a:pt x="565315" y="0"/>
                </a:lnTo>
                <a:arcTo hR="144760" wR="144760" stAng="16200000" swAng="5400000"/>
                <a:lnTo>
                  <a:pt x="710076" y="144760"/>
                </a:lnTo>
                <a:arcTo hR="144760" wR="144760" stAng="0" swAng="5400000"/>
                <a:lnTo>
                  <a:pt x="144760" y="289520"/>
                </a:lnTo>
                <a:arcTo hR="144760" wR="144760" stAng="5400000" swAng="5400000"/>
                <a:lnTo>
                  <a:pt x="0" y="144760"/>
                </a:lnTo>
                <a:arcTo hR="144760" wR="144760" stAng="10800000" swAng="5400000"/>
                <a:close/>
              </a:path>
            </a:pathLst>
          </a:custGeom>
          <a:solidFill>
            <a:srgbClr val="F2B33D"/>
          </a:solidFill>
          <a:ln/>
        </p:spPr>
        <p:txBody>
          <a:bodyPr wrap="none" lIns="0" tIns="0" rIns="0" bIns="0" rtlCol="0" anchor="ctr">
            <a:normAutofit/>
          </a:bodyPr>
          <a:lstStyle/>
          <a:p>
            <a:pPr algn="ctr" indent="0" marL="0">
              <a:lnSpc>
                <a:spcPts val="1680"/>
              </a:lnSpc>
              <a:buNone/>
            </a:pPr>
            <a:r>
              <a:rPr lang="en-US" sz="1200" b="1" dirty="0">
                <a:solidFill>
                  <a:srgbClr val="1B2A41"/>
                </a:solidFill>
                <a:latin typeface="Rubik" pitchFamily="34" charset="0"/>
                <a:ea typeface="Rubik" pitchFamily="34" charset="-122"/>
                <a:cs typeface="Rubik" pitchFamily="34" charset="-120"/>
              </a:rPr>
              <a:t>Task 4</a:t>
            </a:r>
            <a:endParaRPr lang="en-US" sz="1200" dirty="0"/>
          </a:p>
        </p:txBody>
      </p:sp>
      <p:sp>
        <p:nvSpPr>
          <p:cNvPr id="18" name="Text 16"/>
          <p:cNvSpPr/>
          <p:nvPr/>
        </p:nvSpPr>
        <p:spPr>
          <a:xfrm>
            <a:off x="9105900" y="2410358"/>
            <a:ext cx="211912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41"/>
                </a:solidFill>
                <a:latin typeface="Rubik" pitchFamily="34" charset="0"/>
                <a:ea typeface="Rubik" pitchFamily="34" charset="-122"/>
                <a:cs typeface="Rubik" pitchFamily="34" charset="-120"/>
              </a:rPr>
              <a:t>GCD</a:t>
            </a:r>
            <a:endParaRPr lang="en-US" sz="1800" dirty="0"/>
          </a:p>
        </p:txBody>
      </p:sp>
      <p:sp>
        <p:nvSpPr>
          <p:cNvPr id="19" name="Text 17"/>
          <p:cNvSpPr/>
          <p:nvPr/>
        </p:nvSpPr>
        <p:spPr>
          <a:xfrm>
            <a:off x="9105900" y="2786261"/>
            <a:ext cx="211912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Rubik" pitchFamily="34" charset="0"/>
                <a:ea typeface="Rubik" pitchFamily="34" charset="-122"/>
                <a:cs typeface="Rubik" pitchFamily="34" charset="-120"/>
              </a:rPr>
              <a:t>Euclid: gcd(a, b) = gcd(b, a % b), and gcd(a, 0) = a. Test: gcd(48, 18) is 6</a:t>
            </a:r>
            <a:endParaRPr lang="en-US" sz="1500" dirty="0"/>
          </a:p>
        </p:txBody>
      </p:sp>
      <p:sp>
        <p:nvSpPr>
          <p:cNvPr id="20" name="Shape 18"/>
          <p:cNvSpPr/>
          <p:nvPr/>
        </p:nvSpPr>
        <p:spPr>
          <a:xfrm>
            <a:off x="812800" y="4322961"/>
            <a:ext cx="10566400" cy="622300"/>
          </a:xfrm>
          <a:prstGeom prst="roundRect">
            <a:avLst>
              <a:gd name="adj" fmla="val 20408"/>
            </a:avLst>
          </a:prstGeom>
          <a:solidFill>
            <a:srgbClr val="1B2A41"/>
          </a:solidFill>
          <a:ln/>
        </p:spPr>
      </p:sp>
      <p:sp>
        <p:nvSpPr>
          <p:cNvPr id="21" name="Text 19"/>
          <p:cNvSpPr/>
          <p:nvPr/>
        </p:nvSpPr>
        <p:spPr>
          <a:xfrm>
            <a:off x="1066800" y="4527426"/>
            <a:ext cx="121569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HOMEWORK</a:t>
            </a:r>
            <a:endParaRPr lang="en-US" sz="1200" dirty="0"/>
          </a:p>
        </p:txBody>
      </p:sp>
      <p:sp>
        <p:nvSpPr>
          <p:cNvPr id="22" name="Text 20"/>
          <p:cNvSpPr/>
          <p:nvPr/>
        </p:nvSpPr>
        <p:spPr>
          <a:xfrm>
            <a:off x="2282494" y="4500761"/>
            <a:ext cx="621895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EF"/>
                </a:solidFill>
                <a:latin typeface="Rubik" pitchFamily="34" charset="0"/>
                <a:ea typeface="Rubik" pitchFamily="34" charset="-122"/>
                <a:cs typeface="Rubik" pitchFamily="34" charset="-120"/>
              </a:rPr>
              <a:t>Read on W3Schools: </a:t>
            </a:r>
            <a:r>
              <a:rPr lang="en-US" sz="1500" u="sng" dirty="0">
                <a:solidFill>
                  <a:srgbClr val="F2B33D"/>
                </a:solidFill>
                <a:latin typeface="Rubik" pitchFamily="34" charset="0"/>
                <a:ea typeface="Rubik" pitchFamily="34" charset="-122"/>
                <a:cs typeface="Rubik"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Recursion</a:t>
            </a:r>
            <a:r>
              <a:rPr lang="en-US" sz="1500" dirty="0">
                <a:solidFill>
                  <a:srgbClr val="F7F5EF"/>
                </a:solidFill>
                <a:latin typeface="Rubik" pitchFamily="34" charset="0"/>
                <a:ea typeface="Rubik" pitchFamily="34" charset="-122"/>
                <a:cs typeface="Rubik" pitchFamily="34" charset="-120"/>
              </a:rPr>
              <a:t> · and trace fact(5) on paper</a:t>
            </a:r>
            <a:endParaRPr lang="en-US" sz="15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Rubik" pitchFamily="34" charset="0"/>
                <a:ea typeface="Rubik" pitchFamily="34" charset="-122"/>
                <a:cs typeface="Rubik" pitchFamily="34" charset="-120"/>
              </a:rPr>
              <a:t>Python Programming · Week 5 · Class 15</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B33D"/>
                </a:solidFill>
                <a:latin typeface="Rubik" pitchFamily="34" charset="0"/>
                <a:ea typeface="Rubik" pitchFamily="34" charset="-122"/>
                <a:cs typeface="Rubik" pitchFamily="34" charset="-120"/>
              </a:rPr>
              <a:t>WEEK 5 RECAP</a:t>
            </a:r>
            <a:endParaRPr lang="en-US" sz="1200" dirty="0"/>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5EF"/>
                </a:solidFill>
                <a:latin typeface="Rubik" pitchFamily="34" charset="0"/>
                <a:ea typeface="Rubik" pitchFamily="34" charset="-122"/>
                <a:cs typeface="Rubik" pitchFamily="34" charset="-120"/>
              </a:rPr>
              <a:t>What you can do now</a:t>
            </a:r>
            <a:endParaRPr lang="en-US" sz="3200" dirty="0"/>
          </a:p>
        </p:txBody>
      </p:sp>
      <p:sp>
        <p:nvSpPr>
          <p:cNvPr id="4" name="Shape 2"/>
          <p:cNvSpPr/>
          <p:nvPr/>
        </p:nvSpPr>
        <p:spPr>
          <a:xfrm>
            <a:off x="812800" y="1854138"/>
            <a:ext cx="2527300" cy="1282700"/>
          </a:xfrm>
          <a:prstGeom prst="roundRect">
            <a:avLst>
              <a:gd name="adj" fmla="val 9901"/>
            </a:avLst>
          </a:prstGeom>
          <a:solidFill>
            <a:srgbClr val="24364F"/>
          </a:solidFill>
          <a:ln/>
        </p:spPr>
      </p:sp>
      <p:sp>
        <p:nvSpPr>
          <p:cNvPr id="5" name="Text 3"/>
          <p:cNvSpPr/>
          <p:nvPr/>
        </p:nvSpPr>
        <p:spPr>
          <a:xfrm>
            <a:off x="10160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def f(x):</a:t>
            </a:r>
            <a:endParaRPr lang="en-US" sz="1500" dirty="0"/>
          </a:p>
        </p:txBody>
      </p:sp>
      <p:sp>
        <p:nvSpPr>
          <p:cNvPr id="6" name="Text 4"/>
          <p:cNvSpPr/>
          <p:nvPr/>
        </p:nvSpPr>
        <p:spPr>
          <a:xfrm>
            <a:off x="10160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Package code under a name</a:t>
            </a:r>
            <a:endParaRPr lang="en-US" sz="1500" dirty="0"/>
          </a:p>
        </p:txBody>
      </p:sp>
      <p:sp>
        <p:nvSpPr>
          <p:cNvPr id="7" name="Shape 5"/>
          <p:cNvSpPr/>
          <p:nvPr/>
        </p:nvSpPr>
        <p:spPr>
          <a:xfrm>
            <a:off x="3492500" y="1854138"/>
            <a:ext cx="2527300" cy="1282700"/>
          </a:xfrm>
          <a:prstGeom prst="roundRect">
            <a:avLst>
              <a:gd name="adj" fmla="val 9901"/>
            </a:avLst>
          </a:prstGeom>
          <a:solidFill>
            <a:srgbClr val="24364F"/>
          </a:solidFill>
          <a:ln/>
        </p:spPr>
      </p:sp>
      <p:sp>
        <p:nvSpPr>
          <p:cNvPr id="8" name="Text 6"/>
          <p:cNvSpPr/>
          <p:nvPr/>
        </p:nvSpPr>
        <p:spPr>
          <a:xfrm>
            <a:off x="36957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return a, b</a:t>
            </a:r>
            <a:endParaRPr lang="en-US" sz="1500" dirty="0"/>
          </a:p>
        </p:txBody>
      </p:sp>
      <p:sp>
        <p:nvSpPr>
          <p:cNvPr id="9" name="Text 7"/>
          <p:cNvSpPr/>
          <p:nvPr/>
        </p:nvSpPr>
        <p:spPr>
          <a:xfrm>
            <a:off x="36957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Hand results back to the caller</a:t>
            </a:r>
            <a:endParaRPr lang="en-US" sz="1500" dirty="0"/>
          </a:p>
        </p:txBody>
      </p:sp>
      <p:sp>
        <p:nvSpPr>
          <p:cNvPr id="10" name="Shape 8"/>
          <p:cNvSpPr/>
          <p:nvPr/>
        </p:nvSpPr>
        <p:spPr>
          <a:xfrm>
            <a:off x="6172200" y="1854138"/>
            <a:ext cx="2527300" cy="1282700"/>
          </a:xfrm>
          <a:prstGeom prst="roundRect">
            <a:avLst>
              <a:gd name="adj" fmla="val 9901"/>
            </a:avLst>
          </a:prstGeom>
          <a:solidFill>
            <a:srgbClr val="24364F"/>
          </a:solidFill>
          <a:ln/>
        </p:spPr>
      </p:sp>
      <p:sp>
        <p:nvSpPr>
          <p:cNvPr id="11" name="Text 9"/>
          <p:cNvSpPr/>
          <p:nvPr/>
        </p:nvSpPr>
        <p:spPr>
          <a:xfrm>
            <a:off x="63754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lambda x: …</a:t>
            </a:r>
            <a:endParaRPr lang="en-US" sz="1500" dirty="0"/>
          </a:p>
        </p:txBody>
      </p:sp>
      <p:sp>
        <p:nvSpPr>
          <p:cNvPr id="12" name="Text 10"/>
          <p:cNvSpPr/>
          <p:nvPr/>
        </p:nvSpPr>
        <p:spPr>
          <a:xfrm>
            <a:off x="63754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Tiny functions for sorting and filtering</a:t>
            </a:r>
            <a:endParaRPr lang="en-US" sz="1500" dirty="0"/>
          </a:p>
        </p:txBody>
      </p:sp>
      <p:sp>
        <p:nvSpPr>
          <p:cNvPr id="13" name="Shape 11"/>
          <p:cNvSpPr/>
          <p:nvPr/>
        </p:nvSpPr>
        <p:spPr>
          <a:xfrm>
            <a:off x="8851900" y="1854138"/>
            <a:ext cx="2527300" cy="1282700"/>
          </a:xfrm>
          <a:prstGeom prst="roundRect">
            <a:avLst>
              <a:gd name="adj" fmla="val 9901"/>
            </a:avLst>
          </a:prstGeom>
          <a:solidFill>
            <a:srgbClr val="24364F"/>
          </a:solidFill>
          <a:ln/>
        </p:spPr>
      </p:sp>
      <p:sp>
        <p:nvSpPr>
          <p:cNvPr id="14" name="Text 12"/>
          <p:cNvSpPr/>
          <p:nvPr/>
        </p:nvSpPr>
        <p:spPr>
          <a:xfrm>
            <a:off x="9055100" y="2057338"/>
            <a:ext cx="21845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B33D"/>
                </a:solidFill>
                <a:latin typeface="JetBrains Mono" pitchFamily="49" charset="0"/>
                <a:ea typeface="JetBrains Mono" pitchFamily="49" charset="-122"/>
                <a:cs typeface="JetBrains Mono" pitchFamily="49" charset="-120"/>
              </a:rPr>
              <a:t>f(n - 1)</a:t>
            </a:r>
            <a:endParaRPr lang="en-US" sz="1500" dirty="0"/>
          </a:p>
        </p:txBody>
      </p:sp>
      <p:sp>
        <p:nvSpPr>
          <p:cNvPr id="15" name="Text 13"/>
          <p:cNvSpPr/>
          <p:nvPr/>
        </p:nvSpPr>
        <p:spPr>
          <a:xfrm>
            <a:off x="9055100" y="2400238"/>
            <a:ext cx="21845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3"/>
                </a:solidFill>
                <a:latin typeface="Rubik" pitchFamily="34" charset="0"/>
                <a:ea typeface="Rubik" pitchFamily="34" charset="-122"/>
                <a:cs typeface="Rubik" pitchFamily="34" charset="-120"/>
              </a:rPr>
              <a:t>Solve problems with recursion</a:t>
            </a:r>
            <a:endParaRPr lang="en-US" sz="1500" dirty="0"/>
          </a:p>
        </p:txBody>
      </p:sp>
      <p:sp>
        <p:nvSpPr>
          <p:cNvPr id="16" name="Shape 14"/>
          <p:cNvSpPr/>
          <p:nvPr/>
        </p:nvSpPr>
        <p:spPr>
          <a:xfrm>
            <a:off x="812800" y="3441638"/>
            <a:ext cx="10566400" cy="1264775"/>
          </a:xfrm>
          <a:prstGeom prst="roundRect">
            <a:avLst>
              <a:gd name="adj" fmla="val 10041"/>
            </a:avLst>
          </a:prstGeom>
          <a:solidFill>
            <a:srgbClr val="F2B33D"/>
          </a:solidFill>
          <a:ln/>
        </p:spPr>
      </p:sp>
      <p:sp>
        <p:nvSpPr>
          <p:cNvPr id="17" name="Text 15"/>
          <p:cNvSpPr/>
          <p:nvPr/>
        </p:nvSpPr>
        <p:spPr>
          <a:xfrm>
            <a:off x="1066800" y="3644838"/>
            <a:ext cx="103601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B2A41"/>
                </a:solidFill>
                <a:latin typeface="Rubik" pitchFamily="34" charset="0"/>
                <a:ea typeface="Rubik" pitchFamily="34" charset="-122"/>
                <a:cs typeface="Rubik" pitchFamily="34" charset="-120"/>
              </a:rPr>
              <a:t>NEXT WEEK</a:t>
            </a:r>
            <a:endParaRPr lang="en-US" sz="1200" dirty="0"/>
          </a:p>
        </p:txBody>
      </p:sp>
      <p:sp>
        <p:nvSpPr>
          <p:cNvPr id="18" name="Text 16"/>
          <p:cNvSpPr/>
          <p:nvPr/>
        </p:nvSpPr>
        <p:spPr>
          <a:xfrm>
            <a:off x="1066800" y="3908958"/>
            <a:ext cx="10360152" cy="619654"/>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B2A41"/>
                </a:solidFill>
                <a:latin typeface="Rubik" pitchFamily="34" charset="0"/>
                <a:ea typeface="Rubik" pitchFamily="34" charset="-122"/>
                <a:cs typeface="Rubik" pitchFamily="34" charset="-120"/>
              </a:rPr>
              <a:t>Modules and files: use Python's toolboxes, and save data that survives after the program ends</a:t>
            </a:r>
            <a:endParaRPr lang="en-US" sz="1800" dirty="0"/>
          </a:p>
        </p:txBody>
      </p:sp>
      <p:sp>
        <p:nvSpPr>
          <p:cNvPr id="19" name="Text 17"/>
          <p:cNvSpPr/>
          <p:nvPr/>
        </p:nvSpPr>
        <p:spPr>
          <a:xfrm>
            <a:off x="812800" y="5011217"/>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9D4E2"/>
                </a:solidFill>
                <a:latin typeface="Rubik" pitchFamily="34" charset="0"/>
                <a:ea typeface="Rubik" pitchFamily="34" charset="-122"/>
                <a:cs typeface="Rubik" pitchFamily="34" charset="-120"/>
              </a:rPr>
              <a:t>Lab habit:</a:t>
            </a:r>
            <a:r>
              <a:rPr lang="en-US" sz="1500" dirty="0">
                <a:solidFill>
                  <a:srgbClr val="C9D4E2"/>
                </a:solidFill>
                <a:latin typeface="Rubik" pitchFamily="34" charset="0"/>
                <a:ea typeface="Rubik" pitchFamily="34" charset="-122"/>
                <a:cs typeface="Rubik" pitchFamily="34" charset="-120"/>
              </a:rPr>
              <a:t> give every function a clear verb name and test it on its own before using it.</a:t>
            </a:r>
            <a:endParaRPr lang="en-US" sz="15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6"/>
                </a:solidFill>
                <a:latin typeface="Rubik" pitchFamily="34" charset="0"/>
                <a:ea typeface="Rubik" pitchFamily="34" charset="-122"/>
                <a:cs typeface="Rubik" pitchFamily="34" charset="-120"/>
              </a:rPr>
              <a:t>Python Programming · Week 5</a:t>
            </a:r>
            <a:endParaRPr lang="en-US" sz="1200" dirty="0"/>
          </a:p>
        </p:txBody>
      </p:sp>
    </p:spTree>
  </p:cSld>
  <p:clrMapOvr>
    <a:masterClrMapping/>
  </p:clrMapOvr>
</p:sld>
</file>

<file path=ppt/theme/theme1.xml><?xml version="1.0" encoding="utf-8"?>
<a:theme xmlns:a="http://schemas.openxmlformats.org/drawingml/2006/main" name="Python Week 5 – Functions &amp; Recursion">
  <a:themeElements>
    <a:clrScheme name="Python Week 5 – Functions &amp; Recursion">
      <a:dk1>
        <a:srgbClr val="1B2A41"/>
      </a:dk1>
      <a:lt1>
        <a:srgbClr val="F7F5EF"/>
      </a:lt1>
      <a:dk2>
        <a:srgbClr val="525D6D"/>
      </a:dk2>
      <a:lt2>
        <a:srgbClr val="E1E1DE"/>
      </a:lt2>
      <a:accent1>
        <a:srgbClr val="F2B33D"/>
      </a:accent1>
      <a:accent2>
        <a:srgbClr val="2A64A3"/>
      </a:accent2>
      <a:accent3>
        <a:srgbClr val="8FA3B8"/>
      </a:accent3>
      <a:accent4>
        <a:srgbClr val="9FB0C6"/>
      </a:accent4>
      <a:accent5>
        <a:srgbClr val="2A3D5A"/>
      </a:accent5>
      <a:accent6>
        <a:srgbClr val="4A5568"/>
      </a:accent6>
      <a:hlink>
        <a:srgbClr val="0563C1"/>
      </a:hlink>
      <a:folHlink>
        <a:srgbClr val="954F72"/>
      </a:folHlink>
    </a:clrScheme>
    <a:fontScheme name="Python Week 5 – Functions &amp; Recursion">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Week 5 – Functions &amp; Recursion</dc:title>
  <dc:subject/>
  <dc:creator/>
  <cp:lastModifiedBy/>
  <cp:revision>1</cp:revision>
  <dcterms:created xsi:type="dcterms:W3CDTF">2026-10-06T16:45:47Z</dcterms:created>
  <dcterms:modified xsi:type="dcterms:W3CDTF">2026-10-06T16:45:47Z</dcterms:modified>
</cp:coreProperties>
</file>