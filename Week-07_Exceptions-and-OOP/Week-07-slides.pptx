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7 has two big ideas. Classes: (19) exceptions, so bad input or a missing file no longer crashes the program; (20) classes and objects; (21) inheritance and the four pillars of OOP. OOP is a major part of the first-year syllabus and viva. Check the Week 6 expense tracker first: typing "abc" as the amount crashes it, which is today's motivation.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Warm-up: run the expense tracker and type "abc" as the amount, or 10 / 0 in the shell. A red traceback appears and the program dies. Real apps never do that to users: they show a message and carry on. Show the student how to read a traceback: the LAST line names the error type and message, the line above shows where it happened.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Syntax errors are caught by Python before any line runs (SyntaxError, IndentationError). Exceptions happen at run time and are what try/except handles. Logic errors are the hardest: in avg = a + b / 2 the division happens first (BODMAS from Week 1), so the answer is wrong but there is no error message. The fix is (a + b) / 2. Viva: what is an exception? (An error detected during execution that can be handled.)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Trigger each one live in the shell and read the last line together. The student should be able to say why each happens: ValueError, right type but bad value; TypeError, wrong type for the operation; IndexError, position out of range; KeyError, missing dictionary key; NameError, variable never created (often a typo, or used before assignment). This list is popular in viva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it twice: with 19 (the except block is skipped) and with nineteen (the int() line fails, Python jumps straight to except, and the print inside try never runs). Name the exception you expect: a bare except: catches everything, even typing mistakes in your own code, which hides bugs. Keep the try block small: only the lines that can fail.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three inputs: 10 and 2 (else runs: Answer 5.0, then Done), 10 and 0 (ZeroDivisionError branch, then Done), and 10 and x (ValueError branch, then Done). finally is for clean-up that must always happen. You can catch the error object to show Python's own message: except ValueError as e: print("Problem:", e). Order of blocks is fixed: try, except(s), else, finally.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combines Week 2 (while True), Week 5 (functions and return) and today. return exits both the loop and the function as soon as a valid number arrives. Ask the student to extend it: get_int(prompt, low, high) that also rejects numbers outside a range, for example marks between 0 and 100. That version is in the code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Functions should refuse bad requests instead of returning nonsense. Here the function only checks; the caller decides whether to print a message, ask again or stop. Try withdraw(500, -50) and withdraw(500, 200) (gives 300). This leads straight into tomorrow's BankAccount class, where withdraw becomes a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are in solutions/class19_practice.py. Hints. Task 1: the divide.py slide. Task 2: inside the loop, after converting, if low &lt;= n &lt;= high: return n, else print a message. Task 3: wrap the with open block in try / except FileNotFoundError. Task 4: replace amt = input(...) with a float version of get_int.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Warm-up: in the record manager, a student was a name plus a list of marks, and the functions lived separately. What if a student could carry its own data AND its own actions, like s.average()? That is object-oriented programming. We have been using objects all along: a string is an object, and "hi".upper() is calling a method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 familiar class: the Student class at ITER. The class says every student has a name, roll number and marks, and can calculate their average. Ananya and Subham are two objects (instances) made from it, each with their own values. Another example: Car is a class; your uncle's white Swift is an object. Viva: define class and object. (A class is a user-defined blueprint; an object is an instance of a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__init__ (two underscores each side, "dunder init") is the constructor: it sets up the new object's attributes. Student("Ananya", [...]) creates an object and calls __init__ with those values. s1 and s2 have separate name and marks. Methods are functions defined inside a class; the first parameter is always self. Common errors: forgetting self in the method definition, or writing init with single underscores.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confusing part of OOP for beginners, so slow down. Write on the board: s1.average() is the same as Student.average(s1). Run both forms to prove it. self is just the name of the first parameter; it is a convention, not a keyword, but always use it. self.name = name means "store the name in THIS object". Without self, name would be a local variable that disappears when __init__ ends (Week 5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1000, deposit 500 gives 1500, withdraw 300 gives 1200. Make a second account to show objects are independent: acc2 = Account("Rahul"), whose balance starts at the default 0. Try acc.withdraw(5000) inside try/except. This is the standard lab program for classes (sometimes with a menu: deposit, withdraw, check balance, exit), and it is the base for Practice task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__str__ must RETURN a string, not print it. It is called automatically by print() and str(). This is a first taste of "special methods" (dunder methods); others like __len__ and __eq__ exist but are not needed now. Ask the student to add __str__ to the Account class so print(acc) shows "Priyanka: Rs. 1200".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are in solutions/class20_practice.py. Hints. Task 1: return self.length * self.breadth. Task 2: the Week 4 menu loop calling acc.deposit(...), with try/except around withdraw. Task 3: self.price -= self.price * percent / 100. Task 4: loop through the list keeping the student with the highest average(), or max(students, key=lambda s: s.average()).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Warm-up: write a tiny class Person with name and a greet() method. Today: a Student is a Person, and a Teacher is a Person. Instead of copying name and greet into both, they inherit them. Children inherit features from parents: the analogy writes itself. Finish with the four OOP pillars, a guaranteed viva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brackets in class Student(Person) mean "Student inherits from Person". Student has no __init__ or greet of its own, yet s.greet() works: Python looks in Student, does not find it, and moves up to Person. This is an "is-a" relationship: a Student is a Person. Ask: is a Person a Student? (No: p = Person("X"); p.study() is an AttributeError.) Viva: types of inheritance: single, multiple, multilevel, hierarchical (name them; single is enough for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super() means "my parent class". Without the super().__init__(name) line, self.name would never be set and greet would crash with AttributeError: let the student delete it and see. Method overriding: when the child defines a method with the same name, the child's version wins. Calling super().greet() inside it reuses the parent's work instead of copying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Polymorphism means code can treat different objects the same way, as long as they have the same method. The loop does not care whether s is a rectangle or a circle. In bigger programs both classes would inherit from a Shape parent with its own area(). Built-in example: len() works on strings, lists and dictionaries, and + adds numbers but joins strings. Ask the student to add a Triangle class and put it in the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student say each pillar with its example from this week, without looking. Encapsulation also covers hiding data: by convention an attribute starting with an underscore (self._balance) means "internal, do not touch from outside"; two underscores (self.__balance) make Python rename it so it is harder to reach. Abstraction is like driving a car: you use the steering and brakes without knowing how the engine works. These definitions are worth memorising for the viva.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are in solutions/class21_practice.py. Hints. Task 1: copy the super() slide, with subject instead of branch. Task 2: self.balance += self.balance * rate / 100, using the Account class from Class 20. Task 3: 0.5 * base * height and side * side. Task 4: Vehicle.wheels returns 0, Bike returns 2, Car returns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Oral quiz: 1. Syntax error vs exception? 2. Name four built-in exceptions. 3. When does else run? finally? 4. Class vs object? 5. What is __init__? 6. What is self? 7. What does super() do? 8. Name the four pillars with an example each. Next week is the capstone: ask the student to choose between a Library system and an ATM system before the next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5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47014"/>
          </a:xfrm>
          <a:prstGeom prst="rect">
            <a:avLst/>
          </a:prstGeom>
          <a:noFill/>
          <a:ln/>
        </p:spPr>
        <p:txBody>
          <a:bodyPr wrap="square" lIns="0" tIns="0" rIns="0" bIns="0" rtlCol="0" anchor="t"/>
          <a:lstStyle>
            <a:lvl1pPr algn="l" indent="0" marL="0">
              <a:lnSpc>
                <a:spcPct val="115000"/>
              </a:lnSpc>
              <a:buNone/>
              <a:defRPr lang="en-US" sz="3200" dirty="0">
                <a:solidFill>
                  <a:srgbClr val="1B2A41"/>
                </a:solidFill>
                <a:latin typeface="Rubik" pitchFamily="34" charset="0"/>
                <a:ea typeface="Rubik" pitchFamily="34" charset="-122"/>
                <a:cs typeface="Rubi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54134"/>
            <a:ext cx="10566400" cy="4191066"/>
          </a:xfrm>
          <a:prstGeom prst="rect">
            <a:avLst/>
          </a:prstGeom>
          <a:noFill/>
          <a:ln/>
        </p:spPr>
        <p:txBody>
          <a:bodyPr wrap="square" lIns="0" tIns="0" rIns="0" bIns="0" rtlCol="0" anchor="t"/>
          <a:lstStyle>
            <a:lvl1pPr algn="l" indent="0" marL="0">
              <a:lnSpc>
                <a:spcPct val="140000"/>
              </a:lnSpc>
              <a:buNone/>
              <a:defRPr lang="en-US" sz="1600" dirty="0">
                <a:solidFill>
                  <a:srgbClr val="1B2A41"/>
                </a:solidFill>
                <a:latin typeface="Rubik" pitchFamily="34" charset="0"/>
                <a:ea typeface="Rubik" pitchFamily="34" charset="-122"/>
                <a:cs typeface="Rubik"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5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47014"/>
          </a:xfrm>
          <a:prstGeom prst="rect">
            <a:avLst/>
          </a:prstGeom>
          <a:noFill/>
          <a:ln/>
        </p:spPr>
        <p:txBody>
          <a:bodyPr wrap="square" lIns="0" tIns="0" rIns="0" bIns="0" rtlCol="0" anchor="t"/>
          <a:lstStyle>
            <a:lvl1pPr algn="l" indent="0" marL="0">
              <a:lnSpc>
                <a:spcPct val="115000"/>
              </a:lnSpc>
              <a:buNone/>
              <a:defRPr lang="en-US" sz="3200" dirty="0">
                <a:solidFill>
                  <a:srgbClr val="1B2A41"/>
                </a:solidFill>
                <a:latin typeface="Rubik" pitchFamily="34" charset="0"/>
                <a:ea typeface="Rubik" pitchFamily="34" charset="-122"/>
                <a:cs typeface="Rubi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54134"/>
            <a:ext cx="10566400" cy="4191066"/>
          </a:xfrm>
          <a:prstGeom prst="rect">
            <a:avLst/>
          </a:prstGeom>
          <a:noFill/>
          <a:ln/>
        </p:spPr>
        <p:txBody>
          <a:bodyPr wrap="square" lIns="0" tIns="0" rIns="0" bIns="0" rtlCol="0" anchor="t"/>
          <a:lstStyle>
            <a:lvl1pPr algn="l" indent="0" marL="0">
              <a:lnSpc>
                <a:spcPct val="140000"/>
              </a:lnSpc>
              <a:buNone/>
              <a:defRPr lang="en-US" sz="1600" dirty="0">
                <a:solidFill>
                  <a:srgbClr val="1B2A41"/>
                </a:solidFill>
                <a:latin typeface="Rubik" pitchFamily="34" charset="0"/>
                <a:ea typeface="Rubik" pitchFamily="34" charset="-122"/>
                <a:cs typeface="Rubik"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www.w3schools.com/python/python_try_except.asp" TargetMode="External"/><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www.w3schools.com/python/python_classes.asp" TargetMode="External"/><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hyperlink" Target="https://www.w3schools.com/python/python_inheritance.asp" TargetMode="External"/><Relationship Id="rId2" Type="http://schemas.openxmlformats.org/officeDocument/2006/relationships/hyperlink" Target="https://www.w3schools.com/python/python_polymorphism.asp" TargetMode="External"/><Relationship Id="rId3" Type="http://schemas.openxmlformats.org/officeDocument/2006/relationships/slideLayout" Target="../slideLayouts/slideLayout2.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1"/>
        </a:solidFill>
      </p:bgPr>
    </p:bg>
    <p:spTree>
      <p:nvGrpSpPr>
        <p:cNvPr id="1" name=""/>
        <p:cNvGrpSpPr/>
        <p:nvPr/>
      </p:nvGrpSpPr>
      <p:grpSpPr>
        <a:xfrm>
          <a:off x="0" y="0"/>
          <a:ext cx="0" cy="0"/>
          <a:chOff x="0" y="0"/>
          <a:chExt cx="0" cy="0"/>
        </a:xfrm>
      </p:grpSpPr>
      <p:sp>
        <p:nvSpPr>
          <p:cNvPr id="2" name="Text 0"/>
          <p:cNvSpPr/>
          <p:nvPr/>
        </p:nvSpPr>
        <p:spPr>
          <a:xfrm>
            <a:off x="6670040" y="812800"/>
            <a:ext cx="4709160" cy="1295400"/>
          </a:xfrm>
          <a:prstGeom prst="rect">
            <a:avLst/>
          </a:prstGeom>
          <a:noFill/>
          <a:ln/>
        </p:spPr>
        <p:txBody>
          <a:bodyPr wrap="square" lIns="0" tIns="0" rIns="0" bIns="0" rtlCol="0" anchor="t">
            <a:normAutofit/>
          </a:bodyPr>
          <a:lstStyle/>
          <a:p>
            <a:pPr algn="r" indent="0" marL="0">
              <a:lnSpc>
                <a:spcPts val="10000"/>
              </a:lnSpc>
              <a:buNone/>
            </a:pPr>
            <a:r>
              <a:rPr lang="en-US" sz="10000" b="1" dirty="0">
                <a:solidFill>
                  <a:srgbClr val="2A3D5A"/>
                </a:solidFill>
                <a:latin typeface="JetBrains Mono" pitchFamily="49" charset="0"/>
                <a:ea typeface="JetBrains Mono" pitchFamily="49" charset="-122"/>
                <a:cs typeface="JetBrains Mono" pitchFamily="49" charset="-120"/>
              </a:rPr>
              <a:t>class</a:t>
            </a:r>
            <a:endParaRPr lang="en-US" sz="10000" dirty="0"/>
          </a:p>
        </p:txBody>
      </p:sp>
      <p:sp>
        <p:nvSpPr>
          <p:cNvPr id="3" name="Text 1"/>
          <p:cNvSpPr/>
          <p:nvPr/>
        </p:nvSpPr>
        <p:spPr>
          <a:xfrm>
            <a:off x="812800" y="1871993"/>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2B33D"/>
                </a:solidFill>
                <a:latin typeface="Rubik" pitchFamily="34" charset="0"/>
                <a:ea typeface="Rubik" pitchFamily="34" charset="-122"/>
                <a:cs typeface="Rubik" pitchFamily="34" charset="-120"/>
              </a:rPr>
              <a:t>WEEK 7 · CLASSES 19–21</a:t>
            </a:r>
            <a:endParaRPr lang="en-US" sz="1200" dirty="0"/>
          </a:p>
        </p:txBody>
      </p:sp>
      <p:sp>
        <p:nvSpPr>
          <p:cNvPr id="4" name="Text 2"/>
          <p:cNvSpPr/>
          <p:nvPr>
            <p:ph type="title"/>
          </p:nvPr>
        </p:nvSpPr>
        <p:spPr>
          <a:xfrm>
            <a:off x="812800" y="2313914"/>
            <a:ext cx="10883392" cy="16256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7F5EF"/>
                </a:solidFill>
                <a:latin typeface="Rubik" pitchFamily="34" charset="0"/>
                <a:ea typeface="Rubik" pitchFamily="34" charset="-122"/>
                <a:cs typeface="Rubik" pitchFamily="34" charset="-120"/>
              </a:rPr>
              <a:t>Errors and</a:t>
            </a:r>
            <a:endParaRPr lang="en-US" sz="6000" dirty="0"/>
          </a:p>
          <a:p>
            <a:pPr algn="l" indent="0" marL="0">
              <a:lnSpc>
                <a:spcPts val="6300"/>
              </a:lnSpc>
              <a:buNone/>
            </a:pPr>
            <a:r>
              <a:rPr lang="en-US" sz="6000" b="1" i="0" dirty="0">
                <a:solidFill>
                  <a:srgbClr val="F7F5EF"/>
                </a:solidFill>
                <a:latin typeface="Rubik" pitchFamily="34" charset="0"/>
                <a:ea typeface="Rubik" pitchFamily="34" charset="-122"/>
                <a:cs typeface="Rubik" pitchFamily="34" charset="-120"/>
              </a:rPr>
              <a:t>objects</a:t>
            </a:r>
            <a:endParaRPr lang="en-US" sz="6000" dirty="0"/>
          </a:p>
        </p:txBody>
      </p:sp>
      <p:sp>
        <p:nvSpPr>
          <p:cNvPr id="5" name="Text 3"/>
          <p:cNvSpPr/>
          <p:nvPr/>
        </p:nvSpPr>
        <p:spPr>
          <a:xfrm>
            <a:off x="812800" y="4142714"/>
            <a:ext cx="7848600" cy="665427"/>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D4E2"/>
                </a:solidFill>
                <a:latin typeface="Rubik" pitchFamily="34" charset="0"/>
                <a:ea typeface="Rubik" pitchFamily="34" charset="-122"/>
                <a:cs typeface="Rubik" pitchFamily="34" charset="-120"/>
              </a:rPr>
              <a:t>Programs that do not crash, and building your own data types with classes</a:t>
            </a:r>
            <a:endParaRPr lang="en-US" sz="1800" dirty="0"/>
          </a:p>
        </p:txBody>
      </p:sp>
      <p:sp>
        <p:nvSpPr>
          <p:cNvPr id="6"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0C6"/>
                </a:solidFill>
                <a:latin typeface="Rubik" pitchFamily="34" charset="0"/>
                <a:ea typeface="Rubik" pitchFamily="34" charset="-122"/>
                <a:cs typeface="Rubik" pitchFamily="34" charset="-120"/>
              </a:rPr>
              <a:t>Python Programming · B.Tech 1st Year · 8-week course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B33D"/>
        </a:solidFill>
      </p:bgPr>
    </p:bg>
    <p:spTree>
      <p:nvGrpSpPr>
        <p:cNvPr id="1" name=""/>
        <p:cNvGrpSpPr/>
        <p:nvPr/>
      </p:nvGrpSpPr>
      <p:grpSpPr>
        <a:xfrm>
          <a:off x="0" y="0"/>
          <a:ext cx="0" cy="0"/>
          <a:chOff x="0" y="0"/>
          <a:chExt cx="0" cy="0"/>
        </a:xfrm>
      </p:grpSpPr>
      <p:sp>
        <p:nvSpPr>
          <p:cNvPr id="2" name="Text 0"/>
          <p:cNvSpPr/>
          <p:nvPr/>
        </p:nvSpPr>
        <p:spPr>
          <a:xfrm>
            <a:off x="812800" y="2504480"/>
            <a:ext cx="512775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1B2A41"/>
                </a:solidFill>
                <a:latin typeface="Rubik" pitchFamily="34" charset="0"/>
                <a:ea typeface="Rubik" pitchFamily="34" charset="-122"/>
                <a:cs typeface="Rubik" pitchFamily="34" charset="-120"/>
              </a:rPr>
              <a:t>CLASS 19 OF 24</a:t>
            </a:r>
            <a:endParaRPr lang="en-US" sz="1200" dirty="0"/>
          </a:p>
        </p:txBody>
      </p:sp>
      <p:sp>
        <p:nvSpPr>
          <p:cNvPr id="3" name="Text 1"/>
          <p:cNvSpPr/>
          <p:nvPr>
            <p:ph type="title"/>
          </p:nvPr>
        </p:nvSpPr>
        <p:spPr>
          <a:xfrm>
            <a:off x="812800" y="2895600"/>
            <a:ext cx="5127752" cy="665427"/>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1B2A41"/>
                </a:solidFill>
                <a:latin typeface="Rubik" pitchFamily="34" charset="0"/>
                <a:ea typeface="Rubik" pitchFamily="34" charset="-122"/>
                <a:cs typeface="Rubik" pitchFamily="34" charset="-120"/>
              </a:rPr>
              <a:t>Handling errors</a:t>
            </a:r>
            <a:endParaRPr lang="en-US" sz="4800" dirty="0"/>
          </a:p>
        </p:txBody>
      </p:sp>
      <p:sp>
        <p:nvSpPr>
          <p:cNvPr id="4" name="Text 2"/>
          <p:cNvSpPr/>
          <p:nvPr/>
        </p:nvSpPr>
        <p:spPr>
          <a:xfrm>
            <a:off x="812800" y="3713428"/>
            <a:ext cx="5127752" cy="665427"/>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B2A41"/>
                </a:solidFill>
                <a:latin typeface="Rubik" pitchFamily="34" charset="0"/>
                <a:ea typeface="Rubik" pitchFamily="34" charset="-122"/>
                <a:cs typeface="Rubik" pitchFamily="34" charset="-120"/>
              </a:rPr>
              <a:t>Catch problems and respond politely instead of crashing</a:t>
            </a:r>
            <a:endParaRPr lang="en-US" sz="1800" dirty="0"/>
          </a:p>
        </p:txBody>
      </p:sp>
      <p:sp>
        <p:nvSpPr>
          <p:cNvPr id="5" name="Shape 3"/>
          <p:cNvSpPr/>
          <p:nvPr/>
        </p:nvSpPr>
        <p:spPr>
          <a:xfrm>
            <a:off x="6400800" y="2098014"/>
            <a:ext cx="4978400" cy="2661907"/>
          </a:xfrm>
          <a:prstGeom prst="roundRect">
            <a:avLst>
              <a:gd name="adj" fmla="val 5725"/>
            </a:avLst>
          </a:prstGeom>
          <a:solidFill>
            <a:srgbClr val="1B2A41"/>
          </a:solidFill>
          <a:ln/>
        </p:spPr>
      </p:sp>
      <p:sp>
        <p:nvSpPr>
          <p:cNvPr id="6" name="Text 4"/>
          <p:cNvSpPr/>
          <p:nvPr/>
        </p:nvSpPr>
        <p:spPr>
          <a:xfrm>
            <a:off x="6756400" y="2453614"/>
            <a:ext cx="4395216"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2B33D"/>
                </a:solidFill>
                <a:latin typeface="Rubik" pitchFamily="34" charset="0"/>
                <a:ea typeface="Rubik" pitchFamily="34" charset="-122"/>
                <a:cs typeface="Rubik" pitchFamily="34" charset="-120"/>
              </a:rPr>
              <a:t>By the end of today you can</a:t>
            </a:r>
            <a:endParaRPr lang="en-US" sz="1800" dirty="0"/>
          </a:p>
        </p:txBody>
      </p:sp>
      <p:sp>
        <p:nvSpPr>
          <p:cNvPr id="7" name="Text 5"/>
          <p:cNvSpPr/>
          <p:nvPr/>
        </p:nvSpPr>
        <p:spPr>
          <a:xfrm>
            <a:off x="6840220" y="2880320"/>
            <a:ext cx="4303776" cy="1549400"/>
          </a:xfrm>
          <a:prstGeom prst="rect">
            <a:avLst/>
          </a:prstGeom>
          <a:noFill/>
          <a:ln/>
        </p:spPr>
        <p:txBody>
          <a:bodyPr wrap="square" lIns="0" tIns="0" rIns="0" bIns="0" rtlCol="0" anchor="t">
            <a:normAutofit/>
          </a:bodyPr>
          <a:lstStyle/>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Tell the three kinds of errors apart</a:t>
            </a:r>
            <a:endParaRPr lang="en-US" sz="1500" dirty="0"/>
          </a:p>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Name the common exceptions</a:t>
            </a:r>
            <a:endParaRPr lang="en-US" sz="1500" dirty="0"/>
          </a:p>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Catch them with try and except</a:t>
            </a:r>
            <a:endParaRPr lang="en-US" sz="1500" dirty="0"/>
          </a:p>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Use else and finally</a:t>
            </a:r>
            <a:endParaRPr lang="en-US" sz="1500" dirty="0"/>
          </a:p>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Raise your own errors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19 · KINDS OF ERRORS</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Three kinds of mistakes</a:t>
            </a:r>
            <a:endParaRPr lang="en-US" sz="3200" dirty="0"/>
          </a:p>
        </p:txBody>
      </p:sp>
      <p:sp>
        <p:nvSpPr>
          <p:cNvPr id="4" name="Shape 2"/>
          <p:cNvSpPr/>
          <p:nvPr/>
        </p:nvSpPr>
        <p:spPr>
          <a:xfrm>
            <a:off x="819150" y="1860485"/>
            <a:ext cx="3373967" cy="2646627"/>
          </a:xfrm>
          <a:prstGeom prst="roundRect">
            <a:avLst>
              <a:gd name="adj" fmla="val 4559"/>
            </a:avLst>
          </a:prstGeom>
          <a:solidFill>
            <a:srgbClr val="FFFDF8"/>
          </a:solidFill>
          <a:ln w="12700">
            <a:solidFill>
              <a:srgbClr val="E2DED3"/>
            </a:solidFill>
            <a:prstDash val="solid"/>
          </a:ln>
        </p:spPr>
      </p:sp>
      <p:sp>
        <p:nvSpPr>
          <p:cNvPr id="5" name="Text 3"/>
          <p:cNvSpPr/>
          <p:nvPr/>
        </p:nvSpPr>
        <p:spPr>
          <a:xfrm>
            <a:off x="1028700" y="2070035"/>
            <a:ext cx="1377024" cy="289520"/>
          </a:xfrm>
          <a:custGeom>
            <a:avLst/>
            <a:gdLst/>
            <a:ahLst/>
            <a:cxnLst/>
            <a:rect l="l" t="t" r="r" b="b"/>
            <a:pathLst>
              <a:path w="1377024" h="289520">
                <a:moveTo>
                  <a:pt x="144760" y="0"/>
                </a:moveTo>
                <a:lnTo>
                  <a:pt x="1232264" y="0"/>
                </a:lnTo>
                <a:arcTo hR="144760" wR="144760" stAng="16200000" swAng="5400000"/>
                <a:lnTo>
                  <a:pt x="1377024"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Before running</a:t>
            </a:r>
            <a:endParaRPr lang="en-US" sz="1200" dirty="0"/>
          </a:p>
        </p:txBody>
      </p:sp>
      <p:sp>
        <p:nvSpPr>
          <p:cNvPr id="6" name="Text 4"/>
          <p:cNvSpPr/>
          <p:nvPr/>
        </p:nvSpPr>
        <p:spPr>
          <a:xfrm>
            <a:off x="1028700" y="2461155"/>
            <a:ext cx="3043513"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Syntax error</a:t>
            </a:r>
            <a:endParaRPr lang="en-US" sz="1800" dirty="0"/>
          </a:p>
        </p:txBody>
      </p:sp>
      <p:sp>
        <p:nvSpPr>
          <p:cNvPr id="7" name="Text 5"/>
          <p:cNvSpPr/>
          <p:nvPr/>
        </p:nvSpPr>
        <p:spPr>
          <a:xfrm>
            <a:off x="1028700" y="2837061"/>
            <a:ext cx="3043513"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Broken grammar: a missing colon or bracket. Nothing runs at all.</a:t>
            </a:r>
            <a:endParaRPr lang="en-US" sz="1500" dirty="0"/>
          </a:p>
        </p:txBody>
      </p:sp>
      <p:sp>
        <p:nvSpPr>
          <p:cNvPr id="8" name="Text 6"/>
          <p:cNvSpPr/>
          <p:nvPr/>
        </p:nvSpPr>
        <p:spPr>
          <a:xfrm>
            <a:off x="1028700" y="3472061"/>
            <a:ext cx="2954867" cy="825500"/>
          </a:xfrm>
          <a:prstGeom prst="roundRect">
            <a:avLst>
              <a:gd name="adj" fmla="val 10769"/>
            </a:avLst>
          </a:prstGeom>
          <a:solidFill>
            <a:srgbClr val="1B2A41"/>
          </a:solidFill>
          <a:ln/>
        </p:spPr>
        <p:txBody>
          <a:bodyPr wrap="square" lIns="126362" tIns="100962" rIns="46860" bIns="75562" rtlCol="0" anchor="t">
            <a:normAutofit/>
          </a:bodyPr>
          <a:lstStyle/>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if</a:t>
            </a:r>
            <a:r>
              <a:rPr lang="en-US" sz="1500" dirty="0">
                <a:solidFill>
                  <a:srgbClr val="E8EDF3"/>
                </a:solidFill>
                <a:latin typeface="JetBrains Mono" pitchFamily="49" charset="0"/>
                <a:ea typeface="JetBrains Mono" pitchFamily="49" charset="-122"/>
                <a:cs typeface="JetBrains Mono" pitchFamily="49" charset="-120"/>
              </a:rPr>
              <a:t> x &gt; 5</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(x)</a:t>
            </a:r>
            <a:endParaRPr lang="en-US" sz="1500" dirty="0"/>
          </a:p>
        </p:txBody>
      </p:sp>
      <p:sp>
        <p:nvSpPr>
          <p:cNvPr id="9" name="Shape 7"/>
          <p:cNvSpPr/>
          <p:nvPr/>
        </p:nvSpPr>
        <p:spPr>
          <a:xfrm>
            <a:off x="4409017" y="1860485"/>
            <a:ext cx="3373967" cy="2646627"/>
          </a:xfrm>
          <a:prstGeom prst="roundRect">
            <a:avLst>
              <a:gd name="adj" fmla="val 4559"/>
            </a:avLst>
          </a:prstGeom>
          <a:solidFill>
            <a:srgbClr val="FFFDF8"/>
          </a:solidFill>
          <a:ln w="12700">
            <a:solidFill>
              <a:srgbClr val="E2DED3"/>
            </a:solidFill>
            <a:prstDash val="solid"/>
          </a:ln>
        </p:spPr>
      </p:sp>
      <p:sp>
        <p:nvSpPr>
          <p:cNvPr id="10" name="Text 8"/>
          <p:cNvSpPr/>
          <p:nvPr/>
        </p:nvSpPr>
        <p:spPr>
          <a:xfrm>
            <a:off x="4618567" y="2070035"/>
            <a:ext cx="1264642" cy="289520"/>
          </a:xfrm>
          <a:custGeom>
            <a:avLst/>
            <a:gdLst/>
            <a:ahLst/>
            <a:cxnLst/>
            <a:rect l="l" t="t" r="r" b="b"/>
            <a:pathLst>
              <a:path w="1264642" h="289520">
                <a:moveTo>
                  <a:pt x="144760" y="0"/>
                </a:moveTo>
                <a:lnTo>
                  <a:pt x="1119882" y="0"/>
                </a:lnTo>
                <a:arcTo hR="144760" wR="144760" stAng="16200000" swAng="5400000"/>
                <a:lnTo>
                  <a:pt x="1264642"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While running</a:t>
            </a:r>
            <a:endParaRPr lang="en-US" sz="1200" dirty="0"/>
          </a:p>
        </p:txBody>
      </p:sp>
      <p:sp>
        <p:nvSpPr>
          <p:cNvPr id="11" name="Text 9"/>
          <p:cNvSpPr/>
          <p:nvPr/>
        </p:nvSpPr>
        <p:spPr>
          <a:xfrm>
            <a:off x="4618567" y="2461155"/>
            <a:ext cx="3043513"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Exception</a:t>
            </a:r>
            <a:endParaRPr lang="en-US" sz="1800" dirty="0"/>
          </a:p>
        </p:txBody>
      </p:sp>
      <p:sp>
        <p:nvSpPr>
          <p:cNvPr id="12" name="Text 10"/>
          <p:cNvSpPr/>
          <p:nvPr/>
        </p:nvSpPr>
        <p:spPr>
          <a:xfrm>
            <a:off x="4618567" y="2837061"/>
            <a:ext cx="3043513"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Correct grammar, but something goes wrong at run time.</a:t>
            </a:r>
            <a:endParaRPr lang="en-US" sz="1500" dirty="0"/>
          </a:p>
        </p:txBody>
      </p:sp>
      <p:sp>
        <p:nvSpPr>
          <p:cNvPr id="13" name="Text 11"/>
          <p:cNvSpPr/>
          <p:nvPr/>
        </p:nvSpPr>
        <p:spPr>
          <a:xfrm>
            <a:off x="4618567" y="3472061"/>
            <a:ext cx="2954867" cy="539750"/>
          </a:xfrm>
          <a:prstGeom prst="roundRect">
            <a:avLst>
              <a:gd name="adj" fmla="val 16471"/>
            </a:avLst>
          </a:prstGeom>
          <a:solidFill>
            <a:srgbClr val="1B2A41"/>
          </a:solidFill>
          <a:ln/>
        </p:spPr>
        <p:txBody>
          <a:bodyPr wrap="square" lIns="126362" tIns="100962" rIns="46860" bIns="75562" rtlCol="0" anchor="t">
            <a:normAutofit/>
          </a:bodyPr>
          <a:lstStyle/>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(10 / 0)</a:t>
            </a:r>
            <a:endParaRPr lang="en-US" sz="1500" dirty="0"/>
          </a:p>
        </p:txBody>
      </p:sp>
      <p:sp>
        <p:nvSpPr>
          <p:cNvPr id="14" name="Shape 12"/>
          <p:cNvSpPr/>
          <p:nvPr/>
        </p:nvSpPr>
        <p:spPr>
          <a:xfrm>
            <a:off x="7998884" y="1860485"/>
            <a:ext cx="3373967" cy="2646627"/>
          </a:xfrm>
          <a:prstGeom prst="roundRect">
            <a:avLst>
              <a:gd name="adj" fmla="val 4559"/>
            </a:avLst>
          </a:prstGeom>
          <a:solidFill>
            <a:srgbClr val="FFFDF8"/>
          </a:solidFill>
          <a:ln w="12700">
            <a:solidFill>
              <a:srgbClr val="E2DED3"/>
            </a:solidFill>
            <a:prstDash val="solid"/>
          </a:ln>
        </p:spPr>
      </p:sp>
      <p:sp>
        <p:nvSpPr>
          <p:cNvPr id="15" name="Text 13"/>
          <p:cNvSpPr/>
          <p:nvPr/>
        </p:nvSpPr>
        <p:spPr>
          <a:xfrm>
            <a:off x="8208434" y="2070035"/>
            <a:ext cx="1296657" cy="289520"/>
          </a:xfrm>
          <a:custGeom>
            <a:avLst/>
            <a:gdLst/>
            <a:ahLst/>
            <a:cxnLst/>
            <a:rect l="l" t="t" r="r" b="b"/>
            <a:pathLst>
              <a:path w="1296657" h="289520">
                <a:moveTo>
                  <a:pt x="144760" y="0"/>
                </a:moveTo>
                <a:lnTo>
                  <a:pt x="1151897" y="0"/>
                </a:lnTo>
                <a:arcTo hR="144760" wR="144760" stAng="16200000" swAng="5400000"/>
                <a:lnTo>
                  <a:pt x="1296657"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Wrong answer</a:t>
            </a:r>
            <a:endParaRPr lang="en-US" sz="1200" dirty="0"/>
          </a:p>
        </p:txBody>
      </p:sp>
      <p:sp>
        <p:nvSpPr>
          <p:cNvPr id="16" name="Text 14"/>
          <p:cNvSpPr/>
          <p:nvPr/>
        </p:nvSpPr>
        <p:spPr>
          <a:xfrm>
            <a:off x="8208434" y="2461155"/>
            <a:ext cx="3043513"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Logic error</a:t>
            </a:r>
            <a:endParaRPr lang="en-US" sz="1800" dirty="0"/>
          </a:p>
        </p:txBody>
      </p:sp>
      <p:sp>
        <p:nvSpPr>
          <p:cNvPr id="17" name="Text 15"/>
          <p:cNvSpPr/>
          <p:nvPr/>
        </p:nvSpPr>
        <p:spPr>
          <a:xfrm>
            <a:off x="8208434" y="2837061"/>
            <a:ext cx="3043513"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Runs fine but gives a wrong result. Only testing finds it.</a:t>
            </a:r>
            <a:endParaRPr lang="en-US" sz="1500" dirty="0"/>
          </a:p>
        </p:txBody>
      </p:sp>
      <p:sp>
        <p:nvSpPr>
          <p:cNvPr id="18" name="Text 16"/>
          <p:cNvSpPr/>
          <p:nvPr/>
        </p:nvSpPr>
        <p:spPr>
          <a:xfrm>
            <a:off x="8208434" y="3472061"/>
            <a:ext cx="2954867" cy="539750"/>
          </a:xfrm>
          <a:prstGeom prst="roundRect">
            <a:avLst>
              <a:gd name="adj" fmla="val 16471"/>
            </a:avLst>
          </a:prstGeom>
          <a:solidFill>
            <a:srgbClr val="1B2A41"/>
          </a:solidFill>
          <a:ln/>
        </p:spPr>
        <p:txBody>
          <a:bodyPr wrap="square" lIns="126362" tIns="100962" rIns="46860" bIns="75562" rtlCol="0" anchor="t">
            <a:normAutofit/>
          </a:bodyPr>
          <a:lstStyle/>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avg = a + b / 2</a:t>
            </a:r>
            <a:endParaRPr lang="en-US" sz="1500" dirty="0"/>
          </a:p>
        </p:txBody>
      </p:sp>
      <p:sp>
        <p:nvSpPr>
          <p:cNvPr id="19" name="Text 1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7 · Class 19</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19 · COMMON EXCEPTIONS</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Exceptions you will meet</a:t>
            </a:r>
            <a:endParaRPr lang="en-US" sz="3200" dirty="0"/>
          </a:p>
        </p:txBody>
      </p:sp>
      <p:sp>
        <p:nvSpPr>
          <p:cNvPr id="4" name="Shape 2"/>
          <p:cNvSpPr/>
          <p:nvPr/>
        </p:nvSpPr>
        <p:spPr>
          <a:xfrm>
            <a:off x="812800" y="1854135"/>
            <a:ext cx="5672667" cy="391120"/>
          </a:xfrm>
          <a:prstGeom prst="roundRect">
            <a:avLst>
              <a:gd name="adj" fmla="val 22730"/>
            </a:avLst>
          </a:prstGeom>
          <a:solidFill>
            <a:srgbClr val="1B2A41"/>
          </a:solidFill>
          <a:ln/>
        </p:spPr>
      </p:sp>
      <p:sp>
        <p:nvSpPr>
          <p:cNvPr id="5" name="Text 3"/>
          <p:cNvSpPr/>
          <p:nvPr/>
        </p:nvSpPr>
        <p:spPr>
          <a:xfrm>
            <a:off x="990600" y="1943035"/>
            <a:ext cx="222377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7F5EF"/>
                </a:solidFill>
                <a:latin typeface="Rubik" pitchFamily="34" charset="0"/>
                <a:ea typeface="Rubik" pitchFamily="34" charset="-122"/>
                <a:cs typeface="Rubik" pitchFamily="34" charset="-120"/>
              </a:rPr>
              <a:t>THIS CODE</a:t>
            </a:r>
            <a:endParaRPr lang="en-US" sz="1200" dirty="0"/>
          </a:p>
        </p:txBody>
      </p:sp>
      <p:sp>
        <p:nvSpPr>
          <p:cNvPr id="6" name="Text 4"/>
          <p:cNvSpPr/>
          <p:nvPr/>
        </p:nvSpPr>
        <p:spPr>
          <a:xfrm>
            <a:off x="3302000" y="1943035"/>
            <a:ext cx="3095837"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7F5EF"/>
                </a:solidFill>
                <a:latin typeface="Rubik" pitchFamily="34" charset="0"/>
                <a:ea typeface="Rubik" pitchFamily="34" charset="-122"/>
                <a:cs typeface="Rubik" pitchFamily="34" charset="-120"/>
              </a:rPr>
              <a:t>RAISES</a:t>
            </a:r>
            <a:endParaRPr lang="en-US" sz="1200" dirty="0"/>
          </a:p>
        </p:txBody>
      </p:sp>
      <p:sp>
        <p:nvSpPr>
          <p:cNvPr id="7" name="Shape 5"/>
          <p:cNvSpPr/>
          <p:nvPr/>
        </p:nvSpPr>
        <p:spPr>
          <a:xfrm>
            <a:off x="812800" y="2696105"/>
            <a:ext cx="5672667" cy="0"/>
          </a:xfrm>
          <a:prstGeom prst="line">
            <a:avLst/>
          </a:prstGeom>
          <a:noFill/>
          <a:ln w="12700">
            <a:solidFill>
              <a:srgbClr val="D9DEE5"/>
            </a:solidFill>
            <a:prstDash val="solid"/>
          </a:ln>
        </p:spPr>
      </p:sp>
      <p:sp>
        <p:nvSpPr>
          <p:cNvPr id="8" name="Text 6"/>
          <p:cNvSpPr/>
          <p:nvPr/>
        </p:nvSpPr>
        <p:spPr>
          <a:xfrm>
            <a:off x="990600" y="2334155"/>
            <a:ext cx="222377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A64A3"/>
                </a:solidFill>
                <a:latin typeface="JetBrains Mono" pitchFamily="49" charset="0"/>
                <a:ea typeface="JetBrains Mono" pitchFamily="49" charset="-122"/>
                <a:cs typeface="JetBrains Mono" pitchFamily="49" charset="-120"/>
              </a:rPr>
              <a:t>int("abc")</a:t>
            </a:r>
            <a:endParaRPr lang="en-US" sz="1500" dirty="0"/>
          </a:p>
        </p:txBody>
      </p:sp>
      <p:sp>
        <p:nvSpPr>
          <p:cNvPr id="9" name="Text 7"/>
          <p:cNvSpPr/>
          <p:nvPr/>
        </p:nvSpPr>
        <p:spPr>
          <a:xfrm>
            <a:off x="3302000" y="2334155"/>
            <a:ext cx="3095837"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1"/>
                </a:solidFill>
                <a:latin typeface="JetBrains Mono" pitchFamily="49" charset="0"/>
                <a:ea typeface="JetBrains Mono" pitchFamily="49" charset="-122"/>
                <a:cs typeface="JetBrains Mono" pitchFamily="49" charset="-120"/>
              </a:rPr>
              <a:t>ValueError</a:t>
            </a:r>
            <a:endParaRPr lang="en-US" sz="1500" dirty="0"/>
          </a:p>
        </p:txBody>
      </p:sp>
      <p:sp>
        <p:nvSpPr>
          <p:cNvPr id="10" name="Shape 8"/>
          <p:cNvSpPr/>
          <p:nvPr/>
        </p:nvSpPr>
        <p:spPr>
          <a:xfrm>
            <a:off x="812800" y="3153305"/>
            <a:ext cx="5672667" cy="0"/>
          </a:xfrm>
          <a:prstGeom prst="line">
            <a:avLst/>
          </a:prstGeom>
          <a:noFill/>
          <a:ln w="12700">
            <a:solidFill>
              <a:srgbClr val="D9DEE5"/>
            </a:solidFill>
            <a:prstDash val="solid"/>
          </a:ln>
        </p:spPr>
      </p:sp>
      <p:sp>
        <p:nvSpPr>
          <p:cNvPr id="11" name="Text 9"/>
          <p:cNvSpPr/>
          <p:nvPr/>
        </p:nvSpPr>
        <p:spPr>
          <a:xfrm>
            <a:off x="990600" y="2791355"/>
            <a:ext cx="222377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A64A3"/>
                </a:solidFill>
                <a:latin typeface="JetBrains Mono" pitchFamily="49" charset="0"/>
                <a:ea typeface="JetBrains Mono" pitchFamily="49" charset="-122"/>
                <a:cs typeface="JetBrains Mono" pitchFamily="49" charset="-120"/>
              </a:rPr>
              <a:t>10 / 0</a:t>
            </a:r>
            <a:endParaRPr lang="en-US" sz="1500" dirty="0"/>
          </a:p>
        </p:txBody>
      </p:sp>
      <p:sp>
        <p:nvSpPr>
          <p:cNvPr id="12" name="Text 10"/>
          <p:cNvSpPr/>
          <p:nvPr/>
        </p:nvSpPr>
        <p:spPr>
          <a:xfrm>
            <a:off x="3302000" y="2791355"/>
            <a:ext cx="3095837"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1"/>
                </a:solidFill>
                <a:latin typeface="JetBrains Mono" pitchFamily="49" charset="0"/>
                <a:ea typeface="JetBrains Mono" pitchFamily="49" charset="-122"/>
                <a:cs typeface="JetBrains Mono" pitchFamily="49" charset="-120"/>
              </a:rPr>
              <a:t>ZeroDivisionError</a:t>
            </a:r>
            <a:endParaRPr lang="en-US" sz="1500" dirty="0"/>
          </a:p>
        </p:txBody>
      </p:sp>
      <p:sp>
        <p:nvSpPr>
          <p:cNvPr id="13" name="Shape 11"/>
          <p:cNvSpPr/>
          <p:nvPr/>
        </p:nvSpPr>
        <p:spPr>
          <a:xfrm>
            <a:off x="812800" y="3610505"/>
            <a:ext cx="5672667" cy="0"/>
          </a:xfrm>
          <a:prstGeom prst="line">
            <a:avLst/>
          </a:prstGeom>
          <a:noFill/>
          <a:ln w="12700">
            <a:solidFill>
              <a:srgbClr val="D9DEE5"/>
            </a:solidFill>
            <a:prstDash val="solid"/>
          </a:ln>
        </p:spPr>
      </p:sp>
      <p:sp>
        <p:nvSpPr>
          <p:cNvPr id="14" name="Text 12"/>
          <p:cNvSpPr/>
          <p:nvPr/>
        </p:nvSpPr>
        <p:spPr>
          <a:xfrm>
            <a:off x="990600" y="3248555"/>
            <a:ext cx="222377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A64A3"/>
                </a:solidFill>
                <a:latin typeface="JetBrains Mono" pitchFamily="49" charset="0"/>
                <a:ea typeface="JetBrains Mono" pitchFamily="49" charset="-122"/>
                <a:cs typeface="JetBrains Mono" pitchFamily="49" charset="-120"/>
              </a:rPr>
              <a:t>[1, 2][5]</a:t>
            </a:r>
            <a:endParaRPr lang="en-US" sz="1500" dirty="0"/>
          </a:p>
        </p:txBody>
      </p:sp>
      <p:sp>
        <p:nvSpPr>
          <p:cNvPr id="15" name="Text 13"/>
          <p:cNvSpPr/>
          <p:nvPr/>
        </p:nvSpPr>
        <p:spPr>
          <a:xfrm>
            <a:off x="3302000" y="3248555"/>
            <a:ext cx="3095837"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1"/>
                </a:solidFill>
                <a:latin typeface="JetBrains Mono" pitchFamily="49" charset="0"/>
                <a:ea typeface="JetBrains Mono" pitchFamily="49" charset="-122"/>
                <a:cs typeface="JetBrains Mono" pitchFamily="49" charset="-120"/>
              </a:rPr>
              <a:t>IndexError</a:t>
            </a:r>
            <a:endParaRPr lang="en-US" sz="1500" dirty="0"/>
          </a:p>
        </p:txBody>
      </p:sp>
      <p:sp>
        <p:nvSpPr>
          <p:cNvPr id="16" name="Shape 14"/>
          <p:cNvSpPr/>
          <p:nvPr/>
        </p:nvSpPr>
        <p:spPr>
          <a:xfrm>
            <a:off x="812800" y="4067705"/>
            <a:ext cx="5672667" cy="0"/>
          </a:xfrm>
          <a:prstGeom prst="line">
            <a:avLst/>
          </a:prstGeom>
          <a:noFill/>
          <a:ln w="12700">
            <a:solidFill>
              <a:srgbClr val="D9DEE5"/>
            </a:solidFill>
            <a:prstDash val="solid"/>
          </a:ln>
        </p:spPr>
      </p:sp>
      <p:sp>
        <p:nvSpPr>
          <p:cNvPr id="17" name="Text 15"/>
          <p:cNvSpPr/>
          <p:nvPr/>
        </p:nvSpPr>
        <p:spPr>
          <a:xfrm>
            <a:off x="990600" y="3705755"/>
            <a:ext cx="222377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A64A3"/>
                </a:solidFill>
                <a:latin typeface="JetBrains Mono" pitchFamily="49" charset="0"/>
                <a:ea typeface="JetBrains Mono" pitchFamily="49" charset="-122"/>
                <a:cs typeface="JetBrains Mono" pitchFamily="49" charset="-120"/>
              </a:rPr>
              <a:t>{"a": 1}["b"]</a:t>
            </a:r>
            <a:endParaRPr lang="en-US" sz="1500" dirty="0"/>
          </a:p>
        </p:txBody>
      </p:sp>
      <p:sp>
        <p:nvSpPr>
          <p:cNvPr id="18" name="Text 16"/>
          <p:cNvSpPr/>
          <p:nvPr/>
        </p:nvSpPr>
        <p:spPr>
          <a:xfrm>
            <a:off x="3302000" y="3705755"/>
            <a:ext cx="3095837"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1"/>
                </a:solidFill>
                <a:latin typeface="JetBrains Mono" pitchFamily="49" charset="0"/>
                <a:ea typeface="JetBrains Mono" pitchFamily="49" charset="-122"/>
                <a:cs typeface="JetBrains Mono" pitchFamily="49" charset="-120"/>
              </a:rPr>
              <a:t>KeyError</a:t>
            </a:r>
            <a:endParaRPr lang="en-US" sz="1500" dirty="0"/>
          </a:p>
        </p:txBody>
      </p:sp>
      <p:sp>
        <p:nvSpPr>
          <p:cNvPr id="19" name="Shape 17"/>
          <p:cNvSpPr/>
          <p:nvPr/>
        </p:nvSpPr>
        <p:spPr>
          <a:xfrm>
            <a:off x="812800" y="4524905"/>
            <a:ext cx="5672667" cy="0"/>
          </a:xfrm>
          <a:prstGeom prst="line">
            <a:avLst/>
          </a:prstGeom>
          <a:noFill/>
          <a:ln w="12700">
            <a:solidFill>
              <a:srgbClr val="D9DEE5"/>
            </a:solidFill>
            <a:prstDash val="solid"/>
          </a:ln>
        </p:spPr>
      </p:sp>
      <p:sp>
        <p:nvSpPr>
          <p:cNvPr id="20" name="Text 18"/>
          <p:cNvSpPr/>
          <p:nvPr/>
        </p:nvSpPr>
        <p:spPr>
          <a:xfrm>
            <a:off x="990600" y="4162955"/>
            <a:ext cx="222377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A64A3"/>
                </a:solidFill>
                <a:latin typeface="JetBrains Mono" pitchFamily="49" charset="0"/>
                <a:ea typeface="JetBrains Mono" pitchFamily="49" charset="-122"/>
                <a:cs typeface="JetBrains Mono" pitchFamily="49" charset="-120"/>
              </a:rPr>
              <a:t>"5" + 5</a:t>
            </a:r>
            <a:endParaRPr lang="en-US" sz="1500" dirty="0"/>
          </a:p>
        </p:txBody>
      </p:sp>
      <p:sp>
        <p:nvSpPr>
          <p:cNvPr id="21" name="Text 19"/>
          <p:cNvSpPr/>
          <p:nvPr/>
        </p:nvSpPr>
        <p:spPr>
          <a:xfrm>
            <a:off x="3302000" y="4162955"/>
            <a:ext cx="3095837"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1"/>
                </a:solidFill>
                <a:latin typeface="JetBrains Mono" pitchFamily="49" charset="0"/>
                <a:ea typeface="JetBrains Mono" pitchFamily="49" charset="-122"/>
                <a:cs typeface="JetBrains Mono" pitchFamily="49" charset="-120"/>
              </a:rPr>
              <a:t>TypeError</a:t>
            </a:r>
            <a:endParaRPr lang="en-US" sz="1500" dirty="0"/>
          </a:p>
        </p:txBody>
      </p:sp>
      <p:sp>
        <p:nvSpPr>
          <p:cNvPr id="22" name="Shape 20"/>
          <p:cNvSpPr/>
          <p:nvPr/>
        </p:nvSpPr>
        <p:spPr>
          <a:xfrm>
            <a:off x="812800" y="4982105"/>
            <a:ext cx="5672667" cy="0"/>
          </a:xfrm>
          <a:prstGeom prst="line">
            <a:avLst/>
          </a:prstGeom>
          <a:noFill/>
          <a:ln w="12700">
            <a:solidFill>
              <a:srgbClr val="D9DEE5"/>
            </a:solidFill>
            <a:prstDash val="solid"/>
          </a:ln>
        </p:spPr>
      </p:sp>
      <p:sp>
        <p:nvSpPr>
          <p:cNvPr id="23" name="Text 21"/>
          <p:cNvSpPr/>
          <p:nvPr/>
        </p:nvSpPr>
        <p:spPr>
          <a:xfrm>
            <a:off x="990600" y="4620155"/>
            <a:ext cx="222377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A64A3"/>
                </a:solidFill>
                <a:latin typeface="JetBrains Mono" pitchFamily="49" charset="0"/>
                <a:ea typeface="JetBrains Mono" pitchFamily="49" charset="-122"/>
                <a:cs typeface="JetBrains Mono" pitchFamily="49" charset="-120"/>
              </a:rPr>
              <a:t>print(total)</a:t>
            </a:r>
            <a:endParaRPr lang="en-US" sz="1500" dirty="0"/>
          </a:p>
        </p:txBody>
      </p:sp>
      <p:sp>
        <p:nvSpPr>
          <p:cNvPr id="24" name="Text 22"/>
          <p:cNvSpPr/>
          <p:nvPr/>
        </p:nvSpPr>
        <p:spPr>
          <a:xfrm>
            <a:off x="3302000" y="4620155"/>
            <a:ext cx="3095837"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1"/>
                </a:solidFill>
                <a:latin typeface="JetBrains Mono" pitchFamily="49" charset="0"/>
                <a:ea typeface="JetBrains Mono" pitchFamily="49" charset="-122"/>
                <a:cs typeface="JetBrains Mono" pitchFamily="49" charset="-120"/>
              </a:rPr>
              <a:t>NameError</a:t>
            </a:r>
            <a:endParaRPr lang="en-US" sz="1500" dirty="0"/>
          </a:p>
        </p:txBody>
      </p:sp>
      <p:sp>
        <p:nvSpPr>
          <p:cNvPr id="25" name="Shape 23"/>
          <p:cNvSpPr/>
          <p:nvPr/>
        </p:nvSpPr>
        <p:spPr>
          <a:xfrm>
            <a:off x="812800" y="5439305"/>
            <a:ext cx="5672667" cy="0"/>
          </a:xfrm>
          <a:prstGeom prst="line">
            <a:avLst/>
          </a:prstGeom>
          <a:noFill/>
          <a:ln w="12700">
            <a:solidFill>
              <a:srgbClr val="D9DEE5"/>
            </a:solidFill>
            <a:prstDash val="solid"/>
          </a:ln>
        </p:spPr>
      </p:sp>
      <p:sp>
        <p:nvSpPr>
          <p:cNvPr id="26" name="Text 24"/>
          <p:cNvSpPr/>
          <p:nvPr/>
        </p:nvSpPr>
        <p:spPr>
          <a:xfrm>
            <a:off x="990600" y="5077355"/>
            <a:ext cx="222377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A64A3"/>
                </a:solidFill>
                <a:latin typeface="JetBrains Mono" pitchFamily="49" charset="0"/>
                <a:ea typeface="JetBrains Mono" pitchFamily="49" charset="-122"/>
                <a:cs typeface="JetBrains Mono" pitchFamily="49" charset="-120"/>
              </a:rPr>
              <a:t>open("no.txt")</a:t>
            </a:r>
            <a:endParaRPr lang="en-US" sz="1500" dirty="0"/>
          </a:p>
        </p:txBody>
      </p:sp>
      <p:sp>
        <p:nvSpPr>
          <p:cNvPr id="27" name="Text 25"/>
          <p:cNvSpPr/>
          <p:nvPr/>
        </p:nvSpPr>
        <p:spPr>
          <a:xfrm>
            <a:off x="3302000" y="5077355"/>
            <a:ext cx="3095837"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1"/>
                </a:solidFill>
                <a:latin typeface="JetBrains Mono" pitchFamily="49" charset="0"/>
                <a:ea typeface="JetBrains Mono" pitchFamily="49" charset="-122"/>
                <a:cs typeface="JetBrains Mono" pitchFamily="49" charset="-120"/>
              </a:rPr>
              <a:t>FileNotFoundError</a:t>
            </a:r>
            <a:endParaRPr lang="en-US" sz="1500" dirty="0"/>
          </a:p>
        </p:txBody>
      </p:sp>
      <p:sp>
        <p:nvSpPr>
          <p:cNvPr id="28" name="Text 26"/>
          <p:cNvSpPr/>
          <p:nvPr/>
        </p:nvSpPr>
        <p:spPr>
          <a:xfrm>
            <a:off x="6841067" y="1854135"/>
            <a:ext cx="4674277" cy="333970"/>
          </a:xfrm>
          <a:prstGeom prst="rect">
            <a:avLst/>
          </a:prstGeom>
          <a:noFill/>
          <a:ln/>
        </p:spPr>
        <p:txBody>
          <a:bodyPr wrap="square" lIns="0" tIns="0" rIns="0" bIns="0" rtlCol="0" anchor="t">
            <a:normAutofit/>
          </a:bodyPr>
          <a:lstStyle/>
          <a:p>
            <a:pPr algn="l" indent="0" marL="0">
              <a:lnSpc>
                <a:spcPts val="2430"/>
              </a:lnSpc>
              <a:buNone/>
            </a:pPr>
            <a:r>
              <a:rPr lang="en-US" sz="1800" b="1" dirty="0">
                <a:solidFill>
                  <a:srgbClr val="1B2A41"/>
                </a:solidFill>
                <a:latin typeface="Rubik" pitchFamily="34" charset="0"/>
                <a:ea typeface="Rubik" pitchFamily="34" charset="-122"/>
                <a:cs typeface="Rubik" pitchFamily="34" charset="-120"/>
              </a:rPr>
              <a:t>The name tells you what went wrong.</a:t>
            </a:r>
            <a:endParaRPr lang="en-US" sz="1800" dirty="0"/>
          </a:p>
        </p:txBody>
      </p:sp>
      <p:sp>
        <p:nvSpPr>
          <p:cNvPr id="29" name="Text 27"/>
          <p:cNvSpPr/>
          <p:nvPr/>
        </p:nvSpPr>
        <p:spPr>
          <a:xfrm>
            <a:off x="6841067" y="2289705"/>
            <a:ext cx="4674277" cy="596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4A5568"/>
                </a:solidFill>
                <a:latin typeface="Rubik" pitchFamily="34" charset="0"/>
                <a:ea typeface="Rubik" pitchFamily="34" charset="-122"/>
                <a:cs typeface="Rubik" pitchFamily="34" charset="-120"/>
              </a:rPr>
              <a:t>Read the </a:t>
            </a:r>
            <a:r>
              <a:rPr lang="en-US" sz="1500" b="1" dirty="0">
                <a:solidFill>
                  <a:srgbClr val="4A5568"/>
                </a:solidFill>
                <a:latin typeface="Rubik" pitchFamily="34" charset="0"/>
                <a:ea typeface="Rubik" pitchFamily="34" charset="-122"/>
                <a:cs typeface="Rubik" pitchFamily="34" charset="-120"/>
              </a:rPr>
              <a:t>last line</a:t>
            </a:r>
            <a:r>
              <a:rPr lang="en-US" sz="1500" dirty="0">
                <a:solidFill>
                  <a:srgbClr val="4A5568"/>
                </a:solidFill>
                <a:latin typeface="Rubik" pitchFamily="34" charset="0"/>
                <a:ea typeface="Rubik" pitchFamily="34" charset="-122"/>
                <a:cs typeface="Rubik" pitchFamily="34" charset="-120"/>
              </a:rPr>
              <a:t> of the red message first: it names the exception and gives a short reason.</a:t>
            </a:r>
            <a:endParaRPr lang="en-US" sz="1500" dirty="0"/>
          </a:p>
        </p:txBody>
      </p:sp>
      <p:sp>
        <p:nvSpPr>
          <p:cNvPr id="30" name="Shape 28"/>
          <p:cNvSpPr/>
          <p:nvPr/>
        </p:nvSpPr>
        <p:spPr>
          <a:xfrm>
            <a:off x="6841067" y="2988205"/>
            <a:ext cx="4538133" cy="787400"/>
          </a:xfrm>
          <a:prstGeom prst="roundRect">
            <a:avLst>
              <a:gd name="adj" fmla="val 11290"/>
            </a:avLst>
          </a:prstGeom>
          <a:solidFill>
            <a:srgbClr val="FBEFD5"/>
          </a:solidFill>
          <a:ln/>
        </p:spPr>
      </p:sp>
      <p:pic>
        <p:nvPicPr>
          <p:cNvPr id="31" name="Image 0" descr="Lightbulb">    </p:cNvPr>
          <p:cNvPicPr>
            <a:picLocks noChangeAspect="1"/>
          </p:cNvPicPr>
          <p:nvPr/>
        </p:nvPicPr>
        <p:blipFill>
          <a:blip r:embed="rId1"/>
          <a:srcRect l="0" r="0" t="-277" b="-277"/>
          <a:stretch/>
        </p:blipFill>
        <p:spPr>
          <a:xfrm>
            <a:off x="7018867" y="3229505"/>
            <a:ext cx="214709" cy="304800"/>
          </a:xfrm>
          <a:prstGeom prst="rect">
            <a:avLst/>
          </a:prstGeom>
        </p:spPr>
      </p:pic>
      <p:sp>
        <p:nvSpPr>
          <p:cNvPr id="32" name="Text 29"/>
          <p:cNvSpPr/>
          <p:nvPr/>
        </p:nvSpPr>
        <p:spPr>
          <a:xfrm>
            <a:off x="7360576" y="3115205"/>
            <a:ext cx="3956049"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1"/>
                </a:solidFill>
                <a:latin typeface="Rubik" pitchFamily="34" charset="0"/>
                <a:ea typeface="Rubik" pitchFamily="34" charset="-122"/>
                <a:cs typeface="Rubik" pitchFamily="34" charset="-120"/>
              </a:rPr>
              <a:t>NameError usually means a typing mistake in a variable name.</a:t>
            </a:r>
            <a:endParaRPr lang="en-US" sz="1500" dirty="0"/>
          </a:p>
        </p:txBody>
      </p:sp>
      <p:sp>
        <p:nvSpPr>
          <p:cNvPr id="33" name="Text 3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7 · Class 19</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19 · TRY AND EXCEPT</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Catching an error</a:t>
            </a:r>
            <a:endParaRPr lang="en-US" sz="3200" dirty="0"/>
          </a:p>
        </p:txBody>
      </p:sp>
      <p:sp>
        <p:nvSpPr>
          <p:cNvPr id="4" name="Shape 2"/>
          <p:cNvSpPr/>
          <p:nvPr/>
        </p:nvSpPr>
        <p:spPr>
          <a:xfrm>
            <a:off x="812800" y="1854135"/>
            <a:ext cx="5956234" cy="2359620"/>
          </a:xfrm>
          <a:prstGeom prst="roundRect">
            <a:avLst>
              <a:gd name="adj" fmla="val 5382"/>
            </a:avLst>
          </a:prstGeom>
          <a:solidFill>
            <a:srgbClr val="1B2A41"/>
          </a:solidFill>
          <a:ln/>
        </p:spPr>
      </p:sp>
      <p:sp>
        <p:nvSpPr>
          <p:cNvPr id="5" name="Text 3"/>
          <p:cNvSpPr/>
          <p:nvPr/>
        </p:nvSpPr>
        <p:spPr>
          <a:xfrm>
            <a:off x="1066800" y="2031935"/>
            <a:ext cx="561168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8"/>
                </a:solidFill>
                <a:latin typeface="JetBrains Mono" pitchFamily="49" charset="0"/>
                <a:ea typeface="JetBrains Mono" pitchFamily="49" charset="-122"/>
                <a:cs typeface="JetBrains Mono" pitchFamily="49" charset="-120"/>
              </a:rPr>
              <a:t>safe_age.py</a:t>
            </a:r>
            <a:endParaRPr lang="en-US" sz="1200" dirty="0"/>
          </a:p>
        </p:txBody>
      </p:sp>
      <p:sp>
        <p:nvSpPr>
          <p:cNvPr id="6" name="Text 4"/>
          <p:cNvSpPr/>
          <p:nvPr/>
        </p:nvSpPr>
        <p:spPr>
          <a:xfrm>
            <a:off x="1066800" y="2321455"/>
            <a:ext cx="5611681" cy="1739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try</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age = </a:t>
            </a:r>
            <a:r>
              <a:rPr lang="en-US" sz="1500" dirty="0">
                <a:solidFill>
                  <a:srgbClr val="F2B33D"/>
                </a:solidFill>
                <a:latin typeface="JetBrains Mono" pitchFamily="49" charset="0"/>
                <a:ea typeface="JetBrains Mono" pitchFamily="49" charset="-122"/>
                <a:cs typeface="JetBrains Mono" pitchFamily="49" charset="-120"/>
              </a:rPr>
              <a:t>int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F2B33D"/>
                </a:solidFill>
                <a:latin typeface="JetBrains Mono" pitchFamily="49" charset="0"/>
                <a:ea typeface="JetBrains Mono" pitchFamily="49" charset="-122"/>
                <a:cs typeface="JetBrains Mono" pitchFamily="49" charset="-120"/>
              </a:rPr>
              <a:t>input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"Age: "</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"Next year you will be"</a:t>
            </a:r>
            <a:r>
              <a:rPr lang="en-US" sz="1500" dirty="0">
                <a:solidFill>
                  <a:srgbClr val="E8EDF3"/>
                </a:solidFill>
                <a:latin typeface="JetBrains Mono" pitchFamily="49" charset="0"/>
                <a:ea typeface="JetBrains Mono" pitchFamily="49" charset="-122"/>
                <a:cs typeface="JetBrains Mono" pitchFamily="49" charset="-120"/>
              </a:rPr>
              <a:t>, age + 1)</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except</a:t>
            </a:r>
            <a:r>
              <a:rPr lang="en-US" sz="1500" dirty="0">
                <a:solidFill>
                  <a:srgbClr val="E8EDF3"/>
                </a:solidFill>
                <a:latin typeface="JetBrains Mono" pitchFamily="49" charset="0"/>
                <a:ea typeface="JetBrains Mono" pitchFamily="49" charset="-122"/>
                <a:cs typeface="JetBrains Mono" pitchFamily="49" charset="-120"/>
              </a:rPr>
              <a:t> ValueError:</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"Please type a number, like 19"</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"Program continues"</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p:txBody>
      </p:sp>
      <p:sp>
        <p:nvSpPr>
          <p:cNvPr id="7" name="Shape 5"/>
          <p:cNvSpPr/>
          <p:nvPr/>
        </p:nvSpPr>
        <p:spPr>
          <a:xfrm>
            <a:off x="7130984" y="1860485"/>
            <a:ext cx="4241800" cy="1728391"/>
          </a:xfrm>
          <a:prstGeom prst="roundRect">
            <a:avLst>
              <a:gd name="adj" fmla="val 6980"/>
            </a:avLst>
          </a:prstGeom>
          <a:solidFill>
            <a:srgbClr val="FFFDF8"/>
          </a:solidFill>
          <a:ln w="12700">
            <a:solidFill>
              <a:srgbClr val="D9DEE5"/>
            </a:solidFill>
            <a:prstDash val="solid"/>
          </a:ln>
        </p:spPr>
      </p:sp>
      <p:sp>
        <p:nvSpPr>
          <p:cNvPr id="8" name="Text 6"/>
          <p:cNvSpPr/>
          <p:nvPr/>
        </p:nvSpPr>
        <p:spPr>
          <a:xfrm>
            <a:off x="7391334" y="2044635"/>
            <a:ext cx="3832733" cy="452041"/>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OUTPUT · ORANGE = WHAT THE USER TYPES</a:t>
            </a:r>
            <a:endParaRPr lang="en-US" sz="1200" dirty="0"/>
          </a:p>
        </p:txBody>
      </p:sp>
      <p:sp>
        <p:nvSpPr>
          <p:cNvPr id="9" name="Text 7"/>
          <p:cNvSpPr/>
          <p:nvPr/>
        </p:nvSpPr>
        <p:spPr>
          <a:xfrm>
            <a:off x="7391334" y="2547476"/>
            <a:ext cx="3832733" cy="8826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Age: </a:t>
            </a:r>
            <a:r>
              <a:rPr lang="en-US" sz="1500" dirty="0">
                <a:solidFill>
                  <a:srgbClr val="B54708"/>
                </a:solidFill>
                <a:latin typeface="JetBrains Mono" pitchFamily="49" charset="0"/>
                <a:ea typeface="JetBrains Mono" pitchFamily="49" charset="-122"/>
                <a:cs typeface="JetBrains Mono" pitchFamily="49" charset="-120"/>
              </a:rPr>
              <a:t>nineteen</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Please type a number, like 19</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Program continues</a:t>
            </a:r>
            <a:endParaRPr lang="en-US" sz="1500" dirty="0"/>
          </a:p>
        </p:txBody>
      </p:sp>
      <p:sp>
        <p:nvSpPr>
          <p:cNvPr id="10" name="Shape 8"/>
          <p:cNvSpPr/>
          <p:nvPr/>
        </p:nvSpPr>
        <p:spPr>
          <a:xfrm>
            <a:off x="7130984" y="3728576"/>
            <a:ext cx="4241800" cy="482600"/>
          </a:xfrm>
          <a:prstGeom prst="roundRect">
            <a:avLst>
              <a:gd name="adj" fmla="val 17105"/>
            </a:avLst>
          </a:prstGeom>
          <a:solidFill>
            <a:srgbClr val="FFFDF8"/>
          </a:solidFill>
          <a:ln w="12700">
            <a:solidFill>
              <a:srgbClr val="E2DED3"/>
            </a:solidFill>
            <a:prstDash val="solid"/>
          </a:ln>
        </p:spPr>
      </p:sp>
      <p:sp>
        <p:nvSpPr>
          <p:cNvPr id="11" name="Text 9"/>
          <p:cNvSpPr/>
          <p:nvPr/>
        </p:nvSpPr>
        <p:spPr>
          <a:xfrm>
            <a:off x="7289734" y="3836526"/>
            <a:ext cx="330200" cy="266700"/>
          </a:xfrm>
          <a:custGeom>
            <a:avLst/>
            <a:gdLst/>
            <a:ahLst/>
            <a:cxnLst/>
            <a:rect l="l" t="t" r="r" b="b"/>
            <a:pathLst>
              <a:path w="330200" h="266700">
                <a:moveTo>
                  <a:pt x="133350" y="0"/>
                </a:moveTo>
                <a:lnTo>
                  <a:pt x="196850" y="0"/>
                </a:lnTo>
                <a:arcTo hR="133350" wR="133350" stAng="16200000" swAng="5400000"/>
                <a:lnTo>
                  <a:pt x="330200" y="133350"/>
                </a:lnTo>
                <a:arcTo hR="133350" wR="133350" stAng="0" swAng="5400000"/>
                <a:lnTo>
                  <a:pt x="133350" y="266700"/>
                </a:lnTo>
                <a:arcTo hR="133350" wR="133350" stAng="5400000" swAng="5400000"/>
                <a:lnTo>
                  <a:pt x="0" y="133350"/>
                </a:lnTo>
                <a:arcTo hR="133350" wR="133350" stAng="10800000" swAng="5400000"/>
                <a:close/>
              </a:path>
            </a:pathLst>
          </a:custGeom>
          <a:solidFill>
            <a:srgbClr val="F2B33D"/>
          </a:solidFill>
          <a:ln/>
        </p:spPr>
        <p:txBody>
          <a:bodyPr wrap="square" lIns="0" tIns="0" rIns="0" bIns="0" rtlCol="0" anchor="t">
            <a:normAutofit/>
          </a:bodyPr>
          <a:lstStyle/>
          <a:p>
            <a:pPr algn="ctr" indent="0" marL="0">
              <a:lnSpc>
                <a:spcPts val="2100"/>
              </a:lnSpc>
              <a:buNone/>
            </a:pPr>
            <a:r>
              <a:rPr lang="en-US" sz="1500" b="1" dirty="0">
                <a:solidFill>
                  <a:srgbClr val="1B2A41"/>
                </a:solidFill>
                <a:latin typeface="Rubik" pitchFamily="34" charset="0"/>
                <a:ea typeface="Rubik" pitchFamily="34" charset="-122"/>
                <a:cs typeface="Rubik" pitchFamily="34" charset="-120"/>
              </a:rPr>
              <a:t>1</a:t>
            </a:r>
            <a:endParaRPr lang="en-US" sz="1500" dirty="0"/>
          </a:p>
        </p:txBody>
      </p:sp>
      <p:sp>
        <p:nvSpPr>
          <p:cNvPr id="12" name="Text 10"/>
          <p:cNvSpPr/>
          <p:nvPr/>
        </p:nvSpPr>
        <p:spPr>
          <a:xfrm>
            <a:off x="7746934" y="3836526"/>
            <a:ext cx="2343309"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4A5568"/>
                </a:solidFill>
                <a:latin typeface="Rubik" pitchFamily="34" charset="0"/>
                <a:ea typeface="Rubik" pitchFamily="34" charset="-122"/>
                <a:cs typeface="Rubik" pitchFamily="34" charset="-120"/>
              </a:rPr>
              <a:t>try:</a:t>
            </a:r>
            <a:r>
              <a:rPr lang="en-US" sz="1500" dirty="0">
                <a:solidFill>
                  <a:srgbClr val="4A5568"/>
                </a:solidFill>
                <a:latin typeface="Rubik" pitchFamily="34" charset="0"/>
                <a:ea typeface="Rubik" pitchFamily="34" charset="-122"/>
                <a:cs typeface="Rubik" pitchFamily="34" charset="-120"/>
              </a:rPr>
              <a:t> run the risky lines</a:t>
            </a:r>
            <a:endParaRPr lang="en-US" sz="1500" dirty="0"/>
          </a:p>
        </p:txBody>
      </p:sp>
      <p:sp>
        <p:nvSpPr>
          <p:cNvPr id="13" name="Shape 11"/>
          <p:cNvSpPr/>
          <p:nvPr/>
        </p:nvSpPr>
        <p:spPr>
          <a:xfrm>
            <a:off x="7130984" y="4350876"/>
            <a:ext cx="4241800" cy="482600"/>
          </a:xfrm>
          <a:prstGeom prst="roundRect">
            <a:avLst>
              <a:gd name="adj" fmla="val 17105"/>
            </a:avLst>
          </a:prstGeom>
          <a:solidFill>
            <a:srgbClr val="FFFDF8"/>
          </a:solidFill>
          <a:ln w="12700">
            <a:solidFill>
              <a:srgbClr val="E2DED3"/>
            </a:solidFill>
            <a:prstDash val="solid"/>
          </a:ln>
        </p:spPr>
      </p:sp>
      <p:sp>
        <p:nvSpPr>
          <p:cNvPr id="14" name="Text 12"/>
          <p:cNvSpPr/>
          <p:nvPr/>
        </p:nvSpPr>
        <p:spPr>
          <a:xfrm>
            <a:off x="7289734" y="4458826"/>
            <a:ext cx="330200" cy="266700"/>
          </a:xfrm>
          <a:custGeom>
            <a:avLst/>
            <a:gdLst/>
            <a:ahLst/>
            <a:cxnLst/>
            <a:rect l="l" t="t" r="r" b="b"/>
            <a:pathLst>
              <a:path w="330200" h="266700">
                <a:moveTo>
                  <a:pt x="133350" y="0"/>
                </a:moveTo>
                <a:lnTo>
                  <a:pt x="196850" y="0"/>
                </a:lnTo>
                <a:arcTo hR="133350" wR="133350" stAng="16200000" swAng="5400000"/>
                <a:lnTo>
                  <a:pt x="330200" y="133350"/>
                </a:lnTo>
                <a:arcTo hR="133350" wR="133350" stAng="0" swAng="5400000"/>
                <a:lnTo>
                  <a:pt x="133350" y="266700"/>
                </a:lnTo>
                <a:arcTo hR="133350" wR="133350" stAng="5400000" swAng="5400000"/>
                <a:lnTo>
                  <a:pt x="0" y="133350"/>
                </a:lnTo>
                <a:arcTo hR="133350" wR="133350" stAng="10800000" swAng="5400000"/>
                <a:close/>
              </a:path>
            </a:pathLst>
          </a:custGeom>
          <a:solidFill>
            <a:srgbClr val="F2B33D"/>
          </a:solidFill>
          <a:ln/>
        </p:spPr>
        <p:txBody>
          <a:bodyPr wrap="square" lIns="0" tIns="0" rIns="0" bIns="0" rtlCol="0" anchor="t">
            <a:normAutofit/>
          </a:bodyPr>
          <a:lstStyle/>
          <a:p>
            <a:pPr algn="ctr" indent="0" marL="0">
              <a:lnSpc>
                <a:spcPts val="2100"/>
              </a:lnSpc>
              <a:buNone/>
            </a:pPr>
            <a:r>
              <a:rPr lang="en-US" sz="1500" b="1" dirty="0">
                <a:solidFill>
                  <a:srgbClr val="1B2A41"/>
                </a:solidFill>
                <a:latin typeface="Rubik" pitchFamily="34" charset="0"/>
                <a:ea typeface="Rubik" pitchFamily="34" charset="-122"/>
                <a:cs typeface="Rubik" pitchFamily="34" charset="-120"/>
              </a:rPr>
              <a:t>2</a:t>
            </a:r>
            <a:endParaRPr lang="en-US" sz="1500" dirty="0"/>
          </a:p>
        </p:txBody>
      </p:sp>
      <p:sp>
        <p:nvSpPr>
          <p:cNvPr id="15" name="Text 13"/>
          <p:cNvSpPr/>
          <p:nvPr/>
        </p:nvSpPr>
        <p:spPr>
          <a:xfrm>
            <a:off x="7746934" y="4458826"/>
            <a:ext cx="36195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4A5568"/>
                </a:solidFill>
                <a:latin typeface="Rubik" pitchFamily="34" charset="0"/>
                <a:ea typeface="Rubik" pitchFamily="34" charset="-122"/>
                <a:cs typeface="Rubik" pitchFamily="34" charset="-120"/>
              </a:rPr>
              <a:t>except:</a:t>
            </a:r>
            <a:r>
              <a:rPr lang="en-US" sz="1500" dirty="0">
                <a:solidFill>
                  <a:srgbClr val="4A5568"/>
                </a:solidFill>
                <a:latin typeface="Rubik" pitchFamily="34" charset="0"/>
                <a:ea typeface="Rubik" pitchFamily="34" charset="-122"/>
                <a:cs typeface="Rubik" pitchFamily="34" charset="-120"/>
              </a:rPr>
              <a:t> runs only if that error happens</a:t>
            </a:r>
            <a:endParaRPr lang="en-US" sz="1500" dirty="0"/>
          </a:p>
        </p:txBody>
      </p:sp>
      <p:sp>
        <p:nvSpPr>
          <p:cNvPr id="16" name="Shape 14"/>
          <p:cNvSpPr/>
          <p:nvPr/>
        </p:nvSpPr>
        <p:spPr>
          <a:xfrm>
            <a:off x="7130984" y="4973176"/>
            <a:ext cx="4241800" cy="482600"/>
          </a:xfrm>
          <a:prstGeom prst="roundRect">
            <a:avLst>
              <a:gd name="adj" fmla="val 17105"/>
            </a:avLst>
          </a:prstGeom>
          <a:solidFill>
            <a:srgbClr val="FFFDF8"/>
          </a:solidFill>
          <a:ln w="12700">
            <a:solidFill>
              <a:srgbClr val="E2DED3"/>
            </a:solidFill>
            <a:prstDash val="solid"/>
          </a:ln>
        </p:spPr>
      </p:sp>
      <p:sp>
        <p:nvSpPr>
          <p:cNvPr id="17" name="Text 15"/>
          <p:cNvSpPr/>
          <p:nvPr/>
        </p:nvSpPr>
        <p:spPr>
          <a:xfrm>
            <a:off x="7289734" y="5081126"/>
            <a:ext cx="330200" cy="266700"/>
          </a:xfrm>
          <a:custGeom>
            <a:avLst/>
            <a:gdLst/>
            <a:ahLst/>
            <a:cxnLst/>
            <a:rect l="l" t="t" r="r" b="b"/>
            <a:pathLst>
              <a:path w="330200" h="266700">
                <a:moveTo>
                  <a:pt x="133350" y="0"/>
                </a:moveTo>
                <a:lnTo>
                  <a:pt x="196850" y="0"/>
                </a:lnTo>
                <a:arcTo hR="133350" wR="133350" stAng="16200000" swAng="5400000"/>
                <a:lnTo>
                  <a:pt x="330200" y="133350"/>
                </a:lnTo>
                <a:arcTo hR="133350" wR="133350" stAng="0" swAng="5400000"/>
                <a:lnTo>
                  <a:pt x="133350" y="266700"/>
                </a:lnTo>
                <a:arcTo hR="133350" wR="133350" stAng="5400000" swAng="5400000"/>
                <a:lnTo>
                  <a:pt x="0" y="133350"/>
                </a:lnTo>
                <a:arcTo hR="133350" wR="133350" stAng="10800000" swAng="5400000"/>
                <a:close/>
              </a:path>
            </a:pathLst>
          </a:custGeom>
          <a:solidFill>
            <a:srgbClr val="F2B33D"/>
          </a:solidFill>
          <a:ln/>
        </p:spPr>
        <p:txBody>
          <a:bodyPr wrap="square" lIns="0" tIns="0" rIns="0" bIns="0" rtlCol="0" anchor="t">
            <a:normAutofit/>
          </a:bodyPr>
          <a:lstStyle/>
          <a:p>
            <a:pPr algn="ctr" indent="0" marL="0">
              <a:lnSpc>
                <a:spcPts val="2100"/>
              </a:lnSpc>
              <a:buNone/>
            </a:pPr>
            <a:r>
              <a:rPr lang="en-US" sz="1500" b="1" dirty="0">
                <a:solidFill>
                  <a:srgbClr val="1B2A41"/>
                </a:solidFill>
                <a:latin typeface="Rubik" pitchFamily="34" charset="0"/>
                <a:ea typeface="Rubik" pitchFamily="34" charset="-122"/>
                <a:cs typeface="Rubik" pitchFamily="34" charset="-120"/>
              </a:rPr>
              <a:t>3</a:t>
            </a:r>
            <a:endParaRPr lang="en-US" sz="1500" dirty="0"/>
          </a:p>
        </p:txBody>
      </p:sp>
      <p:sp>
        <p:nvSpPr>
          <p:cNvPr id="18" name="Text 16"/>
          <p:cNvSpPr/>
          <p:nvPr/>
        </p:nvSpPr>
        <p:spPr>
          <a:xfrm>
            <a:off x="7746934" y="5081126"/>
            <a:ext cx="36195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4A5568"/>
                </a:solidFill>
                <a:latin typeface="Rubik" pitchFamily="34" charset="0"/>
                <a:ea typeface="Rubik" pitchFamily="34" charset="-122"/>
                <a:cs typeface="Rubik" pitchFamily="34" charset="-120"/>
              </a:rPr>
              <a:t>After:</a:t>
            </a:r>
            <a:r>
              <a:rPr lang="en-US" sz="1500" dirty="0">
                <a:solidFill>
                  <a:srgbClr val="4A5568"/>
                </a:solidFill>
                <a:latin typeface="Rubik" pitchFamily="34" charset="0"/>
                <a:ea typeface="Rubik" pitchFamily="34" charset="-122"/>
                <a:cs typeface="Rubik" pitchFamily="34" charset="-120"/>
              </a:rPr>
              <a:t> the program carries on normally</a:t>
            </a:r>
            <a:endParaRPr lang="en-US" sz="1500" dirty="0"/>
          </a:p>
        </p:txBody>
      </p:sp>
      <p:sp>
        <p:nvSpPr>
          <p:cNvPr id="19" name="Text 1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7 · Class 19</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29526"/>
          </a:xfrm>
          <a:prstGeom prst="rect">
            <a:avLst/>
          </a:prstGeom>
          <a:noFill/>
          <a:ln/>
        </p:spPr>
        <p:txBody>
          <a:bodyPr wrap="square" lIns="0" tIns="0" rIns="0" bIns="0" rtlCol="0" anchor="t">
            <a:normAutofit/>
          </a:bodyPr>
          <a:lstStyle/>
          <a:p>
            <a:pPr algn="l" indent="0" marL="0">
              <a:lnSpc>
                <a:spcPts val="1622"/>
              </a:lnSpc>
              <a:buNone/>
            </a:pPr>
            <a:r>
              <a:rPr lang="en-US" sz="1159" b="1" spc="150" kern="0" dirty="0">
                <a:solidFill>
                  <a:srgbClr val="2A64A3"/>
                </a:solidFill>
                <a:latin typeface="Rubik" pitchFamily="34" charset="0"/>
                <a:ea typeface="Rubik" pitchFamily="34" charset="-122"/>
                <a:cs typeface="Rubik" pitchFamily="34" charset="-120"/>
              </a:rPr>
              <a:t>CLASS 19 · MORE PARTS</a:t>
            </a:r>
            <a:endParaRPr lang="en-US" sz="1159" dirty="0"/>
          </a:p>
        </p:txBody>
      </p:sp>
      <p:sp>
        <p:nvSpPr>
          <p:cNvPr id="3" name="Text 1"/>
          <p:cNvSpPr/>
          <p:nvPr>
            <p:ph type="title"/>
          </p:nvPr>
        </p:nvSpPr>
        <p:spPr>
          <a:xfrm>
            <a:off x="812800" y="1093127"/>
            <a:ext cx="10883392" cy="453033"/>
          </a:xfrm>
          <a:prstGeom prst="rect">
            <a:avLst/>
          </a:prstGeom>
          <a:noFill/>
          <a:ln/>
        </p:spPr>
        <p:txBody>
          <a:bodyPr wrap="square" lIns="0" tIns="0" rIns="0" bIns="0" rtlCol="0" anchor="t">
            <a:normAutofit/>
          </a:bodyPr>
          <a:lstStyle/>
          <a:p>
            <a:pPr algn="l" indent="0" marL="0">
              <a:lnSpc>
                <a:spcPts val="3366"/>
              </a:lnSpc>
              <a:buNone/>
            </a:pPr>
            <a:r>
              <a:rPr lang="en-US" sz="3060" b="1" i="0" dirty="0">
                <a:solidFill>
                  <a:srgbClr val="1B2A41"/>
                </a:solidFill>
                <a:latin typeface="Rubik" pitchFamily="34" charset="0"/>
                <a:ea typeface="Rubik" pitchFamily="34" charset="-122"/>
                <a:cs typeface="Rubik" pitchFamily="34" charset="-120"/>
              </a:rPr>
              <a:t>Several excepts, else and finally</a:t>
            </a:r>
            <a:endParaRPr lang="en-US" sz="3060" dirty="0"/>
          </a:p>
        </p:txBody>
      </p:sp>
      <p:sp>
        <p:nvSpPr>
          <p:cNvPr id="4" name="Shape 2"/>
          <p:cNvSpPr/>
          <p:nvPr/>
        </p:nvSpPr>
        <p:spPr>
          <a:xfrm>
            <a:off x="812800" y="1825560"/>
            <a:ext cx="5672667" cy="4074120"/>
          </a:xfrm>
          <a:prstGeom prst="roundRect">
            <a:avLst>
              <a:gd name="adj" fmla="val 3117"/>
            </a:avLst>
          </a:prstGeom>
          <a:solidFill>
            <a:srgbClr val="1B2A41"/>
          </a:solidFill>
          <a:ln/>
        </p:spPr>
      </p:sp>
      <p:sp>
        <p:nvSpPr>
          <p:cNvPr id="5" name="Text 3"/>
          <p:cNvSpPr/>
          <p:nvPr/>
        </p:nvSpPr>
        <p:spPr>
          <a:xfrm>
            <a:off x="1066800" y="2003360"/>
            <a:ext cx="531960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8"/>
                </a:solidFill>
                <a:latin typeface="JetBrains Mono" pitchFamily="49" charset="0"/>
                <a:ea typeface="JetBrains Mono" pitchFamily="49" charset="-122"/>
                <a:cs typeface="JetBrains Mono" pitchFamily="49" charset="-120"/>
              </a:rPr>
              <a:t>divide.py</a:t>
            </a:r>
            <a:endParaRPr lang="en-US" sz="1200" dirty="0"/>
          </a:p>
        </p:txBody>
      </p:sp>
      <p:sp>
        <p:nvSpPr>
          <p:cNvPr id="6" name="Text 4"/>
          <p:cNvSpPr/>
          <p:nvPr/>
        </p:nvSpPr>
        <p:spPr>
          <a:xfrm>
            <a:off x="1066800" y="2292880"/>
            <a:ext cx="5319607" cy="34544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try</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 = </a:t>
            </a:r>
            <a:r>
              <a:rPr lang="en-US" sz="1500" dirty="0">
                <a:solidFill>
                  <a:srgbClr val="F2B33D"/>
                </a:solidFill>
                <a:latin typeface="JetBrains Mono" pitchFamily="49" charset="0"/>
                <a:ea typeface="JetBrains Mono" pitchFamily="49" charset="-122"/>
                <a:cs typeface="JetBrains Mono" pitchFamily="49" charset="-120"/>
              </a:rPr>
              <a:t>int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F2B33D"/>
                </a:solidFill>
                <a:latin typeface="JetBrains Mono" pitchFamily="49" charset="0"/>
                <a:ea typeface="JetBrains Mono" pitchFamily="49" charset="-122"/>
                <a:cs typeface="JetBrains Mono" pitchFamily="49" charset="-120"/>
              </a:rPr>
              <a:t>input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"a: "</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b = </a:t>
            </a:r>
            <a:r>
              <a:rPr lang="en-US" sz="1500" dirty="0">
                <a:solidFill>
                  <a:srgbClr val="F2B33D"/>
                </a:solidFill>
                <a:latin typeface="JetBrains Mono" pitchFamily="49" charset="0"/>
                <a:ea typeface="JetBrains Mono" pitchFamily="49" charset="-122"/>
                <a:cs typeface="JetBrains Mono" pitchFamily="49" charset="-120"/>
              </a:rPr>
              <a:t>int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F2B33D"/>
                </a:solidFill>
                <a:latin typeface="JetBrains Mono" pitchFamily="49" charset="0"/>
                <a:ea typeface="JetBrains Mono" pitchFamily="49" charset="-122"/>
                <a:cs typeface="JetBrains Mono" pitchFamily="49" charset="-120"/>
              </a:rPr>
              <a:t>input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"b: "</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result = a / b</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except</a:t>
            </a:r>
            <a:r>
              <a:rPr lang="en-US" sz="1500" dirty="0">
                <a:solidFill>
                  <a:srgbClr val="E8EDF3"/>
                </a:solidFill>
                <a:latin typeface="JetBrains Mono" pitchFamily="49" charset="0"/>
                <a:ea typeface="JetBrains Mono" pitchFamily="49" charset="-122"/>
                <a:cs typeface="JetBrains Mono" pitchFamily="49" charset="-120"/>
              </a:rPr>
              <a:t> ValueError:</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"Numbers only"</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except</a:t>
            </a:r>
            <a:r>
              <a:rPr lang="en-US" sz="1500" dirty="0">
                <a:solidFill>
                  <a:srgbClr val="E8EDF3"/>
                </a:solidFill>
                <a:latin typeface="JetBrains Mono" pitchFamily="49" charset="0"/>
                <a:ea typeface="JetBrains Mono" pitchFamily="49" charset="-122"/>
                <a:cs typeface="JetBrains Mono" pitchFamily="49" charset="-120"/>
              </a:rPr>
              <a:t> ZeroDivisionError:</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"Cannot divide by zero"</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else</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"Answer:"</a:t>
            </a:r>
            <a:r>
              <a:rPr lang="en-US" sz="1500" dirty="0">
                <a:solidFill>
                  <a:srgbClr val="E8EDF3"/>
                </a:solidFill>
                <a:latin typeface="JetBrains Mono" pitchFamily="49" charset="0"/>
                <a:ea typeface="JetBrains Mono" pitchFamily="49" charset="-122"/>
                <a:cs typeface="JetBrains Mono" pitchFamily="49" charset="-120"/>
              </a:rPr>
              <a:t>, result)</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finally</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"Done"</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p:txBody>
      </p:sp>
      <p:sp>
        <p:nvSpPr>
          <p:cNvPr id="7" name="Shape 5"/>
          <p:cNvSpPr/>
          <p:nvPr/>
        </p:nvSpPr>
        <p:spPr>
          <a:xfrm>
            <a:off x="6847417" y="1831910"/>
            <a:ext cx="4525433" cy="1800820"/>
          </a:xfrm>
          <a:prstGeom prst="roundRect">
            <a:avLst>
              <a:gd name="adj" fmla="val 6700"/>
            </a:avLst>
          </a:prstGeom>
          <a:solidFill>
            <a:srgbClr val="FFFDF8"/>
          </a:solidFill>
          <a:ln w="12700">
            <a:solidFill>
              <a:srgbClr val="D9DEE5"/>
            </a:solidFill>
            <a:prstDash val="solid"/>
          </a:ln>
        </p:spPr>
      </p:sp>
      <p:sp>
        <p:nvSpPr>
          <p:cNvPr id="8" name="Text 6"/>
          <p:cNvSpPr/>
          <p:nvPr/>
        </p:nvSpPr>
        <p:spPr>
          <a:xfrm>
            <a:off x="7107767" y="2016060"/>
            <a:ext cx="4258733"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OUTPUT · ORANGE = WHAT THE USER TYPES</a:t>
            </a:r>
            <a:endParaRPr lang="en-US" sz="1200" dirty="0"/>
          </a:p>
        </p:txBody>
      </p:sp>
      <p:sp>
        <p:nvSpPr>
          <p:cNvPr id="9" name="Text 7"/>
          <p:cNvSpPr/>
          <p:nvPr/>
        </p:nvSpPr>
        <p:spPr>
          <a:xfrm>
            <a:off x="7107767" y="2305580"/>
            <a:ext cx="4124875" cy="11684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a: </a:t>
            </a:r>
            <a:r>
              <a:rPr lang="en-US" sz="1500" dirty="0">
                <a:solidFill>
                  <a:srgbClr val="B54708"/>
                </a:solidFill>
                <a:latin typeface="JetBrains Mono" pitchFamily="49" charset="0"/>
                <a:ea typeface="JetBrains Mono" pitchFamily="49" charset="-122"/>
                <a:cs typeface="JetBrains Mono" pitchFamily="49" charset="-120"/>
              </a:rPr>
              <a:t>10</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b: </a:t>
            </a:r>
            <a:r>
              <a:rPr lang="en-US" sz="1500" dirty="0">
                <a:solidFill>
                  <a:srgbClr val="B54708"/>
                </a:solidFill>
                <a:latin typeface="JetBrains Mono" pitchFamily="49" charset="0"/>
                <a:ea typeface="JetBrains Mono" pitchFamily="49" charset="-122"/>
                <a:cs typeface="JetBrains Mono" pitchFamily="49" charset="-120"/>
              </a:rPr>
              <a:t>0</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Cannot divide by zero</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Done</a:t>
            </a:r>
            <a:endParaRPr lang="en-US" sz="1500" dirty="0"/>
          </a:p>
        </p:txBody>
      </p:sp>
      <p:sp>
        <p:nvSpPr>
          <p:cNvPr id="10" name="Shape 8"/>
          <p:cNvSpPr/>
          <p:nvPr/>
        </p:nvSpPr>
        <p:spPr>
          <a:xfrm>
            <a:off x="6847417" y="3772430"/>
            <a:ext cx="4525433" cy="909307"/>
          </a:xfrm>
          <a:prstGeom prst="roundRect">
            <a:avLst>
              <a:gd name="adj" fmla="val 10475"/>
            </a:avLst>
          </a:prstGeom>
          <a:solidFill>
            <a:srgbClr val="FFFDF8"/>
          </a:solidFill>
          <a:ln w="12700">
            <a:solidFill>
              <a:srgbClr val="E2DED3"/>
            </a:solidFill>
            <a:prstDash val="solid"/>
          </a:ln>
        </p:spPr>
      </p:sp>
      <p:sp>
        <p:nvSpPr>
          <p:cNvPr id="11" name="Text 9"/>
          <p:cNvSpPr/>
          <p:nvPr/>
        </p:nvSpPr>
        <p:spPr>
          <a:xfrm>
            <a:off x="7056967" y="3931180"/>
            <a:ext cx="4229523"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else</a:t>
            </a:r>
            <a:endParaRPr lang="en-US" sz="1800" dirty="0"/>
          </a:p>
        </p:txBody>
      </p:sp>
      <p:sp>
        <p:nvSpPr>
          <p:cNvPr id="12" name="Text 10"/>
          <p:cNvSpPr/>
          <p:nvPr/>
        </p:nvSpPr>
        <p:spPr>
          <a:xfrm>
            <a:off x="7056967" y="4256286"/>
            <a:ext cx="4229523"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runs only when </a:t>
            </a:r>
            <a:r>
              <a:rPr lang="en-US" sz="1500" b="1" dirty="0">
                <a:solidFill>
                  <a:srgbClr val="4A5568"/>
                </a:solidFill>
                <a:latin typeface="Rubik" pitchFamily="34" charset="0"/>
                <a:ea typeface="Rubik" pitchFamily="34" charset="-122"/>
                <a:cs typeface="Rubik" pitchFamily="34" charset="-120"/>
              </a:rPr>
              <a:t>no</a:t>
            </a:r>
            <a:r>
              <a:rPr lang="en-US" sz="1500" dirty="0">
                <a:solidFill>
                  <a:srgbClr val="4A5568"/>
                </a:solidFill>
                <a:latin typeface="Rubik" pitchFamily="34" charset="0"/>
                <a:ea typeface="Rubik" pitchFamily="34" charset="-122"/>
                <a:cs typeface="Rubik" pitchFamily="34" charset="-120"/>
              </a:rPr>
              <a:t> error happened</a:t>
            </a:r>
            <a:endParaRPr lang="en-US" sz="1500" dirty="0"/>
          </a:p>
        </p:txBody>
      </p:sp>
      <p:sp>
        <p:nvSpPr>
          <p:cNvPr id="13" name="Shape 11"/>
          <p:cNvSpPr/>
          <p:nvPr/>
        </p:nvSpPr>
        <p:spPr>
          <a:xfrm>
            <a:off x="6847417" y="4821436"/>
            <a:ext cx="4525433" cy="1176007"/>
          </a:xfrm>
          <a:prstGeom prst="roundRect">
            <a:avLst>
              <a:gd name="adj" fmla="val 8099"/>
            </a:avLst>
          </a:prstGeom>
          <a:solidFill>
            <a:srgbClr val="FFFDF8"/>
          </a:solidFill>
          <a:ln w="12700">
            <a:solidFill>
              <a:srgbClr val="E2DED3"/>
            </a:solidFill>
            <a:prstDash val="solid"/>
          </a:ln>
        </p:spPr>
      </p:sp>
      <p:sp>
        <p:nvSpPr>
          <p:cNvPr id="14" name="Text 12"/>
          <p:cNvSpPr/>
          <p:nvPr/>
        </p:nvSpPr>
        <p:spPr>
          <a:xfrm>
            <a:off x="7056967" y="4980186"/>
            <a:ext cx="4229523"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finally</a:t>
            </a:r>
            <a:endParaRPr lang="en-US" sz="1800" dirty="0"/>
          </a:p>
        </p:txBody>
      </p:sp>
      <p:sp>
        <p:nvSpPr>
          <p:cNvPr id="15" name="Text 13"/>
          <p:cNvSpPr/>
          <p:nvPr/>
        </p:nvSpPr>
        <p:spPr>
          <a:xfrm>
            <a:off x="7056967" y="5305295"/>
            <a:ext cx="4229523"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runs </a:t>
            </a:r>
            <a:r>
              <a:rPr lang="en-US" sz="1500" b="1" dirty="0">
                <a:solidFill>
                  <a:srgbClr val="4A5568"/>
                </a:solidFill>
                <a:latin typeface="Rubik" pitchFamily="34" charset="0"/>
                <a:ea typeface="Rubik" pitchFamily="34" charset="-122"/>
                <a:cs typeface="Rubik" pitchFamily="34" charset="-120"/>
              </a:rPr>
              <a:t>always</a:t>
            </a:r>
            <a:r>
              <a:rPr lang="en-US" sz="1500" dirty="0">
                <a:solidFill>
                  <a:srgbClr val="4A5568"/>
                </a:solidFill>
                <a:latin typeface="Rubik" pitchFamily="34" charset="0"/>
                <a:ea typeface="Rubik" pitchFamily="34" charset="-122"/>
                <a:cs typeface="Rubik" pitchFamily="34" charset="-120"/>
              </a:rPr>
              <a:t>, error or not: closing files, goodbye messages</a:t>
            </a:r>
            <a:endParaRPr lang="en-US" sz="15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7 · Class 19</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19 · A USEFUL TOOL</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Keep asking until the input is valid</a:t>
            </a:r>
            <a:endParaRPr lang="en-US" sz="3200" dirty="0"/>
          </a:p>
        </p:txBody>
      </p:sp>
      <p:sp>
        <p:nvSpPr>
          <p:cNvPr id="4" name="Shape 2"/>
          <p:cNvSpPr/>
          <p:nvPr/>
        </p:nvSpPr>
        <p:spPr>
          <a:xfrm>
            <a:off x="812800" y="1854135"/>
            <a:ext cx="5771290" cy="3216870"/>
          </a:xfrm>
          <a:prstGeom prst="roundRect">
            <a:avLst>
              <a:gd name="adj" fmla="val 3948"/>
            </a:avLst>
          </a:prstGeom>
          <a:solidFill>
            <a:srgbClr val="1B2A41"/>
          </a:solidFill>
          <a:ln/>
        </p:spPr>
      </p:sp>
      <p:sp>
        <p:nvSpPr>
          <p:cNvPr id="5" name="Text 3"/>
          <p:cNvSpPr/>
          <p:nvPr/>
        </p:nvSpPr>
        <p:spPr>
          <a:xfrm>
            <a:off x="1066800" y="2031935"/>
            <a:ext cx="542118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8"/>
                </a:solidFill>
                <a:latin typeface="JetBrains Mono" pitchFamily="49" charset="0"/>
                <a:ea typeface="JetBrains Mono" pitchFamily="49" charset="-122"/>
                <a:cs typeface="JetBrains Mono" pitchFamily="49" charset="-120"/>
              </a:rPr>
              <a:t>get_int.py</a:t>
            </a:r>
            <a:endParaRPr lang="en-US" sz="1200" dirty="0"/>
          </a:p>
        </p:txBody>
      </p:sp>
      <p:sp>
        <p:nvSpPr>
          <p:cNvPr id="6" name="Text 4"/>
          <p:cNvSpPr/>
          <p:nvPr/>
        </p:nvSpPr>
        <p:spPr>
          <a:xfrm>
            <a:off x="1066800" y="2321455"/>
            <a:ext cx="5421189" cy="2597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def</a:t>
            </a:r>
            <a:r>
              <a:rPr lang="en-US" sz="1500" dirty="0">
                <a:solidFill>
                  <a:srgbClr val="E8EDF3"/>
                </a:solidFill>
                <a:latin typeface="JetBrains Mono" pitchFamily="49" charset="0"/>
                <a:ea typeface="JetBrains Mono" pitchFamily="49" charset="-122"/>
                <a:cs typeface="JetBrains Mono" pitchFamily="49" charset="-120"/>
              </a:rPr>
              <a:t> get_int(prompt):</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while</a:t>
            </a: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True</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try</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return</a:t>
            </a: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int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F2B33D"/>
                </a:solidFill>
                <a:latin typeface="JetBrains Mono" pitchFamily="49" charset="0"/>
                <a:ea typeface="JetBrains Mono" pitchFamily="49" charset="-122"/>
                <a:cs typeface="JetBrains Mono" pitchFamily="49" charset="-120"/>
              </a:rPr>
              <a:t>input</a:t>
            </a:r>
            <a:r>
              <a:rPr lang="en-US" sz="1500" dirty="0">
                <a:solidFill>
                  <a:srgbClr val="E8EDF3"/>
                </a:solidFill>
                <a:latin typeface="JetBrains Mono" pitchFamily="49" charset="0"/>
                <a:ea typeface="JetBrains Mono" pitchFamily="49" charset="-122"/>
                <a:cs typeface="JetBrains Mono" pitchFamily="49" charset="-120"/>
              </a:rPr>
              <a:t>(prompt))</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except</a:t>
            </a:r>
            <a:r>
              <a:rPr lang="en-US" sz="1500" dirty="0">
                <a:solidFill>
                  <a:srgbClr val="E8EDF3"/>
                </a:solidFill>
                <a:latin typeface="JetBrains Mono" pitchFamily="49" charset="0"/>
                <a:ea typeface="JetBrains Mono" pitchFamily="49" charset="-122"/>
                <a:cs typeface="JetBrains Mono" pitchFamily="49" charset="-120"/>
              </a:rPr>
              <a:t> ValueError:</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"Not a number, try again"</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marks = get_int(</a:t>
            </a:r>
            <a:r>
              <a:rPr lang="en-US" sz="1500" dirty="0">
                <a:solidFill>
                  <a:srgbClr val="9FD8A8"/>
                </a:solidFill>
                <a:latin typeface="JetBrains Mono" pitchFamily="49" charset="0"/>
                <a:ea typeface="JetBrains Mono" pitchFamily="49" charset="-122"/>
                <a:cs typeface="JetBrains Mono" pitchFamily="49" charset="-120"/>
              </a:rPr>
              <a:t>"Marks: "</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"Saved"</a:t>
            </a:r>
            <a:r>
              <a:rPr lang="en-US" sz="1500" dirty="0">
                <a:solidFill>
                  <a:srgbClr val="E8EDF3"/>
                </a:solidFill>
                <a:latin typeface="JetBrains Mono" pitchFamily="49" charset="0"/>
                <a:ea typeface="JetBrains Mono" pitchFamily="49" charset="-122"/>
                <a:cs typeface="JetBrains Mono" pitchFamily="49" charset="-120"/>
              </a:rPr>
              <a:t>, marks)</a:t>
            </a:r>
            <a:endParaRPr lang="en-US" sz="1500" dirty="0"/>
          </a:p>
        </p:txBody>
      </p:sp>
      <p:sp>
        <p:nvSpPr>
          <p:cNvPr id="7" name="Shape 5"/>
          <p:cNvSpPr/>
          <p:nvPr/>
        </p:nvSpPr>
        <p:spPr>
          <a:xfrm>
            <a:off x="6946040" y="1860485"/>
            <a:ext cx="4426810" cy="2014141"/>
          </a:xfrm>
          <a:prstGeom prst="roundRect">
            <a:avLst>
              <a:gd name="adj" fmla="val 5990"/>
            </a:avLst>
          </a:prstGeom>
          <a:solidFill>
            <a:srgbClr val="FFFDF8"/>
          </a:solidFill>
          <a:ln w="12700">
            <a:solidFill>
              <a:srgbClr val="D9DEE5"/>
            </a:solidFill>
            <a:prstDash val="solid"/>
          </a:ln>
        </p:spPr>
      </p:sp>
      <p:sp>
        <p:nvSpPr>
          <p:cNvPr id="8" name="Text 6"/>
          <p:cNvSpPr/>
          <p:nvPr/>
        </p:nvSpPr>
        <p:spPr>
          <a:xfrm>
            <a:off x="7206390" y="2044635"/>
            <a:ext cx="4023293" cy="452041"/>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OUTPUT · ORANGE = WHAT THE USER TYPES</a:t>
            </a:r>
            <a:endParaRPr lang="en-US" sz="1200" dirty="0"/>
          </a:p>
        </p:txBody>
      </p:sp>
      <p:sp>
        <p:nvSpPr>
          <p:cNvPr id="9" name="Text 7"/>
          <p:cNvSpPr/>
          <p:nvPr/>
        </p:nvSpPr>
        <p:spPr>
          <a:xfrm>
            <a:off x="7206390" y="2547476"/>
            <a:ext cx="4023293" cy="11684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Marks: </a:t>
            </a:r>
            <a:r>
              <a:rPr lang="en-US" sz="1500" dirty="0">
                <a:solidFill>
                  <a:srgbClr val="B54708"/>
                </a:solidFill>
                <a:latin typeface="JetBrains Mono" pitchFamily="49" charset="0"/>
                <a:ea typeface="JetBrains Mono" pitchFamily="49" charset="-122"/>
                <a:cs typeface="JetBrains Mono" pitchFamily="49" charset="-120"/>
              </a:rPr>
              <a:t>eighty</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Not a number, try again</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Marks: </a:t>
            </a:r>
            <a:r>
              <a:rPr lang="en-US" sz="1500" dirty="0">
                <a:solidFill>
                  <a:srgbClr val="B54708"/>
                </a:solidFill>
                <a:latin typeface="JetBrains Mono" pitchFamily="49" charset="0"/>
                <a:ea typeface="JetBrains Mono" pitchFamily="49" charset="-122"/>
                <a:cs typeface="JetBrains Mono" pitchFamily="49" charset="-120"/>
              </a:rPr>
              <a:t>80</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Saved 80</a:t>
            </a:r>
            <a:endParaRPr lang="en-US" sz="1500" dirty="0"/>
          </a:p>
        </p:txBody>
      </p:sp>
      <p:sp>
        <p:nvSpPr>
          <p:cNvPr id="10" name="Text 8"/>
          <p:cNvSpPr/>
          <p:nvPr/>
        </p:nvSpPr>
        <p:spPr>
          <a:xfrm>
            <a:off x="6939690" y="4007976"/>
            <a:ext cx="4572695" cy="333970"/>
          </a:xfrm>
          <a:prstGeom prst="rect">
            <a:avLst/>
          </a:prstGeom>
          <a:noFill/>
          <a:ln/>
        </p:spPr>
        <p:txBody>
          <a:bodyPr wrap="square" lIns="0" tIns="0" rIns="0" bIns="0" rtlCol="0" anchor="t">
            <a:normAutofit/>
          </a:bodyPr>
          <a:lstStyle/>
          <a:p>
            <a:pPr algn="l" indent="0" marL="0">
              <a:lnSpc>
                <a:spcPts val="2430"/>
              </a:lnSpc>
              <a:buNone/>
            </a:pPr>
            <a:r>
              <a:rPr lang="en-US" sz="1800" b="1" dirty="0">
                <a:solidFill>
                  <a:srgbClr val="1B2A41"/>
                </a:solidFill>
                <a:latin typeface="Rubik" pitchFamily="34" charset="0"/>
                <a:ea typeface="Rubik" pitchFamily="34" charset="-122"/>
                <a:cs typeface="Rubik" pitchFamily="34" charset="-120"/>
              </a:rPr>
              <a:t>Write it once, use it in every program.</a:t>
            </a:r>
            <a:endParaRPr lang="en-US" sz="1800" dirty="0"/>
          </a:p>
        </p:txBody>
      </p:sp>
      <p:sp>
        <p:nvSpPr>
          <p:cNvPr id="11" name="Shape 9"/>
          <p:cNvSpPr/>
          <p:nvPr/>
        </p:nvSpPr>
        <p:spPr>
          <a:xfrm>
            <a:off x="6939690" y="4443546"/>
            <a:ext cx="4439510" cy="1054100"/>
          </a:xfrm>
          <a:prstGeom prst="roundRect">
            <a:avLst>
              <a:gd name="adj" fmla="val 8434"/>
            </a:avLst>
          </a:prstGeom>
          <a:solidFill>
            <a:srgbClr val="FBEFD5"/>
          </a:solidFill>
          <a:ln/>
        </p:spPr>
      </p:sp>
      <p:pic>
        <p:nvPicPr>
          <p:cNvPr id="12" name="Image 0" descr="Lightbulb">    </p:cNvPr>
          <p:cNvPicPr>
            <a:picLocks noChangeAspect="1"/>
          </p:cNvPicPr>
          <p:nvPr/>
        </p:nvPicPr>
        <p:blipFill>
          <a:blip r:embed="rId1"/>
          <a:srcRect l="0" r="0" t="-306" b="-306"/>
          <a:stretch/>
        </p:blipFill>
        <p:spPr>
          <a:xfrm>
            <a:off x="7117490" y="4818196"/>
            <a:ext cx="151474" cy="304800"/>
          </a:xfrm>
          <a:prstGeom prst="rect">
            <a:avLst/>
          </a:prstGeom>
        </p:spPr>
      </p:pic>
      <p:sp>
        <p:nvSpPr>
          <p:cNvPr id="13" name="Text 10"/>
          <p:cNvSpPr/>
          <p:nvPr/>
        </p:nvSpPr>
        <p:spPr>
          <a:xfrm>
            <a:off x="7395964" y="4570546"/>
            <a:ext cx="3919599"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1"/>
                </a:solidFill>
                <a:latin typeface="Rubik" pitchFamily="34" charset="0"/>
                <a:ea typeface="Rubik" pitchFamily="34" charset="-122"/>
                <a:cs typeface="Rubik" pitchFamily="34" charset="-120"/>
              </a:rPr>
              <a:t>Use it in the record manager and expense tracker so wrong typing never crashes them.</a:t>
            </a:r>
            <a:endParaRPr lang="en-US" sz="1500" dirty="0"/>
          </a:p>
        </p:txBody>
      </p:sp>
      <p:sp>
        <p:nvSpPr>
          <p:cNvPr id="14"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7 · Class 19</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19 · RAISE</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Raising your own errors</a:t>
            </a:r>
            <a:endParaRPr lang="en-US" sz="3200" dirty="0"/>
          </a:p>
        </p:txBody>
      </p:sp>
      <p:sp>
        <p:nvSpPr>
          <p:cNvPr id="4" name="Shape 2"/>
          <p:cNvSpPr/>
          <p:nvPr/>
        </p:nvSpPr>
        <p:spPr>
          <a:xfrm>
            <a:off x="812800" y="1854135"/>
            <a:ext cx="5865747" cy="3788370"/>
          </a:xfrm>
          <a:prstGeom prst="roundRect">
            <a:avLst>
              <a:gd name="adj" fmla="val 3352"/>
            </a:avLst>
          </a:prstGeom>
          <a:solidFill>
            <a:srgbClr val="1B2A41"/>
          </a:solidFill>
          <a:ln/>
        </p:spPr>
      </p:sp>
      <p:sp>
        <p:nvSpPr>
          <p:cNvPr id="5" name="Text 3"/>
          <p:cNvSpPr/>
          <p:nvPr/>
        </p:nvSpPr>
        <p:spPr>
          <a:xfrm>
            <a:off x="1066800" y="2031935"/>
            <a:ext cx="551847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8"/>
                </a:solidFill>
                <a:latin typeface="JetBrains Mono" pitchFamily="49" charset="0"/>
                <a:ea typeface="JetBrains Mono" pitchFamily="49" charset="-122"/>
                <a:cs typeface="JetBrains Mono" pitchFamily="49" charset="-120"/>
              </a:rPr>
              <a:t>withdraw.py</a:t>
            </a:r>
            <a:endParaRPr lang="en-US" sz="1200" dirty="0"/>
          </a:p>
        </p:txBody>
      </p:sp>
      <p:sp>
        <p:nvSpPr>
          <p:cNvPr id="6" name="Text 4"/>
          <p:cNvSpPr/>
          <p:nvPr/>
        </p:nvSpPr>
        <p:spPr>
          <a:xfrm>
            <a:off x="1066800" y="2321455"/>
            <a:ext cx="5518479" cy="31686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def</a:t>
            </a:r>
            <a:r>
              <a:rPr lang="en-US" sz="1500" dirty="0">
                <a:solidFill>
                  <a:srgbClr val="E8EDF3"/>
                </a:solidFill>
                <a:latin typeface="JetBrains Mono" pitchFamily="49" charset="0"/>
                <a:ea typeface="JetBrains Mono" pitchFamily="49" charset="-122"/>
                <a:cs typeface="JetBrains Mono" pitchFamily="49" charset="-120"/>
              </a:rPr>
              <a:t> withdraw(balance, amount):</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if</a:t>
            </a:r>
            <a:r>
              <a:rPr lang="en-US" sz="1500" dirty="0">
                <a:solidFill>
                  <a:srgbClr val="E8EDF3"/>
                </a:solidFill>
                <a:latin typeface="JetBrains Mono" pitchFamily="49" charset="0"/>
                <a:ea typeface="JetBrains Mono" pitchFamily="49" charset="-122"/>
                <a:cs typeface="JetBrains Mono" pitchFamily="49" charset="-120"/>
              </a:rPr>
              <a:t> amount &lt;= 0:</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raise</a:t>
            </a:r>
            <a:r>
              <a:rPr lang="en-US" sz="1500" dirty="0">
                <a:solidFill>
                  <a:srgbClr val="E8EDF3"/>
                </a:solidFill>
                <a:latin typeface="JetBrains Mono" pitchFamily="49" charset="0"/>
                <a:ea typeface="JetBrains Mono" pitchFamily="49" charset="-122"/>
                <a:cs typeface="JetBrains Mono" pitchFamily="49" charset="-120"/>
              </a:rPr>
              <a:t> ValueError(</a:t>
            </a:r>
            <a:r>
              <a:rPr lang="en-US" sz="1500" dirty="0">
                <a:solidFill>
                  <a:srgbClr val="9FD8A8"/>
                </a:solidFill>
                <a:latin typeface="JetBrains Mono" pitchFamily="49" charset="0"/>
                <a:ea typeface="JetBrains Mono" pitchFamily="49" charset="-122"/>
                <a:cs typeface="JetBrains Mono" pitchFamily="49" charset="-120"/>
              </a:rPr>
              <a:t>"Amount must be &gt; 0"</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if</a:t>
            </a:r>
            <a:r>
              <a:rPr lang="en-US" sz="1500" dirty="0">
                <a:solidFill>
                  <a:srgbClr val="E8EDF3"/>
                </a:solidFill>
                <a:latin typeface="JetBrains Mono" pitchFamily="49" charset="0"/>
                <a:ea typeface="JetBrains Mono" pitchFamily="49" charset="-122"/>
                <a:cs typeface="JetBrains Mono" pitchFamily="49" charset="-120"/>
              </a:rPr>
              <a:t> amount &gt; balance:</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raise</a:t>
            </a:r>
            <a:r>
              <a:rPr lang="en-US" sz="1500" dirty="0">
                <a:solidFill>
                  <a:srgbClr val="E8EDF3"/>
                </a:solidFill>
                <a:latin typeface="JetBrains Mono" pitchFamily="49" charset="0"/>
                <a:ea typeface="JetBrains Mono" pitchFamily="49" charset="-122"/>
                <a:cs typeface="JetBrains Mono" pitchFamily="49" charset="-120"/>
              </a:rPr>
              <a:t> ValueError(</a:t>
            </a:r>
            <a:r>
              <a:rPr lang="en-US" sz="1500" dirty="0">
                <a:solidFill>
                  <a:srgbClr val="9FD8A8"/>
                </a:solidFill>
                <a:latin typeface="JetBrains Mono" pitchFamily="49" charset="0"/>
                <a:ea typeface="JetBrains Mono" pitchFamily="49" charset="-122"/>
                <a:cs typeface="JetBrains Mono" pitchFamily="49" charset="-120"/>
              </a:rPr>
              <a:t>"Not enough balance"</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return</a:t>
            </a:r>
            <a:r>
              <a:rPr lang="en-US" sz="1500" dirty="0">
                <a:solidFill>
                  <a:srgbClr val="E8EDF3"/>
                </a:solidFill>
                <a:latin typeface="JetBrains Mono" pitchFamily="49" charset="0"/>
                <a:ea typeface="JetBrains Mono" pitchFamily="49" charset="-122"/>
                <a:cs typeface="JetBrains Mono" pitchFamily="49" charset="-120"/>
              </a:rPr>
              <a:t> balance - amount</a:t>
            </a:r>
            <a:endParaRPr lang="en-US" sz="1500" dirty="0"/>
          </a:p>
          <a:p>
            <a:pPr algn="l" indent="0" marL="0">
              <a:lnSpc>
                <a:spcPts val="2250"/>
              </a:lnSpc>
              <a:buNone/>
            </a:pP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try</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(withdraw(500, 800))</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except</a:t>
            </a:r>
            <a:r>
              <a:rPr lang="en-US" sz="1500" dirty="0">
                <a:solidFill>
                  <a:srgbClr val="E8EDF3"/>
                </a:solidFill>
                <a:latin typeface="JetBrains Mono" pitchFamily="49" charset="0"/>
                <a:ea typeface="JetBrains Mono" pitchFamily="49" charset="-122"/>
                <a:cs typeface="JetBrains Mono" pitchFamily="49" charset="-120"/>
              </a:rPr>
              <a:t> ValueError </a:t>
            </a:r>
            <a:r>
              <a:rPr lang="en-US" sz="1500" dirty="0">
                <a:solidFill>
                  <a:srgbClr val="F2B33D"/>
                </a:solidFill>
                <a:latin typeface="JetBrains Mono" pitchFamily="49" charset="0"/>
                <a:ea typeface="JetBrains Mono" pitchFamily="49" charset="-122"/>
                <a:cs typeface="JetBrains Mono" pitchFamily="49" charset="-120"/>
              </a:rPr>
              <a:t>as</a:t>
            </a:r>
            <a:r>
              <a:rPr lang="en-US" sz="1500" dirty="0">
                <a:solidFill>
                  <a:srgbClr val="E8EDF3"/>
                </a:solidFill>
                <a:latin typeface="JetBrains Mono" pitchFamily="49" charset="0"/>
                <a:ea typeface="JetBrains Mono" pitchFamily="49" charset="-122"/>
                <a:cs typeface="JetBrains Mono" pitchFamily="49" charset="-120"/>
              </a:rPr>
              <a:t> e:</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"Error:"</a:t>
            </a:r>
            <a:r>
              <a:rPr lang="en-US" sz="1500" dirty="0">
                <a:solidFill>
                  <a:srgbClr val="E8EDF3"/>
                </a:solidFill>
                <a:latin typeface="JetBrains Mono" pitchFamily="49" charset="0"/>
                <a:ea typeface="JetBrains Mono" pitchFamily="49" charset="-122"/>
                <a:cs typeface="JetBrains Mono" pitchFamily="49" charset="-120"/>
              </a:rPr>
              <a:t>, e)</a:t>
            </a:r>
            <a:endParaRPr lang="en-US" sz="1500" dirty="0"/>
          </a:p>
        </p:txBody>
      </p:sp>
      <p:sp>
        <p:nvSpPr>
          <p:cNvPr id="7" name="Shape 5"/>
          <p:cNvSpPr/>
          <p:nvPr/>
        </p:nvSpPr>
        <p:spPr>
          <a:xfrm>
            <a:off x="7040497" y="1860485"/>
            <a:ext cx="4332354" cy="943570"/>
          </a:xfrm>
          <a:prstGeom prst="roundRect">
            <a:avLst>
              <a:gd name="adj" fmla="val 12787"/>
            </a:avLst>
          </a:prstGeom>
          <a:solidFill>
            <a:srgbClr val="FFFDF8"/>
          </a:solidFill>
          <a:ln w="12700">
            <a:solidFill>
              <a:srgbClr val="D9DEE5"/>
            </a:solidFill>
            <a:prstDash val="solid"/>
          </a:ln>
        </p:spPr>
      </p:sp>
      <p:sp>
        <p:nvSpPr>
          <p:cNvPr id="8" name="Text 6"/>
          <p:cNvSpPr/>
          <p:nvPr/>
        </p:nvSpPr>
        <p:spPr>
          <a:xfrm>
            <a:off x="7300847" y="2044635"/>
            <a:ext cx="3926003"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OUTPUT</a:t>
            </a:r>
            <a:endParaRPr lang="en-US" sz="1200" dirty="0"/>
          </a:p>
        </p:txBody>
      </p:sp>
      <p:sp>
        <p:nvSpPr>
          <p:cNvPr id="9" name="Text 7"/>
          <p:cNvSpPr/>
          <p:nvPr/>
        </p:nvSpPr>
        <p:spPr>
          <a:xfrm>
            <a:off x="7300847" y="2334155"/>
            <a:ext cx="3926003" cy="311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Error: Not enough balance</a:t>
            </a:r>
            <a:endParaRPr lang="en-US" sz="1500" dirty="0"/>
          </a:p>
        </p:txBody>
      </p:sp>
      <p:sp>
        <p:nvSpPr>
          <p:cNvPr id="10" name="Text 8"/>
          <p:cNvSpPr/>
          <p:nvPr/>
        </p:nvSpPr>
        <p:spPr>
          <a:xfrm>
            <a:off x="7034147" y="2937405"/>
            <a:ext cx="4475405" cy="596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2A64A3"/>
                </a:solidFill>
                <a:latin typeface="Rubik" pitchFamily="34" charset="0"/>
                <a:ea typeface="Rubik" pitchFamily="34" charset="-122"/>
                <a:cs typeface="Rubik" pitchFamily="34" charset="-120"/>
              </a:rPr>
              <a:t>raise</a:t>
            </a:r>
            <a:r>
              <a:rPr lang="en-US" sz="1500" dirty="0">
                <a:solidFill>
                  <a:srgbClr val="4A5568"/>
                </a:solidFill>
                <a:latin typeface="Rubik" pitchFamily="34" charset="0"/>
                <a:ea typeface="Rubik" pitchFamily="34" charset="-122"/>
                <a:cs typeface="Rubik" pitchFamily="34" charset="-120"/>
              </a:rPr>
              <a:t> stops the function and sends an error to whoever called it.</a:t>
            </a:r>
            <a:endParaRPr lang="en-US" sz="1500" dirty="0"/>
          </a:p>
        </p:txBody>
      </p:sp>
      <p:sp>
        <p:nvSpPr>
          <p:cNvPr id="11" name="Text 9"/>
          <p:cNvSpPr/>
          <p:nvPr/>
        </p:nvSpPr>
        <p:spPr>
          <a:xfrm>
            <a:off x="7034147" y="3635905"/>
            <a:ext cx="4345054" cy="838200"/>
          </a:xfrm>
          <a:prstGeom prst="roundRect">
            <a:avLst>
              <a:gd name="adj" fmla="val 15152"/>
            </a:avLst>
          </a:prstGeom>
          <a:solidFill>
            <a:srgbClr val="FBEFD5"/>
          </a:solidFill>
          <a:ln/>
        </p:spPr>
        <p:txBody>
          <a:bodyPr wrap="square" lIns="166003" tIns="115203" rIns="47843" bIns="89803" rtlCol="0" anchor="t">
            <a:normAutofit/>
          </a:bodyPr>
          <a:lstStyle/>
          <a:p>
            <a:pPr algn="l" indent="0" marL="0">
              <a:lnSpc>
                <a:spcPts val="2100"/>
              </a:lnSpc>
              <a:buNone/>
            </a:pPr>
            <a:r>
              <a:rPr lang="en-US" sz="1500" dirty="0">
                <a:solidFill>
                  <a:srgbClr val="1B2A41"/>
                </a:solidFill>
                <a:latin typeface="Rubik" pitchFamily="34" charset="0"/>
                <a:ea typeface="Rubik" pitchFamily="34" charset="-122"/>
                <a:cs typeface="Rubik" pitchFamily="34" charset="-120"/>
              </a:rPr>
              <a:t>The caller decides how to show it. </a:t>
            </a:r>
            <a:r>
              <a:rPr lang="en-US" sz="1500" dirty="0">
                <a:solidFill>
                  <a:srgbClr val="2A64A3"/>
                </a:solidFill>
                <a:latin typeface="Rubik" pitchFamily="34" charset="0"/>
                <a:ea typeface="Rubik" pitchFamily="34" charset="-122"/>
                <a:cs typeface="Rubik" pitchFamily="34" charset="-120"/>
              </a:rPr>
              <a:t>as e</a:t>
            </a:r>
            <a:r>
              <a:rPr lang="en-US" sz="1500" dirty="0">
                <a:solidFill>
                  <a:srgbClr val="1B2A41"/>
                </a:solidFill>
                <a:latin typeface="Rubik" pitchFamily="34" charset="0"/>
                <a:ea typeface="Rubik" pitchFamily="34" charset="-122"/>
                <a:cs typeface="Rubik" pitchFamily="34" charset="-120"/>
              </a:rPr>
              <a:t> gives the message.</a:t>
            </a:r>
            <a:endParaRPr lang="en-US" sz="1500" dirty="0"/>
          </a:p>
        </p:txBody>
      </p:sp>
      <p:sp>
        <p:nvSpPr>
          <p:cNvPr id="12"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7 · Class 19</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6EE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19 · PRACTICE</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Your turn: four safe programs</a:t>
            </a:r>
            <a:endParaRPr lang="en-US" sz="3200" dirty="0"/>
          </a:p>
        </p:txBody>
      </p:sp>
      <p:sp>
        <p:nvSpPr>
          <p:cNvPr id="4" name="Shape 2"/>
          <p:cNvSpPr/>
          <p:nvPr/>
        </p:nvSpPr>
        <p:spPr>
          <a:xfrm>
            <a:off x="819150" y="1809688"/>
            <a:ext cx="2476500" cy="2252927"/>
          </a:xfrm>
          <a:prstGeom prst="roundRect">
            <a:avLst>
              <a:gd name="adj" fmla="val 5355"/>
            </a:avLst>
          </a:prstGeom>
          <a:solidFill>
            <a:srgbClr val="FBFCFE"/>
          </a:solidFill>
          <a:ln w="12700">
            <a:solidFill>
              <a:srgbClr val="C9D7E8"/>
            </a:solidFill>
            <a:prstDash val="solid"/>
          </a:ln>
        </p:spPr>
      </p:sp>
      <p:sp>
        <p:nvSpPr>
          <p:cNvPr id="5" name="Text 3"/>
          <p:cNvSpPr/>
          <p:nvPr/>
        </p:nvSpPr>
        <p:spPr>
          <a:xfrm>
            <a:off x="1028700" y="2019238"/>
            <a:ext cx="681897" cy="289520"/>
          </a:xfrm>
          <a:custGeom>
            <a:avLst/>
            <a:gdLst/>
            <a:ahLst/>
            <a:cxnLst/>
            <a:rect l="l" t="t" r="r" b="b"/>
            <a:pathLst>
              <a:path w="681897" h="289520">
                <a:moveTo>
                  <a:pt x="144760" y="0"/>
                </a:moveTo>
                <a:lnTo>
                  <a:pt x="537137" y="0"/>
                </a:lnTo>
                <a:arcTo hR="144760" wR="144760" stAng="16200000" swAng="5400000"/>
                <a:lnTo>
                  <a:pt x="681897"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Task 1</a:t>
            </a:r>
            <a:endParaRPr lang="en-US" sz="1200" dirty="0"/>
          </a:p>
        </p:txBody>
      </p:sp>
      <p:sp>
        <p:nvSpPr>
          <p:cNvPr id="6" name="Text 4"/>
          <p:cNvSpPr/>
          <p:nvPr/>
        </p:nvSpPr>
        <p:spPr>
          <a:xfrm>
            <a:off x="1028700" y="2410358"/>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Safe division</a:t>
            </a:r>
            <a:endParaRPr lang="en-US" sz="1800" dirty="0"/>
          </a:p>
        </p:txBody>
      </p:sp>
      <p:sp>
        <p:nvSpPr>
          <p:cNvPr id="7" name="Text 5"/>
          <p:cNvSpPr/>
          <p:nvPr/>
        </p:nvSpPr>
        <p:spPr>
          <a:xfrm>
            <a:off x="1028700" y="2786261"/>
            <a:ext cx="211912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Read two numbers and divide. Handle letters and division by zero.</a:t>
            </a:r>
            <a:endParaRPr lang="en-US" sz="1500" dirty="0"/>
          </a:p>
        </p:txBody>
      </p:sp>
      <p:sp>
        <p:nvSpPr>
          <p:cNvPr id="8" name="Shape 6"/>
          <p:cNvSpPr/>
          <p:nvPr/>
        </p:nvSpPr>
        <p:spPr>
          <a:xfrm>
            <a:off x="3511550" y="1809688"/>
            <a:ext cx="2476500" cy="2252927"/>
          </a:xfrm>
          <a:prstGeom prst="roundRect">
            <a:avLst>
              <a:gd name="adj" fmla="val 5355"/>
            </a:avLst>
          </a:prstGeom>
          <a:solidFill>
            <a:srgbClr val="FBFCFE"/>
          </a:solidFill>
          <a:ln w="12700">
            <a:solidFill>
              <a:srgbClr val="C9D7E8"/>
            </a:solidFill>
            <a:prstDash val="solid"/>
          </a:ln>
        </p:spPr>
      </p:sp>
      <p:sp>
        <p:nvSpPr>
          <p:cNvPr id="9" name="Text 7"/>
          <p:cNvSpPr/>
          <p:nvPr/>
        </p:nvSpPr>
        <p:spPr>
          <a:xfrm>
            <a:off x="3721100" y="2019238"/>
            <a:ext cx="705181" cy="289520"/>
          </a:xfrm>
          <a:custGeom>
            <a:avLst/>
            <a:gdLst/>
            <a:ahLst/>
            <a:cxnLst/>
            <a:rect l="l" t="t" r="r" b="b"/>
            <a:pathLst>
              <a:path w="705181" h="289520">
                <a:moveTo>
                  <a:pt x="144760" y="0"/>
                </a:moveTo>
                <a:lnTo>
                  <a:pt x="560421" y="0"/>
                </a:lnTo>
                <a:arcTo hR="144760" wR="144760" stAng="16200000" swAng="5400000"/>
                <a:lnTo>
                  <a:pt x="705181"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Task 2</a:t>
            </a:r>
            <a:endParaRPr lang="en-US" sz="1200" dirty="0"/>
          </a:p>
        </p:txBody>
      </p:sp>
      <p:sp>
        <p:nvSpPr>
          <p:cNvPr id="10" name="Text 8"/>
          <p:cNvSpPr/>
          <p:nvPr/>
        </p:nvSpPr>
        <p:spPr>
          <a:xfrm>
            <a:off x="3721100" y="2410358"/>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Range check</a:t>
            </a:r>
            <a:endParaRPr lang="en-US" sz="1800" dirty="0"/>
          </a:p>
        </p:txBody>
      </p:sp>
      <p:sp>
        <p:nvSpPr>
          <p:cNvPr id="11" name="Text 9"/>
          <p:cNvSpPr/>
          <p:nvPr/>
        </p:nvSpPr>
        <p:spPr>
          <a:xfrm>
            <a:off x="3721100" y="2786261"/>
            <a:ext cx="2119122"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Write </a:t>
            </a:r>
            <a:r>
              <a:rPr lang="en-US" sz="1500" dirty="0">
                <a:solidFill>
                  <a:srgbClr val="2A64A3"/>
                </a:solidFill>
                <a:latin typeface="Rubik" pitchFamily="34" charset="0"/>
                <a:ea typeface="Rubik" pitchFamily="34" charset="-122"/>
                <a:cs typeface="Rubik" pitchFamily="34" charset="-120"/>
              </a:rPr>
              <a:t>get_int(prompt, low, high)</a:t>
            </a:r>
            <a:r>
              <a:rPr lang="en-US" sz="1500" dirty="0">
                <a:solidFill>
                  <a:srgbClr val="4A5568"/>
                </a:solidFill>
                <a:latin typeface="Rubik" pitchFamily="34" charset="0"/>
                <a:ea typeface="Rubik" pitchFamily="34" charset="-122"/>
                <a:cs typeface="Rubik" pitchFamily="34" charset="-120"/>
              </a:rPr>
              <a:t> that only accepts numbers in a range.</a:t>
            </a:r>
            <a:endParaRPr lang="en-US" sz="1500" dirty="0"/>
          </a:p>
        </p:txBody>
      </p:sp>
      <p:sp>
        <p:nvSpPr>
          <p:cNvPr id="12" name="Shape 10"/>
          <p:cNvSpPr/>
          <p:nvPr/>
        </p:nvSpPr>
        <p:spPr>
          <a:xfrm>
            <a:off x="6203950" y="1809688"/>
            <a:ext cx="2476500" cy="2252927"/>
          </a:xfrm>
          <a:prstGeom prst="roundRect">
            <a:avLst>
              <a:gd name="adj" fmla="val 5355"/>
            </a:avLst>
          </a:prstGeom>
          <a:solidFill>
            <a:srgbClr val="FBFCFE"/>
          </a:solidFill>
          <a:ln w="12700">
            <a:solidFill>
              <a:srgbClr val="C9D7E8"/>
            </a:solidFill>
            <a:prstDash val="solid"/>
          </a:ln>
        </p:spPr>
      </p:sp>
      <p:sp>
        <p:nvSpPr>
          <p:cNvPr id="13" name="Text 11"/>
          <p:cNvSpPr/>
          <p:nvPr/>
        </p:nvSpPr>
        <p:spPr>
          <a:xfrm>
            <a:off x="6413500" y="2019238"/>
            <a:ext cx="706570" cy="289520"/>
          </a:xfrm>
          <a:custGeom>
            <a:avLst/>
            <a:gdLst/>
            <a:ahLst/>
            <a:cxnLst/>
            <a:rect l="l" t="t" r="r" b="b"/>
            <a:pathLst>
              <a:path w="706570" h="289520">
                <a:moveTo>
                  <a:pt x="144760" y="0"/>
                </a:moveTo>
                <a:lnTo>
                  <a:pt x="561810" y="0"/>
                </a:lnTo>
                <a:arcTo hR="144760" wR="144760" stAng="16200000" swAng="5400000"/>
                <a:lnTo>
                  <a:pt x="706570"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Task 3</a:t>
            </a:r>
            <a:endParaRPr lang="en-US" sz="1200" dirty="0"/>
          </a:p>
        </p:txBody>
      </p:sp>
      <p:sp>
        <p:nvSpPr>
          <p:cNvPr id="14" name="Text 12"/>
          <p:cNvSpPr/>
          <p:nvPr/>
        </p:nvSpPr>
        <p:spPr>
          <a:xfrm>
            <a:off x="6413500" y="2410358"/>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Safe file open</a:t>
            </a:r>
            <a:endParaRPr lang="en-US" sz="1800" dirty="0"/>
          </a:p>
        </p:txBody>
      </p:sp>
      <p:sp>
        <p:nvSpPr>
          <p:cNvPr id="15" name="Text 13"/>
          <p:cNvSpPr/>
          <p:nvPr/>
        </p:nvSpPr>
        <p:spPr>
          <a:xfrm>
            <a:off x="6413500" y="2786261"/>
            <a:ext cx="2119122"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Ask for a file name. Print its lines, or a friendly message if it is missing.</a:t>
            </a:r>
            <a:endParaRPr lang="en-US" sz="1500" dirty="0"/>
          </a:p>
        </p:txBody>
      </p:sp>
      <p:sp>
        <p:nvSpPr>
          <p:cNvPr id="16" name="Shape 14"/>
          <p:cNvSpPr/>
          <p:nvPr/>
        </p:nvSpPr>
        <p:spPr>
          <a:xfrm>
            <a:off x="8896350" y="1809688"/>
            <a:ext cx="2476500" cy="2252927"/>
          </a:xfrm>
          <a:prstGeom prst="roundRect">
            <a:avLst>
              <a:gd name="adj" fmla="val 5355"/>
            </a:avLst>
          </a:prstGeom>
          <a:solidFill>
            <a:srgbClr val="FBFCFE"/>
          </a:solidFill>
          <a:ln w="12700">
            <a:solidFill>
              <a:srgbClr val="C9D7E8"/>
            </a:solidFill>
            <a:prstDash val="solid"/>
          </a:ln>
        </p:spPr>
      </p:sp>
      <p:sp>
        <p:nvSpPr>
          <p:cNvPr id="17" name="Text 15"/>
          <p:cNvSpPr/>
          <p:nvPr/>
        </p:nvSpPr>
        <p:spPr>
          <a:xfrm>
            <a:off x="9105900" y="2019238"/>
            <a:ext cx="710076" cy="289520"/>
          </a:xfrm>
          <a:custGeom>
            <a:avLst/>
            <a:gdLst/>
            <a:ahLst/>
            <a:cxnLst/>
            <a:rect l="l" t="t" r="r" b="b"/>
            <a:pathLst>
              <a:path w="710076" h="289520">
                <a:moveTo>
                  <a:pt x="144760" y="0"/>
                </a:moveTo>
                <a:lnTo>
                  <a:pt x="565315" y="0"/>
                </a:lnTo>
                <a:arcTo hR="144760" wR="144760" stAng="16200000" swAng="5400000"/>
                <a:lnTo>
                  <a:pt x="710076"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Task 4</a:t>
            </a:r>
            <a:endParaRPr lang="en-US" sz="1200" dirty="0"/>
          </a:p>
        </p:txBody>
      </p:sp>
      <p:sp>
        <p:nvSpPr>
          <p:cNvPr id="18" name="Text 16"/>
          <p:cNvSpPr/>
          <p:nvPr/>
        </p:nvSpPr>
        <p:spPr>
          <a:xfrm>
            <a:off x="9105900" y="2410358"/>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Fix the tracker</a:t>
            </a:r>
            <a:endParaRPr lang="en-US" sz="1800" dirty="0"/>
          </a:p>
        </p:txBody>
      </p:sp>
      <p:sp>
        <p:nvSpPr>
          <p:cNvPr id="19" name="Text 17"/>
          <p:cNvSpPr/>
          <p:nvPr/>
        </p:nvSpPr>
        <p:spPr>
          <a:xfrm>
            <a:off x="9105900" y="2786261"/>
            <a:ext cx="2119122"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Use get_int (or try/except) so a wrong amount never crashes the expense tracker.</a:t>
            </a:r>
            <a:endParaRPr lang="en-US" sz="1500" dirty="0"/>
          </a:p>
        </p:txBody>
      </p:sp>
      <p:sp>
        <p:nvSpPr>
          <p:cNvPr id="20" name="Shape 18"/>
          <p:cNvSpPr/>
          <p:nvPr/>
        </p:nvSpPr>
        <p:spPr>
          <a:xfrm>
            <a:off x="812800" y="4322961"/>
            <a:ext cx="10566400" cy="622300"/>
          </a:xfrm>
          <a:prstGeom prst="roundRect">
            <a:avLst>
              <a:gd name="adj" fmla="val 20408"/>
            </a:avLst>
          </a:prstGeom>
          <a:solidFill>
            <a:srgbClr val="1B2A41"/>
          </a:solidFill>
          <a:ln/>
        </p:spPr>
      </p:sp>
      <p:sp>
        <p:nvSpPr>
          <p:cNvPr id="21" name="Text 19"/>
          <p:cNvSpPr/>
          <p:nvPr/>
        </p:nvSpPr>
        <p:spPr>
          <a:xfrm>
            <a:off x="1066800" y="4527420"/>
            <a:ext cx="121569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B33D"/>
                </a:solidFill>
                <a:latin typeface="Rubik" pitchFamily="34" charset="0"/>
                <a:ea typeface="Rubik" pitchFamily="34" charset="-122"/>
                <a:cs typeface="Rubik" pitchFamily="34" charset="-120"/>
              </a:rPr>
              <a:t>HOMEWORK</a:t>
            </a:r>
            <a:endParaRPr lang="en-US" sz="1200" dirty="0"/>
          </a:p>
        </p:txBody>
      </p:sp>
      <p:sp>
        <p:nvSpPr>
          <p:cNvPr id="22" name="Text 20"/>
          <p:cNvSpPr/>
          <p:nvPr/>
        </p:nvSpPr>
        <p:spPr>
          <a:xfrm>
            <a:off x="2282494" y="4500761"/>
            <a:ext cx="3409633"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7F5EF"/>
                </a:solidFill>
                <a:latin typeface="Rubik" pitchFamily="34" charset="0"/>
                <a:ea typeface="Rubik" pitchFamily="34" charset="-122"/>
                <a:cs typeface="Rubik" pitchFamily="34" charset="-120"/>
              </a:rPr>
              <a:t>Read on W3Schools: </a:t>
            </a:r>
            <a:r>
              <a:rPr lang="en-US" sz="1500" u="sng" dirty="0">
                <a:solidFill>
                  <a:srgbClr val="F2B33D"/>
                </a:solidFill>
                <a:latin typeface="Rubik" pitchFamily="34" charset="0"/>
                <a:ea typeface="Rubik" pitchFamily="34" charset="-122"/>
                <a:cs typeface="Rubik" pitchFamily="34" charset="-120"/>
                <a:hlinkClick r:id="rId1" invalidUrl="" action="" tgtFrame="" tooltip="" history="1" highlightClick="0" endSnd="0">
                  <a:extLst>
                    <a:ext uri="{A12FA001-AC4F-418D-AE19-62706E023703}">
                      <ahyp:hlinkClr xmlns:ahyp="http://schemas.microsoft.com/office/drawing/2018/hyperlinkcolor" val="tx"/>
                    </a:ext>
                  </a:extLst>
                </a:hlinkClick>
              </a:rPr>
              <a:t>Try...Except</a:t>
            </a:r>
            <a:endParaRPr lang="en-US" sz="1500" dirty="0"/>
          </a:p>
        </p:txBody>
      </p:sp>
      <p:sp>
        <p:nvSpPr>
          <p:cNvPr id="23" name="Text 2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7 · Class 19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B33D"/>
        </a:solidFill>
      </p:bgPr>
    </p:bg>
    <p:spTree>
      <p:nvGrpSpPr>
        <p:cNvPr id="1" name=""/>
        <p:cNvGrpSpPr/>
        <p:nvPr/>
      </p:nvGrpSpPr>
      <p:grpSpPr>
        <a:xfrm>
          <a:off x="0" y="0"/>
          <a:ext cx="0" cy="0"/>
          <a:chOff x="0" y="0"/>
          <a:chExt cx="0" cy="0"/>
        </a:xfrm>
      </p:grpSpPr>
      <p:sp>
        <p:nvSpPr>
          <p:cNvPr id="2" name="Text 0"/>
          <p:cNvSpPr/>
          <p:nvPr/>
        </p:nvSpPr>
        <p:spPr>
          <a:xfrm>
            <a:off x="812800" y="2184468"/>
            <a:ext cx="512775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1B2A41"/>
                </a:solidFill>
                <a:latin typeface="Rubik" pitchFamily="34" charset="0"/>
                <a:ea typeface="Rubik" pitchFamily="34" charset="-122"/>
                <a:cs typeface="Rubik" pitchFamily="34" charset="-120"/>
              </a:rPr>
              <a:t>CLASS 20 OF 24</a:t>
            </a:r>
            <a:endParaRPr lang="en-US" sz="1200" dirty="0"/>
          </a:p>
        </p:txBody>
      </p:sp>
      <p:sp>
        <p:nvSpPr>
          <p:cNvPr id="3" name="Text 1"/>
          <p:cNvSpPr/>
          <p:nvPr>
            <p:ph type="title"/>
          </p:nvPr>
        </p:nvSpPr>
        <p:spPr>
          <a:xfrm>
            <a:off x="812800" y="2575589"/>
            <a:ext cx="5127752" cy="1305454"/>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1B2A41"/>
                </a:solidFill>
                <a:latin typeface="Rubik" pitchFamily="34" charset="0"/>
                <a:ea typeface="Rubik" pitchFamily="34" charset="-122"/>
                <a:cs typeface="Rubik" pitchFamily="34" charset="-120"/>
              </a:rPr>
              <a:t>Classes and objects</a:t>
            </a:r>
            <a:endParaRPr lang="en-US" sz="4800" dirty="0"/>
          </a:p>
        </p:txBody>
      </p:sp>
      <p:sp>
        <p:nvSpPr>
          <p:cNvPr id="4" name="Text 2"/>
          <p:cNvSpPr/>
          <p:nvPr/>
        </p:nvSpPr>
        <p:spPr>
          <a:xfrm>
            <a:off x="812800" y="4033441"/>
            <a:ext cx="5127752" cy="665427"/>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B2A41"/>
                </a:solidFill>
                <a:latin typeface="Rubik" pitchFamily="34" charset="0"/>
                <a:ea typeface="Rubik" pitchFamily="34" charset="-122"/>
                <a:cs typeface="Rubik" pitchFamily="34" charset="-120"/>
              </a:rPr>
              <a:t>Making your own data types that hold data and actions together</a:t>
            </a:r>
            <a:endParaRPr lang="en-US" sz="1800" dirty="0"/>
          </a:p>
        </p:txBody>
      </p:sp>
      <p:sp>
        <p:nvSpPr>
          <p:cNvPr id="5" name="Shape 3"/>
          <p:cNvSpPr/>
          <p:nvPr/>
        </p:nvSpPr>
        <p:spPr>
          <a:xfrm>
            <a:off x="6400800" y="2098018"/>
            <a:ext cx="4978400" cy="2661907"/>
          </a:xfrm>
          <a:prstGeom prst="roundRect">
            <a:avLst>
              <a:gd name="adj" fmla="val 5725"/>
            </a:avLst>
          </a:prstGeom>
          <a:solidFill>
            <a:srgbClr val="1B2A41"/>
          </a:solidFill>
          <a:ln/>
        </p:spPr>
      </p:sp>
      <p:sp>
        <p:nvSpPr>
          <p:cNvPr id="6" name="Text 4"/>
          <p:cNvSpPr/>
          <p:nvPr/>
        </p:nvSpPr>
        <p:spPr>
          <a:xfrm>
            <a:off x="6756400" y="2453618"/>
            <a:ext cx="4395216"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2B33D"/>
                </a:solidFill>
                <a:latin typeface="Rubik" pitchFamily="34" charset="0"/>
                <a:ea typeface="Rubik" pitchFamily="34" charset="-122"/>
                <a:cs typeface="Rubik" pitchFamily="34" charset="-120"/>
              </a:rPr>
              <a:t>By the end of today you can</a:t>
            </a:r>
            <a:endParaRPr lang="en-US" sz="1800" dirty="0"/>
          </a:p>
        </p:txBody>
      </p:sp>
      <p:sp>
        <p:nvSpPr>
          <p:cNvPr id="7" name="Text 5"/>
          <p:cNvSpPr/>
          <p:nvPr/>
        </p:nvSpPr>
        <p:spPr>
          <a:xfrm>
            <a:off x="6840220" y="2880320"/>
            <a:ext cx="4303776" cy="1549400"/>
          </a:xfrm>
          <a:prstGeom prst="rect">
            <a:avLst/>
          </a:prstGeom>
          <a:noFill/>
          <a:ln/>
        </p:spPr>
        <p:txBody>
          <a:bodyPr wrap="square" lIns="0" tIns="0" rIns="0" bIns="0" rtlCol="0" anchor="t">
            <a:normAutofit/>
          </a:bodyPr>
          <a:lstStyle/>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Explain class and object</a:t>
            </a:r>
            <a:endParaRPr lang="en-US" sz="1500" dirty="0"/>
          </a:p>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Write a class with __init__</a:t>
            </a:r>
            <a:endParaRPr lang="en-US" sz="1500" dirty="0"/>
          </a:p>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Explain what self means</a:t>
            </a:r>
            <a:endParaRPr lang="en-US" sz="1500" dirty="0"/>
          </a:p>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Add methods that change an object</a:t>
            </a:r>
            <a:endParaRPr lang="en-US" sz="1500" dirty="0"/>
          </a:p>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Print objects nicely with __str__</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20 · THE IDEA</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A class is a blueprint, an object is the real thing</a:t>
            </a:r>
            <a:endParaRPr lang="en-US" sz="3200" dirty="0"/>
          </a:p>
        </p:txBody>
      </p:sp>
      <p:sp>
        <p:nvSpPr>
          <p:cNvPr id="4" name="Shape 2"/>
          <p:cNvSpPr/>
          <p:nvPr/>
        </p:nvSpPr>
        <p:spPr>
          <a:xfrm>
            <a:off x="819150" y="1860488"/>
            <a:ext cx="5168900" cy="1719527"/>
          </a:xfrm>
          <a:prstGeom prst="roundRect">
            <a:avLst>
              <a:gd name="adj" fmla="val 7016"/>
            </a:avLst>
          </a:prstGeom>
          <a:solidFill>
            <a:srgbClr val="FFFDF8"/>
          </a:solidFill>
          <a:ln w="12700">
            <a:solidFill>
              <a:srgbClr val="E2DED3"/>
            </a:solidFill>
            <a:prstDash val="solid"/>
          </a:ln>
        </p:spPr>
      </p:sp>
      <p:sp>
        <p:nvSpPr>
          <p:cNvPr id="5" name="Text 3"/>
          <p:cNvSpPr/>
          <p:nvPr/>
        </p:nvSpPr>
        <p:spPr>
          <a:xfrm>
            <a:off x="1028700" y="2070038"/>
            <a:ext cx="637646" cy="289520"/>
          </a:xfrm>
          <a:custGeom>
            <a:avLst/>
            <a:gdLst/>
            <a:ahLst/>
            <a:cxnLst/>
            <a:rect l="l" t="t" r="r" b="b"/>
            <a:pathLst>
              <a:path w="637646" h="289520">
                <a:moveTo>
                  <a:pt x="144760" y="0"/>
                </a:moveTo>
                <a:lnTo>
                  <a:pt x="492886" y="0"/>
                </a:lnTo>
                <a:arcTo hR="144760" wR="144760" stAng="16200000" swAng="5400000"/>
                <a:lnTo>
                  <a:pt x="637646"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Class</a:t>
            </a:r>
            <a:endParaRPr lang="en-US" sz="1200" dirty="0"/>
          </a:p>
        </p:txBody>
      </p:sp>
      <p:sp>
        <p:nvSpPr>
          <p:cNvPr id="6" name="Text 4"/>
          <p:cNvSpPr/>
          <p:nvPr/>
        </p:nvSpPr>
        <p:spPr>
          <a:xfrm>
            <a:off x="1028700" y="2461158"/>
            <a:ext cx="4892294"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The blueprint</a:t>
            </a:r>
            <a:endParaRPr lang="en-US" sz="1800" dirty="0"/>
          </a:p>
        </p:txBody>
      </p:sp>
      <p:sp>
        <p:nvSpPr>
          <p:cNvPr id="7" name="Text 5"/>
          <p:cNvSpPr/>
          <p:nvPr/>
        </p:nvSpPr>
        <p:spPr>
          <a:xfrm>
            <a:off x="1028700" y="2837061"/>
            <a:ext cx="4892294"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A house plan from the architect. It says what every house will have.</a:t>
            </a:r>
            <a:endParaRPr lang="en-US" sz="1500" dirty="0"/>
          </a:p>
        </p:txBody>
      </p:sp>
      <p:sp>
        <p:nvSpPr>
          <p:cNvPr id="8" name="Shape 6"/>
          <p:cNvSpPr/>
          <p:nvPr/>
        </p:nvSpPr>
        <p:spPr>
          <a:xfrm>
            <a:off x="6203950" y="1860488"/>
            <a:ext cx="5168900" cy="1719527"/>
          </a:xfrm>
          <a:prstGeom prst="roundRect">
            <a:avLst>
              <a:gd name="adj" fmla="val 7016"/>
            </a:avLst>
          </a:prstGeom>
          <a:solidFill>
            <a:srgbClr val="FFFDF8"/>
          </a:solidFill>
          <a:ln w="12700">
            <a:solidFill>
              <a:srgbClr val="E2DED3"/>
            </a:solidFill>
            <a:prstDash val="solid"/>
          </a:ln>
        </p:spPr>
      </p:sp>
      <p:sp>
        <p:nvSpPr>
          <p:cNvPr id="9" name="Text 7"/>
          <p:cNvSpPr/>
          <p:nvPr/>
        </p:nvSpPr>
        <p:spPr>
          <a:xfrm>
            <a:off x="6413500" y="2070038"/>
            <a:ext cx="815380" cy="289520"/>
          </a:xfrm>
          <a:custGeom>
            <a:avLst/>
            <a:gdLst/>
            <a:ahLst/>
            <a:cxnLst/>
            <a:rect l="l" t="t" r="r" b="b"/>
            <a:pathLst>
              <a:path w="815380" h="289520">
                <a:moveTo>
                  <a:pt x="144760" y="0"/>
                </a:moveTo>
                <a:lnTo>
                  <a:pt x="670620" y="0"/>
                </a:lnTo>
                <a:arcTo hR="144760" wR="144760" stAng="16200000" swAng="5400000"/>
                <a:lnTo>
                  <a:pt x="815380"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Objects</a:t>
            </a:r>
            <a:endParaRPr lang="en-US" sz="1200" dirty="0"/>
          </a:p>
        </p:txBody>
      </p:sp>
      <p:sp>
        <p:nvSpPr>
          <p:cNvPr id="10" name="Text 8"/>
          <p:cNvSpPr/>
          <p:nvPr/>
        </p:nvSpPr>
        <p:spPr>
          <a:xfrm>
            <a:off x="6413500" y="2461158"/>
            <a:ext cx="4892294"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Real houses</a:t>
            </a:r>
            <a:endParaRPr lang="en-US" sz="1800" dirty="0"/>
          </a:p>
        </p:txBody>
      </p:sp>
      <p:sp>
        <p:nvSpPr>
          <p:cNvPr id="11" name="Text 9"/>
          <p:cNvSpPr/>
          <p:nvPr/>
        </p:nvSpPr>
        <p:spPr>
          <a:xfrm>
            <a:off x="6413500" y="2837061"/>
            <a:ext cx="4892294"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Many houses built from one plan, each with its own colour and owner.</a:t>
            </a:r>
            <a:endParaRPr lang="en-US" sz="1500" dirty="0"/>
          </a:p>
        </p:txBody>
      </p:sp>
      <p:sp>
        <p:nvSpPr>
          <p:cNvPr id="12" name="Shape 10"/>
          <p:cNvSpPr/>
          <p:nvPr/>
        </p:nvSpPr>
        <p:spPr>
          <a:xfrm>
            <a:off x="819150" y="3795911"/>
            <a:ext cx="5168900" cy="1452827"/>
          </a:xfrm>
          <a:prstGeom prst="roundRect">
            <a:avLst>
              <a:gd name="adj" fmla="val 8304"/>
            </a:avLst>
          </a:prstGeom>
          <a:solidFill>
            <a:srgbClr val="FFFDF8"/>
          </a:solidFill>
          <a:ln w="12700">
            <a:solidFill>
              <a:srgbClr val="E2DED3"/>
            </a:solidFill>
            <a:prstDash val="solid"/>
          </a:ln>
        </p:spPr>
      </p:sp>
      <p:sp>
        <p:nvSpPr>
          <p:cNvPr id="13" name="Text 11"/>
          <p:cNvSpPr/>
          <p:nvPr/>
        </p:nvSpPr>
        <p:spPr>
          <a:xfrm>
            <a:off x="1028700" y="4005461"/>
            <a:ext cx="1027443" cy="289520"/>
          </a:xfrm>
          <a:custGeom>
            <a:avLst/>
            <a:gdLst/>
            <a:ahLst/>
            <a:cxnLst/>
            <a:rect l="l" t="t" r="r" b="b"/>
            <a:pathLst>
              <a:path w="1027443" h="289520">
                <a:moveTo>
                  <a:pt x="144760" y="0"/>
                </a:moveTo>
                <a:lnTo>
                  <a:pt x="882683" y="0"/>
                </a:lnTo>
                <a:arcTo hR="144760" wR="144760" stAng="16200000" swAng="5400000"/>
                <a:lnTo>
                  <a:pt x="1027443"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Attributes</a:t>
            </a:r>
            <a:endParaRPr lang="en-US" sz="1200" dirty="0"/>
          </a:p>
        </p:txBody>
      </p:sp>
      <p:sp>
        <p:nvSpPr>
          <p:cNvPr id="14" name="Text 12"/>
          <p:cNvSpPr/>
          <p:nvPr/>
        </p:nvSpPr>
        <p:spPr>
          <a:xfrm>
            <a:off x="1028700" y="4396581"/>
            <a:ext cx="4892294"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What it has</a:t>
            </a:r>
            <a:endParaRPr lang="en-US" sz="1800" dirty="0"/>
          </a:p>
        </p:txBody>
      </p:sp>
      <p:sp>
        <p:nvSpPr>
          <p:cNvPr id="15" name="Text 13"/>
          <p:cNvSpPr/>
          <p:nvPr/>
        </p:nvSpPr>
        <p:spPr>
          <a:xfrm>
            <a:off x="1028700" y="4772490"/>
            <a:ext cx="489229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Data: name, roll, marks.</a:t>
            </a:r>
            <a:endParaRPr lang="en-US" sz="1500" dirty="0"/>
          </a:p>
        </p:txBody>
      </p:sp>
      <p:sp>
        <p:nvSpPr>
          <p:cNvPr id="16" name="Shape 14"/>
          <p:cNvSpPr/>
          <p:nvPr/>
        </p:nvSpPr>
        <p:spPr>
          <a:xfrm>
            <a:off x="6203950" y="3795911"/>
            <a:ext cx="5168900" cy="1452827"/>
          </a:xfrm>
          <a:prstGeom prst="roundRect">
            <a:avLst>
              <a:gd name="adj" fmla="val 8304"/>
            </a:avLst>
          </a:prstGeom>
          <a:solidFill>
            <a:srgbClr val="FFFDF8"/>
          </a:solidFill>
          <a:ln w="12700">
            <a:solidFill>
              <a:srgbClr val="E2DED3"/>
            </a:solidFill>
            <a:prstDash val="solid"/>
          </a:ln>
        </p:spPr>
      </p:sp>
      <p:sp>
        <p:nvSpPr>
          <p:cNvPr id="17" name="Text 15"/>
          <p:cNvSpPr/>
          <p:nvPr/>
        </p:nvSpPr>
        <p:spPr>
          <a:xfrm>
            <a:off x="6413500" y="4005461"/>
            <a:ext cx="888603" cy="289520"/>
          </a:xfrm>
          <a:custGeom>
            <a:avLst/>
            <a:gdLst/>
            <a:ahLst/>
            <a:cxnLst/>
            <a:rect l="l" t="t" r="r" b="b"/>
            <a:pathLst>
              <a:path w="888603" h="289520">
                <a:moveTo>
                  <a:pt x="144760" y="0"/>
                </a:moveTo>
                <a:lnTo>
                  <a:pt x="743843" y="0"/>
                </a:lnTo>
                <a:arcTo hR="144760" wR="144760" stAng="16200000" swAng="5400000"/>
                <a:lnTo>
                  <a:pt x="888603"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Methods</a:t>
            </a:r>
            <a:endParaRPr lang="en-US" sz="1200" dirty="0"/>
          </a:p>
        </p:txBody>
      </p:sp>
      <p:sp>
        <p:nvSpPr>
          <p:cNvPr id="18" name="Text 16"/>
          <p:cNvSpPr/>
          <p:nvPr/>
        </p:nvSpPr>
        <p:spPr>
          <a:xfrm>
            <a:off x="6413500" y="4396581"/>
            <a:ext cx="4892294"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What it does</a:t>
            </a:r>
            <a:endParaRPr lang="en-US" sz="1800" dirty="0"/>
          </a:p>
        </p:txBody>
      </p:sp>
      <p:sp>
        <p:nvSpPr>
          <p:cNvPr id="19" name="Text 17"/>
          <p:cNvSpPr/>
          <p:nvPr/>
        </p:nvSpPr>
        <p:spPr>
          <a:xfrm>
            <a:off x="6413500" y="4772490"/>
            <a:ext cx="489229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Actions: average(), report().</a:t>
            </a:r>
            <a:endParaRPr lang="en-US" sz="1500" dirty="0"/>
          </a:p>
        </p:txBody>
      </p:sp>
      <p:sp>
        <p:nvSpPr>
          <p:cNvPr id="20" name="Text 1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7 · Class 20</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4487"/>
          </a:xfrm>
          <a:prstGeom prst="rect">
            <a:avLst/>
          </a:prstGeom>
          <a:noFill/>
          <a:ln/>
        </p:spPr>
        <p:txBody>
          <a:bodyPr wrap="square" lIns="0" tIns="0" rIns="0" bIns="0" rtlCol="0" anchor="t">
            <a:normAutofit/>
          </a:bodyPr>
          <a:lstStyle/>
          <a:p>
            <a:pPr algn="l" indent="0" marL="0">
              <a:lnSpc>
                <a:spcPts val="1675"/>
              </a:lnSpc>
              <a:buNone/>
            </a:pPr>
            <a:r>
              <a:rPr lang="en-US" sz="1196" b="1" spc="150" kern="0" dirty="0">
                <a:solidFill>
                  <a:srgbClr val="2A64A3"/>
                </a:solidFill>
                <a:latin typeface="Rubik" pitchFamily="34" charset="0"/>
                <a:ea typeface="Rubik" pitchFamily="34" charset="-122"/>
                <a:cs typeface="Rubik" pitchFamily="34" charset="-120"/>
              </a:rPr>
              <a:t>CLASS 20 · YOUR FIRST CLASS</a:t>
            </a:r>
            <a:endParaRPr lang="en-US" sz="1196" dirty="0"/>
          </a:p>
        </p:txBody>
      </p:sp>
      <p:sp>
        <p:nvSpPr>
          <p:cNvPr id="3" name="Text 1"/>
          <p:cNvSpPr/>
          <p:nvPr>
            <p:ph type="title"/>
          </p:nvPr>
        </p:nvSpPr>
        <p:spPr>
          <a:xfrm>
            <a:off x="812800" y="1098091"/>
            <a:ext cx="10883392" cy="463418"/>
          </a:xfrm>
          <a:prstGeom prst="rect">
            <a:avLst/>
          </a:prstGeom>
          <a:noFill/>
          <a:ln/>
        </p:spPr>
        <p:txBody>
          <a:bodyPr wrap="square" lIns="0" tIns="0" rIns="0" bIns="0" rtlCol="0" anchor="t">
            <a:normAutofit/>
          </a:bodyPr>
          <a:lstStyle/>
          <a:p>
            <a:pPr algn="l" indent="0" marL="0">
              <a:lnSpc>
                <a:spcPts val="3465"/>
              </a:lnSpc>
              <a:buNone/>
            </a:pPr>
            <a:r>
              <a:rPr lang="en-US" sz="3150" b="1" i="0" dirty="0">
                <a:solidFill>
                  <a:srgbClr val="1B2A41"/>
                </a:solidFill>
                <a:latin typeface="Rubik" pitchFamily="34" charset="0"/>
                <a:ea typeface="Rubik" pitchFamily="34" charset="-122"/>
                <a:cs typeface="Rubik" pitchFamily="34" charset="-120"/>
              </a:rPr>
              <a:t>A Student class</a:t>
            </a:r>
            <a:endParaRPr lang="en-US" sz="3150" dirty="0"/>
          </a:p>
        </p:txBody>
      </p:sp>
      <p:sp>
        <p:nvSpPr>
          <p:cNvPr id="4" name="Shape 2"/>
          <p:cNvSpPr/>
          <p:nvPr/>
        </p:nvSpPr>
        <p:spPr>
          <a:xfrm>
            <a:off x="812800" y="1840905"/>
            <a:ext cx="6043083" cy="4074120"/>
          </a:xfrm>
          <a:prstGeom prst="roundRect">
            <a:avLst>
              <a:gd name="adj" fmla="val 3117"/>
            </a:avLst>
          </a:prstGeom>
          <a:solidFill>
            <a:srgbClr val="1B2A41"/>
          </a:solidFill>
          <a:ln/>
        </p:spPr>
      </p:sp>
      <p:sp>
        <p:nvSpPr>
          <p:cNvPr id="5" name="Text 3"/>
          <p:cNvSpPr/>
          <p:nvPr/>
        </p:nvSpPr>
        <p:spPr>
          <a:xfrm>
            <a:off x="1066800" y="2018705"/>
            <a:ext cx="570113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8"/>
                </a:solidFill>
                <a:latin typeface="JetBrains Mono" pitchFamily="49" charset="0"/>
                <a:ea typeface="JetBrains Mono" pitchFamily="49" charset="-122"/>
                <a:cs typeface="JetBrains Mono" pitchFamily="49" charset="-120"/>
              </a:rPr>
              <a:t>student.py</a:t>
            </a:r>
            <a:endParaRPr lang="en-US" sz="1200" dirty="0"/>
          </a:p>
        </p:txBody>
      </p:sp>
      <p:sp>
        <p:nvSpPr>
          <p:cNvPr id="6" name="Text 4"/>
          <p:cNvSpPr/>
          <p:nvPr/>
        </p:nvSpPr>
        <p:spPr>
          <a:xfrm>
            <a:off x="1066800" y="2308225"/>
            <a:ext cx="5701136" cy="34544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class</a:t>
            </a:r>
            <a:r>
              <a:rPr lang="en-US" sz="1500" dirty="0">
                <a:solidFill>
                  <a:srgbClr val="E8EDF3"/>
                </a:solidFill>
                <a:latin typeface="JetBrains Mono" pitchFamily="49" charset="0"/>
                <a:ea typeface="JetBrains Mono" pitchFamily="49" charset="-122"/>
                <a:cs typeface="JetBrains Mono" pitchFamily="49" charset="-120"/>
              </a:rPr>
              <a:t> Student:</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def</a:t>
            </a:r>
            <a:r>
              <a:rPr lang="en-US" sz="1500" dirty="0">
                <a:solidFill>
                  <a:srgbClr val="E8EDF3"/>
                </a:solidFill>
                <a:latin typeface="JetBrains Mono" pitchFamily="49" charset="0"/>
                <a:ea typeface="JetBrains Mono" pitchFamily="49" charset="-122"/>
                <a:cs typeface="JetBrains Mono" pitchFamily="49" charset="-120"/>
              </a:rPr>
              <a:t> __init__(</a:t>
            </a:r>
            <a:r>
              <a:rPr lang="en-US" sz="1500" dirty="0">
                <a:solidFill>
                  <a:srgbClr val="F2B33D"/>
                </a:solidFill>
                <a:latin typeface="JetBrains Mono" pitchFamily="49" charset="0"/>
                <a:ea typeface="JetBrains Mono" pitchFamily="49" charset="-122"/>
                <a:cs typeface="JetBrains Mono" pitchFamily="49" charset="-120"/>
              </a:rPr>
              <a:t>self</a:t>
            </a:r>
            <a:r>
              <a:rPr lang="en-US" sz="1500" dirty="0">
                <a:solidFill>
                  <a:srgbClr val="E8EDF3"/>
                </a:solidFill>
                <a:latin typeface="JetBrains Mono" pitchFamily="49" charset="0"/>
                <a:ea typeface="JetBrains Mono" pitchFamily="49" charset="-122"/>
                <a:cs typeface="JetBrains Mono" pitchFamily="49" charset="-120"/>
              </a:rPr>
              <a:t>, name, marks):</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self</a:t>
            </a:r>
            <a:r>
              <a:rPr lang="en-US" sz="1500" dirty="0">
                <a:solidFill>
                  <a:srgbClr val="E8EDF3"/>
                </a:solidFill>
                <a:latin typeface="JetBrains Mono" pitchFamily="49" charset="0"/>
                <a:ea typeface="JetBrains Mono" pitchFamily="49" charset="-122"/>
                <a:cs typeface="JetBrains Mono" pitchFamily="49" charset="-120"/>
              </a:rPr>
              <a:t>.name = name</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self</a:t>
            </a:r>
            <a:r>
              <a:rPr lang="en-US" sz="1500" dirty="0">
                <a:solidFill>
                  <a:srgbClr val="E8EDF3"/>
                </a:solidFill>
                <a:latin typeface="JetBrains Mono" pitchFamily="49" charset="0"/>
                <a:ea typeface="JetBrains Mono" pitchFamily="49" charset="-122"/>
                <a:cs typeface="JetBrains Mono" pitchFamily="49" charset="-120"/>
              </a:rPr>
              <a:t>.marks = marks</a:t>
            </a:r>
            <a:endParaRPr lang="en-US" sz="1500" dirty="0"/>
          </a:p>
          <a:p>
            <a:pPr algn="l" indent="0" marL="0">
              <a:lnSpc>
                <a:spcPts val="2250"/>
              </a:lnSpc>
              <a:buNone/>
            </a:pP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def</a:t>
            </a:r>
            <a:r>
              <a:rPr lang="en-US" sz="1500" dirty="0">
                <a:solidFill>
                  <a:srgbClr val="E8EDF3"/>
                </a:solidFill>
                <a:latin typeface="JetBrains Mono" pitchFamily="49" charset="0"/>
                <a:ea typeface="JetBrains Mono" pitchFamily="49" charset="-122"/>
                <a:cs typeface="JetBrains Mono" pitchFamily="49" charset="-120"/>
              </a:rPr>
              <a:t> average(</a:t>
            </a:r>
            <a:r>
              <a:rPr lang="en-US" sz="1500" dirty="0">
                <a:solidFill>
                  <a:srgbClr val="F2B33D"/>
                </a:solidFill>
                <a:latin typeface="JetBrains Mono" pitchFamily="49" charset="0"/>
                <a:ea typeface="JetBrains Mono" pitchFamily="49" charset="-122"/>
                <a:cs typeface="JetBrains Mono" pitchFamily="49" charset="-120"/>
              </a:rPr>
              <a:t>self</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return</a:t>
            </a: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sum</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F2B33D"/>
                </a:solidFill>
                <a:latin typeface="JetBrains Mono" pitchFamily="49" charset="0"/>
                <a:ea typeface="JetBrains Mono" pitchFamily="49" charset="-122"/>
                <a:cs typeface="JetBrains Mono" pitchFamily="49" charset="-120"/>
              </a:rPr>
              <a:t>self</a:t>
            </a:r>
            <a:r>
              <a:rPr lang="en-US" sz="1500" dirty="0">
                <a:solidFill>
                  <a:srgbClr val="E8EDF3"/>
                </a:solidFill>
                <a:latin typeface="JetBrains Mono" pitchFamily="49" charset="0"/>
                <a:ea typeface="JetBrains Mono" pitchFamily="49" charset="-122"/>
                <a:cs typeface="JetBrains Mono" pitchFamily="49" charset="-120"/>
              </a:rPr>
              <a:t>.marks) / </a:t>
            </a:r>
            <a:r>
              <a:rPr lang="en-US" sz="1500" dirty="0">
                <a:solidFill>
                  <a:srgbClr val="F2B33D"/>
                </a:solidFill>
                <a:latin typeface="JetBrains Mono" pitchFamily="49" charset="0"/>
                <a:ea typeface="JetBrains Mono" pitchFamily="49" charset="-122"/>
                <a:cs typeface="JetBrains Mono" pitchFamily="49" charset="-120"/>
              </a:rPr>
              <a:t>len</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F2B33D"/>
                </a:solidFill>
                <a:latin typeface="JetBrains Mono" pitchFamily="49" charset="0"/>
                <a:ea typeface="JetBrains Mono" pitchFamily="49" charset="-122"/>
                <a:cs typeface="JetBrains Mono" pitchFamily="49" charset="-120"/>
              </a:rPr>
              <a:t>self</a:t>
            </a:r>
            <a:r>
              <a:rPr lang="en-US" sz="1500" dirty="0">
                <a:solidFill>
                  <a:srgbClr val="E8EDF3"/>
                </a:solidFill>
                <a:latin typeface="JetBrains Mono" pitchFamily="49" charset="0"/>
                <a:ea typeface="JetBrains Mono" pitchFamily="49" charset="-122"/>
                <a:cs typeface="JetBrains Mono" pitchFamily="49" charset="-120"/>
              </a:rPr>
              <a:t>.marks)</a:t>
            </a:r>
            <a:endParaRPr lang="en-US" sz="1500" dirty="0"/>
          </a:p>
          <a:p>
            <a:pPr algn="l" indent="0" marL="0">
              <a:lnSpc>
                <a:spcPts val="2250"/>
              </a:lnSpc>
              <a:buNone/>
            </a:pP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s1 = Student(</a:t>
            </a:r>
            <a:r>
              <a:rPr lang="en-US" sz="1500" dirty="0">
                <a:solidFill>
                  <a:srgbClr val="9FD8A8"/>
                </a:solidFill>
                <a:latin typeface="JetBrains Mono" pitchFamily="49" charset="0"/>
                <a:ea typeface="JetBrains Mono" pitchFamily="49" charset="-122"/>
                <a:cs typeface="JetBrains Mono" pitchFamily="49" charset="-120"/>
              </a:rPr>
              <a:t>"Ananya"</a:t>
            </a:r>
            <a:r>
              <a:rPr lang="en-US" sz="1500" dirty="0">
                <a:solidFill>
                  <a:srgbClr val="E8EDF3"/>
                </a:solidFill>
                <a:latin typeface="JetBrains Mono" pitchFamily="49" charset="0"/>
                <a:ea typeface="JetBrains Mono" pitchFamily="49" charset="-122"/>
                <a:cs typeface="JetBrains Mono" pitchFamily="49" charset="-120"/>
              </a:rPr>
              <a:t>, [78, 85, 92])</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s2 = Student(</a:t>
            </a:r>
            <a:r>
              <a:rPr lang="en-US" sz="1500" dirty="0">
                <a:solidFill>
                  <a:srgbClr val="9FD8A8"/>
                </a:solidFill>
                <a:latin typeface="JetBrains Mono" pitchFamily="49" charset="0"/>
                <a:ea typeface="JetBrains Mono" pitchFamily="49" charset="-122"/>
                <a:cs typeface="JetBrains Mono" pitchFamily="49" charset="-120"/>
              </a:rPr>
              <a:t>"Subham"</a:t>
            </a:r>
            <a:r>
              <a:rPr lang="en-US" sz="1500" dirty="0">
                <a:solidFill>
                  <a:srgbClr val="E8EDF3"/>
                </a:solidFill>
                <a:latin typeface="JetBrains Mono" pitchFamily="49" charset="0"/>
                <a:ea typeface="JetBrains Mono" pitchFamily="49" charset="-122"/>
                <a:cs typeface="JetBrains Mono" pitchFamily="49" charset="-120"/>
              </a:rPr>
              <a:t>, [65, 70, 88])</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(s1.name, s1.average())</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(s2.name, </a:t>
            </a:r>
            <a:r>
              <a:rPr lang="en-US" sz="1500" dirty="0">
                <a:solidFill>
                  <a:srgbClr val="F2B33D"/>
                </a:solidFill>
                <a:latin typeface="JetBrains Mono" pitchFamily="49" charset="0"/>
                <a:ea typeface="JetBrains Mono" pitchFamily="49" charset="-122"/>
                <a:cs typeface="JetBrains Mono" pitchFamily="49" charset="-120"/>
              </a:rPr>
              <a:t>round</a:t>
            </a:r>
            <a:r>
              <a:rPr lang="en-US" sz="1500" dirty="0">
                <a:solidFill>
                  <a:srgbClr val="E8EDF3"/>
                </a:solidFill>
                <a:latin typeface="JetBrains Mono" pitchFamily="49" charset="0"/>
                <a:ea typeface="JetBrains Mono" pitchFamily="49" charset="-122"/>
                <a:cs typeface="JetBrains Mono" pitchFamily="49" charset="-120"/>
              </a:rPr>
              <a:t>(s2.average(), 1))</a:t>
            </a:r>
            <a:endParaRPr lang="en-US" sz="1500" dirty="0"/>
          </a:p>
        </p:txBody>
      </p:sp>
      <p:sp>
        <p:nvSpPr>
          <p:cNvPr id="7" name="Shape 5"/>
          <p:cNvSpPr/>
          <p:nvPr/>
        </p:nvSpPr>
        <p:spPr>
          <a:xfrm>
            <a:off x="7217834" y="1847255"/>
            <a:ext cx="4155017" cy="1229320"/>
          </a:xfrm>
          <a:prstGeom prst="roundRect">
            <a:avLst>
              <a:gd name="adj" fmla="val 9814"/>
            </a:avLst>
          </a:prstGeom>
          <a:solidFill>
            <a:srgbClr val="FFFDF8"/>
          </a:solidFill>
          <a:ln w="12700">
            <a:solidFill>
              <a:srgbClr val="D9DEE5"/>
            </a:solidFill>
            <a:prstDash val="solid"/>
          </a:ln>
        </p:spPr>
      </p:sp>
      <p:sp>
        <p:nvSpPr>
          <p:cNvPr id="8" name="Text 6"/>
          <p:cNvSpPr/>
          <p:nvPr/>
        </p:nvSpPr>
        <p:spPr>
          <a:xfrm>
            <a:off x="7478184" y="2031405"/>
            <a:ext cx="3743346"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OUTPUT</a:t>
            </a:r>
            <a:endParaRPr lang="en-US" sz="1200" dirty="0"/>
          </a:p>
        </p:txBody>
      </p:sp>
      <p:sp>
        <p:nvSpPr>
          <p:cNvPr id="9" name="Text 7"/>
          <p:cNvSpPr/>
          <p:nvPr/>
        </p:nvSpPr>
        <p:spPr>
          <a:xfrm>
            <a:off x="7478184" y="2320925"/>
            <a:ext cx="3743346" cy="596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Ananya 85.0</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Subham 74.3</a:t>
            </a:r>
            <a:endParaRPr lang="en-US" sz="1500" dirty="0"/>
          </a:p>
        </p:txBody>
      </p:sp>
      <p:sp>
        <p:nvSpPr>
          <p:cNvPr id="10" name="Shape 8"/>
          <p:cNvSpPr/>
          <p:nvPr/>
        </p:nvSpPr>
        <p:spPr>
          <a:xfrm>
            <a:off x="7217834" y="3216275"/>
            <a:ext cx="4155017" cy="749300"/>
          </a:xfrm>
          <a:prstGeom prst="roundRect">
            <a:avLst>
              <a:gd name="adj" fmla="val 11017"/>
            </a:avLst>
          </a:prstGeom>
          <a:solidFill>
            <a:srgbClr val="FFFDF8"/>
          </a:solidFill>
          <a:ln w="12700">
            <a:solidFill>
              <a:srgbClr val="E2DED3"/>
            </a:solidFill>
            <a:prstDash val="solid"/>
          </a:ln>
        </p:spPr>
      </p:sp>
      <p:sp>
        <p:nvSpPr>
          <p:cNvPr id="11" name="Text 9"/>
          <p:cNvSpPr/>
          <p:nvPr/>
        </p:nvSpPr>
        <p:spPr>
          <a:xfrm>
            <a:off x="7376584" y="3457575"/>
            <a:ext cx="330200" cy="266700"/>
          </a:xfrm>
          <a:custGeom>
            <a:avLst/>
            <a:gdLst/>
            <a:ahLst/>
            <a:cxnLst/>
            <a:rect l="l" t="t" r="r" b="b"/>
            <a:pathLst>
              <a:path w="330200" h="266700">
                <a:moveTo>
                  <a:pt x="133350" y="0"/>
                </a:moveTo>
                <a:lnTo>
                  <a:pt x="196850" y="0"/>
                </a:lnTo>
                <a:arcTo hR="133350" wR="133350" stAng="16200000" swAng="5400000"/>
                <a:lnTo>
                  <a:pt x="330200" y="133350"/>
                </a:lnTo>
                <a:arcTo hR="133350" wR="133350" stAng="0" swAng="5400000"/>
                <a:lnTo>
                  <a:pt x="133350" y="266700"/>
                </a:lnTo>
                <a:arcTo hR="133350" wR="133350" stAng="5400000" swAng="5400000"/>
                <a:lnTo>
                  <a:pt x="0" y="133350"/>
                </a:lnTo>
                <a:arcTo hR="133350" wR="133350" stAng="10800000" swAng="5400000"/>
                <a:close/>
              </a:path>
            </a:pathLst>
          </a:custGeom>
          <a:solidFill>
            <a:srgbClr val="F2B33D"/>
          </a:solidFill>
          <a:ln/>
        </p:spPr>
        <p:txBody>
          <a:bodyPr wrap="square" lIns="0" tIns="0" rIns="0" bIns="0" rtlCol="0" anchor="t">
            <a:normAutofit/>
          </a:bodyPr>
          <a:lstStyle/>
          <a:p>
            <a:pPr algn="ctr" indent="0" marL="0">
              <a:lnSpc>
                <a:spcPts val="2100"/>
              </a:lnSpc>
              <a:buNone/>
            </a:pPr>
            <a:r>
              <a:rPr lang="en-US" sz="1500" b="1" dirty="0">
                <a:solidFill>
                  <a:srgbClr val="1B2A41"/>
                </a:solidFill>
                <a:latin typeface="Rubik" pitchFamily="34" charset="0"/>
                <a:ea typeface="Rubik" pitchFamily="34" charset="-122"/>
                <a:cs typeface="Rubik" pitchFamily="34" charset="-120"/>
              </a:rPr>
              <a:t>1</a:t>
            </a:r>
            <a:endParaRPr lang="en-US" sz="1500" dirty="0"/>
          </a:p>
        </p:txBody>
      </p:sp>
      <p:sp>
        <p:nvSpPr>
          <p:cNvPr id="12" name="Text 10"/>
          <p:cNvSpPr/>
          <p:nvPr/>
        </p:nvSpPr>
        <p:spPr>
          <a:xfrm>
            <a:off x="7833784" y="3324225"/>
            <a:ext cx="3481726"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4A5568"/>
                </a:solidFill>
                <a:latin typeface="Rubik" pitchFamily="34" charset="0"/>
                <a:ea typeface="Rubik" pitchFamily="34" charset="-122"/>
                <a:cs typeface="Rubik" pitchFamily="34" charset="-120"/>
              </a:rPr>
              <a:t>class:</a:t>
            </a:r>
            <a:r>
              <a:rPr lang="en-US" sz="1500" dirty="0">
                <a:solidFill>
                  <a:srgbClr val="4A5568"/>
                </a:solidFill>
                <a:latin typeface="Rubik" pitchFamily="34" charset="0"/>
                <a:ea typeface="Rubik" pitchFamily="34" charset="-122"/>
                <a:cs typeface="Rubik" pitchFamily="34" charset="-120"/>
              </a:rPr>
              <a:t> names the blueprint (capital letter)</a:t>
            </a:r>
            <a:endParaRPr lang="en-US" sz="1500" dirty="0"/>
          </a:p>
        </p:txBody>
      </p:sp>
      <p:sp>
        <p:nvSpPr>
          <p:cNvPr id="13" name="Shape 11"/>
          <p:cNvSpPr/>
          <p:nvPr/>
        </p:nvSpPr>
        <p:spPr>
          <a:xfrm>
            <a:off x="7217834" y="4105275"/>
            <a:ext cx="4155017" cy="749300"/>
          </a:xfrm>
          <a:prstGeom prst="roundRect">
            <a:avLst>
              <a:gd name="adj" fmla="val 11017"/>
            </a:avLst>
          </a:prstGeom>
          <a:solidFill>
            <a:srgbClr val="FFFDF8"/>
          </a:solidFill>
          <a:ln w="12700">
            <a:solidFill>
              <a:srgbClr val="E2DED3"/>
            </a:solidFill>
            <a:prstDash val="solid"/>
          </a:ln>
        </p:spPr>
      </p:sp>
      <p:sp>
        <p:nvSpPr>
          <p:cNvPr id="14" name="Text 12"/>
          <p:cNvSpPr/>
          <p:nvPr/>
        </p:nvSpPr>
        <p:spPr>
          <a:xfrm>
            <a:off x="7376584" y="4346575"/>
            <a:ext cx="330200" cy="266700"/>
          </a:xfrm>
          <a:custGeom>
            <a:avLst/>
            <a:gdLst/>
            <a:ahLst/>
            <a:cxnLst/>
            <a:rect l="l" t="t" r="r" b="b"/>
            <a:pathLst>
              <a:path w="330200" h="266700">
                <a:moveTo>
                  <a:pt x="133350" y="0"/>
                </a:moveTo>
                <a:lnTo>
                  <a:pt x="196850" y="0"/>
                </a:lnTo>
                <a:arcTo hR="133350" wR="133350" stAng="16200000" swAng="5400000"/>
                <a:lnTo>
                  <a:pt x="330200" y="133350"/>
                </a:lnTo>
                <a:arcTo hR="133350" wR="133350" stAng="0" swAng="5400000"/>
                <a:lnTo>
                  <a:pt x="133350" y="266700"/>
                </a:lnTo>
                <a:arcTo hR="133350" wR="133350" stAng="5400000" swAng="5400000"/>
                <a:lnTo>
                  <a:pt x="0" y="133350"/>
                </a:lnTo>
                <a:arcTo hR="133350" wR="133350" stAng="10800000" swAng="5400000"/>
                <a:close/>
              </a:path>
            </a:pathLst>
          </a:custGeom>
          <a:solidFill>
            <a:srgbClr val="F2B33D"/>
          </a:solidFill>
          <a:ln/>
        </p:spPr>
        <p:txBody>
          <a:bodyPr wrap="square" lIns="0" tIns="0" rIns="0" bIns="0" rtlCol="0" anchor="t">
            <a:normAutofit/>
          </a:bodyPr>
          <a:lstStyle/>
          <a:p>
            <a:pPr algn="ctr" indent="0" marL="0">
              <a:lnSpc>
                <a:spcPts val="2100"/>
              </a:lnSpc>
              <a:buNone/>
            </a:pPr>
            <a:r>
              <a:rPr lang="en-US" sz="1500" b="1" dirty="0">
                <a:solidFill>
                  <a:srgbClr val="1B2A41"/>
                </a:solidFill>
                <a:latin typeface="Rubik" pitchFamily="34" charset="0"/>
                <a:ea typeface="Rubik" pitchFamily="34" charset="-122"/>
                <a:cs typeface="Rubik" pitchFamily="34" charset="-120"/>
              </a:rPr>
              <a:t>2</a:t>
            </a:r>
            <a:endParaRPr lang="en-US" sz="1500" dirty="0"/>
          </a:p>
        </p:txBody>
      </p:sp>
      <p:sp>
        <p:nvSpPr>
          <p:cNvPr id="15" name="Text 13"/>
          <p:cNvSpPr/>
          <p:nvPr/>
        </p:nvSpPr>
        <p:spPr>
          <a:xfrm>
            <a:off x="7833784" y="4213225"/>
            <a:ext cx="3481726"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4A5568"/>
                </a:solidFill>
                <a:latin typeface="Rubik" pitchFamily="34" charset="0"/>
                <a:ea typeface="Rubik" pitchFamily="34" charset="-122"/>
                <a:cs typeface="Rubik" pitchFamily="34" charset="-120"/>
              </a:rPr>
              <a:t>__init__:</a:t>
            </a:r>
            <a:r>
              <a:rPr lang="en-US" sz="1500" dirty="0">
                <a:solidFill>
                  <a:srgbClr val="4A5568"/>
                </a:solidFill>
                <a:latin typeface="Rubik" pitchFamily="34" charset="0"/>
                <a:ea typeface="Rubik" pitchFamily="34" charset="-122"/>
                <a:cs typeface="Rubik" pitchFamily="34" charset="-120"/>
              </a:rPr>
              <a:t> runs automatically when an object is made</a:t>
            </a:r>
            <a:endParaRPr lang="en-US" sz="1500" dirty="0"/>
          </a:p>
        </p:txBody>
      </p:sp>
      <p:sp>
        <p:nvSpPr>
          <p:cNvPr id="16" name="Shape 14"/>
          <p:cNvSpPr/>
          <p:nvPr/>
        </p:nvSpPr>
        <p:spPr>
          <a:xfrm>
            <a:off x="7217834" y="4994275"/>
            <a:ext cx="4155017" cy="749300"/>
          </a:xfrm>
          <a:prstGeom prst="roundRect">
            <a:avLst>
              <a:gd name="adj" fmla="val 11017"/>
            </a:avLst>
          </a:prstGeom>
          <a:solidFill>
            <a:srgbClr val="FFFDF8"/>
          </a:solidFill>
          <a:ln w="12700">
            <a:solidFill>
              <a:srgbClr val="E2DED3"/>
            </a:solidFill>
            <a:prstDash val="solid"/>
          </a:ln>
        </p:spPr>
      </p:sp>
      <p:sp>
        <p:nvSpPr>
          <p:cNvPr id="17" name="Text 15"/>
          <p:cNvSpPr/>
          <p:nvPr/>
        </p:nvSpPr>
        <p:spPr>
          <a:xfrm>
            <a:off x="7376584" y="5235575"/>
            <a:ext cx="330200" cy="266700"/>
          </a:xfrm>
          <a:custGeom>
            <a:avLst/>
            <a:gdLst/>
            <a:ahLst/>
            <a:cxnLst/>
            <a:rect l="l" t="t" r="r" b="b"/>
            <a:pathLst>
              <a:path w="330200" h="266700">
                <a:moveTo>
                  <a:pt x="133350" y="0"/>
                </a:moveTo>
                <a:lnTo>
                  <a:pt x="196850" y="0"/>
                </a:lnTo>
                <a:arcTo hR="133350" wR="133350" stAng="16200000" swAng="5400000"/>
                <a:lnTo>
                  <a:pt x="330200" y="133350"/>
                </a:lnTo>
                <a:arcTo hR="133350" wR="133350" stAng="0" swAng="5400000"/>
                <a:lnTo>
                  <a:pt x="133350" y="266700"/>
                </a:lnTo>
                <a:arcTo hR="133350" wR="133350" stAng="5400000" swAng="5400000"/>
                <a:lnTo>
                  <a:pt x="0" y="133350"/>
                </a:lnTo>
                <a:arcTo hR="133350" wR="133350" stAng="10800000" swAng="5400000"/>
                <a:close/>
              </a:path>
            </a:pathLst>
          </a:custGeom>
          <a:solidFill>
            <a:srgbClr val="F2B33D"/>
          </a:solidFill>
          <a:ln/>
        </p:spPr>
        <p:txBody>
          <a:bodyPr wrap="square" lIns="0" tIns="0" rIns="0" bIns="0" rtlCol="0" anchor="t">
            <a:normAutofit/>
          </a:bodyPr>
          <a:lstStyle/>
          <a:p>
            <a:pPr algn="ctr" indent="0" marL="0">
              <a:lnSpc>
                <a:spcPts val="2100"/>
              </a:lnSpc>
              <a:buNone/>
            </a:pPr>
            <a:r>
              <a:rPr lang="en-US" sz="1500" b="1" dirty="0">
                <a:solidFill>
                  <a:srgbClr val="1B2A41"/>
                </a:solidFill>
                <a:latin typeface="Rubik" pitchFamily="34" charset="0"/>
                <a:ea typeface="Rubik" pitchFamily="34" charset="-122"/>
                <a:cs typeface="Rubik" pitchFamily="34" charset="-120"/>
              </a:rPr>
              <a:t>3</a:t>
            </a:r>
            <a:endParaRPr lang="en-US" sz="1500" dirty="0"/>
          </a:p>
        </p:txBody>
      </p:sp>
      <p:sp>
        <p:nvSpPr>
          <p:cNvPr id="18" name="Text 16"/>
          <p:cNvSpPr/>
          <p:nvPr/>
        </p:nvSpPr>
        <p:spPr>
          <a:xfrm>
            <a:off x="7833784" y="5102225"/>
            <a:ext cx="3481726"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4A5568"/>
                </a:solidFill>
                <a:latin typeface="Rubik" pitchFamily="34" charset="0"/>
                <a:ea typeface="Rubik" pitchFamily="34" charset="-122"/>
                <a:cs typeface="Rubik" pitchFamily="34" charset="-120"/>
              </a:rPr>
              <a:t>Object:</a:t>
            </a:r>
            <a:r>
              <a:rPr lang="en-US" sz="1500" dirty="0">
                <a:solidFill>
                  <a:srgbClr val="4A5568"/>
                </a:solidFill>
                <a:latin typeface="Rubik" pitchFamily="34" charset="0"/>
                <a:ea typeface="Rubik" pitchFamily="34" charset="-122"/>
                <a:cs typeface="Rubik" pitchFamily="34" charset="-120"/>
              </a:rPr>
              <a:t> </a:t>
            </a:r>
            <a:r>
              <a:rPr lang="en-US" sz="1500" dirty="0">
                <a:solidFill>
                  <a:srgbClr val="2A64A3"/>
                </a:solidFill>
                <a:latin typeface="Rubik" pitchFamily="34" charset="0"/>
                <a:ea typeface="Rubik" pitchFamily="34" charset="-122"/>
                <a:cs typeface="Rubik" pitchFamily="34" charset="-120"/>
              </a:rPr>
              <a:t>Student(...)</a:t>
            </a:r>
            <a:r>
              <a:rPr lang="en-US" sz="1500" dirty="0">
                <a:solidFill>
                  <a:srgbClr val="4A5568"/>
                </a:solidFill>
                <a:latin typeface="Rubik" pitchFamily="34" charset="0"/>
                <a:ea typeface="Rubik" pitchFamily="34" charset="-122"/>
                <a:cs typeface="Rubik" pitchFamily="34" charset="-120"/>
              </a:rPr>
              <a:t> makes one; use </a:t>
            </a:r>
            <a:r>
              <a:rPr lang="en-US" sz="1500" dirty="0">
                <a:solidFill>
                  <a:srgbClr val="2A64A3"/>
                </a:solidFill>
                <a:latin typeface="Rubik" pitchFamily="34" charset="0"/>
                <a:ea typeface="Rubik" pitchFamily="34" charset="-122"/>
                <a:cs typeface="Rubik" pitchFamily="34" charset="-120"/>
              </a:rPr>
              <a:t>.</a:t>
            </a:r>
            <a:r>
              <a:rPr lang="en-US" sz="1500" dirty="0">
                <a:solidFill>
                  <a:srgbClr val="4A5568"/>
                </a:solidFill>
                <a:latin typeface="Rubik" pitchFamily="34" charset="0"/>
                <a:ea typeface="Rubik" pitchFamily="34" charset="-122"/>
                <a:cs typeface="Rubik" pitchFamily="34" charset="-120"/>
              </a:rPr>
              <a:t> to reach inside</a:t>
            </a:r>
            <a:endParaRPr lang="en-US" sz="1500" dirty="0"/>
          </a:p>
        </p:txBody>
      </p:sp>
      <p:sp>
        <p:nvSpPr>
          <p:cNvPr id="19" name="Text 1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7 · Class 20</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B2A4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B33D"/>
                </a:solidFill>
                <a:latin typeface="Rubik" pitchFamily="34" charset="0"/>
                <a:ea typeface="Rubik" pitchFamily="34" charset="-122"/>
                <a:cs typeface="Rubik" pitchFamily="34" charset="-120"/>
              </a:rPr>
              <a:t>CLASS 20 · SELF</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7F5EF"/>
                </a:solidFill>
                <a:latin typeface="Rubik" pitchFamily="34" charset="0"/>
                <a:ea typeface="Rubik" pitchFamily="34" charset="-122"/>
                <a:cs typeface="Rubik" pitchFamily="34" charset="-120"/>
              </a:rPr>
              <a:t>What is self?</a:t>
            </a:r>
            <a:endParaRPr lang="en-US" sz="3200" dirty="0"/>
          </a:p>
        </p:txBody>
      </p:sp>
      <p:sp>
        <p:nvSpPr>
          <p:cNvPr id="4" name="Text 2"/>
          <p:cNvSpPr/>
          <p:nvPr/>
        </p:nvSpPr>
        <p:spPr>
          <a:xfrm>
            <a:off x="812800" y="2938797"/>
            <a:ext cx="9810750" cy="1000654"/>
          </a:xfrm>
          <a:prstGeom prst="rect">
            <a:avLst/>
          </a:prstGeom>
          <a:noFill/>
          <a:ln/>
        </p:spPr>
        <p:txBody>
          <a:bodyPr wrap="square" lIns="0" tIns="0" rIns="0" bIns="0" rtlCol="0" anchor="t">
            <a:normAutofit/>
          </a:bodyPr>
          <a:lstStyle/>
          <a:p>
            <a:pPr algn="l" indent="0" marL="0">
              <a:lnSpc>
                <a:spcPts val="3840"/>
              </a:lnSpc>
              <a:buNone/>
            </a:pPr>
            <a:r>
              <a:rPr lang="en-US" sz="3200" b="1" dirty="0">
                <a:solidFill>
                  <a:srgbClr val="F2B33D"/>
                </a:solidFill>
                <a:latin typeface="Rubik" pitchFamily="34" charset="0"/>
                <a:ea typeface="Rubik" pitchFamily="34" charset="-122"/>
                <a:cs typeface="Rubik" pitchFamily="34" charset="-120"/>
              </a:rPr>
              <a:t>self means “this object”, the one the method was called on.</a:t>
            </a:r>
            <a:endParaRPr lang="en-US" sz="3200" dirty="0"/>
          </a:p>
        </p:txBody>
      </p:sp>
      <p:sp>
        <p:nvSpPr>
          <p:cNvPr id="5" name="Text 3"/>
          <p:cNvSpPr/>
          <p:nvPr/>
        </p:nvSpPr>
        <p:spPr>
          <a:xfrm>
            <a:off x="812800" y="4117249"/>
            <a:ext cx="9156700" cy="665427"/>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D4E2"/>
                </a:solidFill>
                <a:latin typeface="Rubik" pitchFamily="34" charset="0"/>
                <a:ea typeface="Rubik" pitchFamily="34" charset="-122"/>
                <a:cs typeface="Rubik" pitchFamily="34" charset="-120"/>
              </a:rPr>
              <a:t>When you write s1.average(), Python quietly calls Student.average(s1). So inside the method, self is s1, and self.marks is Ananya's marks. For s2.average(), self is s2.</a:t>
            </a:r>
            <a:endParaRPr lang="en-US" sz="1800" dirty="0"/>
          </a:p>
        </p:txBody>
      </p:sp>
      <p:sp>
        <p:nvSpPr>
          <p:cNvPr id="6"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0C6"/>
                </a:solidFill>
                <a:latin typeface="Rubik" pitchFamily="34" charset="0"/>
                <a:ea typeface="Rubik" pitchFamily="34" charset="-122"/>
                <a:cs typeface="Rubik" pitchFamily="34" charset="-120"/>
              </a:rPr>
              <a:t>Python Programming · Week 7 · Class 20</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20 · METHODS THAT CHANGE THINGS</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A bank account object</a:t>
            </a:r>
            <a:endParaRPr lang="en-US" sz="3200" dirty="0"/>
          </a:p>
        </p:txBody>
      </p:sp>
      <p:sp>
        <p:nvSpPr>
          <p:cNvPr id="4" name="Shape 2"/>
          <p:cNvSpPr/>
          <p:nvPr/>
        </p:nvSpPr>
        <p:spPr>
          <a:xfrm>
            <a:off x="812800" y="1854138"/>
            <a:ext cx="5771290" cy="3502620"/>
          </a:xfrm>
          <a:prstGeom prst="roundRect">
            <a:avLst>
              <a:gd name="adj" fmla="val 3626"/>
            </a:avLst>
          </a:prstGeom>
          <a:solidFill>
            <a:srgbClr val="1B2A41"/>
          </a:solidFill>
          <a:ln/>
        </p:spPr>
      </p:sp>
      <p:sp>
        <p:nvSpPr>
          <p:cNvPr id="5" name="Text 3"/>
          <p:cNvSpPr/>
          <p:nvPr/>
        </p:nvSpPr>
        <p:spPr>
          <a:xfrm>
            <a:off x="1066800" y="2031938"/>
            <a:ext cx="542118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8"/>
                </a:solidFill>
                <a:latin typeface="JetBrains Mono" pitchFamily="49" charset="0"/>
                <a:ea typeface="JetBrains Mono" pitchFamily="49" charset="-122"/>
                <a:cs typeface="JetBrains Mono" pitchFamily="49" charset="-120"/>
              </a:rPr>
              <a:t>bank.py</a:t>
            </a:r>
            <a:endParaRPr lang="en-US" sz="1200" dirty="0"/>
          </a:p>
        </p:txBody>
      </p:sp>
      <p:sp>
        <p:nvSpPr>
          <p:cNvPr id="6" name="Text 4"/>
          <p:cNvSpPr/>
          <p:nvPr/>
        </p:nvSpPr>
        <p:spPr>
          <a:xfrm>
            <a:off x="1066800" y="2321458"/>
            <a:ext cx="5421189" cy="2882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class</a:t>
            </a:r>
            <a:r>
              <a:rPr lang="en-US" sz="1500" dirty="0">
                <a:solidFill>
                  <a:srgbClr val="E8EDF3"/>
                </a:solidFill>
                <a:latin typeface="JetBrains Mono" pitchFamily="49" charset="0"/>
                <a:ea typeface="JetBrains Mono" pitchFamily="49" charset="-122"/>
                <a:cs typeface="JetBrains Mono" pitchFamily="49" charset="-120"/>
              </a:rPr>
              <a:t> Account:</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def</a:t>
            </a:r>
            <a:r>
              <a:rPr lang="en-US" sz="1500" dirty="0">
                <a:solidFill>
                  <a:srgbClr val="E8EDF3"/>
                </a:solidFill>
                <a:latin typeface="JetBrains Mono" pitchFamily="49" charset="0"/>
                <a:ea typeface="JetBrains Mono" pitchFamily="49" charset="-122"/>
                <a:cs typeface="JetBrains Mono" pitchFamily="49" charset="-120"/>
              </a:rPr>
              <a:t> __init__(</a:t>
            </a:r>
            <a:r>
              <a:rPr lang="en-US" sz="1500" dirty="0">
                <a:solidFill>
                  <a:srgbClr val="F2B33D"/>
                </a:solidFill>
                <a:latin typeface="JetBrains Mono" pitchFamily="49" charset="0"/>
                <a:ea typeface="JetBrains Mono" pitchFamily="49" charset="-122"/>
                <a:cs typeface="JetBrains Mono" pitchFamily="49" charset="-120"/>
              </a:rPr>
              <a:t>self</a:t>
            </a:r>
            <a:r>
              <a:rPr lang="en-US" sz="1500" dirty="0">
                <a:solidFill>
                  <a:srgbClr val="E8EDF3"/>
                </a:solidFill>
                <a:latin typeface="JetBrains Mono" pitchFamily="49" charset="0"/>
                <a:ea typeface="JetBrains Mono" pitchFamily="49" charset="-122"/>
                <a:cs typeface="JetBrains Mono" pitchFamily="49" charset="-120"/>
              </a:rPr>
              <a:t>, owner, balance=0):</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self</a:t>
            </a:r>
            <a:r>
              <a:rPr lang="en-US" sz="1500" dirty="0">
                <a:solidFill>
                  <a:srgbClr val="E8EDF3"/>
                </a:solidFill>
                <a:latin typeface="JetBrains Mono" pitchFamily="49" charset="0"/>
                <a:ea typeface="JetBrains Mono" pitchFamily="49" charset="-122"/>
                <a:cs typeface="JetBrains Mono" pitchFamily="49" charset="-120"/>
              </a:rPr>
              <a:t>.owner = owner</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self</a:t>
            </a:r>
            <a:r>
              <a:rPr lang="en-US" sz="1500" dirty="0">
                <a:solidFill>
                  <a:srgbClr val="E8EDF3"/>
                </a:solidFill>
                <a:latin typeface="JetBrains Mono" pitchFamily="49" charset="0"/>
                <a:ea typeface="JetBrains Mono" pitchFamily="49" charset="-122"/>
                <a:cs typeface="JetBrains Mono" pitchFamily="49" charset="-120"/>
              </a:rPr>
              <a:t>.balance = balance</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def</a:t>
            </a:r>
            <a:r>
              <a:rPr lang="en-US" sz="1500" dirty="0">
                <a:solidFill>
                  <a:srgbClr val="E8EDF3"/>
                </a:solidFill>
                <a:latin typeface="JetBrains Mono" pitchFamily="49" charset="0"/>
                <a:ea typeface="JetBrains Mono" pitchFamily="49" charset="-122"/>
                <a:cs typeface="JetBrains Mono" pitchFamily="49" charset="-120"/>
              </a:rPr>
              <a:t> deposit(</a:t>
            </a:r>
            <a:r>
              <a:rPr lang="en-US" sz="1500" dirty="0">
                <a:solidFill>
                  <a:srgbClr val="F2B33D"/>
                </a:solidFill>
                <a:latin typeface="JetBrains Mono" pitchFamily="49" charset="0"/>
                <a:ea typeface="JetBrains Mono" pitchFamily="49" charset="-122"/>
                <a:cs typeface="JetBrains Mono" pitchFamily="49" charset="-120"/>
              </a:rPr>
              <a:t>self</a:t>
            </a:r>
            <a:r>
              <a:rPr lang="en-US" sz="1500" dirty="0">
                <a:solidFill>
                  <a:srgbClr val="E8EDF3"/>
                </a:solidFill>
                <a:latin typeface="JetBrains Mono" pitchFamily="49" charset="0"/>
                <a:ea typeface="JetBrains Mono" pitchFamily="49" charset="-122"/>
                <a:cs typeface="JetBrains Mono" pitchFamily="49" charset="-120"/>
              </a:rPr>
              <a:t>, amt):</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self</a:t>
            </a:r>
            <a:r>
              <a:rPr lang="en-US" sz="1500" dirty="0">
                <a:solidFill>
                  <a:srgbClr val="E8EDF3"/>
                </a:solidFill>
                <a:latin typeface="JetBrains Mono" pitchFamily="49" charset="0"/>
                <a:ea typeface="JetBrains Mono" pitchFamily="49" charset="-122"/>
                <a:cs typeface="JetBrains Mono" pitchFamily="49" charset="-120"/>
              </a:rPr>
              <a:t>.balance += amt</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def</a:t>
            </a:r>
            <a:r>
              <a:rPr lang="en-US" sz="1500" dirty="0">
                <a:solidFill>
                  <a:srgbClr val="E8EDF3"/>
                </a:solidFill>
                <a:latin typeface="JetBrains Mono" pitchFamily="49" charset="0"/>
                <a:ea typeface="JetBrains Mono" pitchFamily="49" charset="-122"/>
                <a:cs typeface="JetBrains Mono" pitchFamily="49" charset="-120"/>
              </a:rPr>
              <a:t> withdraw(</a:t>
            </a:r>
            <a:r>
              <a:rPr lang="en-US" sz="1500" dirty="0">
                <a:solidFill>
                  <a:srgbClr val="F2B33D"/>
                </a:solidFill>
                <a:latin typeface="JetBrains Mono" pitchFamily="49" charset="0"/>
                <a:ea typeface="JetBrains Mono" pitchFamily="49" charset="-122"/>
                <a:cs typeface="JetBrains Mono" pitchFamily="49" charset="-120"/>
              </a:rPr>
              <a:t>self</a:t>
            </a:r>
            <a:r>
              <a:rPr lang="en-US" sz="1500" dirty="0">
                <a:solidFill>
                  <a:srgbClr val="E8EDF3"/>
                </a:solidFill>
                <a:latin typeface="JetBrains Mono" pitchFamily="49" charset="0"/>
                <a:ea typeface="JetBrains Mono" pitchFamily="49" charset="-122"/>
                <a:cs typeface="JetBrains Mono" pitchFamily="49" charset="-120"/>
              </a:rPr>
              <a:t>, amt):</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if</a:t>
            </a:r>
            <a:r>
              <a:rPr lang="en-US" sz="1500" dirty="0">
                <a:solidFill>
                  <a:srgbClr val="E8EDF3"/>
                </a:solidFill>
                <a:latin typeface="JetBrains Mono" pitchFamily="49" charset="0"/>
                <a:ea typeface="JetBrains Mono" pitchFamily="49" charset="-122"/>
                <a:cs typeface="JetBrains Mono" pitchFamily="49" charset="-120"/>
              </a:rPr>
              <a:t> amt &gt; </a:t>
            </a:r>
            <a:r>
              <a:rPr lang="en-US" sz="1500" dirty="0">
                <a:solidFill>
                  <a:srgbClr val="F2B33D"/>
                </a:solidFill>
                <a:latin typeface="JetBrains Mono" pitchFamily="49" charset="0"/>
                <a:ea typeface="JetBrains Mono" pitchFamily="49" charset="-122"/>
                <a:cs typeface="JetBrains Mono" pitchFamily="49" charset="-120"/>
              </a:rPr>
              <a:t>self</a:t>
            </a:r>
            <a:r>
              <a:rPr lang="en-US" sz="1500" dirty="0">
                <a:solidFill>
                  <a:srgbClr val="E8EDF3"/>
                </a:solidFill>
                <a:latin typeface="JetBrains Mono" pitchFamily="49" charset="0"/>
                <a:ea typeface="JetBrains Mono" pitchFamily="49" charset="-122"/>
                <a:cs typeface="JetBrains Mono" pitchFamily="49" charset="-120"/>
              </a:rPr>
              <a:t>.balance:</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raise</a:t>
            </a:r>
            <a:r>
              <a:rPr lang="en-US" sz="1500" dirty="0">
                <a:solidFill>
                  <a:srgbClr val="E8EDF3"/>
                </a:solidFill>
                <a:latin typeface="JetBrains Mono" pitchFamily="49" charset="0"/>
                <a:ea typeface="JetBrains Mono" pitchFamily="49" charset="-122"/>
                <a:cs typeface="JetBrains Mono" pitchFamily="49" charset="-120"/>
              </a:rPr>
              <a:t> ValueError(</a:t>
            </a:r>
            <a:r>
              <a:rPr lang="en-US" sz="1500" dirty="0">
                <a:solidFill>
                  <a:srgbClr val="9FD8A8"/>
                </a:solidFill>
                <a:latin typeface="JetBrains Mono" pitchFamily="49" charset="0"/>
                <a:ea typeface="JetBrains Mono" pitchFamily="49" charset="-122"/>
                <a:cs typeface="JetBrains Mono" pitchFamily="49" charset="-120"/>
              </a:rPr>
              <a:t>"Low balance"</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self</a:t>
            </a:r>
            <a:r>
              <a:rPr lang="en-US" sz="1500" dirty="0">
                <a:solidFill>
                  <a:srgbClr val="E8EDF3"/>
                </a:solidFill>
                <a:latin typeface="JetBrains Mono" pitchFamily="49" charset="0"/>
                <a:ea typeface="JetBrains Mono" pitchFamily="49" charset="-122"/>
                <a:cs typeface="JetBrains Mono" pitchFamily="49" charset="-120"/>
              </a:rPr>
              <a:t>.balance -= amt</a:t>
            </a:r>
            <a:endParaRPr lang="en-US" sz="1500" dirty="0"/>
          </a:p>
        </p:txBody>
      </p:sp>
      <p:sp>
        <p:nvSpPr>
          <p:cNvPr id="7" name="Shape 5"/>
          <p:cNvSpPr/>
          <p:nvPr/>
        </p:nvSpPr>
        <p:spPr>
          <a:xfrm>
            <a:off x="6939690" y="1854138"/>
            <a:ext cx="4439510" cy="1788120"/>
          </a:xfrm>
          <a:prstGeom prst="roundRect">
            <a:avLst>
              <a:gd name="adj" fmla="val 7102"/>
            </a:avLst>
          </a:prstGeom>
          <a:solidFill>
            <a:srgbClr val="1B2A41"/>
          </a:solidFill>
          <a:ln/>
        </p:spPr>
      </p:sp>
      <p:sp>
        <p:nvSpPr>
          <p:cNvPr id="8" name="Text 6"/>
          <p:cNvSpPr/>
          <p:nvPr/>
        </p:nvSpPr>
        <p:spPr>
          <a:xfrm>
            <a:off x="7193690" y="2031938"/>
            <a:ext cx="404945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8"/>
                </a:solidFill>
                <a:latin typeface="JetBrains Mono" pitchFamily="49" charset="0"/>
                <a:ea typeface="JetBrains Mono" pitchFamily="49" charset="-122"/>
                <a:cs typeface="JetBrains Mono" pitchFamily="49" charset="-120"/>
              </a:rPr>
              <a:t>use it</a:t>
            </a:r>
            <a:endParaRPr lang="en-US" sz="1200" dirty="0"/>
          </a:p>
        </p:txBody>
      </p:sp>
      <p:sp>
        <p:nvSpPr>
          <p:cNvPr id="9" name="Text 7"/>
          <p:cNvSpPr/>
          <p:nvPr/>
        </p:nvSpPr>
        <p:spPr>
          <a:xfrm>
            <a:off x="7193690" y="2321458"/>
            <a:ext cx="4049455" cy="11684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acc = Account(</a:t>
            </a:r>
            <a:r>
              <a:rPr lang="en-US" sz="1500" dirty="0">
                <a:solidFill>
                  <a:srgbClr val="9FD8A8"/>
                </a:solidFill>
                <a:latin typeface="JetBrains Mono" pitchFamily="49" charset="0"/>
                <a:ea typeface="JetBrains Mono" pitchFamily="49" charset="-122"/>
                <a:cs typeface="JetBrains Mono" pitchFamily="49" charset="-120"/>
              </a:rPr>
              <a:t>"Priyanka"</a:t>
            </a:r>
            <a:r>
              <a:rPr lang="en-US" sz="1500" dirty="0">
                <a:solidFill>
                  <a:srgbClr val="E8EDF3"/>
                </a:solidFill>
                <a:latin typeface="JetBrains Mono" pitchFamily="49" charset="0"/>
                <a:ea typeface="JetBrains Mono" pitchFamily="49" charset="-122"/>
                <a:cs typeface="JetBrains Mono" pitchFamily="49" charset="-120"/>
              </a:rPr>
              <a:t>, 1000)</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acc.deposit(500)</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acc.withdraw(300)</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(acc.owner, acc.balance)</a:t>
            </a:r>
            <a:endParaRPr lang="en-US" sz="1500" dirty="0"/>
          </a:p>
        </p:txBody>
      </p:sp>
      <p:sp>
        <p:nvSpPr>
          <p:cNvPr id="10" name="Shape 8"/>
          <p:cNvSpPr/>
          <p:nvPr/>
        </p:nvSpPr>
        <p:spPr>
          <a:xfrm>
            <a:off x="6946040" y="3775608"/>
            <a:ext cx="4426810" cy="943570"/>
          </a:xfrm>
          <a:prstGeom prst="roundRect">
            <a:avLst>
              <a:gd name="adj" fmla="val 12787"/>
            </a:avLst>
          </a:prstGeom>
          <a:solidFill>
            <a:srgbClr val="FFFDF8"/>
          </a:solidFill>
          <a:ln w="12700">
            <a:solidFill>
              <a:srgbClr val="D9DEE5"/>
            </a:solidFill>
            <a:prstDash val="solid"/>
          </a:ln>
        </p:spPr>
      </p:sp>
      <p:sp>
        <p:nvSpPr>
          <p:cNvPr id="11" name="Text 9"/>
          <p:cNvSpPr/>
          <p:nvPr/>
        </p:nvSpPr>
        <p:spPr>
          <a:xfrm>
            <a:off x="7206390" y="3959758"/>
            <a:ext cx="4023293"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OUTPUT</a:t>
            </a:r>
            <a:endParaRPr lang="en-US" sz="1200" dirty="0"/>
          </a:p>
        </p:txBody>
      </p:sp>
      <p:sp>
        <p:nvSpPr>
          <p:cNvPr id="12" name="Text 10"/>
          <p:cNvSpPr/>
          <p:nvPr/>
        </p:nvSpPr>
        <p:spPr>
          <a:xfrm>
            <a:off x="7206390" y="4249279"/>
            <a:ext cx="4023293" cy="311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Priyanka 1200</a:t>
            </a:r>
            <a:endParaRPr lang="en-US" sz="1500" dirty="0"/>
          </a:p>
        </p:txBody>
      </p:sp>
      <p:sp>
        <p:nvSpPr>
          <p:cNvPr id="13" name="Text 11"/>
          <p:cNvSpPr/>
          <p:nvPr/>
        </p:nvSpPr>
        <p:spPr>
          <a:xfrm>
            <a:off x="6939690" y="4852529"/>
            <a:ext cx="4439510" cy="571500"/>
          </a:xfrm>
          <a:prstGeom prst="roundRect">
            <a:avLst>
              <a:gd name="adj" fmla="val 22222"/>
            </a:avLst>
          </a:prstGeom>
          <a:solidFill>
            <a:srgbClr val="FBEFD5"/>
          </a:solidFill>
          <a:ln/>
        </p:spPr>
        <p:txBody>
          <a:bodyPr wrap="square" lIns="166003" tIns="115203" rIns="45010" bIns="89803" rtlCol="0" anchor="t">
            <a:normAutofit/>
          </a:bodyPr>
          <a:lstStyle/>
          <a:p>
            <a:pPr algn="l" indent="0" marL="0">
              <a:lnSpc>
                <a:spcPts val="2100"/>
              </a:lnSpc>
              <a:buNone/>
            </a:pPr>
            <a:r>
              <a:rPr lang="en-US" sz="1500" dirty="0">
                <a:solidFill>
                  <a:srgbClr val="1B2A41"/>
                </a:solidFill>
                <a:latin typeface="Rubik" pitchFamily="34" charset="0"/>
                <a:ea typeface="Rubik" pitchFamily="34" charset="-122"/>
                <a:cs typeface="Rubik" pitchFamily="34" charset="-120"/>
              </a:rPr>
              <a:t>Yesterday's </a:t>
            </a:r>
            <a:r>
              <a:rPr lang="en-US" sz="1500" dirty="0">
                <a:solidFill>
                  <a:srgbClr val="2A64A3"/>
                </a:solidFill>
                <a:latin typeface="Rubik" pitchFamily="34" charset="0"/>
                <a:ea typeface="Rubik" pitchFamily="34" charset="-122"/>
                <a:cs typeface="Rubik" pitchFamily="34" charset="-120"/>
              </a:rPr>
              <a:t>raise</a:t>
            </a:r>
            <a:r>
              <a:rPr lang="en-US" sz="1500" dirty="0">
                <a:solidFill>
                  <a:srgbClr val="1B2A41"/>
                </a:solidFill>
                <a:latin typeface="Rubik" pitchFamily="34" charset="0"/>
                <a:ea typeface="Rubik" pitchFamily="34" charset="-122"/>
                <a:cs typeface="Rubik" pitchFamily="34" charset="-120"/>
              </a:rPr>
              <a:t> now stops overdrawing.</a:t>
            </a:r>
            <a:endParaRPr lang="en-US" sz="1500" dirty="0"/>
          </a:p>
        </p:txBody>
      </p:sp>
      <p:sp>
        <p:nvSpPr>
          <p:cNvPr id="14"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7 · Class 20</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20 · __STR__</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Printing an object nicely</a:t>
            </a:r>
            <a:endParaRPr lang="en-US" sz="3200" dirty="0"/>
          </a:p>
        </p:txBody>
      </p:sp>
      <p:sp>
        <p:nvSpPr>
          <p:cNvPr id="4" name="Shape 2"/>
          <p:cNvSpPr/>
          <p:nvPr/>
        </p:nvSpPr>
        <p:spPr>
          <a:xfrm>
            <a:off x="812800" y="1854138"/>
            <a:ext cx="5461529" cy="3502620"/>
          </a:xfrm>
          <a:prstGeom prst="roundRect">
            <a:avLst>
              <a:gd name="adj" fmla="val 3626"/>
            </a:avLst>
          </a:prstGeom>
          <a:solidFill>
            <a:srgbClr val="1B2A41"/>
          </a:solidFill>
          <a:ln/>
        </p:spPr>
      </p:sp>
      <p:sp>
        <p:nvSpPr>
          <p:cNvPr id="5" name="Text 3"/>
          <p:cNvSpPr/>
          <p:nvPr/>
        </p:nvSpPr>
        <p:spPr>
          <a:xfrm>
            <a:off x="1066800" y="2031938"/>
            <a:ext cx="51021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8"/>
                </a:solidFill>
                <a:latin typeface="JetBrains Mono" pitchFamily="49" charset="0"/>
                <a:ea typeface="JetBrains Mono" pitchFamily="49" charset="-122"/>
                <a:cs typeface="JetBrains Mono" pitchFamily="49" charset="-120"/>
              </a:rPr>
              <a:t>student_str.py</a:t>
            </a:r>
            <a:endParaRPr lang="en-US" sz="1200" dirty="0"/>
          </a:p>
        </p:txBody>
      </p:sp>
      <p:sp>
        <p:nvSpPr>
          <p:cNvPr id="6" name="Text 4"/>
          <p:cNvSpPr/>
          <p:nvPr/>
        </p:nvSpPr>
        <p:spPr>
          <a:xfrm>
            <a:off x="1066800" y="2321458"/>
            <a:ext cx="5102135" cy="2882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class</a:t>
            </a:r>
            <a:r>
              <a:rPr lang="en-US" sz="1500" dirty="0">
                <a:solidFill>
                  <a:srgbClr val="E8EDF3"/>
                </a:solidFill>
                <a:latin typeface="JetBrains Mono" pitchFamily="49" charset="0"/>
                <a:ea typeface="JetBrains Mono" pitchFamily="49" charset="-122"/>
                <a:cs typeface="JetBrains Mono" pitchFamily="49" charset="-120"/>
              </a:rPr>
              <a:t> Student:</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def</a:t>
            </a:r>
            <a:r>
              <a:rPr lang="en-US" sz="1500" dirty="0">
                <a:solidFill>
                  <a:srgbClr val="E8EDF3"/>
                </a:solidFill>
                <a:latin typeface="JetBrains Mono" pitchFamily="49" charset="0"/>
                <a:ea typeface="JetBrains Mono" pitchFamily="49" charset="-122"/>
                <a:cs typeface="JetBrains Mono" pitchFamily="49" charset="-120"/>
              </a:rPr>
              <a:t> __init__(</a:t>
            </a:r>
            <a:r>
              <a:rPr lang="en-US" sz="1500" dirty="0">
                <a:solidFill>
                  <a:srgbClr val="F2B33D"/>
                </a:solidFill>
                <a:latin typeface="JetBrains Mono" pitchFamily="49" charset="0"/>
                <a:ea typeface="JetBrains Mono" pitchFamily="49" charset="-122"/>
                <a:cs typeface="JetBrains Mono" pitchFamily="49" charset="-120"/>
              </a:rPr>
              <a:t>self</a:t>
            </a:r>
            <a:r>
              <a:rPr lang="en-US" sz="1500" dirty="0">
                <a:solidFill>
                  <a:srgbClr val="E8EDF3"/>
                </a:solidFill>
                <a:latin typeface="JetBrains Mono" pitchFamily="49" charset="0"/>
                <a:ea typeface="JetBrains Mono" pitchFamily="49" charset="-122"/>
                <a:cs typeface="JetBrains Mono" pitchFamily="49" charset="-120"/>
              </a:rPr>
              <a:t>, name, roll):</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self</a:t>
            </a:r>
            <a:r>
              <a:rPr lang="en-US" sz="1500" dirty="0">
                <a:solidFill>
                  <a:srgbClr val="E8EDF3"/>
                </a:solidFill>
                <a:latin typeface="JetBrains Mono" pitchFamily="49" charset="0"/>
                <a:ea typeface="JetBrains Mono" pitchFamily="49" charset="-122"/>
                <a:cs typeface="JetBrains Mono" pitchFamily="49" charset="-120"/>
              </a:rPr>
              <a:t>.name = name</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self</a:t>
            </a:r>
            <a:r>
              <a:rPr lang="en-US" sz="1500" dirty="0">
                <a:solidFill>
                  <a:srgbClr val="E8EDF3"/>
                </a:solidFill>
                <a:latin typeface="JetBrains Mono" pitchFamily="49" charset="0"/>
                <a:ea typeface="JetBrains Mono" pitchFamily="49" charset="-122"/>
                <a:cs typeface="JetBrains Mono" pitchFamily="49" charset="-120"/>
              </a:rPr>
              <a:t>.roll = roll</a:t>
            </a:r>
            <a:endParaRPr lang="en-US" sz="1500" dirty="0"/>
          </a:p>
          <a:p>
            <a:pPr algn="l" indent="0" marL="0">
              <a:lnSpc>
                <a:spcPts val="2250"/>
              </a:lnSpc>
              <a:buNone/>
            </a:pP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def</a:t>
            </a:r>
            <a:r>
              <a:rPr lang="en-US" sz="1500" dirty="0">
                <a:solidFill>
                  <a:srgbClr val="E8EDF3"/>
                </a:solidFill>
                <a:latin typeface="JetBrains Mono" pitchFamily="49" charset="0"/>
                <a:ea typeface="JetBrains Mono" pitchFamily="49" charset="-122"/>
                <a:cs typeface="JetBrains Mono" pitchFamily="49" charset="-120"/>
              </a:rPr>
              <a:t> __str__(</a:t>
            </a:r>
            <a:r>
              <a:rPr lang="en-US" sz="1500" dirty="0">
                <a:solidFill>
                  <a:srgbClr val="F2B33D"/>
                </a:solidFill>
                <a:latin typeface="JetBrains Mono" pitchFamily="49" charset="0"/>
                <a:ea typeface="JetBrains Mono" pitchFamily="49" charset="-122"/>
                <a:cs typeface="JetBrains Mono" pitchFamily="49" charset="-120"/>
              </a:rPr>
              <a:t>self</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return</a:t>
            </a: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9FD8A8"/>
                </a:solidFill>
                <a:latin typeface="JetBrains Mono" pitchFamily="49" charset="0"/>
                <a:ea typeface="JetBrains Mono" pitchFamily="49" charset="-122"/>
                <a:cs typeface="JetBrains Mono" pitchFamily="49" charset="-120"/>
              </a:rPr>
              <a:t>f"{self.roll}: {self.name}"</a:t>
            </a:r>
            <a:endParaRPr lang="en-US" sz="1500" dirty="0"/>
          </a:p>
          <a:p>
            <a:pPr algn="l" indent="0" marL="0">
              <a:lnSpc>
                <a:spcPts val="2250"/>
              </a:lnSpc>
              <a:buNone/>
            </a:pP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s = Student(</a:t>
            </a:r>
            <a:r>
              <a:rPr lang="en-US" sz="1500" dirty="0">
                <a:solidFill>
                  <a:srgbClr val="9FD8A8"/>
                </a:solidFill>
                <a:latin typeface="JetBrains Mono" pitchFamily="49" charset="0"/>
                <a:ea typeface="JetBrains Mono" pitchFamily="49" charset="-122"/>
                <a:cs typeface="JetBrains Mono" pitchFamily="49" charset="-120"/>
              </a:rPr>
              <a:t>"Ananya"</a:t>
            </a:r>
            <a:r>
              <a:rPr lang="en-US" sz="1500" dirty="0">
                <a:solidFill>
                  <a:srgbClr val="E8EDF3"/>
                </a:solidFill>
                <a:latin typeface="JetBrains Mono" pitchFamily="49" charset="0"/>
                <a:ea typeface="JetBrains Mono" pitchFamily="49" charset="-122"/>
                <a:cs typeface="JetBrains Mono" pitchFamily="49" charset="-120"/>
              </a:rPr>
              <a:t>, 21)</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(s)</a:t>
            </a:r>
            <a:endParaRPr lang="en-US" sz="1500" dirty="0"/>
          </a:p>
        </p:txBody>
      </p:sp>
      <p:sp>
        <p:nvSpPr>
          <p:cNvPr id="7" name="Shape 5"/>
          <p:cNvSpPr/>
          <p:nvPr/>
        </p:nvSpPr>
        <p:spPr>
          <a:xfrm>
            <a:off x="6636279" y="1860488"/>
            <a:ext cx="4736571" cy="943570"/>
          </a:xfrm>
          <a:prstGeom prst="roundRect">
            <a:avLst>
              <a:gd name="adj" fmla="val 12787"/>
            </a:avLst>
          </a:prstGeom>
          <a:solidFill>
            <a:srgbClr val="FFFDF8"/>
          </a:solidFill>
          <a:ln w="12700">
            <a:solidFill>
              <a:srgbClr val="D9DEE5"/>
            </a:solidFill>
            <a:prstDash val="solid"/>
          </a:ln>
        </p:spPr>
      </p:sp>
      <p:sp>
        <p:nvSpPr>
          <p:cNvPr id="8" name="Text 6"/>
          <p:cNvSpPr/>
          <p:nvPr/>
        </p:nvSpPr>
        <p:spPr>
          <a:xfrm>
            <a:off x="6896629" y="2044638"/>
            <a:ext cx="4342347"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OUTPUT</a:t>
            </a:r>
            <a:endParaRPr lang="en-US" sz="1200" dirty="0"/>
          </a:p>
        </p:txBody>
      </p:sp>
      <p:sp>
        <p:nvSpPr>
          <p:cNvPr id="9" name="Text 7"/>
          <p:cNvSpPr/>
          <p:nvPr/>
        </p:nvSpPr>
        <p:spPr>
          <a:xfrm>
            <a:off x="6896629" y="2334158"/>
            <a:ext cx="4342347" cy="311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21: Ananya</a:t>
            </a:r>
            <a:endParaRPr lang="en-US" sz="1500" dirty="0"/>
          </a:p>
        </p:txBody>
      </p:sp>
      <p:sp>
        <p:nvSpPr>
          <p:cNvPr id="10" name="Shape 8"/>
          <p:cNvSpPr/>
          <p:nvPr/>
        </p:nvSpPr>
        <p:spPr>
          <a:xfrm>
            <a:off x="6636279" y="2943758"/>
            <a:ext cx="4736571" cy="1176007"/>
          </a:xfrm>
          <a:prstGeom prst="roundRect">
            <a:avLst>
              <a:gd name="adj" fmla="val 8099"/>
            </a:avLst>
          </a:prstGeom>
          <a:solidFill>
            <a:srgbClr val="FFFDF8"/>
          </a:solidFill>
          <a:ln w="12700">
            <a:solidFill>
              <a:srgbClr val="E2DED3"/>
            </a:solidFill>
            <a:prstDash val="solid"/>
          </a:ln>
        </p:spPr>
      </p:sp>
      <p:sp>
        <p:nvSpPr>
          <p:cNvPr id="11" name="Text 9"/>
          <p:cNvSpPr/>
          <p:nvPr/>
        </p:nvSpPr>
        <p:spPr>
          <a:xfrm>
            <a:off x="6845829" y="3102508"/>
            <a:ext cx="4446995"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Without __str__</a:t>
            </a:r>
            <a:endParaRPr lang="en-US" sz="1800" dirty="0"/>
          </a:p>
        </p:txBody>
      </p:sp>
      <p:sp>
        <p:nvSpPr>
          <p:cNvPr id="12" name="Text 10"/>
          <p:cNvSpPr/>
          <p:nvPr/>
        </p:nvSpPr>
        <p:spPr>
          <a:xfrm>
            <a:off x="6845829" y="3427611"/>
            <a:ext cx="4446995"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print(s) shows something like </a:t>
            </a:r>
            <a:r>
              <a:rPr lang="en-US" sz="1500" dirty="0">
                <a:solidFill>
                  <a:srgbClr val="2A64A3"/>
                </a:solidFill>
                <a:latin typeface="Rubik" pitchFamily="34" charset="0"/>
                <a:ea typeface="Rubik" pitchFamily="34" charset="-122"/>
                <a:cs typeface="Rubik" pitchFamily="34" charset="-120"/>
              </a:rPr>
              <a:t>&lt;__main__.Student object at 0x7f…&gt;</a:t>
            </a:r>
            <a:endParaRPr lang="en-US" sz="1500" dirty="0"/>
          </a:p>
        </p:txBody>
      </p:sp>
      <p:sp>
        <p:nvSpPr>
          <p:cNvPr id="13" name="Shape 11"/>
          <p:cNvSpPr/>
          <p:nvPr/>
        </p:nvSpPr>
        <p:spPr>
          <a:xfrm>
            <a:off x="6636279" y="4259461"/>
            <a:ext cx="4736571" cy="909307"/>
          </a:xfrm>
          <a:prstGeom prst="roundRect">
            <a:avLst>
              <a:gd name="adj" fmla="val 10475"/>
            </a:avLst>
          </a:prstGeom>
          <a:solidFill>
            <a:srgbClr val="FFFDF8"/>
          </a:solidFill>
          <a:ln w="12700">
            <a:solidFill>
              <a:srgbClr val="E2DED3"/>
            </a:solidFill>
            <a:prstDash val="solid"/>
          </a:ln>
        </p:spPr>
      </p:sp>
      <p:sp>
        <p:nvSpPr>
          <p:cNvPr id="14" name="Text 12"/>
          <p:cNvSpPr/>
          <p:nvPr/>
        </p:nvSpPr>
        <p:spPr>
          <a:xfrm>
            <a:off x="6845829" y="4418211"/>
            <a:ext cx="4446995"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With __str__</a:t>
            </a:r>
            <a:endParaRPr lang="en-US" sz="1800" dirty="0"/>
          </a:p>
        </p:txBody>
      </p:sp>
      <p:sp>
        <p:nvSpPr>
          <p:cNvPr id="15" name="Text 13"/>
          <p:cNvSpPr/>
          <p:nvPr/>
        </p:nvSpPr>
        <p:spPr>
          <a:xfrm>
            <a:off x="6845829" y="4743320"/>
            <a:ext cx="4446995"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print(s) uses the text your method returns</a:t>
            </a:r>
            <a:endParaRPr lang="en-US" sz="15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7 · Class 20</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6EE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20 · PRACTICE</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Your turn: four programs</a:t>
            </a:r>
            <a:endParaRPr lang="en-US" sz="3200" dirty="0"/>
          </a:p>
        </p:txBody>
      </p:sp>
      <p:sp>
        <p:nvSpPr>
          <p:cNvPr id="4" name="Shape 2"/>
          <p:cNvSpPr/>
          <p:nvPr/>
        </p:nvSpPr>
        <p:spPr>
          <a:xfrm>
            <a:off x="819150" y="1809688"/>
            <a:ext cx="2476500" cy="2519627"/>
          </a:xfrm>
          <a:prstGeom prst="roundRect">
            <a:avLst>
              <a:gd name="adj" fmla="val 4872"/>
            </a:avLst>
          </a:prstGeom>
          <a:solidFill>
            <a:srgbClr val="FBFCFE"/>
          </a:solidFill>
          <a:ln w="12700">
            <a:solidFill>
              <a:srgbClr val="C9D7E8"/>
            </a:solidFill>
            <a:prstDash val="solid"/>
          </a:ln>
        </p:spPr>
      </p:sp>
      <p:sp>
        <p:nvSpPr>
          <p:cNvPr id="5" name="Text 3"/>
          <p:cNvSpPr/>
          <p:nvPr/>
        </p:nvSpPr>
        <p:spPr>
          <a:xfrm>
            <a:off x="1028700" y="2019238"/>
            <a:ext cx="681897" cy="289520"/>
          </a:xfrm>
          <a:custGeom>
            <a:avLst/>
            <a:gdLst/>
            <a:ahLst/>
            <a:cxnLst/>
            <a:rect l="l" t="t" r="r" b="b"/>
            <a:pathLst>
              <a:path w="681897" h="289520">
                <a:moveTo>
                  <a:pt x="144760" y="0"/>
                </a:moveTo>
                <a:lnTo>
                  <a:pt x="537137" y="0"/>
                </a:lnTo>
                <a:arcTo hR="144760" wR="144760" stAng="16200000" swAng="5400000"/>
                <a:lnTo>
                  <a:pt x="681897"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Task 1</a:t>
            </a:r>
            <a:endParaRPr lang="en-US" sz="1200" dirty="0"/>
          </a:p>
        </p:txBody>
      </p:sp>
      <p:sp>
        <p:nvSpPr>
          <p:cNvPr id="6" name="Text 4"/>
          <p:cNvSpPr/>
          <p:nvPr/>
        </p:nvSpPr>
        <p:spPr>
          <a:xfrm>
            <a:off x="1028700" y="2410358"/>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Rectangle</a:t>
            </a:r>
            <a:endParaRPr lang="en-US" sz="1800" dirty="0"/>
          </a:p>
        </p:txBody>
      </p:sp>
      <p:sp>
        <p:nvSpPr>
          <p:cNvPr id="7" name="Text 5"/>
          <p:cNvSpPr/>
          <p:nvPr/>
        </p:nvSpPr>
        <p:spPr>
          <a:xfrm>
            <a:off x="1028700" y="2786261"/>
            <a:ext cx="211912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Class with length and breadth, and methods area() and perimeter().</a:t>
            </a:r>
            <a:endParaRPr lang="en-US" sz="1500" dirty="0"/>
          </a:p>
        </p:txBody>
      </p:sp>
      <p:sp>
        <p:nvSpPr>
          <p:cNvPr id="8" name="Shape 6"/>
          <p:cNvSpPr/>
          <p:nvPr/>
        </p:nvSpPr>
        <p:spPr>
          <a:xfrm>
            <a:off x="3511550" y="1809688"/>
            <a:ext cx="2476500" cy="2519627"/>
          </a:xfrm>
          <a:prstGeom prst="roundRect">
            <a:avLst>
              <a:gd name="adj" fmla="val 4872"/>
            </a:avLst>
          </a:prstGeom>
          <a:solidFill>
            <a:srgbClr val="FBFCFE"/>
          </a:solidFill>
          <a:ln w="12700">
            <a:solidFill>
              <a:srgbClr val="C9D7E8"/>
            </a:solidFill>
            <a:prstDash val="solid"/>
          </a:ln>
        </p:spPr>
      </p:sp>
      <p:sp>
        <p:nvSpPr>
          <p:cNvPr id="9" name="Text 7"/>
          <p:cNvSpPr/>
          <p:nvPr/>
        </p:nvSpPr>
        <p:spPr>
          <a:xfrm>
            <a:off x="3721100" y="2019238"/>
            <a:ext cx="705181" cy="289520"/>
          </a:xfrm>
          <a:custGeom>
            <a:avLst/>
            <a:gdLst/>
            <a:ahLst/>
            <a:cxnLst/>
            <a:rect l="l" t="t" r="r" b="b"/>
            <a:pathLst>
              <a:path w="705181" h="289520">
                <a:moveTo>
                  <a:pt x="144760" y="0"/>
                </a:moveTo>
                <a:lnTo>
                  <a:pt x="560421" y="0"/>
                </a:lnTo>
                <a:arcTo hR="144760" wR="144760" stAng="16200000" swAng="5400000"/>
                <a:lnTo>
                  <a:pt x="705181"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Task 2</a:t>
            </a:r>
            <a:endParaRPr lang="en-US" sz="1200" dirty="0"/>
          </a:p>
        </p:txBody>
      </p:sp>
      <p:sp>
        <p:nvSpPr>
          <p:cNvPr id="10" name="Text 8"/>
          <p:cNvSpPr/>
          <p:nvPr/>
        </p:nvSpPr>
        <p:spPr>
          <a:xfrm>
            <a:off x="3721100" y="2410358"/>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Bank menu</a:t>
            </a:r>
            <a:endParaRPr lang="en-US" sz="1800" dirty="0"/>
          </a:p>
        </p:txBody>
      </p:sp>
      <p:sp>
        <p:nvSpPr>
          <p:cNvPr id="11" name="Text 9"/>
          <p:cNvSpPr/>
          <p:nvPr/>
        </p:nvSpPr>
        <p:spPr>
          <a:xfrm>
            <a:off x="3721100" y="2786261"/>
            <a:ext cx="2119122"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Menu loop for one Account: deposit, withdraw, balance, exit.</a:t>
            </a:r>
            <a:endParaRPr lang="en-US" sz="1500" dirty="0"/>
          </a:p>
        </p:txBody>
      </p:sp>
      <p:sp>
        <p:nvSpPr>
          <p:cNvPr id="12" name="Shape 10"/>
          <p:cNvSpPr/>
          <p:nvPr/>
        </p:nvSpPr>
        <p:spPr>
          <a:xfrm>
            <a:off x="6203950" y="1809688"/>
            <a:ext cx="2476500" cy="2519627"/>
          </a:xfrm>
          <a:prstGeom prst="roundRect">
            <a:avLst>
              <a:gd name="adj" fmla="val 4872"/>
            </a:avLst>
          </a:prstGeom>
          <a:solidFill>
            <a:srgbClr val="FBFCFE"/>
          </a:solidFill>
          <a:ln w="12700">
            <a:solidFill>
              <a:srgbClr val="C9D7E8"/>
            </a:solidFill>
            <a:prstDash val="solid"/>
          </a:ln>
        </p:spPr>
      </p:sp>
      <p:sp>
        <p:nvSpPr>
          <p:cNvPr id="13" name="Text 11"/>
          <p:cNvSpPr/>
          <p:nvPr/>
        </p:nvSpPr>
        <p:spPr>
          <a:xfrm>
            <a:off x="6413500" y="2019238"/>
            <a:ext cx="706570" cy="289520"/>
          </a:xfrm>
          <a:custGeom>
            <a:avLst/>
            <a:gdLst/>
            <a:ahLst/>
            <a:cxnLst/>
            <a:rect l="l" t="t" r="r" b="b"/>
            <a:pathLst>
              <a:path w="706570" h="289520">
                <a:moveTo>
                  <a:pt x="144760" y="0"/>
                </a:moveTo>
                <a:lnTo>
                  <a:pt x="561810" y="0"/>
                </a:lnTo>
                <a:arcTo hR="144760" wR="144760" stAng="16200000" swAng="5400000"/>
                <a:lnTo>
                  <a:pt x="706570"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Task 3</a:t>
            </a:r>
            <a:endParaRPr lang="en-US" sz="1200" dirty="0"/>
          </a:p>
        </p:txBody>
      </p:sp>
      <p:sp>
        <p:nvSpPr>
          <p:cNvPr id="14" name="Text 12"/>
          <p:cNvSpPr/>
          <p:nvPr/>
        </p:nvSpPr>
        <p:spPr>
          <a:xfrm>
            <a:off x="6413500" y="2410358"/>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Book</a:t>
            </a:r>
            <a:endParaRPr lang="en-US" sz="1800" dirty="0"/>
          </a:p>
        </p:txBody>
      </p:sp>
      <p:sp>
        <p:nvSpPr>
          <p:cNvPr id="15" name="Text 13"/>
          <p:cNvSpPr/>
          <p:nvPr/>
        </p:nvSpPr>
        <p:spPr>
          <a:xfrm>
            <a:off x="6413500" y="2786261"/>
            <a:ext cx="2119122" cy="13589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Class Book(title, author, price) with __str__ and apply_discount(percent).</a:t>
            </a:r>
            <a:endParaRPr lang="en-US" sz="1500" dirty="0"/>
          </a:p>
        </p:txBody>
      </p:sp>
      <p:sp>
        <p:nvSpPr>
          <p:cNvPr id="16" name="Shape 14"/>
          <p:cNvSpPr/>
          <p:nvPr/>
        </p:nvSpPr>
        <p:spPr>
          <a:xfrm>
            <a:off x="8896350" y="1809688"/>
            <a:ext cx="2476500" cy="2519627"/>
          </a:xfrm>
          <a:prstGeom prst="roundRect">
            <a:avLst>
              <a:gd name="adj" fmla="val 4872"/>
            </a:avLst>
          </a:prstGeom>
          <a:solidFill>
            <a:srgbClr val="FBFCFE"/>
          </a:solidFill>
          <a:ln w="12700">
            <a:solidFill>
              <a:srgbClr val="C9D7E8"/>
            </a:solidFill>
            <a:prstDash val="solid"/>
          </a:ln>
        </p:spPr>
      </p:sp>
      <p:sp>
        <p:nvSpPr>
          <p:cNvPr id="17" name="Text 15"/>
          <p:cNvSpPr/>
          <p:nvPr/>
        </p:nvSpPr>
        <p:spPr>
          <a:xfrm>
            <a:off x="9105900" y="2019238"/>
            <a:ext cx="710076" cy="289520"/>
          </a:xfrm>
          <a:custGeom>
            <a:avLst/>
            <a:gdLst/>
            <a:ahLst/>
            <a:cxnLst/>
            <a:rect l="l" t="t" r="r" b="b"/>
            <a:pathLst>
              <a:path w="710076" h="289520">
                <a:moveTo>
                  <a:pt x="144760" y="0"/>
                </a:moveTo>
                <a:lnTo>
                  <a:pt x="565315" y="0"/>
                </a:lnTo>
                <a:arcTo hR="144760" wR="144760" stAng="16200000" swAng="5400000"/>
                <a:lnTo>
                  <a:pt x="710076"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Task 4</a:t>
            </a:r>
            <a:endParaRPr lang="en-US" sz="1200" dirty="0"/>
          </a:p>
        </p:txBody>
      </p:sp>
      <p:sp>
        <p:nvSpPr>
          <p:cNvPr id="18" name="Text 16"/>
          <p:cNvSpPr/>
          <p:nvPr/>
        </p:nvSpPr>
        <p:spPr>
          <a:xfrm>
            <a:off x="9105900" y="2410358"/>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Class list</a:t>
            </a:r>
            <a:endParaRPr lang="en-US" sz="1800" dirty="0"/>
          </a:p>
        </p:txBody>
      </p:sp>
      <p:sp>
        <p:nvSpPr>
          <p:cNvPr id="19" name="Text 17"/>
          <p:cNvSpPr/>
          <p:nvPr/>
        </p:nvSpPr>
        <p:spPr>
          <a:xfrm>
            <a:off x="9105900" y="2786261"/>
            <a:ext cx="211912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Make a list of 3 Student objects and print the topper.</a:t>
            </a:r>
            <a:endParaRPr lang="en-US" sz="1500" dirty="0"/>
          </a:p>
        </p:txBody>
      </p:sp>
      <p:sp>
        <p:nvSpPr>
          <p:cNvPr id="20" name="Shape 18"/>
          <p:cNvSpPr/>
          <p:nvPr/>
        </p:nvSpPr>
        <p:spPr>
          <a:xfrm>
            <a:off x="812800" y="4589661"/>
            <a:ext cx="10566400" cy="622300"/>
          </a:xfrm>
          <a:prstGeom prst="roundRect">
            <a:avLst>
              <a:gd name="adj" fmla="val 20408"/>
            </a:avLst>
          </a:prstGeom>
          <a:solidFill>
            <a:srgbClr val="1B2A41"/>
          </a:solidFill>
          <a:ln/>
        </p:spPr>
      </p:sp>
      <p:sp>
        <p:nvSpPr>
          <p:cNvPr id="21" name="Text 19"/>
          <p:cNvSpPr/>
          <p:nvPr/>
        </p:nvSpPr>
        <p:spPr>
          <a:xfrm>
            <a:off x="1066800" y="4794126"/>
            <a:ext cx="121569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B33D"/>
                </a:solidFill>
                <a:latin typeface="Rubik" pitchFamily="34" charset="0"/>
                <a:ea typeface="Rubik" pitchFamily="34" charset="-122"/>
                <a:cs typeface="Rubik" pitchFamily="34" charset="-120"/>
              </a:rPr>
              <a:t>HOMEWORK</a:t>
            </a:r>
            <a:endParaRPr lang="en-US" sz="1200" dirty="0"/>
          </a:p>
        </p:txBody>
      </p:sp>
      <p:sp>
        <p:nvSpPr>
          <p:cNvPr id="22" name="Text 20"/>
          <p:cNvSpPr/>
          <p:nvPr/>
        </p:nvSpPr>
        <p:spPr>
          <a:xfrm>
            <a:off x="2282494" y="4767461"/>
            <a:ext cx="4303871"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7F5EF"/>
                </a:solidFill>
                <a:latin typeface="Rubik" pitchFamily="34" charset="0"/>
                <a:ea typeface="Rubik" pitchFamily="34" charset="-122"/>
                <a:cs typeface="Rubik" pitchFamily="34" charset="-120"/>
              </a:rPr>
              <a:t>Read on W3Schools: </a:t>
            </a:r>
            <a:r>
              <a:rPr lang="en-US" sz="1500" u="sng" dirty="0">
                <a:solidFill>
                  <a:srgbClr val="F2B33D"/>
                </a:solidFill>
                <a:latin typeface="Rubik" pitchFamily="34" charset="0"/>
                <a:ea typeface="Rubik" pitchFamily="34" charset="-122"/>
                <a:cs typeface="Rubik" pitchFamily="34" charset="-120"/>
                <a:hlinkClick r:id="rId1" invalidUrl="" action="" tgtFrame="" tooltip="" history="1" highlightClick="0" endSnd="0">
                  <a:extLst>
                    <a:ext uri="{A12FA001-AC4F-418D-AE19-62706E023703}">
                      <ahyp:hlinkClr xmlns:ahyp="http://schemas.microsoft.com/office/drawing/2018/hyperlinkcolor" val="tx"/>
                    </a:ext>
                  </a:extLst>
                </a:hlinkClick>
              </a:rPr>
              <a:t>Classes and objects</a:t>
            </a:r>
            <a:endParaRPr lang="en-US" sz="1500" dirty="0"/>
          </a:p>
        </p:txBody>
      </p:sp>
      <p:sp>
        <p:nvSpPr>
          <p:cNvPr id="23" name="Text 2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7 · Class 20</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2B33D"/>
        </a:solidFill>
      </p:bgPr>
    </p:bg>
    <p:spTree>
      <p:nvGrpSpPr>
        <p:cNvPr id="1" name=""/>
        <p:cNvGrpSpPr/>
        <p:nvPr/>
      </p:nvGrpSpPr>
      <p:grpSpPr>
        <a:xfrm>
          <a:off x="0" y="0"/>
          <a:ext cx="0" cy="0"/>
          <a:chOff x="0" y="0"/>
          <a:chExt cx="0" cy="0"/>
        </a:xfrm>
      </p:grpSpPr>
      <p:sp>
        <p:nvSpPr>
          <p:cNvPr id="2" name="Text 0"/>
          <p:cNvSpPr/>
          <p:nvPr/>
        </p:nvSpPr>
        <p:spPr>
          <a:xfrm>
            <a:off x="812800" y="2504480"/>
            <a:ext cx="512775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1B2A41"/>
                </a:solidFill>
                <a:latin typeface="Rubik" pitchFamily="34" charset="0"/>
                <a:ea typeface="Rubik" pitchFamily="34" charset="-122"/>
                <a:cs typeface="Rubik" pitchFamily="34" charset="-120"/>
              </a:rPr>
              <a:t>CLASS 21 OF 24</a:t>
            </a:r>
            <a:endParaRPr lang="en-US" sz="1200" dirty="0"/>
          </a:p>
        </p:txBody>
      </p:sp>
      <p:sp>
        <p:nvSpPr>
          <p:cNvPr id="3" name="Text 1"/>
          <p:cNvSpPr/>
          <p:nvPr>
            <p:ph type="title"/>
          </p:nvPr>
        </p:nvSpPr>
        <p:spPr>
          <a:xfrm>
            <a:off x="812800" y="2895600"/>
            <a:ext cx="5127752" cy="665427"/>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1B2A41"/>
                </a:solidFill>
                <a:latin typeface="Rubik" pitchFamily="34" charset="0"/>
                <a:ea typeface="Rubik" pitchFamily="34" charset="-122"/>
                <a:cs typeface="Rubik" pitchFamily="34" charset="-120"/>
              </a:rPr>
              <a:t>Inheritance</a:t>
            </a:r>
            <a:endParaRPr lang="en-US" sz="4800" dirty="0"/>
          </a:p>
        </p:txBody>
      </p:sp>
      <p:sp>
        <p:nvSpPr>
          <p:cNvPr id="4" name="Text 2"/>
          <p:cNvSpPr/>
          <p:nvPr/>
        </p:nvSpPr>
        <p:spPr>
          <a:xfrm>
            <a:off x="812800" y="3713435"/>
            <a:ext cx="5127752" cy="665427"/>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B2A41"/>
                </a:solidFill>
                <a:latin typeface="Rubik" pitchFamily="34" charset="0"/>
                <a:ea typeface="Rubik" pitchFamily="34" charset="-122"/>
                <a:cs typeface="Rubik" pitchFamily="34" charset="-120"/>
              </a:rPr>
              <a:t>Build new classes on top of old ones instead of starting again</a:t>
            </a:r>
            <a:endParaRPr lang="en-US" sz="1800" dirty="0"/>
          </a:p>
        </p:txBody>
      </p:sp>
      <p:sp>
        <p:nvSpPr>
          <p:cNvPr id="5" name="Shape 3"/>
          <p:cNvSpPr/>
          <p:nvPr/>
        </p:nvSpPr>
        <p:spPr>
          <a:xfrm>
            <a:off x="6400800" y="2098018"/>
            <a:ext cx="4978400" cy="2661907"/>
          </a:xfrm>
          <a:prstGeom prst="roundRect">
            <a:avLst>
              <a:gd name="adj" fmla="val 5725"/>
            </a:avLst>
          </a:prstGeom>
          <a:solidFill>
            <a:srgbClr val="1B2A41"/>
          </a:solidFill>
          <a:ln/>
        </p:spPr>
      </p:sp>
      <p:sp>
        <p:nvSpPr>
          <p:cNvPr id="6" name="Text 4"/>
          <p:cNvSpPr/>
          <p:nvPr/>
        </p:nvSpPr>
        <p:spPr>
          <a:xfrm>
            <a:off x="6756400" y="2453618"/>
            <a:ext cx="4395216"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2B33D"/>
                </a:solidFill>
                <a:latin typeface="Rubik" pitchFamily="34" charset="0"/>
                <a:ea typeface="Rubik" pitchFamily="34" charset="-122"/>
                <a:cs typeface="Rubik" pitchFamily="34" charset="-120"/>
              </a:rPr>
              <a:t>By the end of today you can</a:t>
            </a:r>
            <a:endParaRPr lang="en-US" sz="1800" dirty="0"/>
          </a:p>
        </p:txBody>
      </p:sp>
      <p:sp>
        <p:nvSpPr>
          <p:cNvPr id="7" name="Text 5"/>
          <p:cNvSpPr/>
          <p:nvPr/>
        </p:nvSpPr>
        <p:spPr>
          <a:xfrm>
            <a:off x="6840220" y="2880320"/>
            <a:ext cx="4303776" cy="1549400"/>
          </a:xfrm>
          <a:prstGeom prst="rect">
            <a:avLst/>
          </a:prstGeom>
          <a:noFill/>
          <a:ln/>
        </p:spPr>
        <p:txBody>
          <a:bodyPr wrap="square" lIns="0" tIns="0" rIns="0" bIns="0" rtlCol="0" anchor="t">
            <a:normAutofit/>
          </a:bodyPr>
          <a:lstStyle/>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Make a child class from a parent</a:t>
            </a:r>
            <a:endParaRPr lang="en-US" sz="1500" dirty="0"/>
          </a:p>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Call the parent with super()</a:t>
            </a:r>
            <a:endParaRPr lang="en-US" sz="1500" dirty="0"/>
          </a:p>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Override a method</a:t>
            </a:r>
            <a:endParaRPr lang="en-US" sz="1500" dirty="0"/>
          </a:p>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Use one loop for many kinds of objects</a:t>
            </a:r>
            <a:endParaRPr lang="en-US" sz="1500" dirty="0"/>
          </a:p>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Explain the four pillars of OOP</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21 · INHERITANCE</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A Student is a Person</a:t>
            </a:r>
            <a:endParaRPr lang="en-US" sz="3200" dirty="0"/>
          </a:p>
        </p:txBody>
      </p:sp>
      <p:sp>
        <p:nvSpPr>
          <p:cNvPr id="4" name="Shape 2"/>
          <p:cNvSpPr/>
          <p:nvPr/>
        </p:nvSpPr>
        <p:spPr>
          <a:xfrm>
            <a:off x="812800" y="1854138"/>
            <a:ext cx="5672667" cy="3216870"/>
          </a:xfrm>
          <a:prstGeom prst="roundRect">
            <a:avLst>
              <a:gd name="adj" fmla="val 3948"/>
            </a:avLst>
          </a:prstGeom>
          <a:solidFill>
            <a:srgbClr val="1B2A41"/>
          </a:solidFill>
          <a:ln/>
        </p:spPr>
      </p:sp>
      <p:sp>
        <p:nvSpPr>
          <p:cNvPr id="5" name="Text 3"/>
          <p:cNvSpPr/>
          <p:nvPr/>
        </p:nvSpPr>
        <p:spPr>
          <a:xfrm>
            <a:off x="1066800" y="2031938"/>
            <a:ext cx="531960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8"/>
                </a:solidFill>
                <a:latin typeface="JetBrains Mono" pitchFamily="49" charset="0"/>
                <a:ea typeface="JetBrains Mono" pitchFamily="49" charset="-122"/>
                <a:cs typeface="JetBrains Mono" pitchFamily="49" charset="-120"/>
              </a:rPr>
              <a:t>people.py</a:t>
            </a:r>
            <a:endParaRPr lang="en-US" sz="1200" dirty="0"/>
          </a:p>
        </p:txBody>
      </p:sp>
      <p:sp>
        <p:nvSpPr>
          <p:cNvPr id="6" name="Text 4"/>
          <p:cNvSpPr/>
          <p:nvPr/>
        </p:nvSpPr>
        <p:spPr>
          <a:xfrm>
            <a:off x="1066800" y="2321458"/>
            <a:ext cx="5319607" cy="2597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class</a:t>
            </a:r>
            <a:r>
              <a:rPr lang="en-US" sz="1500" dirty="0">
                <a:solidFill>
                  <a:srgbClr val="E8EDF3"/>
                </a:solidFill>
                <a:latin typeface="JetBrains Mono" pitchFamily="49" charset="0"/>
                <a:ea typeface="JetBrains Mono" pitchFamily="49" charset="-122"/>
                <a:cs typeface="JetBrains Mono" pitchFamily="49" charset="-120"/>
              </a:rPr>
              <a:t> Person:</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def</a:t>
            </a:r>
            <a:r>
              <a:rPr lang="en-US" sz="1500" dirty="0">
                <a:solidFill>
                  <a:srgbClr val="E8EDF3"/>
                </a:solidFill>
                <a:latin typeface="JetBrains Mono" pitchFamily="49" charset="0"/>
                <a:ea typeface="JetBrains Mono" pitchFamily="49" charset="-122"/>
                <a:cs typeface="JetBrains Mono" pitchFamily="49" charset="-120"/>
              </a:rPr>
              <a:t> __init__(</a:t>
            </a:r>
            <a:r>
              <a:rPr lang="en-US" sz="1500" dirty="0">
                <a:solidFill>
                  <a:srgbClr val="F2B33D"/>
                </a:solidFill>
                <a:latin typeface="JetBrains Mono" pitchFamily="49" charset="0"/>
                <a:ea typeface="JetBrains Mono" pitchFamily="49" charset="-122"/>
                <a:cs typeface="JetBrains Mono" pitchFamily="49" charset="-120"/>
              </a:rPr>
              <a:t>self</a:t>
            </a:r>
            <a:r>
              <a:rPr lang="en-US" sz="1500" dirty="0">
                <a:solidFill>
                  <a:srgbClr val="E8EDF3"/>
                </a:solidFill>
                <a:latin typeface="JetBrains Mono" pitchFamily="49" charset="0"/>
                <a:ea typeface="JetBrains Mono" pitchFamily="49" charset="-122"/>
                <a:cs typeface="JetBrains Mono" pitchFamily="49" charset="-120"/>
              </a:rPr>
              <a:t>, name):</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self</a:t>
            </a:r>
            <a:r>
              <a:rPr lang="en-US" sz="1500" dirty="0">
                <a:solidFill>
                  <a:srgbClr val="E8EDF3"/>
                </a:solidFill>
                <a:latin typeface="JetBrains Mono" pitchFamily="49" charset="0"/>
                <a:ea typeface="JetBrains Mono" pitchFamily="49" charset="-122"/>
                <a:cs typeface="JetBrains Mono" pitchFamily="49" charset="-120"/>
              </a:rPr>
              <a:t>.name = name</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def</a:t>
            </a:r>
            <a:r>
              <a:rPr lang="en-US" sz="1500" dirty="0">
                <a:solidFill>
                  <a:srgbClr val="E8EDF3"/>
                </a:solidFill>
                <a:latin typeface="JetBrains Mono" pitchFamily="49" charset="0"/>
                <a:ea typeface="JetBrains Mono" pitchFamily="49" charset="-122"/>
                <a:cs typeface="JetBrains Mono" pitchFamily="49" charset="-120"/>
              </a:rPr>
              <a:t> greet(</a:t>
            </a:r>
            <a:r>
              <a:rPr lang="en-US" sz="1500" dirty="0">
                <a:solidFill>
                  <a:srgbClr val="F2B33D"/>
                </a:solidFill>
                <a:latin typeface="JetBrains Mono" pitchFamily="49" charset="0"/>
                <a:ea typeface="JetBrains Mono" pitchFamily="49" charset="-122"/>
                <a:cs typeface="JetBrains Mono" pitchFamily="49" charset="-120"/>
              </a:rPr>
              <a:t>self</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"Namaskar, I am"</a:t>
            </a: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self</a:t>
            </a:r>
            <a:r>
              <a:rPr lang="en-US" sz="1500" dirty="0">
                <a:solidFill>
                  <a:srgbClr val="E8EDF3"/>
                </a:solidFill>
                <a:latin typeface="JetBrains Mono" pitchFamily="49" charset="0"/>
                <a:ea typeface="JetBrains Mono" pitchFamily="49" charset="-122"/>
                <a:cs typeface="JetBrains Mono" pitchFamily="49" charset="-120"/>
              </a:rPr>
              <a:t>.name)</a:t>
            </a:r>
            <a:endParaRPr lang="en-US" sz="1500" dirty="0"/>
          </a:p>
          <a:p>
            <a:pPr algn="l" indent="0" marL="0">
              <a:lnSpc>
                <a:spcPts val="2250"/>
              </a:lnSpc>
              <a:buNone/>
            </a:pP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class</a:t>
            </a:r>
            <a:r>
              <a:rPr lang="en-US" sz="1500" dirty="0">
                <a:solidFill>
                  <a:srgbClr val="E8EDF3"/>
                </a:solidFill>
                <a:latin typeface="JetBrains Mono" pitchFamily="49" charset="0"/>
                <a:ea typeface="JetBrains Mono" pitchFamily="49" charset="-122"/>
                <a:cs typeface="JetBrains Mono" pitchFamily="49" charset="-120"/>
              </a:rPr>
              <a:t> Student(Person):</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def</a:t>
            </a:r>
            <a:r>
              <a:rPr lang="en-US" sz="1500" dirty="0">
                <a:solidFill>
                  <a:srgbClr val="E8EDF3"/>
                </a:solidFill>
                <a:latin typeface="JetBrains Mono" pitchFamily="49" charset="0"/>
                <a:ea typeface="JetBrains Mono" pitchFamily="49" charset="-122"/>
                <a:cs typeface="JetBrains Mono" pitchFamily="49" charset="-120"/>
              </a:rPr>
              <a:t> study(</a:t>
            </a:r>
            <a:r>
              <a:rPr lang="en-US" sz="1500" dirty="0">
                <a:solidFill>
                  <a:srgbClr val="F2B33D"/>
                </a:solidFill>
                <a:latin typeface="JetBrains Mono" pitchFamily="49" charset="0"/>
                <a:ea typeface="JetBrains Mono" pitchFamily="49" charset="-122"/>
                <a:cs typeface="JetBrains Mono" pitchFamily="49" charset="-120"/>
              </a:rPr>
              <a:t>self</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F2B33D"/>
                </a:solidFill>
                <a:latin typeface="JetBrains Mono" pitchFamily="49" charset="0"/>
                <a:ea typeface="JetBrains Mono" pitchFamily="49" charset="-122"/>
                <a:cs typeface="JetBrains Mono" pitchFamily="49" charset="-120"/>
              </a:rPr>
              <a:t>self</a:t>
            </a:r>
            <a:r>
              <a:rPr lang="en-US" sz="1500" dirty="0">
                <a:solidFill>
                  <a:srgbClr val="E8EDF3"/>
                </a:solidFill>
                <a:latin typeface="JetBrains Mono" pitchFamily="49" charset="0"/>
                <a:ea typeface="JetBrains Mono" pitchFamily="49" charset="-122"/>
                <a:cs typeface="JetBrains Mono" pitchFamily="49" charset="-120"/>
              </a:rPr>
              <a:t>.name, </a:t>
            </a:r>
            <a:r>
              <a:rPr lang="en-US" sz="1500" dirty="0">
                <a:solidFill>
                  <a:srgbClr val="9FD8A8"/>
                </a:solidFill>
                <a:latin typeface="JetBrains Mono" pitchFamily="49" charset="0"/>
                <a:ea typeface="JetBrains Mono" pitchFamily="49" charset="-122"/>
                <a:cs typeface="JetBrains Mono" pitchFamily="49" charset="-120"/>
              </a:rPr>
              <a:t>"is coding"</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p:txBody>
      </p:sp>
      <p:sp>
        <p:nvSpPr>
          <p:cNvPr id="7" name="Shape 5"/>
          <p:cNvSpPr/>
          <p:nvPr/>
        </p:nvSpPr>
        <p:spPr>
          <a:xfrm>
            <a:off x="6841067" y="1854138"/>
            <a:ext cx="4538133" cy="1502370"/>
          </a:xfrm>
          <a:prstGeom prst="roundRect">
            <a:avLst>
              <a:gd name="adj" fmla="val 8453"/>
            </a:avLst>
          </a:prstGeom>
          <a:solidFill>
            <a:srgbClr val="1B2A41"/>
          </a:solidFill>
          <a:ln/>
        </p:spPr>
      </p:sp>
      <p:sp>
        <p:nvSpPr>
          <p:cNvPr id="8" name="Text 6"/>
          <p:cNvSpPr/>
          <p:nvPr/>
        </p:nvSpPr>
        <p:spPr>
          <a:xfrm>
            <a:off x="7095067" y="2031938"/>
            <a:ext cx="415103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8"/>
                </a:solidFill>
                <a:latin typeface="JetBrains Mono" pitchFamily="49" charset="0"/>
                <a:ea typeface="JetBrains Mono" pitchFamily="49" charset="-122"/>
                <a:cs typeface="JetBrains Mono" pitchFamily="49" charset="-120"/>
              </a:rPr>
              <a:t>use it</a:t>
            </a:r>
            <a:endParaRPr lang="en-US" sz="1200" dirty="0"/>
          </a:p>
        </p:txBody>
      </p:sp>
      <p:sp>
        <p:nvSpPr>
          <p:cNvPr id="9" name="Text 7"/>
          <p:cNvSpPr/>
          <p:nvPr/>
        </p:nvSpPr>
        <p:spPr>
          <a:xfrm>
            <a:off x="7095067" y="2321458"/>
            <a:ext cx="4151037" cy="8826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s = Student(</a:t>
            </a:r>
            <a:r>
              <a:rPr lang="en-US" sz="1500" dirty="0">
                <a:solidFill>
                  <a:srgbClr val="9FD8A8"/>
                </a:solidFill>
                <a:latin typeface="JetBrains Mono" pitchFamily="49" charset="0"/>
                <a:ea typeface="JetBrains Mono" pitchFamily="49" charset="-122"/>
                <a:cs typeface="JetBrains Mono" pitchFamily="49" charset="-120"/>
              </a:rPr>
              <a:t>"Subham"</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s.greet()</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s.study()</a:t>
            </a:r>
            <a:endParaRPr lang="en-US" sz="1500" dirty="0"/>
          </a:p>
        </p:txBody>
      </p:sp>
      <p:sp>
        <p:nvSpPr>
          <p:cNvPr id="10" name="Shape 8"/>
          <p:cNvSpPr/>
          <p:nvPr/>
        </p:nvSpPr>
        <p:spPr>
          <a:xfrm>
            <a:off x="6847417" y="3489858"/>
            <a:ext cx="4525433" cy="1229320"/>
          </a:xfrm>
          <a:prstGeom prst="roundRect">
            <a:avLst>
              <a:gd name="adj" fmla="val 9814"/>
            </a:avLst>
          </a:prstGeom>
          <a:solidFill>
            <a:srgbClr val="FFFDF8"/>
          </a:solidFill>
          <a:ln w="12700">
            <a:solidFill>
              <a:srgbClr val="D9DEE5"/>
            </a:solidFill>
            <a:prstDash val="solid"/>
          </a:ln>
        </p:spPr>
      </p:sp>
      <p:sp>
        <p:nvSpPr>
          <p:cNvPr id="11" name="Text 9"/>
          <p:cNvSpPr/>
          <p:nvPr/>
        </p:nvSpPr>
        <p:spPr>
          <a:xfrm>
            <a:off x="7107767" y="3674008"/>
            <a:ext cx="4124875"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OUTPUT</a:t>
            </a:r>
            <a:endParaRPr lang="en-US" sz="1200" dirty="0"/>
          </a:p>
        </p:txBody>
      </p:sp>
      <p:sp>
        <p:nvSpPr>
          <p:cNvPr id="12" name="Text 10"/>
          <p:cNvSpPr/>
          <p:nvPr/>
        </p:nvSpPr>
        <p:spPr>
          <a:xfrm>
            <a:off x="7107767" y="3963529"/>
            <a:ext cx="4124875" cy="596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Namaskar, I am Subham</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Subham is coding</a:t>
            </a:r>
            <a:endParaRPr lang="en-US" sz="1500" dirty="0"/>
          </a:p>
        </p:txBody>
      </p:sp>
      <p:sp>
        <p:nvSpPr>
          <p:cNvPr id="13" name="Text 11"/>
          <p:cNvSpPr/>
          <p:nvPr/>
        </p:nvSpPr>
        <p:spPr>
          <a:xfrm>
            <a:off x="6841067" y="4852529"/>
            <a:ext cx="4538133" cy="838200"/>
          </a:xfrm>
          <a:prstGeom prst="roundRect">
            <a:avLst>
              <a:gd name="adj" fmla="val 15152"/>
            </a:avLst>
          </a:prstGeom>
          <a:solidFill>
            <a:srgbClr val="FBEFD5"/>
          </a:solidFill>
          <a:ln/>
        </p:spPr>
        <p:txBody>
          <a:bodyPr wrap="square" lIns="166003" tIns="115203" rIns="42051" bIns="89803" rtlCol="0" anchor="t">
            <a:normAutofit/>
          </a:bodyPr>
          <a:lstStyle/>
          <a:p>
            <a:pPr algn="l" indent="0" marL="0">
              <a:lnSpc>
                <a:spcPts val="2100"/>
              </a:lnSpc>
              <a:buNone/>
            </a:pPr>
            <a:r>
              <a:rPr lang="en-US" sz="1500" b="1" dirty="0">
                <a:solidFill>
                  <a:srgbClr val="1B2A41"/>
                </a:solidFill>
                <a:latin typeface="Rubik" pitchFamily="34" charset="0"/>
                <a:ea typeface="Rubik" pitchFamily="34" charset="-122"/>
                <a:cs typeface="Rubik" pitchFamily="34" charset="-120"/>
              </a:rPr>
              <a:t>Student(Person)</a:t>
            </a:r>
            <a:r>
              <a:rPr lang="en-US" sz="1500" dirty="0">
                <a:solidFill>
                  <a:srgbClr val="1B2A41"/>
                </a:solidFill>
                <a:latin typeface="Rubik" pitchFamily="34" charset="0"/>
                <a:ea typeface="Rubik" pitchFamily="34" charset="-122"/>
                <a:cs typeface="Rubik" pitchFamily="34" charset="-120"/>
              </a:rPr>
              <a:t>: the child gets everything from the parent, plus </a:t>
            </a:r>
            <a:r>
              <a:rPr lang="en-US" sz="1500" dirty="0">
                <a:solidFill>
                  <a:srgbClr val="2A64A3"/>
                </a:solidFill>
                <a:latin typeface="Rubik" pitchFamily="34" charset="0"/>
                <a:ea typeface="Rubik" pitchFamily="34" charset="-122"/>
                <a:cs typeface="Rubik" pitchFamily="34" charset="-120"/>
              </a:rPr>
              <a:t>study()</a:t>
            </a:r>
            <a:r>
              <a:rPr lang="en-US" sz="1500" dirty="0">
                <a:solidFill>
                  <a:srgbClr val="1B2A41"/>
                </a:solidFill>
                <a:latin typeface="Rubik" pitchFamily="34" charset="0"/>
                <a:ea typeface="Rubik" pitchFamily="34" charset="-122"/>
                <a:cs typeface="Rubik" pitchFamily="34" charset="-120"/>
              </a:rPr>
              <a:t>.</a:t>
            </a:r>
            <a:endParaRPr lang="en-US" sz="1500" dirty="0"/>
          </a:p>
        </p:txBody>
      </p:sp>
      <p:sp>
        <p:nvSpPr>
          <p:cNvPr id="14"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7 · Class 21</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21 · SUPER()</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Adding new data in the child</a:t>
            </a:r>
            <a:endParaRPr lang="en-US" sz="3200" dirty="0"/>
          </a:p>
        </p:txBody>
      </p:sp>
      <p:sp>
        <p:nvSpPr>
          <p:cNvPr id="4" name="Shape 2"/>
          <p:cNvSpPr/>
          <p:nvPr/>
        </p:nvSpPr>
        <p:spPr>
          <a:xfrm>
            <a:off x="812800" y="1854138"/>
            <a:ext cx="5771290" cy="3788370"/>
          </a:xfrm>
          <a:prstGeom prst="roundRect">
            <a:avLst>
              <a:gd name="adj" fmla="val 3352"/>
            </a:avLst>
          </a:prstGeom>
          <a:solidFill>
            <a:srgbClr val="1B2A41"/>
          </a:solidFill>
          <a:ln/>
        </p:spPr>
      </p:sp>
      <p:sp>
        <p:nvSpPr>
          <p:cNvPr id="5" name="Text 3"/>
          <p:cNvSpPr/>
          <p:nvPr/>
        </p:nvSpPr>
        <p:spPr>
          <a:xfrm>
            <a:off x="1066800" y="2031938"/>
            <a:ext cx="542118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8"/>
                </a:solidFill>
                <a:latin typeface="JetBrains Mono" pitchFamily="49" charset="0"/>
                <a:ea typeface="JetBrains Mono" pitchFamily="49" charset="-122"/>
                <a:cs typeface="JetBrains Mono" pitchFamily="49" charset="-120"/>
              </a:rPr>
              <a:t>people2.py</a:t>
            </a:r>
            <a:endParaRPr lang="en-US" sz="1200" dirty="0"/>
          </a:p>
        </p:txBody>
      </p:sp>
      <p:sp>
        <p:nvSpPr>
          <p:cNvPr id="6" name="Text 4"/>
          <p:cNvSpPr/>
          <p:nvPr/>
        </p:nvSpPr>
        <p:spPr>
          <a:xfrm>
            <a:off x="1066800" y="2321458"/>
            <a:ext cx="5421189" cy="31686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class</a:t>
            </a:r>
            <a:r>
              <a:rPr lang="en-US" sz="1500" dirty="0">
                <a:solidFill>
                  <a:srgbClr val="E8EDF3"/>
                </a:solidFill>
                <a:latin typeface="JetBrains Mono" pitchFamily="49" charset="0"/>
                <a:ea typeface="JetBrains Mono" pitchFamily="49" charset="-122"/>
                <a:cs typeface="JetBrains Mono" pitchFamily="49" charset="-120"/>
              </a:rPr>
              <a:t> Student(Person):</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def</a:t>
            </a:r>
            <a:r>
              <a:rPr lang="en-US" sz="1500" dirty="0">
                <a:solidFill>
                  <a:srgbClr val="E8EDF3"/>
                </a:solidFill>
                <a:latin typeface="JetBrains Mono" pitchFamily="49" charset="0"/>
                <a:ea typeface="JetBrains Mono" pitchFamily="49" charset="-122"/>
                <a:cs typeface="JetBrains Mono" pitchFamily="49" charset="-120"/>
              </a:rPr>
              <a:t> __init__(</a:t>
            </a:r>
            <a:r>
              <a:rPr lang="en-US" sz="1500" dirty="0">
                <a:solidFill>
                  <a:srgbClr val="F2B33D"/>
                </a:solidFill>
                <a:latin typeface="JetBrains Mono" pitchFamily="49" charset="0"/>
                <a:ea typeface="JetBrains Mono" pitchFamily="49" charset="-122"/>
                <a:cs typeface="JetBrains Mono" pitchFamily="49" charset="-120"/>
              </a:rPr>
              <a:t>self</a:t>
            </a:r>
            <a:r>
              <a:rPr lang="en-US" sz="1500" dirty="0">
                <a:solidFill>
                  <a:srgbClr val="E8EDF3"/>
                </a:solidFill>
                <a:latin typeface="JetBrains Mono" pitchFamily="49" charset="0"/>
                <a:ea typeface="JetBrains Mono" pitchFamily="49" charset="-122"/>
                <a:cs typeface="JetBrains Mono" pitchFamily="49" charset="-120"/>
              </a:rPr>
              <a:t>, name, branch):</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super</a:t>
            </a:r>
            <a:r>
              <a:rPr lang="en-US" sz="1500" dirty="0">
                <a:solidFill>
                  <a:srgbClr val="E8EDF3"/>
                </a:solidFill>
                <a:latin typeface="JetBrains Mono" pitchFamily="49" charset="0"/>
                <a:ea typeface="JetBrains Mono" pitchFamily="49" charset="-122"/>
                <a:cs typeface="JetBrains Mono" pitchFamily="49" charset="-120"/>
              </a:rPr>
              <a:t>().__init__(name)</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self</a:t>
            </a:r>
            <a:r>
              <a:rPr lang="en-US" sz="1500" dirty="0">
                <a:solidFill>
                  <a:srgbClr val="E8EDF3"/>
                </a:solidFill>
                <a:latin typeface="JetBrains Mono" pitchFamily="49" charset="0"/>
                <a:ea typeface="JetBrains Mono" pitchFamily="49" charset="-122"/>
                <a:cs typeface="JetBrains Mono" pitchFamily="49" charset="-120"/>
              </a:rPr>
              <a:t>.branch = branch</a:t>
            </a:r>
            <a:endParaRPr lang="en-US" sz="1500" dirty="0"/>
          </a:p>
          <a:p>
            <a:pPr algn="l" indent="0" marL="0">
              <a:lnSpc>
                <a:spcPts val="2250"/>
              </a:lnSpc>
              <a:buNone/>
            </a:pP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def</a:t>
            </a:r>
            <a:r>
              <a:rPr lang="en-US" sz="1500" dirty="0">
                <a:solidFill>
                  <a:srgbClr val="E8EDF3"/>
                </a:solidFill>
                <a:latin typeface="JetBrains Mono" pitchFamily="49" charset="0"/>
                <a:ea typeface="JetBrains Mono" pitchFamily="49" charset="-122"/>
                <a:cs typeface="JetBrains Mono" pitchFamily="49" charset="-120"/>
              </a:rPr>
              <a:t> greet(</a:t>
            </a:r>
            <a:r>
              <a:rPr lang="en-US" sz="1500" dirty="0">
                <a:solidFill>
                  <a:srgbClr val="F2B33D"/>
                </a:solidFill>
                <a:latin typeface="JetBrains Mono" pitchFamily="49" charset="0"/>
                <a:ea typeface="JetBrains Mono" pitchFamily="49" charset="-122"/>
                <a:cs typeface="JetBrains Mono" pitchFamily="49" charset="-120"/>
              </a:rPr>
              <a:t>self</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super</a:t>
            </a:r>
            <a:r>
              <a:rPr lang="en-US" sz="1500" dirty="0">
                <a:solidFill>
                  <a:srgbClr val="E8EDF3"/>
                </a:solidFill>
                <a:latin typeface="JetBrains Mono" pitchFamily="49" charset="0"/>
                <a:ea typeface="JetBrains Mono" pitchFamily="49" charset="-122"/>
                <a:cs typeface="JetBrains Mono" pitchFamily="49" charset="-120"/>
              </a:rPr>
              <a:t>().greet()</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"I study"</a:t>
            </a: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self</a:t>
            </a:r>
            <a:r>
              <a:rPr lang="en-US" sz="1500" dirty="0">
                <a:solidFill>
                  <a:srgbClr val="E8EDF3"/>
                </a:solidFill>
                <a:latin typeface="JetBrains Mono" pitchFamily="49" charset="0"/>
                <a:ea typeface="JetBrains Mono" pitchFamily="49" charset="-122"/>
                <a:cs typeface="JetBrains Mono" pitchFamily="49" charset="-120"/>
              </a:rPr>
              <a:t>.branch)</a:t>
            </a:r>
            <a:endParaRPr lang="en-US" sz="1500" dirty="0"/>
          </a:p>
          <a:p>
            <a:pPr algn="l" indent="0" marL="0">
              <a:lnSpc>
                <a:spcPts val="2250"/>
              </a:lnSpc>
              <a:buNone/>
            </a:pP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s = Student(</a:t>
            </a:r>
            <a:r>
              <a:rPr lang="en-US" sz="1500" dirty="0">
                <a:solidFill>
                  <a:srgbClr val="9FD8A8"/>
                </a:solidFill>
                <a:latin typeface="JetBrains Mono" pitchFamily="49" charset="0"/>
                <a:ea typeface="JetBrains Mono" pitchFamily="49" charset="-122"/>
                <a:cs typeface="JetBrains Mono" pitchFamily="49" charset="-120"/>
              </a:rPr>
              <a:t>"Ananya"</a:t>
            </a: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9FD8A8"/>
                </a:solidFill>
                <a:latin typeface="JetBrains Mono" pitchFamily="49" charset="0"/>
                <a:ea typeface="JetBrains Mono" pitchFamily="49" charset="-122"/>
                <a:cs typeface="JetBrains Mono" pitchFamily="49" charset="-120"/>
              </a:rPr>
              <a:t>"CSE"</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s.greet()</a:t>
            </a:r>
            <a:endParaRPr lang="en-US" sz="1500" dirty="0"/>
          </a:p>
        </p:txBody>
      </p:sp>
      <p:sp>
        <p:nvSpPr>
          <p:cNvPr id="7" name="Shape 5"/>
          <p:cNvSpPr/>
          <p:nvPr/>
        </p:nvSpPr>
        <p:spPr>
          <a:xfrm>
            <a:off x="6946040" y="1860488"/>
            <a:ext cx="4426810" cy="1229320"/>
          </a:xfrm>
          <a:prstGeom prst="roundRect">
            <a:avLst>
              <a:gd name="adj" fmla="val 9814"/>
            </a:avLst>
          </a:prstGeom>
          <a:solidFill>
            <a:srgbClr val="FFFDF8"/>
          </a:solidFill>
          <a:ln w="12700">
            <a:solidFill>
              <a:srgbClr val="D9DEE5"/>
            </a:solidFill>
            <a:prstDash val="solid"/>
          </a:ln>
        </p:spPr>
      </p:sp>
      <p:sp>
        <p:nvSpPr>
          <p:cNvPr id="8" name="Text 6"/>
          <p:cNvSpPr/>
          <p:nvPr/>
        </p:nvSpPr>
        <p:spPr>
          <a:xfrm>
            <a:off x="7206390" y="2044638"/>
            <a:ext cx="4023293"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OUTPUT</a:t>
            </a:r>
            <a:endParaRPr lang="en-US" sz="1200" dirty="0"/>
          </a:p>
        </p:txBody>
      </p:sp>
      <p:sp>
        <p:nvSpPr>
          <p:cNvPr id="9" name="Text 7"/>
          <p:cNvSpPr/>
          <p:nvPr/>
        </p:nvSpPr>
        <p:spPr>
          <a:xfrm>
            <a:off x="7206390" y="2334158"/>
            <a:ext cx="4023293" cy="596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Namaskar, I am Ananya</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I study CSE</a:t>
            </a:r>
            <a:endParaRPr lang="en-US" sz="1500" dirty="0"/>
          </a:p>
        </p:txBody>
      </p:sp>
      <p:sp>
        <p:nvSpPr>
          <p:cNvPr id="10" name="Shape 8"/>
          <p:cNvSpPr/>
          <p:nvPr/>
        </p:nvSpPr>
        <p:spPr>
          <a:xfrm>
            <a:off x="6946040" y="3229508"/>
            <a:ext cx="4426810" cy="749300"/>
          </a:xfrm>
          <a:prstGeom prst="roundRect">
            <a:avLst>
              <a:gd name="adj" fmla="val 11017"/>
            </a:avLst>
          </a:prstGeom>
          <a:solidFill>
            <a:srgbClr val="FFFDF8"/>
          </a:solidFill>
          <a:ln w="12700">
            <a:solidFill>
              <a:srgbClr val="E2DED3"/>
            </a:solidFill>
            <a:prstDash val="solid"/>
          </a:ln>
        </p:spPr>
      </p:sp>
      <p:sp>
        <p:nvSpPr>
          <p:cNvPr id="11" name="Text 9"/>
          <p:cNvSpPr/>
          <p:nvPr/>
        </p:nvSpPr>
        <p:spPr>
          <a:xfrm>
            <a:off x="7104790" y="3470808"/>
            <a:ext cx="330200" cy="266700"/>
          </a:xfrm>
          <a:custGeom>
            <a:avLst/>
            <a:gdLst/>
            <a:ahLst/>
            <a:cxnLst/>
            <a:rect l="l" t="t" r="r" b="b"/>
            <a:pathLst>
              <a:path w="330200" h="266700">
                <a:moveTo>
                  <a:pt x="133350" y="0"/>
                </a:moveTo>
                <a:lnTo>
                  <a:pt x="196850" y="0"/>
                </a:lnTo>
                <a:arcTo hR="133350" wR="133350" stAng="16200000" swAng="5400000"/>
                <a:lnTo>
                  <a:pt x="330200" y="133350"/>
                </a:lnTo>
                <a:arcTo hR="133350" wR="133350" stAng="0" swAng="5400000"/>
                <a:lnTo>
                  <a:pt x="133350" y="266700"/>
                </a:lnTo>
                <a:arcTo hR="133350" wR="133350" stAng="5400000" swAng="5400000"/>
                <a:lnTo>
                  <a:pt x="0" y="133350"/>
                </a:lnTo>
                <a:arcTo hR="133350" wR="133350" stAng="10800000" swAng="5400000"/>
                <a:close/>
              </a:path>
            </a:pathLst>
          </a:custGeom>
          <a:solidFill>
            <a:srgbClr val="F2B33D"/>
          </a:solidFill>
          <a:ln/>
        </p:spPr>
        <p:txBody>
          <a:bodyPr wrap="square" lIns="0" tIns="0" rIns="0" bIns="0" rtlCol="0" anchor="t">
            <a:normAutofit/>
          </a:bodyPr>
          <a:lstStyle/>
          <a:p>
            <a:pPr algn="ctr" indent="0" marL="0">
              <a:lnSpc>
                <a:spcPts val="2100"/>
              </a:lnSpc>
              <a:buNone/>
            </a:pPr>
            <a:r>
              <a:rPr lang="en-US" sz="1500" b="1" dirty="0">
                <a:solidFill>
                  <a:srgbClr val="1B2A41"/>
                </a:solidFill>
                <a:latin typeface="Rubik" pitchFamily="34" charset="0"/>
                <a:ea typeface="Rubik" pitchFamily="34" charset="-122"/>
                <a:cs typeface="Rubik" pitchFamily="34" charset="-120"/>
              </a:rPr>
              <a:t>1</a:t>
            </a:r>
            <a:endParaRPr lang="en-US" sz="1500" dirty="0"/>
          </a:p>
        </p:txBody>
      </p:sp>
      <p:sp>
        <p:nvSpPr>
          <p:cNvPr id="12" name="Text 10"/>
          <p:cNvSpPr/>
          <p:nvPr/>
        </p:nvSpPr>
        <p:spPr>
          <a:xfrm>
            <a:off x="7561990" y="3337458"/>
            <a:ext cx="3761673"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4A5568"/>
                </a:solidFill>
                <a:latin typeface="Rubik" pitchFamily="34" charset="0"/>
                <a:ea typeface="Rubik" pitchFamily="34" charset="-122"/>
                <a:cs typeface="Rubik" pitchFamily="34" charset="-120"/>
              </a:rPr>
              <a:t>super().__init__:</a:t>
            </a:r>
            <a:r>
              <a:rPr lang="en-US" sz="1500" dirty="0">
                <a:solidFill>
                  <a:srgbClr val="4A5568"/>
                </a:solidFill>
                <a:latin typeface="Rubik" pitchFamily="34" charset="0"/>
                <a:ea typeface="Rubik" pitchFamily="34" charset="-122"/>
                <a:cs typeface="Rubik" pitchFamily="34" charset="-120"/>
              </a:rPr>
              <a:t> lets Person set up the name</a:t>
            </a:r>
            <a:endParaRPr lang="en-US" sz="1500" dirty="0"/>
          </a:p>
        </p:txBody>
      </p:sp>
      <p:sp>
        <p:nvSpPr>
          <p:cNvPr id="13" name="Shape 11"/>
          <p:cNvSpPr/>
          <p:nvPr/>
        </p:nvSpPr>
        <p:spPr>
          <a:xfrm>
            <a:off x="6946040" y="4118508"/>
            <a:ext cx="4426810" cy="482600"/>
          </a:xfrm>
          <a:prstGeom prst="roundRect">
            <a:avLst>
              <a:gd name="adj" fmla="val 17105"/>
            </a:avLst>
          </a:prstGeom>
          <a:solidFill>
            <a:srgbClr val="FFFDF8"/>
          </a:solidFill>
          <a:ln w="12700">
            <a:solidFill>
              <a:srgbClr val="E2DED3"/>
            </a:solidFill>
            <a:prstDash val="solid"/>
          </a:ln>
        </p:spPr>
      </p:sp>
      <p:sp>
        <p:nvSpPr>
          <p:cNvPr id="14" name="Text 12"/>
          <p:cNvSpPr/>
          <p:nvPr/>
        </p:nvSpPr>
        <p:spPr>
          <a:xfrm>
            <a:off x="7104790" y="4226458"/>
            <a:ext cx="330200" cy="266700"/>
          </a:xfrm>
          <a:custGeom>
            <a:avLst/>
            <a:gdLst/>
            <a:ahLst/>
            <a:cxnLst/>
            <a:rect l="l" t="t" r="r" b="b"/>
            <a:pathLst>
              <a:path w="330200" h="266700">
                <a:moveTo>
                  <a:pt x="133350" y="0"/>
                </a:moveTo>
                <a:lnTo>
                  <a:pt x="196850" y="0"/>
                </a:lnTo>
                <a:arcTo hR="133350" wR="133350" stAng="16200000" swAng="5400000"/>
                <a:lnTo>
                  <a:pt x="330200" y="133350"/>
                </a:lnTo>
                <a:arcTo hR="133350" wR="133350" stAng="0" swAng="5400000"/>
                <a:lnTo>
                  <a:pt x="133350" y="266700"/>
                </a:lnTo>
                <a:arcTo hR="133350" wR="133350" stAng="5400000" swAng="5400000"/>
                <a:lnTo>
                  <a:pt x="0" y="133350"/>
                </a:lnTo>
                <a:arcTo hR="133350" wR="133350" stAng="10800000" swAng="5400000"/>
                <a:close/>
              </a:path>
            </a:pathLst>
          </a:custGeom>
          <a:solidFill>
            <a:srgbClr val="F2B33D"/>
          </a:solidFill>
          <a:ln/>
        </p:spPr>
        <p:txBody>
          <a:bodyPr wrap="square" lIns="0" tIns="0" rIns="0" bIns="0" rtlCol="0" anchor="t">
            <a:normAutofit/>
          </a:bodyPr>
          <a:lstStyle/>
          <a:p>
            <a:pPr algn="ctr" indent="0" marL="0">
              <a:lnSpc>
                <a:spcPts val="2100"/>
              </a:lnSpc>
              <a:buNone/>
            </a:pPr>
            <a:r>
              <a:rPr lang="en-US" sz="1500" b="1" dirty="0">
                <a:solidFill>
                  <a:srgbClr val="1B2A41"/>
                </a:solidFill>
                <a:latin typeface="Rubik" pitchFamily="34" charset="0"/>
                <a:ea typeface="Rubik" pitchFamily="34" charset="-122"/>
                <a:cs typeface="Rubik" pitchFamily="34" charset="-120"/>
              </a:rPr>
              <a:t>2</a:t>
            </a:r>
            <a:endParaRPr lang="en-US" sz="1500" dirty="0"/>
          </a:p>
        </p:txBody>
      </p:sp>
      <p:sp>
        <p:nvSpPr>
          <p:cNvPr id="15" name="Text 13"/>
          <p:cNvSpPr/>
          <p:nvPr/>
        </p:nvSpPr>
        <p:spPr>
          <a:xfrm>
            <a:off x="7561990" y="4226458"/>
            <a:ext cx="380451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4A5568"/>
                </a:solidFill>
                <a:latin typeface="Rubik" pitchFamily="34" charset="0"/>
                <a:ea typeface="Rubik" pitchFamily="34" charset="-122"/>
                <a:cs typeface="Rubik" pitchFamily="34" charset="-120"/>
              </a:rPr>
              <a:t>Then:</a:t>
            </a:r>
            <a:r>
              <a:rPr lang="en-US" sz="1500" dirty="0">
                <a:solidFill>
                  <a:srgbClr val="4A5568"/>
                </a:solidFill>
                <a:latin typeface="Rubik" pitchFamily="34" charset="0"/>
                <a:ea typeface="Rubik" pitchFamily="34" charset="-122"/>
                <a:cs typeface="Rubik" pitchFamily="34" charset="-120"/>
              </a:rPr>
              <a:t> the child adds its own </a:t>
            </a:r>
            <a:r>
              <a:rPr lang="en-US" sz="1500" dirty="0">
                <a:solidFill>
                  <a:srgbClr val="2A64A3"/>
                </a:solidFill>
                <a:latin typeface="Rubik" pitchFamily="34" charset="0"/>
                <a:ea typeface="Rubik" pitchFamily="34" charset="-122"/>
                <a:cs typeface="Rubik" pitchFamily="34" charset="-120"/>
              </a:rPr>
              <a:t>branch</a:t>
            </a:r>
            <a:endParaRPr lang="en-US" sz="1500" dirty="0"/>
          </a:p>
        </p:txBody>
      </p:sp>
      <p:sp>
        <p:nvSpPr>
          <p:cNvPr id="16" name="Shape 14"/>
          <p:cNvSpPr/>
          <p:nvPr/>
        </p:nvSpPr>
        <p:spPr>
          <a:xfrm>
            <a:off x="6946040" y="4740808"/>
            <a:ext cx="4426810" cy="482600"/>
          </a:xfrm>
          <a:prstGeom prst="roundRect">
            <a:avLst>
              <a:gd name="adj" fmla="val 17105"/>
            </a:avLst>
          </a:prstGeom>
          <a:solidFill>
            <a:srgbClr val="FFFDF8"/>
          </a:solidFill>
          <a:ln w="12700">
            <a:solidFill>
              <a:srgbClr val="E2DED3"/>
            </a:solidFill>
            <a:prstDash val="solid"/>
          </a:ln>
        </p:spPr>
      </p:sp>
      <p:sp>
        <p:nvSpPr>
          <p:cNvPr id="17" name="Text 15"/>
          <p:cNvSpPr/>
          <p:nvPr/>
        </p:nvSpPr>
        <p:spPr>
          <a:xfrm>
            <a:off x="7104790" y="4848758"/>
            <a:ext cx="330200" cy="266700"/>
          </a:xfrm>
          <a:custGeom>
            <a:avLst/>
            <a:gdLst/>
            <a:ahLst/>
            <a:cxnLst/>
            <a:rect l="l" t="t" r="r" b="b"/>
            <a:pathLst>
              <a:path w="330200" h="266700">
                <a:moveTo>
                  <a:pt x="133350" y="0"/>
                </a:moveTo>
                <a:lnTo>
                  <a:pt x="196850" y="0"/>
                </a:lnTo>
                <a:arcTo hR="133350" wR="133350" stAng="16200000" swAng="5400000"/>
                <a:lnTo>
                  <a:pt x="330200" y="133350"/>
                </a:lnTo>
                <a:arcTo hR="133350" wR="133350" stAng="0" swAng="5400000"/>
                <a:lnTo>
                  <a:pt x="133350" y="266700"/>
                </a:lnTo>
                <a:arcTo hR="133350" wR="133350" stAng="5400000" swAng="5400000"/>
                <a:lnTo>
                  <a:pt x="0" y="133350"/>
                </a:lnTo>
                <a:arcTo hR="133350" wR="133350" stAng="10800000" swAng="5400000"/>
                <a:close/>
              </a:path>
            </a:pathLst>
          </a:custGeom>
          <a:solidFill>
            <a:srgbClr val="F2B33D"/>
          </a:solidFill>
          <a:ln/>
        </p:spPr>
        <p:txBody>
          <a:bodyPr wrap="square" lIns="0" tIns="0" rIns="0" bIns="0" rtlCol="0" anchor="t">
            <a:normAutofit/>
          </a:bodyPr>
          <a:lstStyle/>
          <a:p>
            <a:pPr algn="ctr" indent="0" marL="0">
              <a:lnSpc>
                <a:spcPts val="2100"/>
              </a:lnSpc>
              <a:buNone/>
            </a:pPr>
            <a:r>
              <a:rPr lang="en-US" sz="1500" b="1" dirty="0">
                <a:solidFill>
                  <a:srgbClr val="1B2A41"/>
                </a:solidFill>
                <a:latin typeface="Rubik" pitchFamily="34" charset="0"/>
                <a:ea typeface="Rubik" pitchFamily="34" charset="-122"/>
                <a:cs typeface="Rubik" pitchFamily="34" charset="-120"/>
              </a:rPr>
              <a:t>3</a:t>
            </a:r>
            <a:endParaRPr lang="en-US" sz="1500" dirty="0"/>
          </a:p>
        </p:txBody>
      </p:sp>
      <p:sp>
        <p:nvSpPr>
          <p:cNvPr id="18" name="Text 16"/>
          <p:cNvSpPr/>
          <p:nvPr/>
        </p:nvSpPr>
        <p:spPr>
          <a:xfrm>
            <a:off x="7561990" y="4848758"/>
            <a:ext cx="3353673"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4A5568"/>
                </a:solidFill>
                <a:latin typeface="Rubik" pitchFamily="34" charset="0"/>
                <a:ea typeface="Rubik" pitchFamily="34" charset="-122"/>
                <a:cs typeface="Rubik" pitchFamily="34" charset="-120"/>
              </a:rPr>
              <a:t>Override:</a:t>
            </a:r>
            <a:r>
              <a:rPr lang="en-US" sz="1500" dirty="0">
                <a:solidFill>
                  <a:srgbClr val="4A5568"/>
                </a:solidFill>
                <a:latin typeface="Rubik" pitchFamily="34" charset="0"/>
                <a:ea typeface="Rubik" pitchFamily="34" charset="-122"/>
                <a:cs typeface="Rubik" pitchFamily="34" charset="-120"/>
              </a:rPr>
              <a:t> the child's </a:t>
            </a:r>
            <a:r>
              <a:rPr lang="en-US" sz="1500" dirty="0">
                <a:solidFill>
                  <a:srgbClr val="2A64A3"/>
                </a:solidFill>
                <a:latin typeface="Rubik" pitchFamily="34" charset="0"/>
                <a:ea typeface="Rubik" pitchFamily="34" charset="-122"/>
                <a:cs typeface="Rubik" pitchFamily="34" charset="-120"/>
              </a:rPr>
              <a:t>greet</a:t>
            </a:r>
            <a:r>
              <a:rPr lang="en-US" sz="1500" dirty="0">
                <a:solidFill>
                  <a:srgbClr val="4A5568"/>
                </a:solidFill>
                <a:latin typeface="Rubik" pitchFamily="34" charset="0"/>
                <a:ea typeface="Rubik" pitchFamily="34" charset="-122"/>
                <a:cs typeface="Rubik" pitchFamily="34" charset="-120"/>
              </a:rPr>
              <a:t> wins</a:t>
            </a:r>
            <a:endParaRPr lang="en-US" sz="1500" dirty="0"/>
          </a:p>
        </p:txBody>
      </p:sp>
      <p:sp>
        <p:nvSpPr>
          <p:cNvPr id="19" name="Text 1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7 · Class 21</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4487"/>
          </a:xfrm>
          <a:prstGeom prst="rect">
            <a:avLst/>
          </a:prstGeom>
          <a:noFill/>
          <a:ln/>
        </p:spPr>
        <p:txBody>
          <a:bodyPr wrap="square" lIns="0" tIns="0" rIns="0" bIns="0" rtlCol="0" anchor="t">
            <a:normAutofit/>
          </a:bodyPr>
          <a:lstStyle/>
          <a:p>
            <a:pPr algn="l" indent="0" marL="0">
              <a:lnSpc>
                <a:spcPts val="1675"/>
              </a:lnSpc>
              <a:buNone/>
            </a:pPr>
            <a:r>
              <a:rPr lang="en-US" sz="1196" b="1" spc="150" kern="0" dirty="0">
                <a:solidFill>
                  <a:srgbClr val="2A64A3"/>
                </a:solidFill>
                <a:latin typeface="Rubik" pitchFamily="34" charset="0"/>
                <a:ea typeface="Rubik" pitchFamily="34" charset="-122"/>
                <a:cs typeface="Rubik" pitchFamily="34" charset="-120"/>
              </a:rPr>
              <a:t>CLASS 21 · POLYMORPHISM</a:t>
            </a:r>
            <a:endParaRPr lang="en-US" sz="1196" dirty="0"/>
          </a:p>
        </p:txBody>
      </p:sp>
      <p:sp>
        <p:nvSpPr>
          <p:cNvPr id="3" name="Text 1"/>
          <p:cNvSpPr/>
          <p:nvPr>
            <p:ph type="title"/>
          </p:nvPr>
        </p:nvSpPr>
        <p:spPr>
          <a:xfrm>
            <a:off x="812800" y="1098091"/>
            <a:ext cx="10883392" cy="463418"/>
          </a:xfrm>
          <a:prstGeom prst="rect">
            <a:avLst/>
          </a:prstGeom>
          <a:noFill/>
          <a:ln/>
        </p:spPr>
        <p:txBody>
          <a:bodyPr wrap="square" lIns="0" tIns="0" rIns="0" bIns="0" rtlCol="0" anchor="t">
            <a:normAutofit/>
          </a:bodyPr>
          <a:lstStyle/>
          <a:p>
            <a:pPr algn="l" indent="0" marL="0">
              <a:lnSpc>
                <a:spcPts val="3465"/>
              </a:lnSpc>
              <a:buNone/>
            </a:pPr>
            <a:r>
              <a:rPr lang="en-US" sz="3150" b="1" i="0" dirty="0">
                <a:solidFill>
                  <a:srgbClr val="1B2A41"/>
                </a:solidFill>
                <a:latin typeface="Rubik" pitchFamily="34" charset="0"/>
                <a:ea typeface="Rubik" pitchFamily="34" charset="-122"/>
                <a:cs typeface="Rubik" pitchFamily="34" charset="-120"/>
              </a:rPr>
              <a:t>Same method name, different behaviour</a:t>
            </a:r>
            <a:endParaRPr lang="en-US" sz="3150" dirty="0"/>
          </a:p>
        </p:txBody>
      </p:sp>
      <p:sp>
        <p:nvSpPr>
          <p:cNvPr id="4" name="Shape 2"/>
          <p:cNvSpPr/>
          <p:nvPr/>
        </p:nvSpPr>
        <p:spPr>
          <a:xfrm>
            <a:off x="812800" y="1840905"/>
            <a:ext cx="6126427" cy="4074120"/>
          </a:xfrm>
          <a:prstGeom prst="roundRect">
            <a:avLst>
              <a:gd name="adj" fmla="val 3117"/>
            </a:avLst>
          </a:prstGeom>
          <a:solidFill>
            <a:srgbClr val="1B2A41"/>
          </a:solidFill>
          <a:ln/>
        </p:spPr>
      </p:sp>
      <p:sp>
        <p:nvSpPr>
          <p:cNvPr id="5" name="Text 3"/>
          <p:cNvSpPr/>
          <p:nvPr/>
        </p:nvSpPr>
        <p:spPr>
          <a:xfrm>
            <a:off x="1066800" y="2018705"/>
            <a:ext cx="57869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8"/>
                </a:solidFill>
                <a:latin typeface="JetBrains Mono" pitchFamily="49" charset="0"/>
                <a:ea typeface="JetBrains Mono" pitchFamily="49" charset="-122"/>
                <a:cs typeface="JetBrains Mono" pitchFamily="49" charset="-120"/>
              </a:rPr>
              <a:t>shapes.py</a:t>
            </a:r>
            <a:endParaRPr lang="en-US" sz="1200" dirty="0"/>
          </a:p>
        </p:txBody>
      </p:sp>
      <p:sp>
        <p:nvSpPr>
          <p:cNvPr id="6" name="Text 4"/>
          <p:cNvSpPr/>
          <p:nvPr/>
        </p:nvSpPr>
        <p:spPr>
          <a:xfrm>
            <a:off x="1066800" y="2308225"/>
            <a:ext cx="5786980" cy="34544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class</a:t>
            </a:r>
            <a:r>
              <a:rPr lang="en-US" sz="1500" dirty="0">
                <a:solidFill>
                  <a:srgbClr val="E8EDF3"/>
                </a:solidFill>
                <a:latin typeface="JetBrains Mono" pitchFamily="49" charset="0"/>
                <a:ea typeface="JetBrains Mono" pitchFamily="49" charset="-122"/>
                <a:cs typeface="JetBrains Mono" pitchFamily="49" charset="-120"/>
              </a:rPr>
              <a:t> Rectangle:</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def</a:t>
            </a:r>
            <a:r>
              <a:rPr lang="en-US" sz="1500" dirty="0">
                <a:solidFill>
                  <a:srgbClr val="E8EDF3"/>
                </a:solidFill>
                <a:latin typeface="JetBrains Mono" pitchFamily="49" charset="0"/>
                <a:ea typeface="JetBrains Mono" pitchFamily="49" charset="-122"/>
                <a:cs typeface="JetBrains Mono" pitchFamily="49" charset="-120"/>
              </a:rPr>
              <a:t> __init__(</a:t>
            </a:r>
            <a:r>
              <a:rPr lang="en-US" sz="1500" dirty="0">
                <a:solidFill>
                  <a:srgbClr val="F2B33D"/>
                </a:solidFill>
                <a:latin typeface="JetBrains Mono" pitchFamily="49" charset="0"/>
                <a:ea typeface="JetBrains Mono" pitchFamily="49" charset="-122"/>
                <a:cs typeface="JetBrains Mono" pitchFamily="49" charset="-120"/>
              </a:rPr>
              <a:t>self</a:t>
            </a:r>
            <a:r>
              <a:rPr lang="en-US" sz="1500" dirty="0">
                <a:solidFill>
                  <a:srgbClr val="E8EDF3"/>
                </a:solidFill>
                <a:latin typeface="JetBrains Mono" pitchFamily="49" charset="0"/>
                <a:ea typeface="JetBrains Mono" pitchFamily="49" charset="-122"/>
                <a:cs typeface="JetBrains Mono" pitchFamily="49" charset="-120"/>
              </a:rPr>
              <a:t>, l, b):</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self</a:t>
            </a:r>
            <a:r>
              <a:rPr lang="en-US" sz="1500" dirty="0">
                <a:solidFill>
                  <a:srgbClr val="E8EDF3"/>
                </a:solidFill>
                <a:latin typeface="JetBrains Mono" pitchFamily="49" charset="0"/>
                <a:ea typeface="JetBrains Mono" pitchFamily="49" charset="-122"/>
                <a:cs typeface="JetBrains Mono" pitchFamily="49" charset="-120"/>
              </a:rPr>
              <a:t>.l, </a:t>
            </a:r>
            <a:r>
              <a:rPr lang="en-US" sz="1500" dirty="0">
                <a:solidFill>
                  <a:srgbClr val="F2B33D"/>
                </a:solidFill>
                <a:latin typeface="JetBrains Mono" pitchFamily="49" charset="0"/>
                <a:ea typeface="JetBrains Mono" pitchFamily="49" charset="-122"/>
                <a:cs typeface="JetBrains Mono" pitchFamily="49" charset="-120"/>
              </a:rPr>
              <a:t>self</a:t>
            </a:r>
            <a:r>
              <a:rPr lang="en-US" sz="1500" dirty="0">
                <a:solidFill>
                  <a:srgbClr val="E8EDF3"/>
                </a:solidFill>
                <a:latin typeface="JetBrains Mono" pitchFamily="49" charset="0"/>
                <a:ea typeface="JetBrains Mono" pitchFamily="49" charset="-122"/>
                <a:cs typeface="JetBrains Mono" pitchFamily="49" charset="-120"/>
              </a:rPr>
              <a:t>.b = l, b</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def</a:t>
            </a:r>
            <a:r>
              <a:rPr lang="en-US" sz="1500" dirty="0">
                <a:solidFill>
                  <a:srgbClr val="E8EDF3"/>
                </a:solidFill>
                <a:latin typeface="JetBrains Mono" pitchFamily="49" charset="0"/>
                <a:ea typeface="JetBrains Mono" pitchFamily="49" charset="-122"/>
                <a:cs typeface="JetBrains Mono" pitchFamily="49" charset="-120"/>
              </a:rPr>
              <a:t> area(</a:t>
            </a:r>
            <a:r>
              <a:rPr lang="en-US" sz="1500" dirty="0">
                <a:solidFill>
                  <a:srgbClr val="F2B33D"/>
                </a:solidFill>
                <a:latin typeface="JetBrains Mono" pitchFamily="49" charset="0"/>
                <a:ea typeface="JetBrains Mono" pitchFamily="49" charset="-122"/>
                <a:cs typeface="JetBrains Mono" pitchFamily="49" charset="-120"/>
              </a:rPr>
              <a:t>self</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return</a:t>
            </a: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self</a:t>
            </a:r>
            <a:r>
              <a:rPr lang="en-US" sz="1500" dirty="0">
                <a:solidFill>
                  <a:srgbClr val="E8EDF3"/>
                </a:solidFill>
                <a:latin typeface="JetBrains Mono" pitchFamily="49" charset="0"/>
                <a:ea typeface="JetBrains Mono" pitchFamily="49" charset="-122"/>
                <a:cs typeface="JetBrains Mono" pitchFamily="49" charset="-120"/>
              </a:rPr>
              <a:t>.l * </a:t>
            </a:r>
            <a:r>
              <a:rPr lang="en-US" sz="1500" dirty="0">
                <a:solidFill>
                  <a:srgbClr val="F2B33D"/>
                </a:solidFill>
                <a:latin typeface="JetBrains Mono" pitchFamily="49" charset="0"/>
                <a:ea typeface="JetBrains Mono" pitchFamily="49" charset="-122"/>
                <a:cs typeface="JetBrains Mono" pitchFamily="49" charset="-120"/>
              </a:rPr>
              <a:t>self</a:t>
            </a:r>
            <a:r>
              <a:rPr lang="en-US" sz="1500" dirty="0">
                <a:solidFill>
                  <a:srgbClr val="E8EDF3"/>
                </a:solidFill>
                <a:latin typeface="JetBrains Mono" pitchFamily="49" charset="0"/>
                <a:ea typeface="JetBrains Mono" pitchFamily="49" charset="-122"/>
                <a:cs typeface="JetBrains Mono" pitchFamily="49" charset="-120"/>
              </a:rPr>
              <a:t>.b</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class</a:t>
            </a:r>
            <a:r>
              <a:rPr lang="en-US" sz="1500" dirty="0">
                <a:solidFill>
                  <a:srgbClr val="E8EDF3"/>
                </a:solidFill>
                <a:latin typeface="JetBrains Mono" pitchFamily="49" charset="0"/>
                <a:ea typeface="JetBrains Mono" pitchFamily="49" charset="-122"/>
                <a:cs typeface="JetBrains Mono" pitchFamily="49" charset="-120"/>
              </a:rPr>
              <a:t> Circle:</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def</a:t>
            </a:r>
            <a:r>
              <a:rPr lang="en-US" sz="1500" dirty="0">
                <a:solidFill>
                  <a:srgbClr val="E8EDF3"/>
                </a:solidFill>
                <a:latin typeface="JetBrains Mono" pitchFamily="49" charset="0"/>
                <a:ea typeface="JetBrains Mono" pitchFamily="49" charset="-122"/>
                <a:cs typeface="JetBrains Mono" pitchFamily="49" charset="-120"/>
              </a:rPr>
              <a:t> __init__(</a:t>
            </a:r>
            <a:r>
              <a:rPr lang="en-US" sz="1500" dirty="0">
                <a:solidFill>
                  <a:srgbClr val="F2B33D"/>
                </a:solidFill>
                <a:latin typeface="JetBrains Mono" pitchFamily="49" charset="0"/>
                <a:ea typeface="JetBrains Mono" pitchFamily="49" charset="-122"/>
                <a:cs typeface="JetBrains Mono" pitchFamily="49" charset="-120"/>
              </a:rPr>
              <a:t>self</a:t>
            </a:r>
            <a:r>
              <a:rPr lang="en-US" sz="1500" dirty="0">
                <a:solidFill>
                  <a:srgbClr val="E8EDF3"/>
                </a:solidFill>
                <a:latin typeface="JetBrains Mono" pitchFamily="49" charset="0"/>
                <a:ea typeface="JetBrains Mono" pitchFamily="49" charset="-122"/>
                <a:cs typeface="JetBrains Mono" pitchFamily="49" charset="-120"/>
              </a:rPr>
              <a:t>, r):</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self</a:t>
            </a:r>
            <a:r>
              <a:rPr lang="en-US" sz="1500" dirty="0">
                <a:solidFill>
                  <a:srgbClr val="E8EDF3"/>
                </a:solidFill>
                <a:latin typeface="JetBrains Mono" pitchFamily="49" charset="0"/>
                <a:ea typeface="JetBrains Mono" pitchFamily="49" charset="-122"/>
                <a:cs typeface="JetBrains Mono" pitchFamily="49" charset="-120"/>
              </a:rPr>
              <a:t>.r = r</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def</a:t>
            </a:r>
            <a:r>
              <a:rPr lang="en-US" sz="1500" dirty="0">
                <a:solidFill>
                  <a:srgbClr val="E8EDF3"/>
                </a:solidFill>
                <a:latin typeface="JetBrains Mono" pitchFamily="49" charset="0"/>
                <a:ea typeface="JetBrains Mono" pitchFamily="49" charset="-122"/>
                <a:cs typeface="JetBrains Mono" pitchFamily="49" charset="-120"/>
              </a:rPr>
              <a:t> area(</a:t>
            </a:r>
            <a:r>
              <a:rPr lang="en-US" sz="1500" dirty="0">
                <a:solidFill>
                  <a:srgbClr val="F2B33D"/>
                </a:solidFill>
                <a:latin typeface="JetBrains Mono" pitchFamily="49" charset="0"/>
                <a:ea typeface="JetBrains Mono" pitchFamily="49" charset="-122"/>
                <a:cs typeface="JetBrains Mono" pitchFamily="49" charset="-120"/>
              </a:rPr>
              <a:t>self</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return</a:t>
            </a:r>
            <a:r>
              <a:rPr lang="en-US" sz="1500" dirty="0">
                <a:solidFill>
                  <a:srgbClr val="E8EDF3"/>
                </a:solidFill>
                <a:latin typeface="JetBrains Mono" pitchFamily="49" charset="0"/>
                <a:ea typeface="JetBrains Mono" pitchFamily="49" charset="-122"/>
                <a:cs typeface="JetBrains Mono" pitchFamily="49" charset="-120"/>
              </a:rPr>
              <a:t> 3.14159 * </a:t>
            </a:r>
            <a:r>
              <a:rPr lang="en-US" sz="1500" dirty="0">
                <a:solidFill>
                  <a:srgbClr val="F2B33D"/>
                </a:solidFill>
                <a:latin typeface="JetBrains Mono" pitchFamily="49" charset="0"/>
                <a:ea typeface="JetBrains Mono" pitchFamily="49" charset="-122"/>
                <a:cs typeface="JetBrains Mono" pitchFamily="49" charset="-120"/>
              </a:rPr>
              <a:t>self</a:t>
            </a:r>
            <a:r>
              <a:rPr lang="en-US" sz="1500" dirty="0">
                <a:solidFill>
                  <a:srgbClr val="E8EDF3"/>
                </a:solidFill>
                <a:latin typeface="JetBrains Mono" pitchFamily="49" charset="0"/>
                <a:ea typeface="JetBrains Mono" pitchFamily="49" charset="-122"/>
                <a:cs typeface="JetBrains Mono" pitchFamily="49" charset="-120"/>
              </a:rPr>
              <a:t>.r ** 2</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for</a:t>
            </a:r>
            <a:r>
              <a:rPr lang="en-US" sz="1500" dirty="0">
                <a:solidFill>
                  <a:srgbClr val="E8EDF3"/>
                </a:solidFill>
                <a:latin typeface="JetBrains Mono" pitchFamily="49" charset="0"/>
                <a:ea typeface="JetBrains Mono" pitchFamily="49" charset="-122"/>
                <a:cs typeface="JetBrains Mono" pitchFamily="49" charset="-120"/>
              </a:rPr>
              <a:t> s </a:t>
            </a:r>
            <a:r>
              <a:rPr lang="en-US" sz="1500" dirty="0">
                <a:solidFill>
                  <a:srgbClr val="F2B33D"/>
                </a:solidFill>
                <a:latin typeface="JetBrains Mono" pitchFamily="49" charset="0"/>
                <a:ea typeface="JetBrains Mono" pitchFamily="49" charset="-122"/>
                <a:cs typeface="JetBrains Mono" pitchFamily="49" charset="-120"/>
              </a:rPr>
              <a:t>in</a:t>
            </a:r>
            <a:r>
              <a:rPr lang="en-US" sz="1500" dirty="0">
                <a:solidFill>
                  <a:srgbClr val="E8EDF3"/>
                </a:solidFill>
                <a:latin typeface="JetBrains Mono" pitchFamily="49" charset="0"/>
                <a:ea typeface="JetBrains Mono" pitchFamily="49" charset="-122"/>
                <a:cs typeface="JetBrains Mono" pitchFamily="49" charset="-120"/>
              </a:rPr>
              <a:t> [Rectangle(4, 5), Circle(1)]:</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F2B33D"/>
                </a:solidFill>
                <a:latin typeface="JetBrains Mono" pitchFamily="49" charset="0"/>
                <a:ea typeface="JetBrains Mono" pitchFamily="49" charset="-122"/>
                <a:cs typeface="JetBrains Mono" pitchFamily="49" charset="-120"/>
              </a:rPr>
              <a:t>type</a:t>
            </a:r>
            <a:r>
              <a:rPr lang="en-US" sz="1500" dirty="0">
                <a:solidFill>
                  <a:srgbClr val="E8EDF3"/>
                </a:solidFill>
                <a:latin typeface="JetBrains Mono" pitchFamily="49" charset="0"/>
                <a:ea typeface="JetBrains Mono" pitchFamily="49" charset="-122"/>
                <a:cs typeface="JetBrains Mono" pitchFamily="49" charset="-120"/>
              </a:rPr>
              <a:t>(s).__name__, </a:t>
            </a:r>
            <a:r>
              <a:rPr lang="en-US" sz="1500" dirty="0">
                <a:solidFill>
                  <a:srgbClr val="F2B33D"/>
                </a:solidFill>
                <a:latin typeface="JetBrains Mono" pitchFamily="49" charset="0"/>
                <a:ea typeface="JetBrains Mono" pitchFamily="49" charset="-122"/>
                <a:cs typeface="JetBrains Mono" pitchFamily="49" charset="-120"/>
              </a:rPr>
              <a:t>round</a:t>
            </a:r>
            <a:r>
              <a:rPr lang="en-US" sz="1500" dirty="0">
                <a:solidFill>
                  <a:srgbClr val="E8EDF3"/>
                </a:solidFill>
                <a:latin typeface="JetBrains Mono" pitchFamily="49" charset="0"/>
                <a:ea typeface="JetBrains Mono" pitchFamily="49" charset="-122"/>
                <a:cs typeface="JetBrains Mono" pitchFamily="49" charset="-120"/>
              </a:rPr>
              <a:t>(s.area(), 2))</a:t>
            </a:r>
            <a:endParaRPr lang="en-US" sz="1500" dirty="0"/>
          </a:p>
        </p:txBody>
      </p:sp>
      <p:sp>
        <p:nvSpPr>
          <p:cNvPr id="7" name="Shape 5"/>
          <p:cNvSpPr/>
          <p:nvPr/>
        </p:nvSpPr>
        <p:spPr>
          <a:xfrm>
            <a:off x="7301178" y="1847255"/>
            <a:ext cx="4071607" cy="1229320"/>
          </a:xfrm>
          <a:prstGeom prst="roundRect">
            <a:avLst>
              <a:gd name="adj" fmla="val 9814"/>
            </a:avLst>
          </a:prstGeom>
          <a:solidFill>
            <a:srgbClr val="FFFDF8"/>
          </a:solidFill>
          <a:ln w="12700">
            <a:solidFill>
              <a:srgbClr val="D9DEE5"/>
            </a:solidFill>
            <a:prstDash val="solid"/>
          </a:ln>
        </p:spPr>
      </p:sp>
      <p:sp>
        <p:nvSpPr>
          <p:cNvPr id="8" name="Text 6"/>
          <p:cNvSpPr/>
          <p:nvPr/>
        </p:nvSpPr>
        <p:spPr>
          <a:xfrm>
            <a:off x="7561528" y="2031405"/>
            <a:ext cx="365743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OUTPUT</a:t>
            </a:r>
            <a:endParaRPr lang="en-US" sz="1200" dirty="0"/>
          </a:p>
        </p:txBody>
      </p:sp>
      <p:sp>
        <p:nvSpPr>
          <p:cNvPr id="9" name="Text 7"/>
          <p:cNvSpPr/>
          <p:nvPr/>
        </p:nvSpPr>
        <p:spPr>
          <a:xfrm>
            <a:off x="7561528" y="2320925"/>
            <a:ext cx="3657434" cy="596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Rectangle 20</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Circle 3.14</a:t>
            </a:r>
            <a:endParaRPr lang="en-US" sz="1500" dirty="0"/>
          </a:p>
        </p:txBody>
      </p:sp>
      <p:sp>
        <p:nvSpPr>
          <p:cNvPr id="10" name="Text 8"/>
          <p:cNvSpPr/>
          <p:nvPr/>
        </p:nvSpPr>
        <p:spPr>
          <a:xfrm>
            <a:off x="7294828" y="3209925"/>
            <a:ext cx="4206836" cy="642541"/>
          </a:xfrm>
          <a:prstGeom prst="rect">
            <a:avLst/>
          </a:prstGeom>
          <a:noFill/>
          <a:ln/>
        </p:spPr>
        <p:txBody>
          <a:bodyPr wrap="square" lIns="0" tIns="0" rIns="0" bIns="0" rtlCol="0" anchor="t">
            <a:normAutofit/>
          </a:bodyPr>
          <a:lstStyle/>
          <a:p>
            <a:pPr algn="l" indent="0" marL="0">
              <a:lnSpc>
                <a:spcPts val="2430"/>
              </a:lnSpc>
              <a:buNone/>
            </a:pPr>
            <a:r>
              <a:rPr lang="en-US" sz="1800" b="1" dirty="0">
                <a:solidFill>
                  <a:srgbClr val="1B2A41"/>
                </a:solidFill>
                <a:latin typeface="Rubik" pitchFamily="34" charset="0"/>
                <a:ea typeface="Rubik" pitchFamily="34" charset="-122"/>
                <a:cs typeface="Rubik" pitchFamily="34" charset="-120"/>
              </a:rPr>
              <a:t>One loop calls </a:t>
            </a:r>
            <a:r>
              <a:rPr lang="en-US" sz="1800" b="1" dirty="0">
                <a:solidFill>
                  <a:srgbClr val="2A64A3"/>
                </a:solidFill>
                <a:latin typeface="Rubik" pitchFamily="34" charset="0"/>
                <a:ea typeface="Rubik" pitchFamily="34" charset="-122"/>
                <a:cs typeface="Rubik" pitchFamily="34" charset="-120"/>
              </a:rPr>
              <a:t>area()</a:t>
            </a:r>
            <a:r>
              <a:rPr lang="en-US" sz="1800" b="1" dirty="0">
                <a:solidFill>
                  <a:srgbClr val="1B2A41"/>
                </a:solidFill>
                <a:latin typeface="Rubik" pitchFamily="34" charset="0"/>
                <a:ea typeface="Rubik" pitchFamily="34" charset="-122"/>
                <a:cs typeface="Rubik" pitchFamily="34" charset="-120"/>
              </a:rPr>
              <a:t> on every shape. Each shape knows its own formula.</a:t>
            </a:r>
            <a:endParaRPr lang="en-US" sz="1800" dirty="0"/>
          </a:p>
        </p:txBody>
      </p:sp>
      <p:sp>
        <p:nvSpPr>
          <p:cNvPr id="11" name="Text 9"/>
          <p:cNvSpPr/>
          <p:nvPr/>
        </p:nvSpPr>
        <p:spPr>
          <a:xfrm>
            <a:off x="7294828" y="3954066"/>
            <a:ext cx="4084307" cy="838200"/>
          </a:xfrm>
          <a:prstGeom prst="roundRect">
            <a:avLst>
              <a:gd name="adj" fmla="val 15152"/>
            </a:avLst>
          </a:prstGeom>
          <a:solidFill>
            <a:srgbClr val="FBEFD5"/>
          </a:solidFill>
          <a:ln/>
        </p:spPr>
        <p:txBody>
          <a:bodyPr wrap="square" lIns="166003" tIns="115203" rIns="55666" bIns="89803" rtlCol="0" anchor="t">
            <a:normAutofit/>
          </a:bodyPr>
          <a:lstStyle/>
          <a:p>
            <a:pPr algn="l" indent="0" marL="0">
              <a:lnSpc>
                <a:spcPts val="2100"/>
              </a:lnSpc>
              <a:buNone/>
            </a:pPr>
            <a:r>
              <a:rPr lang="en-US" sz="1500" b="1" dirty="0">
                <a:solidFill>
                  <a:srgbClr val="1B2A41"/>
                </a:solidFill>
                <a:latin typeface="Rubik" pitchFamily="34" charset="0"/>
                <a:ea typeface="Rubik" pitchFamily="34" charset="-122"/>
                <a:cs typeface="Rubik" pitchFamily="34" charset="-120"/>
              </a:rPr>
              <a:t>Poly</a:t>
            </a:r>
            <a:r>
              <a:rPr lang="en-US" sz="1500" dirty="0">
                <a:solidFill>
                  <a:srgbClr val="1B2A41"/>
                </a:solidFill>
                <a:latin typeface="Rubik" pitchFamily="34" charset="0"/>
                <a:ea typeface="Rubik" pitchFamily="34" charset="-122"/>
                <a:cs typeface="Rubik" pitchFamily="34" charset="-120"/>
              </a:rPr>
              <a:t> = many, </a:t>
            </a:r>
            <a:r>
              <a:rPr lang="en-US" sz="1500" b="1" dirty="0">
                <a:solidFill>
                  <a:srgbClr val="1B2A41"/>
                </a:solidFill>
                <a:latin typeface="Rubik" pitchFamily="34" charset="0"/>
                <a:ea typeface="Rubik" pitchFamily="34" charset="-122"/>
                <a:cs typeface="Rubik" pitchFamily="34" charset="-120"/>
              </a:rPr>
              <a:t>morph</a:t>
            </a:r>
            <a:r>
              <a:rPr lang="en-US" sz="1500" dirty="0">
                <a:solidFill>
                  <a:srgbClr val="1B2A41"/>
                </a:solidFill>
                <a:latin typeface="Rubik" pitchFamily="34" charset="0"/>
                <a:ea typeface="Rubik" pitchFamily="34" charset="-122"/>
                <a:cs typeface="Rubik" pitchFamily="34" charset="-120"/>
              </a:rPr>
              <a:t> = forms. One name, many forms.</a:t>
            </a:r>
            <a:endParaRPr lang="en-US" sz="1500" dirty="0"/>
          </a:p>
        </p:txBody>
      </p:sp>
      <p:sp>
        <p:nvSpPr>
          <p:cNvPr id="12"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7 · Class 21</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21 · THE FOUR PILLARS</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The four pillars of OOP (viva favourite)</a:t>
            </a:r>
            <a:endParaRPr lang="en-US" sz="3200" dirty="0"/>
          </a:p>
        </p:txBody>
      </p:sp>
      <p:sp>
        <p:nvSpPr>
          <p:cNvPr id="4" name="Shape 2"/>
          <p:cNvSpPr/>
          <p:nvPr/>
        </p:nvSpPr>
        <p:spPr>
          <a:xfrm>
            <a:off x="819150" y="1860488"/>
            <a:ext cx="2476500" cy="2252927"/>
          </a:xfrm>
          <a:prstGeom prst="roundRect">
            <a:avLst>
              <a:gd name="adj" fmla="val 5355"/>
            </a:avLst>
          </a:prstGeom>
          <a:solidFill>
            <a:srgbClr val="FFFDF8"/>
          </a:solidFill>
          <a:ln w="12700">
            <a:solidFill>
              <a:srgbClr val="E2DED3"/>
            </a:solidFill>
            <a:prstDash val="solid"/>
          </a:ln>
        </p:spPr>
      </p:sp>
      <p:sp>
        <p:nvSpPr>
          <p:cNvPr id="5" name="Text 3"/>
          <p:cNvSpPr/>
          <p:nvPr/>
        </p:nvSpPr>
        <p:spPr>
          <a:xfrm>
            <a:off x="1028700" y="2070038"/>
            <a:ext cx="304403" cy="289520"/>
          </a:xfrm>
          <a:custGeom>
            <a:avLst/>
            <a:gdLst/>
            <a:ahLst/>
            <a:cxnLst/>
            <a:rect l="l" t="t" r="r" b="b"/>
            <a:pathLst>
              <a:path w="304403" h="289520">
                <a:moveTo>
                  <a:pt x="144760" y="0"/>
                </a:moveTo>
                <a:lnTo>
                  <a:pt x="159643" y="0"/>
                </a:lnTo>
                <a:arcTo hR="144760" wR="144760" stAng="16200000" swAng="5400000"/>
                <a:lnTo>
                  <a:pt x="304403"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1</a:t>
            </a:r>
            <a:endParaRPr lang="en-US" sz="1200" dirty="0"/>
          </a:p>
        </p:txBody>
      </p:sp>
      <p:sp>
        <p:nvSpPr>
          <p:cNvPr id="6" name="Text 4"/>
          <p:cNvSpPr/>
          <p:nvPr/>
        </p:nvSpPr>
        <p:spPr>
          <a:xfrm>
            <a:off x="1028700" y="2461158"/>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Encapsulation</a:t>
            </a:r>
            <a:endParaRPr lang="en-US" sz="1800" dirty="0"/>
          </a:p>
        </p:txBody>
      </p:sp>
      <p:sp>
        <p:nvSpPr>
          <p:cNvPr id="7" name="Text 5"/>
          <p:cNvSpPr/>
          <p:nvPr/>
        </p:nvSpPr>
        <p:spPr>
          <a:xfrm>
            <a:off x="1028700" y="2837061"/>
            <a:ext cx="2119122"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Data and methods packed together in one class, like the Account and its balance.</a:t>
            </a:r>
            <a:endParaRPr lang="en-US" sz="1500" dirty="0"/>
          </a:p>
        </p:txBody>
      </p:sp>
      <p:sp>
        <p:nvSpPr>
          <p:cNvPr id="8" name="Shape 6"/>
          <p:cNvSpPr/>
          <p:nvPr/>
        </p:nvSpPr>
        <p:spPr>
          <a:xfrm>
            <a:off x="3511550" y="1860488"/>
            <a:ext cx="2476500" cy="2252927"/>
          </a:xfrm>
          <a:prstGeom prst="roundRect">
            <a:avLst>
              <a:gd name="adj" fmla="val 5355"/>
            </a:avLst>
          </a:prstGeom>
          <a:solidFill>
            <a:srgbClr val="FFFDF8"/>
          </a:solidFill>
          <a:ln w="12700">
            <a:solidFill>
              <a:srgbClr val="E2DED3"/>
            </a:solidFill>
            <a:prstDash val="solid"/>
          </a:ln>
        </p:spPr>
      </p:sp>
      <p:sp>
        <p:nvSpPr>
          <p:cNvPr id="9" name="Text 7"/>
          <p:cNvSpPr/>
          <p:nvPr/>
        </p:nvSpPr>
        <p:spPr>
          <a:xfrm>
            <a:off x="3721100" y="2070038"/>
            <a:ext cx="327686" cy="289520"/>
          </a:xfrm>
          <a:custGeom>
            <a:avLst/>
            <a:gdLst/>
            <a:ahLst/>
            <a:cxnLst/>
            <a:rect l="l" t="t" r="r" b="b"/>
            <a:pathLst>
              <a:path w="327686" h="289520">
                <a:moveTo>
                  <a:pt x="144760" y="0"/>
                </a:moveTo>
                <a:lnTo>
                  <a:pt x="182926" y="0"/>
                </a:lnTo>
                <a:arcTo hR="144760" wR="144760" stAng="16200000" swAng="5400000"/>
                <a:lnTo>
                  <a:pt x="327686"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2</a:t>
            </a:r>
            <a:endParaRPr lang="en-US" sz="1200" dirty="0"/>
          </a:p>
        </p:txBody>
      </p:sp>
      <p:sp>
        <p:nvSpPr>
          <p:cNvPr id="10" name="Text 8"/>
          <p:cNvSpPr/>
          <p:nvPr/>
        </p:nvSpPr>
        <p:spPr>
          <a:xfrm>
            <a:off x="3721100" y="2461158"/>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Inheritance</a:t>
            </a:r>
            <a:endParaRPr lang="en-US" sz="1800" dirty="0"/>
          </a:p>
        </p:txBody>
      </p:sp>
      <p:sp>
        <p:nvSpPr>
          <p:cNvPr id="11" name="Text 9"/>
          <p:cNvSpPr/>
          <p:nvPr/>
        </p:nvSpPr>
        <p:spPr>
          <a:xfrm>
            <a:off x="3721100" y="2837061"/>
            <a:ext cx="211912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A child class reuses a parent class: Student from Person.</a:t>
            </a:r>
            <a:endParaRPr lang="en-US" sz="1500" dirty="0"/>
          </a:p>
        </p:txBody>
      </p:sp>
      <p:sp>
        <p:nvSpPr>
          <p:cNvPr id="12" name="Shape 10"/>
          <p:cNvSpPr/>
          <p:nvPr/>
        </p:nvSpPr>
        <p:spPr>
          <a:xfrm>
            <a:off x="6203950" y="1860488"/>
            <a:ext cx="2476500" cy="2252927"/>
          </a:xfrm>
          <a:prstGeom prst="roundRect">
            <a:avLst>
              <a:gd name="adj" fmla="val 5355"/>
            </a:avLst>
          </a:prstGeom>
          <a:solidFill>
            <a:srgbClr val="FFFDF8"/>
          </a:solidFill>
          <a:ln w="12700">
            <a:solidFill>
              <a:srgbClr val="E2DED3"/>
            </a:solidFill>
            <a:prstDash val="solid"/>
          </a:ln>
        </p:spPr>
      </p:sp>
      <p:sp>
        <p:nvSpPr>
          <p:cNvPr id="13" name="Text 11"/>
          <p:cNvSpPr/>
          <p:nvPr/>
        </p:nvSpPr>
        <p:spPr>
          <a:xfrm>
            <a:off x="6413500" y="2070038"/>
            <a:ext cx="329076" cy="289520"/>
          </a:xfrm>
          <a:custGeom>
            <a:avLst/>
            <a:gdLst/>
            <a:ahLst/>
            <a:cxnLst/>
            <a:rect l="l" t="t" r="r" b="b"/>
            <a:pathLst>
              <a:path w="329076" h="289520">
                <a:moveTo>
                  <a:pt x="144760" y="0"/>
                </a:moveTo>
                <a:lnTo>
                  <a:pt x="184315" y="0"/>
                </a:lnTo>
                <a:arcTo hR="144760" wR="144760" stAng="16200000" swAng="5400000"/>
                <a:lnTo>
                  <a:pt x="329076"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3</a:t>
            </a:r>
            <a:endParaRPr lang="en-US" sz="1200" dirty="0"/>
          </a:p>
        </p:txBody>
      </p:sp>
      <p:sp>
        <p:nvSpPr>
          <p:cNvPr id="14" name="Text 12"/>
          <p:cNvSpPr/>
          <p:nvPr/>
        </p:nvSpPr>
        <p:spPr>
          <a:xfrm>
            <a:off x="6413500" y="2461158"/>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Polymorphism</a:t>
            </a:r>
            <a:endParaRPr lang="en-US" sz="1800" dirty="0"/>
          </a:p>
        </p:txBody>
      </p:sp>
      <p:sp>
        <p:nvSpPr>
          <p:cNvPr id="15" name="Text 13"/>
          <p:cNvSpPr/>
          <p:nvPr/>
        </p:nvSpPr>
        <p:spPr>
          <a:xfrm>
            <a:off x="6413500" y="2837061"/>
            <a:ext cx="211912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Same method name, different behaviour: area() for every shape.</a:t>
            </a:r>
            <a:endParaRPr lang="en-US" sz="1500" dirty="0"/>
          </a:p>
        </p:txBody>
      </p:sp>
      <p:sp>
        <p:nvSpPr>
          <p:cNvPr id="16" name="Shape 14"/>
          <p:cNvSpPr/>
          <p:nvPr/>
        </p:nvSpPr>
        <p:spPr>
          <a:xfrm>
            <a:off x="8896350" y="1860488"/>
            <a:ext cx="2476500" cy="2252927"/>
          </a:xfrm>
          <a:prstGeom prst="roundRect">
            <a:avLst>
              <a:gd name="adj" fmla="val 5355"/>
            </a:avLst>
          </a:prstGeom>
          <a:solidFill>
            <a:srgbClr val="FFFDF8"/>
          </a:solidFill>
          <a:ln w="12700">
            <a:solidFill>
              <a:srgbClr val="E2DED3"/>
            </a:solidFill>
            <a:prstDash val="solid"/>
          </a:ln>
        </p:spPr>
      </p:sp>
      <p:sp>
        <p:nvSpPr>
          <p:cNvPr id="17" name="Text 15"/>
          <p:cNvSpPr/>
          <p:nvPr/>
        </p:nvSpPr>
        <p:spPr>
          <a:xfrm>
            <a:off x="9105900" y="2070038"/>
            <a:ext cx="332581" cy="289520"/>
          </a:xfrm>
          <a:custGeom>
            <a:avLst/>
            <a:gdLst/>
            <a:ahLst/>
            <a:cxnLst/>
            <a:rect l="l" t="t" r="r" b="b"/>
            <a:pathLst>
              <a:path w="332581" h="289520">
                <a:moveTo>
                  <a:pt x="144760" y="0"/>
                </a:moveTo>
                <a:lnTo>
                  <a:pt x="187821" y="0"/>
                </a:lnTo>
                <a:arcTo hR="144760" wR="144760" stAng="16200000" swAng="5400000"/>
                <a:lnTo>
                  <a:pt x="332581"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4</a:t>
            </a:r>
            <a:endParaRPr lang="en-US" sz="1200" dirty="0"/>
          </a:p>
        </p:txBody>
      </p:sp>
      <p:sp>
        <p:nvSpPr>
          <p:cNvPr id="18" name="Text 16"/>
          <p:cNvSpPr/>
          <p:nvPr/>
        </p:nvSpPr>
        <p:spPr>
          <a:xfrm>
            <a:off x="9105900" y="2461158"/>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Abstraction</a:t>
            </a:r>
            <a:endParaRPr lang="en-US" sz="1800" dirty="0"/>
          </a:p>
        </p:txBody>
      </p:sp>
      <p:sp>
        <p:nvSpPr>
          <p:cNvPr id="19" name="Text 17"/>
          <p:cNvSpPr/>
          <p:nvPr/>
        </p:nvSpPr>
        <p:spPr>
          <a:xfrm>
            <a:off x="9105900" y="2837061"/>
            <a:ext cx="211912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Use an object without knowing its insides: acc.withdraw(300).</a:t>
            </a:r>
            <a:endParaRPr lang="en-US" sz="1500" dirty="0"/>
          </a:p>
        </p:txBody>
      </p:sp>
      <p:sp>
        <p:nvSpPr>
          <p:cNvPr id="20" name="Text 1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7 · Class 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E6EE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21 · PRACTICE</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Your turn: four programs</a:t>
            </a:r>
            <a:endParaRPr lang="en-US" sz="3200" dirty="0"/>
          </a:p>
        </p:txBody>
      </p:sp>
      <p:sp>
        <p:nvSpPr>
          <p:cNvPr id="4" name="Shape 2"/>
          <p:cNvSpPr/>
          <p:nvPr/>
        </p:nvSpPr>
        <p:spPr>
          <a:xfrm>
            <a:off x="819150" y="1809688"/>
            <a:ext cx="2476500" cy="2252927"/>
          </a:xfrm>
          <a:prstGeom prst="roundRect">
            <a:avLst>
              <a:gd name="adj" fmla="val 5355"/>
            </a:avLst>
          </a:prstGeom>
          <a:solidFill>
            <a:srgbClr val="FBFCFE"/>
          </a:solidFill>
          <a:ln w="12700">
            <a:solidFill>
              <a:srgbClr val="C9D7E8"/>
            </a:solidFill>
            <a:prstDash val="solid"/>
          </a:ln>
        </p:spPr>
      </p:sp>
      <p:sp>
        <p:nvSpPr>
          <p:cNvPr id="5" name="Text 3"/>
          <p:cNvSpPr/>
          <p:nvPr/>
        </p:nvSpPr>
        <p:spPr>
          <a:xfrm>
            <a:off x="1028700" y="2019238"/>
            <a:ext cx="681897" cy="289520"/>
          </a:xfrm>
          <a:custGeom>
            <a:avLst/>
            <a:gdLst/>
            <a:ahLst/>
            <a:cxnLst/>
            <a:rect l="l" t="t" r="r" b="b"/>
            <a:pathLst>
              <a:path w="681897" h="289520">
                <a:moveTo>
                  <a:pt x="144760" y="0"/>
                </a:moveTo>
                <a:lnTo>
                  <a:pt x="537137" y="0"/>
                </a:lnTo>
                <a:arcTo hR="144760" wR="144760" stAng="16200000" swAng="5400000"/>
                <a:lnTo>
                  <a:pt x="681897"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Task 1</a:t>
            </a:r>
            <a:endParaRPr lang="en-US" sz="1200" dirty="0"/>
          </a:p>
        </p:txBody>
      </p:sp>
      <p:sp>
        <p:nvSpPr>
          <p:cNvPr id="6" name="Text 4"/>
          <p:cNvSpPr/>
          <p:nvPr/>
        </p:nvSpPr>
        <p:spPr>
          <a:xfrm>
            <a:off x="1028700" y="2410358"/>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Teacher</a:t>
            </a:r>
            <a:endParaRPr lang="en-US" sz="1800" dirty="0"/>
          </a:p>
        </p:txBody>
      </p:sp>
      <p:sp>
        <p:nvSpPr>
          <p:cNvPr id="7" name="Text 5"/>
          <p:cNvSpPr/>
          <p:nvPr/>
        </p:nvSpPr>
        <p:spPr>
          <a:xfrm>
            <a:off x="1028700" y="2786261"/>
            <a:ext cx="2119122"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Make Teacher(Person) with a subject, and override greet() using super().</a:t>
            </a:r>
            <a:endParaRPr lang="en-US" sz="1500" dirty="0"/>
          </a:p>
        </p:txBody>
      </p:sp>
      <p:sp>
        <p:nvSpPr>
          <p:cNvPr id="8" name="Shape 6"/>
          <p:cNvSpPr/>
          <p:nvPr/>
        </p:nvSpPr>
        <p:spPr>
          <a:xfrm>
            <a:off x="3511550" y="1809688"/>
            <a:ext cx="2476500" cy="2252927"/>
          </a:xfrm>
          <a:prstGeom prst="roundRect">
            <a:avLst>
              <a:gd name="adj" fmla="val 5355"/>
            </a:avLst>
          </a:prstGeom>
          <a:solidFill>
            <a:srgbClr val="FBFCFE"/>
          </a:solidFill>
          <a:ln w="12700">
            <a:solidFill>
              <a:srgbClr val="C9D7E8"/>
            </a:solidFill>
            <a:prstDash val="solid"/>
          </a:ln>
        </p:spPr>
      </p:sp>
      <p:sp>
        <p:nvSpPr>
          <p:cNvPr id="9" name="Text 7"/>
          <p:cNvSpPr/>
          <p:nvPr/>
        </p:nvSpPr>
        <p:spPr>
          <a:xfrm>
            <a:off x="3721100" y="2019238"/>
            <a:ext cx="705181" cy="289520"/>
          </a:xfrm>
          <a:custGeom>
            <a:avLst/>
            <a:gdLst/>
            <a:ahLst/>
            <a:cxnLst/>
            <a:rect l="l" t="t" r="r" b="b"/>
            <a:pathLst>
              <a:path w="705181" h="289520">
                <a:moveTo>
                  <a:pt x="144760" y="0"/>
                </a:moveTo>
                <a:lnTo>
                  <a:pt x="560421" y="0"/>
                </a:lnTo>
                <a:arcTo hR="144760" wR="144760" stAng="16200000" swAng="5400000"/>
                <a:lnTo>
                  <a:pt x="705181"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Task 2</a:t>
            </a:r>
            <a:endParaRPr lang="en-US" sz="1200" dirty="0"/>
          </a:p>
        </p:txBody>
      </p:sp>
      <p:sp>
        <p:nvSpPr>
          <p:cNvPr id="10" name="Text 8"/>
          <p:cNvSpPr/>
          <p:nvPr/>
        </p:nvSpPr>
        <p:spPr>
          <a:xfrm>
            <a:off x="3721100" y="2410358"/>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Savings</a:t>
            </a:r>
            <a:endParaRPr lang="en-US" sz="1800" dirty="0"/>
          </a:p>
        </p:txBody>
      </p:sp>
      <p:sp>
        <p:nvSpPr>
          <p:cNvPr id="11" name="Text 9"/>
          <p:cNvSpPr/>
          <p:nvPr/>
        </p:nvSpPr>
        <p:spPr>
          <a:xfrm>
            <a:off x="3721100" y="2786261"/>
            <a:ext cx="2119122"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SavingsAccount(Account) with add_interest(rate) that grows the balance.</a:t>
            </a:r>
            <a:endParaRPr lang="en-US" sz="1500" dirty="0"/>
          </a:p>
        </p:txBody>
      </p:sp>
      <p:sp>
        <p:nvSpPr>
          <p:cNvPr id="12" name="Shape 10"/>
          <p:cNvSpPr/>
          <p:nvPr/>
        </p:nvSpPr>
        <p:spPr>
          <a:xfrm>
            <a:off x="6203950" y="1809688"/>
            <a:ext cx="2476500" cy="2252927"/>
          </a:xfrm>
          <a:prstGeom prst="roundRect">
            <a:avLst>
              <a:gd name="adj" fmla="val 5355"/>
            </a:avLst>
          </a:prstGeom>
          <a:solidFill>
            <a:srgbClr val="FBFCFE"/>
          </a:solidFill>
          <a:ln w="12700">
            <a:solidFill>
              <a:srgbClr val="C9D7E8"/>
            </a:solidFill>
            <a:prstDash val="solid"/>
          </a:ln>
        </p:spPr>
      </p:sp>
      <p:sp>
        <p:nvSpPr>
          <p:cNvPr id="13" name="Text 11"/>
          <p:cNvSpPr/>
          <p:nvPr/>
        </p:nvSpPr>
        <p:spPr>
          <a:xfrm>
            <a:off x="6413500" y="2019238"/>
            <a:ext cx="706570" cy="289520"/>
          </a:xfrm>
          <a:custGeom>
            <a:avLst/>
            <a:gdLst/>
            <a:ahLst/>
            <a:cxnLst/>
            <a:rect l="l" t="t" r="r" b="b"/>
            <a:pathLst>
              <a:path w="706570" h="289520">
                <a:moveTo>
                  <a:pt x="144760" y="0"/>
                </a:moveTo>
                <a:lnTo>
                  <a:pt x="561810" y="0"/>
                </a:lnTo>
                <a:arcTo hR="144760" wR="144760" stAng="16200000" swAng="5400000"/>
                <a:lnTo>
                  <a:pt x="706570"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Task 3</a:t>
            </a:r>
            <a:endParaRPr lang="en-US" sz="1200" dirty="0"/>
          </a:p>
        </p:txBody>
      </p:sp>
      <p:sp>
        <p:nvSpPr>
          <p:cNvPr id="14" name="Text 12"/>
          <p:cNvSpPr/>
          <p:nvPr/>
        </p:nvSpPr>
        <p:spPr>
          <a:xfrm>
            <a:off x="6413500" y="2410358"/>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Shapes</a:t>
            </a:r>
            <a:endParaRPr lang="en-US" sz="1800" dirty="0"/>
          </a:p>
        </p:txBody>
      </p:sp>
      <p:sp>
        <p:nvSpPr>
          <p:cNvPr id="15" name="Text 13"/>
          <p:cNvSpPr/>
          <p:nvPr/>
        </p:nvSpPr>
        <p:spPr>
          <a:xfrm>
            <a:off x="6413500" y="2786261"/>
            <a:ext cx="211912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Add Triangle(base, height) and Square to the shapes loop.</a:t>
            </a:r>
            <a:endParaRPr lang="en-US" sz="1500" dirty="0"/>
          </a:p>
        </p:txBody>
      </p:sp>
      <p:sp>
        <p:nvSpPr>
          <p:cNvPr id="16" name="Shape 14"/>
          <p:cNvSpPr/>
          <p:nvPr/>
        </p:nvSpPr>
        <p:spPr>
          <a:xfrm>
            <a:off x="8896350" y="1809688"/>
            <a:ext cx="2476500" cy="2252927"/>
          </a:xfrm>
          <a:prstGeom prst="roundRect">
            <a:avLst>
              <a:gd name="adj" fmla="val 5355"/>
            </a:avLst>
          </a:prstGeom>
          <a:solidFill>
            <a:srgbClr val="FBFCFE"/>
          </a:solidFill>
          <a:ln w="12700">
            <a:solidFill>
              <a:srgbClr val="C9D7E8"/>
            </a:solidFill>
            <a:prstDash val="solid"/>
          </a:ln>
        </p:spPr>
      </p:sp>
      <p:sp>
        <p:nvSpPr>
          <p:cNvPr id="17" name="Text 15"/>
          <p:cNvSpPr/>
          <p:nvPr/>
        </p:nvSpPr>
        <p:spPr>
          <a:xfrm>
            <a:off x="9105900" y="2019238"/>
            <a:ext cx="710076" cy="289520"/>
          </a:xfrm>
          <a:custGeom>
            <a:avLst/>
            <a:gdLst/>
            <a:ahLst/>
            <a:cxnLst/>
            <a:rect l="l" t="t" r="r" b="b"/>
            <a:pathLst>
              <a:path w="710076" h="289520">
                <a:moveTo>
                  <a:pt x="144760" y="0"/>
                </a:moveTo>
                <a:lnTo>
                  <a:pt x="565315" y="0"/>
                </a:lnTo>
                <a:arcTo hR="144760" wR="144760" stAng="16200000" swAng="5400000"/>
                <a:lnTo>
                  <a:pt x="710076"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Task 4</a:t>
            </a:r>
            <a:endParaRPr lang="en-US" sz="1200" dirty="0"/>
          </a:p>
        </p:txBody>
      </p:sp>
      <p:sp>
        <p:nvSpPr>
          <p:cNvPr id="18" name="Text 16"/>
          <p:cNvSpPr/>
          <p:nvPr/>
        </p:nvSpPr>
        <p:spPr>
          <a:xfrm>
            <a:off x="9105900" y="2410358"/>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Vehicles</a:t>
            </a:r>
            <a:endParaRPr lang="en-US" sz="1800" dirty="0"/>
          </a:p>
        </p:txBody>
      </p:sp>
      <p:sp>
        <p:nvSpPr>
          <p:cNvPr id="19" name="Text 17"/>
          <p:cNvSpPr/>
          <p:nvPr/>
        </p:nvSpPr>
        <p:spPr>
          <a:xfrm>
            <a:off x="9105900" y="2786261"/>
            <a:ext cx="211912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Vehicle with wheels(); Bike and Car override it. Loop over both.</a:t>
            </a:r>
            <a:endParaRPr lang="en-US" sz="1500" dirty="0"/>
          </a:p>
        </p:txBody>
      </p:sp>
      <p:sp>
        <p:nvSpPr>
          <p:cNvPr id="20" name="Shape 18"/>
          <p:cNvSpPr/>
          <p:nvPr/>
        </p:nvSpPr>
        <p:spPr>
          <a:xfrm>
            <a:off x="812800" y="4322961"/>
            <a:ext cx="10566400" cy="622300"/>
          </a:xfrm>
          <a:prstGeom prst="roundRect">
            <a:avLst>
              <a:gd name="adj" fmla="val 20408"/>
            </a:avLst>
          </a:prstGeom>
          <a:solidFill>
            <a:srgbClr val="1B2A41"/>
          </a:solidFill>
          <a:ln/>
        </p:spPr>
      </p:sp>
      <p:sp>
        <p:nvSpPr>
          <p:cNvPr id="21" name="Text 19"/>
          <p:cNvSpPr/>
          <p:nvPr/>
        </p:nvSpPr>
        <p:spPr>
          <a:xfrm>
            <a:off x="1066800" y="4527426"/>
            <a:ext cx="121569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B33D"/>
                </a:solidFill>
                <a:latin typeface="Rubik" pitchFamily="34" charset="0"/>
                <a:ea typeface="Rubik" pitchFamily="34" charset="-122"/>
                <a:cs typeface="Rubik" pitchFamily="34" charset="-120"/>
              </a:rPr>
              <a:t>HOMEWORK</a:t>
            </a:r>
            <a:endParaRPr lang="en-US" sz="1200" dirty="0"/>
          </a:p>
        </p:txBody>
      </p:sp>
      <p:sp>
        <p:nvSpPr>
          <p:cNvPr id="22" name="Text 20"/>
          <p:cNvSpPr/>
          <p:nvPr/>
        </p:nvSpPr>
        <p:spPr>
          <a:xfrm>
            <a:off x="2282494" y="4500761"/>
            <a:ext cx="5129927"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7F5EF"/>
                </a:solidFill>
                <a:latin typeface="Rubik" pitchFamily="34" charset="0"/>
                <a:ea typeface="Rubik" pitchFamily="34" charset="-122"/>
                <a:cs typeface="Rubik" pitchFamily="34" charset="-120"/>
              </a:rPr>
              <a:t>Read on W3Schools: </a:t>
            </a:r>
            <a:r>
              <a:rPr lang="en-US" sz="1500" u="sng" dirty="0">
                <a:solidFill>
                  <a:srgbClr val="F2B33D"/>
                </a:solidFill>
                <a:latin typeface="Rubik" pitchFamily="34" charset="0"/>
                <a:ea typeface="Rubik" pitchFamily="34" charset="-122"/>
                <a:cs typeface="Rubik" pitchFamily="34" charset="-120"/>
                <a:hlinkClick r:id="rId1" invalidUrl="" action="" tgtFrame="" tooltip="" history="1" highlightClick="0" endSnd="0">
                  <a:extLst>
                    <a:ext uri="{A12FA001-AC4F-418D-AE19-62706E023703}">
                      <ahyp:hlinkClr xmlns:ahyp="http://schemas.microsoft.com/office/drawing/2018/hyperlinkcolor" val="tx"/>
                    </a:ext>
                  </a:extLst>
                </a:hlinkClick>
              </a:rPr>
              <a:t>Inheritance</a:t>
            </a:r>
            <a:r>
              <a:rPr lang="en-US" sz="1500" dirty="0">
                <a:solidFill>
                  <a:srgbClr val="F7F5EF"/>
                </a:solidFill>
                <a:latin typeface="Rubik" pitchFamily="34" charset="0"/>
                <a:ea typeface="Rubik" pitchFamily="34" charset="-122"/>
                <a:cs typeface="Rubik" pitchFamily="34" charset="-120"/>
              </a:rPr>
              <a:t> · </a:t>
            </a:r>
            <a:r>
              <a:rPr lang="en-US" sz="1500" u="sng" dirty="0">
                <a:solidFill>
                  <a:srgbClr val="F2B33D"/>
                </a:solidFill>
                <a:latin typeface="Rubik" pitchFamily="34" charset="0"/>
                <a:ea typeface="Rubik" pitchFamily="34" charset="-122"/>
                <a:cs typeface="Rubik" pitchFamily="34" charset="-120"/>
                <a:hlinkClick r:id="rId2" invalidUrl="" action="" tgtFrame="" tooltip="" history="1" highlightClick="0" endSnd="0">
                  <a:extLst>
                    <a:ext uri="{A12FA001-AC4F-418D-AE19-62706E023703}">
                      <ahyp:hlinkClr xmlns:ahyp="http://schemas.microsoft.com/office/drawing/2018/hyperlinkcolor" val="tx"/>
                    </a:ext>
                  </a:extLst>
                </a:hlinkClick>
              </a:rPr>
              <a:t>Polymorphism</a:t>
            </a:r>
            <a:endParaRPr lang="en-US" sz="1500" dirty="0"/>
          </a:p>
        </p:txBody>
      </p:sp>
      <p:sp>
        <p:nvSpPr>
          <p:cNvPr id="23" name="Text 2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7 · Class 21</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B2A4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B33D"/>
                </a:solidFill>
                <a:latin typeface="Rubik" pitchFamily="34" charset="0"/>
                <a:ea typeface="Rubik" pitchFamily="34" charset="-122"/>
                <a:cs typeface="Rubik" pitchFamily="34" charset="-120"/>
              </a:rPr>
              <a:t>WEEK 7 RECAP</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7F5EF"/>
                </a:solidFill>
                <a:latin typeface="Rubik" pitchFamily="34" charset="0"/>
                <a:ea typeface="Rubik" pitchFamily="34" charset="-122"/>
                <a:cs typeface="Rubik" pitchFamily="34" charset="-120"/>
              </a:rPr>
              <a:t>What you can do now</a:t>
            </a:r>
            <a:endParaRPr lang="en-US" sz="3200" dirty="0"/>
          </a:p>
        </p:txBody>
      </p:sp>
      <p:sp>
        <p:nvSpPr>
          <p:cNvPr id="4" name="Shape 2"/>
          <p:cNvSpPr/>
          <p:nvPr/>
        </p:nvSpPr>
        <p:spPr>
          <a:xfrm>
            <a:off x="812800" y="1854138"/>
            <a:ext cx="2527300" cy="1282700"/>
          </a:xfrm>
          <a:prstGeom prst="roundRect">
            <a:avLst>
              <a:gd name="adj" fmla="val 9901"/>
            </a:avLst>
          </a:prstGeom>
          <a:solidFill>
            <a:srgbClr val="24364F"/>
          </a:solidFill>
          <a:ln/>
        </p:spPr>
      </p:sp>
      <p:sp>
        <p:nvSpPr>
          <p:cNvPr id="5" name="Text 3"/>
          <p:cNvSpPr/>
          <p:nvPr/>
        </p:nvSpPr>
        <p:spPr>
          <a:xfrm>
            <a:off x="1016000" y="2057338"/>
            <a:ext cx="218452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2B33D"/>
                </a:solidFill>
                <a:latin typeface="JetBrains Mono" pitchFamily="49" charset="0"/>
                <a:ea typeface="JetBrains Mono" pitchFamily="49" charset="-122"/>
                <a:cs typeface="JetBrains Mono" pitchFamily="49" charset="-120"/>
              </a:rPr>
              <a:t>try / except</a:t>
            </a:r>
            <a:endParaRPr lang="en-US" sz="1500" dirty="0"/>
          </a:p>
        </p:txBody>
      </p:sp>
      <p:sp>
        <p:nvSpPr>
          <p:cNvPr id="6" name="Text 4"/>
          <p:cNvSpPr/>
          <p:nvPr/>
        </p:nvSpPr>
        <p:spPr>
          <a:xfrm>
            <a:off x="1016000" y="2400238"/>
            <a:ext cx="218452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8EDF3"/>
                </a:solidFill>
                <a:latin typeface="Rubik" pitchFamily="34" charset="0"/>
                <a:ea typeface="Rubik" pitchFamily="34" charset="-122"/>
                <a:cs typeface="Rubik" pitchFamily="34" charset="-120"/>
              </a:rPr>
              <a:t>Catch errors instead of crashing</a:t>
            </a:r>
            <a:endParaRPr lang="en-US" sz="1500" dirty="0"/>
          </a:p>
        </p:txBody>
      </p:sp>
      <p:sp>
        <p:nvSpPr>
          <p:cNvPr id="7" name="Shape 5"/>
          <p:cNvSpPr/>
          <p:nvPr/>
        </p:nvSpPr>
        <p:spPr>
          <a:xfrm>
            <a:off x="3492500" y="1854138"/>
            <a:ext cx="2527300" cy="1282700"/>
          </a:xfrm>
          <a:prstGeom prst="roundRect">
            <a:avLst>
              <a:gd name="adj" fmla="val 9901"/>
            </a:avLst>
          </a:prstGeom>
          <a:solidFill>
            <a:srgbClr val="24364F"/>
          </a:solidFill>
          <a:ln/>
        </p:spPr>
      </p:sp>
      <p:sp>
        <p:nvSpPr>
          <p:cNvPr id="8" name="Text 6"/>
          <p:cNvSpPr/>
          <p:nvPr/>
        </p:nvSpPr>
        <p:spPr>
          <a:xfrm>
            <a:off x="3695700" y="2057338"/>
            <a:ext cx="218452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2B33D"/>
                </a:solidFill>
                <a:latin typeface="JetBrains Mono" pitchFamily="49" charset="0"/>
                <a:ea typeface="JetBrains Mono" pitchFamily="49" charset="-122"/>
                <a:cs typeface="JetBrains Mono" pitchFamily="49" charset="-120"/>
              </a:rPr>
              <a:t>raise</a:t>
            </a:r>
            <a:endParaRPr lang="en-US" sz="1500" dirty="0"/>
          </a:p>
        </p:txBody>
      </p:sp>
      <p:sp>
        <p:nvSpPr>
          <p:cNvPr id="9" name="Text 7"/>
          <p:cNvSpPr/>
          <p:nvPr/>
        </p:nvSpPr>
        <p:spPr>
          <a:xfrm>
            <a:off x="3695700" y="2400238"/>
            <a:ext cx="218452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8EDF3"/>
                </a:solidFill>
                <a:latin typeface="Rubik" pitchFamily="34" charset="0"/>
                <a:ea typeface="Rubik" pitchFamily="34" charset="-122"/>
                <a:cs typeface="Rubik" pitchFamily="34" charset="-120"/>
              </a:rPr>
              <a:t>Refuse bad requests with a message</a:t>
            </a:r>
            <a:endParaRPr lang="en-US" sz="1500" dirty="0"/>
          </a:p>
        </p:txBody>
      </p:sp>
      <p:sp>
        <p:nvSpPr>
          <p:cNvPr id="10" name="Shape 8"/>
          <p:cNvSpPr/>
          <p:nvPr/>
        </p:nvSpPr>
        <p:spPr>
          <a:xfrm>
            <a:off x="6172200" y="1854138"/>
            <a:ext cx="2527300" cy="1282700"/>
          </a:xfrm>
          <a:prstGeom prst="roundRect">
            <a:avLst>
              <a:gd name="adj" fmla="val 9901"/>
            </a:avLst>
          </a:prstGeom>
          <a:solidFill>
            <a:srgbClr val="24364F"/>
          </a:solidFill>
          <a:ln/>
        </p:spPr>
      </p:sp>
      <p:sp>
        <p:nvSpPr>
          <p:cNvPr id="11" name="Text 9"/>
          <p:cNvSpPr/>
          <p:nvPr/>
        </p:nvSpPr>
        <p:spPr>
          <a:xfrm>
            <a:off x="6375400" y="2057338"/>
            <a:ext cx="218452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2B33D"/>
                </a:solidFill>
                <a:latin typeface="JetBrains Mono" pitchFamily="49" charset="0"/>
                <a:ea typeface="JetBrains Mono" pitchFamily="49" charset="-122"/>
                <a:cs typeface="JetBrains Mono" pitchFamily="49" charset="-120"/>
              </a:rPr>
              <a:t>class / self</a:t>
            </a:r>
            <a:endParaRPr lang="en-US" sz="1500" dirty="0"/>
          </a:p>
        </p:txBody>
      </p:sp>
      <p:sp>
        <p:nvSpPr>
          <p:cNvPr id="12" name="Text 10"/>
          <p:cNvSpPr/>
          <p:nvPr/>
        </p:nvSpPr>
        <p:spPr>
          <a:xfrm>
            <a:off x="6375400" y="2400238"/>
            <a:ext cx="218452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8EDF3"/>
                </a:solidFill>
                <a:latin typeface="Rubik" pitchFamily="34" charset="0"/>
                <a:ea typeface="Rubik" pitchFamily="34" charset="-122"/>
                <a:cs typeface="Rubik" pitchFamily="34" charset="-120"/>
              </a:rPr>
              <a:t>Build objects with data and methods</a:t>
            </a:r>
            <a:endParaRPr lang="en-US" sz="1500" dirty="0"/>
          </a:p>
        </p:txBody>
      </p:sp>
      <p:sp>
        <p:nvSpPr>
          <p:cNvPr id="13" name="Shape 11"/>
          <p:cNvSpPr/>
          <p:nvPr/>
        </p:nvSpPr>
        <p:spPr>
          <a:xfrm>
            <a:off x="8851900" y="1854138"/>
            <a:ext cx="2527300" cy="1282700"/>
          </a:xfrm>
          <a:prstGeom prst="roundRect">
            <a:avLst>
              <a:gd name="adj" fmla="val 9901"/>
            </a:avLst>
          </a:prstGeom>
          <a:solidFill>
            <a:srgbClr val="24364F"/>
          </a:solidFill>
          <a:ln/>
        </p:spPr>
      </p:sp>
      <p:sp>
        <p:nvSpPr>
          <p:cNvPr id="14" name="Text 12"/>
          <p:cNvSpPr/>
          <p:nvPr/>
        </p:nvSpPr>
        <p:spPr>
          <a:xfrm>
            <a:off x="9055100" y="2057338"/>
            <a:ext cx="218452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2B33D"/>
                </a:solidFill>
                <a:latin typeface="JetBrains Mono" pitchFamily="49" charset="0"/>
                <a:ea typeface="JetBrains Mono" pitchFamily="49" charset="-122"/>
                <a:cs typeface="JetBrains Mono" pitchFamily="49" charset="-120"/>
              </a:rPr>
              <a:t>super()</a:t>
            </a:r>
            <a:endParaRPr lang="en-US" sz="1500" dirty="0"/>
          </a:p>
        </p:txBody>
      </p:sp>
      <p:sp>
        <p:nvSpPr>
          <p:cNvPr id="15" name="Text 13"/>
          <p:cNvSpPr/>
          <p:nvPr/>
        </p:nvSpPr>
        <p:spPr>
          <a:xfrm>
            <a:off x="9055100" y="2400238"/>
            <a:ext cx="218452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8EDF3"/>
                </a:solidFill>
                <a:latin typeface="Rubik" pitchFamily="34" charset="0"/>
                <a:ea typeface="Rubik" pitchFamily="34" charset="-122"/>
                <a:cs typeface="Rubik" pitchFamily="34" charset="-120"/>
              </a:rPr>
              <a:t>Inherit and override from a parent</a:t>
            </a:r>
            <a:endParaRPr lang="en-US" sz="1500" dirty="0"/>
          </a:p>
        </p:txBody>
      </p:sp>
      <p:sp>
        <p:nvSpPr>
          <p:cNvPr id="16" name="Shape 14"/>
          <p:cNvSpPr/>
          <p:nvPr/>
        </p:nvSpPr>
        <p:spPr>
          <a:xfrm>
            <a:off x="812800" y="3441638"/>
            <a:ext cx="10566400" cy="967647"/>
          </a:xfrm>
          <a:prstGeom prst="roundRect">
            <a:avLst>
              <a:gd name="adj" fmla="val 13125"/>
            </a:avLst>
          </a:prstGeom>
          <a:solidFill>
            <a:srgbClr val="F2B33D"/>
          </a:solidFill>
          <a:ln/>
        </p:spPr>
      </p:sp>
      <p:sp>
        <p:nvSpPr>
          <p:cNvPr id="17" name="Text 15"/>
          <p:cNvSpPr/>
          <p:nvPr/>
        </p:nvSpPr>
        <p:spPr>
          <a:xfrm>
            <a:off x="1066800" y="3644838"/>
            <a:ext cx="1036015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B2A41"/>
                </a:solidFill>
                <a:latin typeface="Rubik" pitchFamily="34" charset="0"/>
                <a:ea typeface="Rubik" pitchFamily="34" charset="-122"/>
                <a:cs typeface="Rubik" pitchFamily="34" charset="-120"/>
              </a:rPr>
              <a:t>NEXT WEEK</a:t>
            </a:r>
            <a:endParaRPr lang="en-US" sz="1200" dirty="0"/>
          </a:p>
        </p:txBody>
      </p:sp>
      <p:sp>
        <p:nvSpPr>
          <p:cNvPr id="18" name="Text 16"/>
          <p:cNvSpPr/>
          <p:nvPr/>
        </p:nvSpPr>
        <p:spPr>
          <a:xfrm>
            <a:off x="1066800" y="3908958"/>
            <a:ext cx="10360152" cy="322527"/>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B2A41"/>
                </a:solidFill>
                <a:latin typeface="Rubik" pitchFamily="34" charset="0"/>
                <a:ea typeface="Rubik" pitchFamily="34" charset="-122"/>
                <a:cs typeface="Rubik" pitchFamily="34" charset="-120"/>
              </a:rPr>
              <a:t>The capstone project, exam revision and a full mock viva</a:t>
            </a:r>
            <a:endParaRPr lang="en-US" sz="1800" dirty="0"/>
          </a:p>
        </p:txBody>
      </p:sp>
      <p:sp>
        <p:nvSpPr>
          <p:cNvPr id="19" name="Text 17"/>
          <p:cNvSpPr/>
          <p:nvPr/>
        </p:nvSpPr>
        <p:spPr>
          <a:xfrm>
            <a:off x="812800" y="4714081"/>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C9D4E2"/>
                </a:solidFill>
                <a:latin typeface="Rubik" pitchFamily="34" charset="0"/>
                <a:ea typeface="Rubik" pitchFamily="34" charset="-122"/>
                <a:cs typeface="Rubik" pitchFamily="34" charset="-120"/>
              </a:rPr>
              <a:t>Lab habit:</a:t>
            </a:r>
            <a:r>
              <a:rPr lang="en-US" sz="1500" dirty="0">
                <a:solidFill>
                  <a:srgbClr val="C9D4E2"/>
                </a:solidFill>
                <a:latin typeface="Rubik" pitchFamily="34" charset="0"/>
                <a:ea typeface="Rubik" pitchFamily="34" charset="-122"/>
                <a:cs typeface="Rubik" pitchFamily="34" charset="-120"/>
              </a:rPr>
              <a:t> test every program with bad input on purpose: letters, zero, empty, negative.</a:t>
            </a:r>
            <a:endParaRPr lang="en-US" sz="1500" dirty="0"/>
          </a:p>
        </p:txBody>
      </p:sp>
      <p:sp>
        <p:nvSpPr>
          <p:cNvPr id="20" name="Text 1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0C6"/>
                </a:solidFill>
                <a:latin typeface="Rubik" pitchFamily="34" charset="0"/>
                <a:ea typeface="Rubik" pitchFamily="34" charset="-122"/>
                <a:cs typeface="Rubik" pitchFamily="34" charset="-120"/>
              </a:rPr>
              <a:t>Python Programming · Week 7</a:t>
            </a:r>
            <a:endParaRPr lang="en-US" sz="1200" dirty="0"/>
          </a:p>
        </p:txBody>
      </p:sp>
    </p:spTree>
  </p:cSld>
  <p:clrMapOvr>
    <a:masterClrMapping/>
  </p:clrMapOvr>
</p:sld>
</file>

<file path=ppt/theme/theme1.xml><?xml version="1.0" encoding="utf-8"?>
<a:theme xmlns:a="http://schemas.openxmlformats.org/drawingml/2006/main" name="Python Week 7 – Exceptions &amp; OOP">
  <a:themeElements>
    <a:clrScheme name="Python Week 7 – Exceptions &amp; OOP">
      <a:dk1>
        <a:srgbClr val="1B2A41"/>
      </a:dk1>
      <a:lt1>
        <a:srgbClr val="F7F5EF"/>
      </a:lt1>
      <a:dk2>
        <a:srgbClr val="525D6D"/>
      </a:dk2>
      <a:lt2>
        <a:srgbClr val="E1E1DE"/>
      </a:lt2>
      <a:accent1>
        <a:srgbClr val="F2B33D"/>
      </a:accent1>
      <a:accent2>
        <a:srgbClr val="2A64A3"/>
      </a:accent2>
      <a:accent3>
        <a:srgbClr val="8FA3B8"/>
      </a:accent3>
      <a:accent4>
        <a:srgbClr val="9FB0C6"/>
      </a:accent4>
      <a:accent5>
        <a:srgbClr val="2A3D5A"/>
      </a:accent5>
      <a:accent6>
        <a:srgbClr val="4A5568"/>
      </a:accent6>
      <a:hlink>
        <a:srgbClr val="0563C1"/>
      </a:hlink>
      <a:folHlink>
        <a:srgbClr val="954F72"/>
      </a:folHlink>
    </a:clrScheme>
    <a:fontScheme name="Python Week 7 – Exceptions &amp; OOP">
      <a:majorFont>
        <a:latin typeface="Rubi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ubik"/>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Week 7 – Exceptions &amp; OOP</dc:title>
  <dc:subject/>
  <dc:creator/>
  <cp:lastModifiedBy/>
  <cp:revision>1</cp:revision>
  <dcterms:created xsi:type="dcterms:W3CDTF">2026-10-06T16:46:40Z</dcterms:created>
  <dcterms:modified xsi:type="dcterms:W3CDTF">2026-10-06T16:46:40Z</dcterms:modified>
</cp:coreProperties>
</file>